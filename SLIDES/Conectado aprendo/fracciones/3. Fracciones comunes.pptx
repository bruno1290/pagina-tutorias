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Patrick Hand"/>
      <p:regular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Poppins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gc8Y3ZQc6T1KQEwN4fKKwT2jnu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366C4F-398E-44D3-875E-7859E6B9B99A}">
  <a:tblStyle styleId="{17366C4F-398E-44D3-875E-7859E6B9B99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oppins-regular.fntdata"/><Relationship Id="rId25" Type="http://schemas.openxmlformats.org/officeDocument/2006/relationships/font" Target="fonts/PatrickHand-regular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Light-bold.fntdata"/><Relationship Id="rId30" Type="http://schemas.openxmlformats.org/officeDocument/2006/relationships/font" Target="fonts/PoppinsLight-regular.fntdata"/><Relationship Id="rId11" Type="http://schemas.openxmlformats.org/officeDocument/2006/relationships/slide" Target="slides/slide4.xml"/><Relationship Id="rId33" Type="http://schemas.openxmlformats.org/officeDocument/2006/relationships/font" Target="fonts/PoppinsLight-boldItalic.fntdata"/><Relationship Id="rId10" Type="http://schemas.openxmlformats.org/officeDocument/2006/relationships/slide" Target="slides/slide3.xml"/><Relationship Id="rId32" Type="http://schemas.openxmlformats.org/officeDocument/2006/relationships/font" Target="fonts/PoppinsLight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c7c305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0c7c305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c7c3054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c7c3054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0c7c3054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0c7c3054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hyperlink" Target="http://www.youtube.com/watch?v=KKqWJGmZDp4" TargetMode="External"/><Relationship Id="rId5" Type="http://schemas.openxmlformats.org/officeDocument/2006/relationships/image" Target="../media/image11.jp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forms.gle/sUv4ZUpdZt3V188q8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hyperlink" Target="http://www.youtube.com/watch?v=uny6_H1g_zI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6" y="425656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0c7c30541_0_0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Introducir al estudiante en el concepto de fracciones comunes y desarrollar su habilidad para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describirlas correctamente en palabras.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6" name="Google Shape;116;g330c7c30541_0_0"/>
          <p:cNvSpPr txBox="1"/>
          <p:nvPr/>
        </p:nvSpPr>
        <p:spPr>
          <a:xfrm>
            <a:off x="868688" y="1980075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1.Presentar fracciones comunes como 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medio y un tercio.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Expresar en palabras fracciones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comunes.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30c7c30541_0_0"/>
          <p:cNvSpPr txBox="1"/>
          <p:nvPr/>
        </p:nvSpPr>
        <p:spPr>
          <a:xfrm>
            <a:off x="4782038" y="1979981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Fracciones comunes.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2.Expresión en palabras de fracciones.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30c7c30541_0_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30c7c30541_0_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30c7c30541_0_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30c7c3054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6" y="425656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0c7c30541_0_10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g330c7c30541_0_10"/>
          <p:cNvSpPr txBox="1"/>
          <p:nvPr/>
        </p:nvSpPr>
        <p:spPr>
          <a:xfrm>
            <a:off x="589763" y="1370081"/>
            <a:ext cx="78750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Como en esta sesión tratarán con fracciones comunes, recuerda todos los ejemplos que tu estudiante te ha dado y preséntalos en los casos donde sea pertinente. Es importante enfatizar el vínculo que estas tienen con la cotidianidad.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Referido a lo anterior,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piensa un ejemplo reciente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donde hayas tenido que usar una de las fracciones que se presentarán en la sesión y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preséntalo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a tu estudiante. Para ese caso pregúntale sobre los siguientes conceptos que ya han estudiado: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Cuál es el referente.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Cuál es el denominador.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Qué fracción representa la cantidad considerada.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Qué fracción representa la cantidad no considerada.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Por último, a la hora de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expresar con palabras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las fracciones, recuérdale a tu estudiante que siempre debe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comenzar mencionando el numerador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después la división de las partes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del referente.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30c7c30541_0_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30c7c30541_0_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0c7c30541_0_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g330c7c3054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6" y="425656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c7c30541_0_28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30c7c30541_0_28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función de las fracciones comunes que tu estudiante haya presentado más dificultades, pídele que haga nuevamente la tabla de la diapositiva 11 pero con ejemplos que estimes le ayuden a salir de su confusión.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g330c7c30541_0_28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¿Cuáles son las fracciones que más utilizas en tu día a día?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¿Hay alguna fracción que no revisamos y has escuchado?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¿Qué fracciones te han costado identificar?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g330c7c30541_0_28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0c7c30541_0_28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g330c7c30541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6" y="425656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53" name="Google Shape;15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497813" y="383963"/>
            <a:ext cx="81483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fracción representa las partes que estás considerando del total de partes iguales. Esta se representa de la siguiente manera simbólicamente: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1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 5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4338413" y="1978650"/>
            <a:ext cx="4350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número de partes que tenemos.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4320252" y="2882138"/>
            <a:ext cx="3834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número de partes en que hemos dividido la unidad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726838" y="1950269"/>
            <a:ext cx="19908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3"/>
          <p:cNvCxnSpPr/>
          <p:nvPr/>
        </p:nvCxnSpPr>
        <p:spPr>
          <a:xfrm flipH="1" rot="10800000">
            <a:off x="1909394" y="2817650"/>
            <a:ext cx="1625700" cy="132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3"/>
          <p:cNvCxnSpPr>
            <a:endCxn id="155" idx="1"/>
          </p:cNvCxnSpPr>
          <p:nvPr/>
        </p:nvCxnSpPr>
        <p:spPr>
          <a:xfrm>
            <a:off x="3717713" y="2333550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3"/>
          <p:cNvCxnSpPr/>
          <p:nvPr/>
        </p:nvCxnSpPr>
        <p:spPr>
          <a:xfrm>
            <a:off x="3717638" y="3171788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61" name="Google Shape;16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166" name="Google Shape;16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 txBox="1"/>
          <p:nvPr/>
        </p:nvSpPr>
        <p:spPr>
          <a:xfrm>
            <a:off x="1393050" y="273850"/>
            <a:ext cx="6357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 lo que es una fracción</a:t>
            </a:r>
            <a:endParaRPr b="0" i="0" sz="17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-685800" y="749975"/>
            <a:ext cx="92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6156300" y="1417475"/>
            <a:ext cx="2987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cantidad de partes pintadas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Cantidad de partes total en la que está dividida la figura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886575" y="1465775"/>
            <a:ext cx="1109700" cy="1106100"/>
          </a:xfrm>
          <a:prstGeom prst="rect">
            <a:avLst/>
          </a:prstGeom>
          <a:solidFill>
            <a:srgbClr val="6DDED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996275" y="14657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886575" y="2571875"/>
            <a:ext cx="1109700" cy="1106100"/>
          </a:xfrm>
          <a:prstGeom prst="rect">
            <a:avLst/>
          </a:prstGeom>
          <a:solidFill>
            <a:srgbClr val="6DDED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996275" y="25718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3105975" y="14657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105975" y="2571875"/>
            <a:ext cx="1109700" cy="11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4783750" y="8037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3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4410625" y="2505125"/>
            <a:ext cx="1212600" cy="1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4340725" y="1465775"/>
            <a:ext cx="1356000" cy="2212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4"/>
          <p:cNvCxnSpPr/>
          <p:nvPr/>
        </p:nvCxnSpPr>
        <p:spPr>
          <a:xfrm flipH="1" rot="10800000">
            <a:off x="5689750" y="2843800"/>
            <a:ext cx="546300" cy="81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4"/>
          <p:cNvCxnSpPr/>
          <p:nvPr/>
        </p:nvCxnSpPr>
        <p:spPr>
          <a:xfrm flipH="1" rot="10800000">
            <a:off x="5689750" y="1853200"/>
            <a:ext cx="546300" cy="81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4"/>
          <p:cNvSpPr/>
          <p:nvPr/>
        </p:nvSpPr>
        <p:spPr>
          <a:xfrm>
            <a:off x="1996275" y="1465775"/>
            <a:ext cx="1109700" cy="1106100"/>
          </a:xfrm>
          <a:prstGeom prst="rect">
            <a:avLst/>
          </a:prstGeom>
          <a:solidFill>
            <a:srgbClr val="6DDED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89" name="Google Shape;18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 txBox="1"/>
          <p:nvPr/>
        </p:nvSpPr>
        <p:spPr>
          <a:xfrm>
            <a:off x="1928100" y="273850"/>
            <a:ext cx="5287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Fracciones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839525" y="8037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79700" y="1499174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5"/>
          <p:cNvCxnSpPr/>
          <p:nvPr/>
        </p:nvCxnSpPr>
        <p:spPr>
          <a:xfrm>
            <a:off x="638425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5"/>
          <p:cNvSpPr txBox="1"/>
          <p:nvPr/>
        </p:nvSpPr>
        <p:spPr>
          <a:xfrm>
            <a:off x="150900" y="879925"/>
            <a:ext cx="884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fracción puede representarse en distintas figuras→ siempre dividida en partes iguales.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819825" y="20070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863150" y="13692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representa: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819825" y="1978300"/>
            <a:ext cx="1728300" cy="141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875775" y="1877125"/>
            <a:ext cx="1987500" cy="14142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476625" y="3677725"/>
            <a:ext cx="2545200" cy="99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5"/>
          <p:cNvCxnSpPr>
            <a:stCxn id="197" idx="0"/>
          </p:cNvCxnSpPr>
          <p:nvPr/>
        </p:nvCxnSpPr>
        <p:spPr>
          <a:xfrm>
            <a:off x="5683975" y="1978300"/>
            <a:ext cx="0" cy="14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5"/>
          <p:cNvCxnSpPr>
            <a:stCxn id="198" idx="0"/>
            <a:endCxn id="198" idx="3"/>
          </p:cNvCxnSpPr>
          <p:nvPr/>
        </p:nvCxnSpPr>
        <p:spPr>
          <a:xfrm>
            <a:off x="7869525" y="1877125"/>
            <a:ext cx="0" cy="14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5"/>
          <p:cNvCxnSpPr>
            <a:stCxn id="199" idx="1"/>
            <a:endCxn id="199" idx="3"/>
          </p:cNvCxnSpPr>
          <p:nvPr/>
        </p:nvCxnSpPr>
        <p:spPr>
          <a:xfrm>
            <a:off x="5476625" y="4174825"/>
            <a:ext cx="25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5"/>
          <p:cNvSpPr/>
          <p:nvPr/>
        </p:nvSpPr>
        <p:spPr>
          <a:xfrm>
            <a:off x="4815900" y="1978300"/>
            <a:ext cx="860700" cy="1411500"/>
          </a:xfrm>
          <a:prstGeom prst="rect">
            <a:avLst/>
          </a:prstGeom>
          <a:solidFill>
            <a:srgbClr val="EDA1C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869525" y="1903225"/>
            <a:ext cx="993600" cy="1388100"/>
          </a:xfrm>
          <a:prstGeom prst="rtTriangl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7515375" y="3677725"/>
            <a:ext cx="506400" cy="507900"/>
          </a:xfrm>
          <a:prstGeom prst="rtTriangle">
            <a:avLst/>
          </a:prstGeom>
          <a:solidFill>
            <a:srgbClr val="FFA63A"/>
          </a:solidFill>
          <a:ln cap="flat" cmpd="sng" w="9525">
            <a:solidFill>
              <a:srgbClr val="FFA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76625" y="3900400"/>
            <a:ext cx="2172000" cy="274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5"/>
          <p:cNvCxnSpPr>
            <a:stCxn id="205" idx="4"/>
          </p:cNvCxnSpPr>
          <p:nvPr/>
        </p:nvCxnSpPr>
        <p:spPr>
          <a:xfrm rot="10800000">
            <a:off x="6262875" y="4157425"/>
            <a:ext cx="1758900" cy="28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8" name="Google Shape;20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15" name="Google Shape;2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1928100" y="273850"/>
            <a:ext cx="5287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Fracciones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79700" y="1499174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6"/>
          <p:cNvCxnSpPr/>
          <p:nvPr/>
        </p:nvCxnSpPr>
        <p:spPr>
          <a:xfrm>
            <a:off x="638425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6"/>
          <p:cNvSpPr txBox="1"/>
          <p:nvPr/>
        </p:nvSpPr>
        <p:spPr>
          <a:xfrm>
            <a:off x="150900" y="879925"/>
            <a:ext cx="884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fracción puede representarse en distintas figuras→ siempre dividida en partes iguales.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1819825" y="20070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tercio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5863150" y="13692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representa: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819825" y="1978300"/>
            <a:ext cx="1728300" cy="141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6"/>
          <p:cNvCxnSpPr/>
          <p:nvPr/>
        </p:nvCxnSpPr>
        <p:spPr>
          <a:xfrm>
            <a:off x="5377500" y="1978300"/>
            <a:ext cx="0" cy="14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91925" y="9561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25" name="Google Shape;225;p6"/>
          <p:cNvCxnSpPr/>
          <p:nvPr/>
        </p:nvCxnSpPr>
        <p:spPr>
          <a:xfrm>
            <a:off x="5930050" y="1978288"/>
            <a:ext cx="0" cy="14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6" name="Google Shape;226;p6"/>
          <p:cNvPicPr preferRelativeResize="0"/>
          <p:nvPr/>
        </p:nvPicPr>
        <p:blipFill rotWithShape="1">
          <a:blip r:embed="rId4">
            <a:alphaModFix/>
          </a:blip>
          <a:srcRect b="75474" l="41889" r="39366" t="11781"/>
          <a:stretch/>
        </p:blipFill>
        <p:spPr>
          <a:xfrm>
            <a:off x="6906300" y="1849150"/>
            <a:ext cx="1728300" cy="1669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7" name="Google Shape;227;p6"/>
          <p:cNvSpPr/>
          <p:nvPr/>
        </p:nvSpPr>
        <p:spPr>
          <a:xfrm>
            <a:off x="4823700" y="1972125"/>
            <a:ext cx="553800" cy="1417800"/>
          </a:xfrm>
          <a:prstGeom prst="rect">
            <a:avLst/>
          </a:prstGeom>
          <a:solidFill>
            <a:srgbClr val="B78ED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35" name="Google Shape;23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 txBox="1"/>
          <p:nvPr/>
        </p:nvSpPr>
        <p:spPr>
          <a:xfrm>
            <a:off x="1928100" y="273850"/>
            <a:ext cx="5287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Fracciones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79700" y="1499174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7"/>
          <p:cNvCxnSpPr/>
          <p:nvPr/>
        </p:nvCxnSpPr>
        <p:spPr>
          <a:xfrm>
            <a:off x="638425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7"/>
          <p:cNvSpPr txBox="1"/>
          <p:nvPr/>
        </p:nvSpPr>
        <p:spPr>
          <a:xfrm>
            <a:off x="150900" y="879925"/>
            <a:ext cx="884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fracción puede representarse en distintas figuras→ siempre dividida en partes iguales.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1819825" y="20070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cuarto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5863150" y="13692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representa: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991925" y="9561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650475" y="2007075"/>
            <a:ext cx="1798800" cy="16308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809150" y="1958800"/>
            <a:ext cx="2054100" cy="1798800"/>
          </a:xfrm>
          <a:prstGeom prst="ellipse">
            <a:avLst/>
          </a:prstGeom>
          <a:solidFill>
            <a:srgbClr val="B78ED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677125" y="3890950"/>
            <a:ext cx="3838200" cy="72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7"/>
          <p:cNvCxnSpPr>
            <a:stCxn id="243" idx="1"/>
          </p:cNvCxnSpPr>
          <p:nvPr/>
        </p:nvCxnSpPr>
        <p:spPr>
          <a:xfrm>
            <a:off x="5100175" y="2822475"/>
            <a:ext cx="449700" cy="8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7"/>
          <p:cNvCxnSpPr>
            <a:stCxn id="243" idx="1"/>
            <a:endCxn id="243" idx="5"/>
          </p:cNvCxnSpPr>
          <p:nvPr/>
        </p:nvCxnSpPr>
        <p:spPr>
          <a:xfrm>
            <a:off x="5100175" y="2822475"/>
            <a:ext cx="8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7"/>
          <p:cNvCxnSpPr>
            <a:stCxn id="243" idx="3"/>
            <a:endCxn id="243" idx="5"/>
          </p:cNvCxnSpPr>
          <p:nvPr/>
        </p:nvCxnSpPr>
        <p:spPr>
          <a:xfrm flipH="1" rot="10800000">
            <a:off x="5549875" y="2822475"/>
            <a:ext cx="449700" cy="8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7"/>
          <p:cNvCxnSpPr>
            <a:stCxn id="245" idx="1"/>
            <a:endCxn id="245" idx="3"/>
          </p:cNvCxnSpPr>
          <p:nvPr/>
        </p:nvCxnSpPr>
        <p:spPr>
          <a:xfrm>
            <a:off x="4677125" y="4252600"/>
            <a:ext cx="383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7"/>
          <p:cNvCxnSpPr>
            <a:stCxn id="245" idx="0"/>
            <a:endCxn id="245" idx="2"/>
          </p:cNvCxnSpPr>
          <p:nvPr/>
        </p:nvCxnSpPr>
        <p:spPr>
          <a:xfrm>
            <a:off x="6596225" y="3890950"/>
            <a:ext cx="0" cy="7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7"/>
          <p:cNvCxnSpPr>
            <a:stCxn id="244" idx="2"/>
            <a:endCxn id="244" idx="6"/>
          </p:cNvCxnSpPr>
          <p:nvPr/>
        </p:nvCxnSpPr>
        <p:spPr>
          <a:xfrm>
            <a:off x="6809150" y="2858200"/>
            <a:ext cx="20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7"/>
          <p:cNvCxnSpPr>
            <a:stCxn id="244" idx="0"/>
          </p:cNvCxnSpPr>
          <p:nvPr/>
        </p:nvCxnSpPr>
        <p:spPr>
          <a:xfrm>
            <a:off x="7836200" y="1958800"/>
            <a:ext cx="0" cy="17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7"/>
          <p:cNvSpPr/>
          <p:nvPr/>
        </p:nvSpPr>
        <p:spPr>
          <a:xfrm>
            <a:off x="5549875" y="2822475"/>
            <a:ext cx="899400" cy="815400"/>
          </a:xfrm>
          <a:prstGeom prst="triangle">
            <a:avLst>
              <a:gd fmla="val 50000" name="adj"/>
            </a:avLst>
          </a:prstGeom>
          <a:solidFill>
            <a:srgbClr val="EDA1C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690450" y="3890950"/>
            <a:ext cx="1905900" cy="361800"/>
          </a:xfrm>
          <a:prstGeom prst="rect">
            <a:avLst/>
          </a:prstGeom>
          <a:solidFill>
            <a:srgbClr val="FF47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809150" y="1944925"/>
            <a:ext cx="2054100" cy="1812600"/>
          </a:xfrm>
          <a:prstGeom prst="pie">
            <a:avLst>
              <a:gd fmla="val 24707" name="adj1"/>
              <a:gd fmla="val 1630494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7"/>
          <p:cNvCxnSpPr>
            <a:stCxn id="255" idx="2"/>
            <a:endCxn id="255" idx="0"/>
          </p:cNvCxnSpPr>
          <p:nvPr/>
        </p:nvCxnSpPr>
        <p:spPr>
          <a:xfrm>
            <a:off x="6809150" y="2851225"/>
            <a:ext cx="20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7"/>
          <p:cNvCxnSpPr>
            <a:stCxn id="255" idx="3"/>
          </p:cNvCxnSpPr>
          <p:nvPr/>
        </p:nvCxnSpPr>
        <p:spPr>
          <a:xfrm>
            <a:off x="7836200" y="1944925"/>
            <a:ext cx="0" cy="18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8" name="Google Shape;25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06" y="39692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64" name="Google Shape;264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1928100" y="273850"/>
            <a:ext cx="5287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Fracciones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79700" y="1499174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8"/>
          <p:cNvCxnSpPr/>
          <p:nvPr/>
        </p:nvCxnSpPr>
        <p:spPr>
          <a:xfrm>
            <a:off x="638425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8"/>
          <p:cNvSpPr txBox="1"/>
          <p:nvPr/>
        </p:nvSpPr>
        <p:spPr>
          <a:xfrm>
            <a:off x="150900" y="879925"/>
            <a:ext cx="884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fracción puede representarse en distintas figuras→ siempre dividida en partes iguales.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1915950" y="19720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quinto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91925" y="9561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71" name="Google Shape;271;p8"/>
          <p:cNvPicPr preferRelativeResize="0"/>
          <p:nvPr/>
        </p:nvPicPr>
        <p:blipFill rotWithShape="1">
          <a:blip r:embed="rId4">
            <a:alphaModFix/>
          </a:blip>
          <a:srcRect b="8213" l="61166" r="1905" t="19994"/>
          <a:stretch/>
        </p:blipFill>
        <p:spPr>
          <a:xfrm>
            <a:off x="1915962" y="2760725"/>
            <a:ext cx="1860275" cy="182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/>
          <p:nvPr/>
        </p:nvSpPr>
        <p:spPr>
          <a:xfrm>
            <a:off x="4670700" y="1499174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8"/>
          <p:cNvCxnSpPr/>
          <p:nvPr/>
        </p:nvCxnSpPr>
        <p:spPr>
          <a:xfrm>
            <a:off x="4829425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8"/>
          <p:cNvSpPr txBox="1"/>
          <p:nvPr/>
        </p:nvSpPr>
        <p:spPr>
          <a:xfrm>
            <a:off x="5946300" y="20242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sexto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5182925" y="9561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76" name="Google Shape;276;p8"/>
          <p:cNvPicPr preferRelativeResize="0"/>
          <p:nvPr/>
        </p:nvPicPr>
        <p:blipFill rotWithShape="1">
          <a:blip r:embed="rId5">
            <a:alphaModFix/>
          </a:blip>
          <a:srcRect b="3469" l="9862" r="7046" t="11690"/>
          <a:stretch/>
        </p:blipFill>
        <p:spPr>
          <a:xfrm>
            <a:off x="6238525" y="2737263"/>
            <a:ext cx="1884000" cy="1870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7" name="Google Shape;277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82" name="Google Shape;28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6440050" y="2465150"/>
            <a:ext cx="1673400" cy="1612500"/>
          </a:xfrm>
          <a:prstGeom prst="pie">
            <a:avLst>
              <a:gd fmla="val 18992309" name="adj1"/>
              <a:gd fmla="val 1620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1928100" y="273850"/>
            <a:ext cx="5287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Fracciones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79700" y="1499174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9"/>
          <p:cNvCxnSpPr/>
          <p:nvPr/>
        </p:nvCxnSpPr>
        <p:spPr>
          <a:xfrm>
            <a:off x="638425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9"/>
          <p:cNvSpPr txBox="1"/>
          <p:nvPr/>
        </p:nvSpPr>
        <p:spPr>
          <a:xfrm>
            <a:off x="150900" y="879925"/>
            <a:ext cx="884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fracción puede representarse en distintas figuras→ siempre dividida en partes iguales.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1679100" y="17026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séptimo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991925" y="9561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932150" y="2971500"/>
            <a:ext cx="319800" cy="994200"/>
          </a:xfrm>
          <a:prstGeom prst="rect">
            <a:avLst/>
          </a:prstGeom>
          <a:solidFill>
            <a:srgbClr val="FF47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251950" y="2971500"/>
            <a:ext cx="31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571750" y="2971500"/>
            <a:ext cx="31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2891550" y="2971500"/>
            <a:ext cx="31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211350" y="2971500"/>
            <a:ext cx="31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531150" y="2971500"/>
            <a:ext cx="31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878575" y="2971500"/>
            <a:ext cx="31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4814275" y="8544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545800" y="1562399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9"/>
          <p:cNvCxnSpPr/>
          <p:nvPr/>
        </p:nvCxnSpPr>
        <p:spPr>
          <a:xfrm>
            <a:off x="4663250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9"/>
          <p:cNvSpPr txBox="1"/>
          <p:nvPr/>
        </p:nvSpPr>
        <p:spPr>
          <a:xfrm>
            <a:off x="5908975" y="17026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octavo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396050" y="2465150"/>
            <a:ext cx="1728300" cy="1612500"/>
          </a:xfrm>
          <a:prstGeom prst="ellips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9"/>
          <p:cNvCxnSpPr>
            <a:stCxn id="301" idx="2"/>
            <a:endCxn id="301" idx="6"/>
          </p:cNvCxnSpPr>
          <p:nvPr/>
        </p:nvCxnSpPr>
        <p:spPr>
          <a:xfrm>
            <a:off x="6396050" y="3271400"/>
            <a:ext cx="17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9"/>
          <p:cNvCxnSpPr>
            <a:stCxn id="301" idx="0"/>
            <a:endCxn id="301" idx="4"/>
          </p:cNvCxnSpPr>
          <p:nvPr/>
        </p:nvCxnSpPr>
        <p:spPr>
          <a:xfrm>
            <a:off x="7260200" y="2465150"/>
            <a:ext cx="0" cy="16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9"/>
          <p:cNvCxnSpPr>
            <a:stCxn id="301" idx="1"/>
            <a:endCxn id="301" idx="5"/>
          </p:cNvCxnSpPr>
          <p:nvPr/>
        </p:nvCxnSpPr>
        <p:spPr>
          <a:xfrm>
            <a:off x="6649154" y="2701295"/>
            <a:ext cx="1222200" cy="114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>
            <a:stCxn id="301" idx="7"/>
            <a:endCxn id="301" idx="3"/>
          </p:cNvCxnSpPr>
          <p:nvPr/>
        </p:nvCxnSpPr>
        <p:spPr>
          <a:xfrm flipH="1">
            <a:off x="6649046" y="2701295"/>
            <a:ext cx="1222200" cy="114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/>
          <p:nvPr/>
        </p:nvSpPr>
        <p:spPr>
          <a:xfrm>
            <a:off x="6396050" y="2465150"/>
            <a:ext cx="1728300" cy="1612500"/>
          </a:xfrm>
          <a:prstGeom prst="pie">
            <a:avLst>
              <a:gd fmla="val 18924675" name="adj1"/>
              <a:gd fmla="val 1620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9"/>
          <p:cNvCxnSpPr>
            <a:stCxn id="306" idx="2"/>
            <a:endCxn id="306" idx="0"/>
          </p:cNvCxnSpPr>
          <p:nvPr/>
        </p:nvCxnSpPr>
        <p:spPr>
          <a:xfrm>
            <a:off x="6396050" y="3271400"/>
            <a:ext cx="17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9"/>
          <p:cNvCxnSpPr>
            <a:stCxn id="306" idx="1"/>
          </p:cNvCxnSpPr>
          <p:nvPr/>
        </p:nvCxnSpPr>
        <p:spPr>
          <a:xfrm rot="10800000">
            <a:off x="7260200" y="2465150"/>
            <a:ext cx="0" cy="16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9"/>
          <p:cNvCxnSpPr/>
          <p:nvPr/>
        </p:nvCxnSpPr>
        <p:spPr>
          <a:xfrm flipH="1">
            <a:off x="6649225" y="2705000"/>
            <a:ext cx="1212600" cy="107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9"/>
          <p:cNvCxnSpPr/>
          <p:nvPr/>
        </p:nvCxnSpPr>
        <p:spPr>
          <a:xfrm>
            <a:off x="6702550" y="2691675"/>
            <a:ext cx="1159200" cy="11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1" name="Google Shape;31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16" name="Google Shape;31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 txBox="1"/>
          <p:nvPr/>
        </p:nvSpPr>
        <p:spPr>
          <a:xfrm>
            <a:off x="1928100" y="273850"/>
            <a:ext cx="5287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" sz="35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Fracciones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79700" y="1499174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638425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10"/>
          <p:cNvSpPr txBox="1"/>
          <p:nvPr/>
        </p:nvSpPr>
        <p:spPr>
          <a:xfrm>
            <a:off x="150900" y="879925"/>
            <a:ext cx="884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fracción puede representarse en distintas figuras→ siempre dividida en partes iguales.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1679100" y="17026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noveno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991925" y="9561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932150" y="2971500"/>
            <a:ext cx="199800" cy="994200"/>
          </a:xfrm>
          <a:prstGeom prst="rect">
            <a:avLst/>
          </a:prstGeom>
          <a:solidFill>
            <a:srgbClr val="FF47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4814275" y="854425"/>
            <a:ext cx="172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1		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4545800" y="1562399"/>
            <a:ext cx="1199400" cy="20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10"/>
          <p:cNvCxnSpPr/>
          <p:nvPr/>
        </p:nvCxnSpPr>
        <p:spPr>
          <a:xfrm>
            <a:off x="4663250" y="2505125"/>
            <a:ext cx="964500" cy="33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0"/>
          <p:cNvSpPr txBox="1"/>
          <p:nvPr/>
        </p:nvSpPr>
        <p:spPr>
          <a:xfrm>
            <a:off x="5908975" y="17026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lee como: un décimo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2131950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2331750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531550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2731350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2931150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111425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311225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511025" y="2971500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261150" y="2916525"/>
            <a:ext cx="199800" cy="9942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60950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660750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860550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060350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7260150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7440425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7640225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7840025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8020300" y="2916525"/>
            <a:ext cx="199800" cy="9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53" name="Google Shape;35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1"/>
          <p:cNvSpPr txBox="1"/>
          <p:nvPr/>
        </p:nvSpPr>
        <p:spPr>
          <a:xfrm>
            <a:off x="152400" y="300650"/>
            <a:ext cx="9074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Ejercicio: 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Completemos la siguiente tabla de fracciones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aphicFrame>
        <p:nvGraphicFramePr>
          <p:cNvPr id="355" name="Google Shape;355;p11"/>
          <p:cNvGraphicFramePr/>
          <p:nvPr/>
        </p:nvGraphicFramePr>
        <p:xfrm>
          <a:off x="1070100" y="116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{17366C4F-398E-44D3-875E-7859E6B9B99A}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" sz="19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Fracción</a:t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" sz="19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Numerador</a:t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" sz="19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Denominador</a:t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" sz="19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En palabras</a:t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92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11"/>
          <p:cNvSpPr txBox="1"/>
          <p:nvPr/>
        </p:nvSpPr>
        <p:spPr>
          <a:xfrm>
            <a:off x="1431600" y="1564875"/>
            <a:ext cx="67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1504050" y="3085525"/>
            <a:ext cx="67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3468675" y="2488275"/>
            <a:ext cx="67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6659200" y="2488275"/>
            <a:ext cx="14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tres sextos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6659200" y="4008925"/>
            <a:ext cx="18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seis novenos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5140125" y="4008925"/>
            <a:ext cx="67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3460263" y="4078525"/>
            <a:ext cx="6738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3" name="Google Shape;363;p11"/>
          <p:cNvSpPr txBox="1"/>
          <p:nvPr/>
        </p:nvSpPr>
        <p:spPr>
          <a:xfrm>
            <a:off x="5150863" y="2488275"/>
            <a:ext cx="6738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5140113" y="3248600"/>
            <a:ext cx="6738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3460263" y="3283400"/>
            <a:ext cx="6738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3468663" y="1693150"/>
            <a:ext cx="6738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5150863" y="1727950"/>
            <a:ext cx="6738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1464900" y="2334375"/>
            <a:ext cx="607200" cy="8619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1537350" y="3855025"/>
            <a:ext cx="607200" cy="8619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6503050" y="3248600"/>
            <a:ext cx="18024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siete octavos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6503050" y="1727950"/>
            <a:ext cx="1802400" cy="554100"/>
          </a:xfrm>
          <a:prstGeom prst="rect">
            <a:avLst/>
          </a:prstGeom>
          <a:solidFill>
            <a:srgbClr val="6DDED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dos quintos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72" name="Google Shape;372;p11"/>
          <p:cNvCxnSpPr/>
          <p:nvPr/>
        </p:nvCxnSpPr>
        <p:spPr>
          <a:xfrm>
            <a:off x="1258375" y="2026575"/>
            <a:ext cx="67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1"/>
          <p:cNvCxnSpPr/>
          <p:nvPr/>
        </p:nvCxnSpPr>
        <p:spPr>
          <a:xfrm>
            <a:off x="1330825" y="2765325"/>
            <a:ext cx="67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11"/>
          <p:cNvCxnSpPr/>
          <p:nvPr/>
        </p:nvCxnSpPr>
        <p:spPr>
          <a:xfrm>
            <a:off x="1431600" y="3525650"/>
            <a:ext cx="67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11"/>
          <p:cNvCxnSpPr/>
          <p:nvPr/>
        </p:nvCxnSpPr>
        <p:spPr>
          <a:xfrm>
            <a:off x="1504050" y="4285975"/>
            <a:ext cx="67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6" name="Google Shape;37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9106" y="4060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81" name="Google Shape;38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2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384" name="Google Shape;384;p12" title="Resumen - Fracciones (1 a 3) - Presentación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6125" y="1044875"/>
            <a:ext cx="6571750" cy="3696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5" name="Google Shape;38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 txBox="1"/>
          <p:nvPr/>
        </p:nvSpPr>
        <p:spPr>
          <a:xfrm>
            <a:off x="-457275" y="3448607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https://forms.gle/sUv4ZUpdZt3V188q8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 txBox="1"/>
          <p:nvPr/>
        </p:nvSpPr>
        <p:spPr>
          <a:xfrm>
            <a:off x="845750" y="1055950"/>
            <a:ext cx="74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¿Cómo se lee la fracción (rojo es lo que tenemos)?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13"/>
          <p:cNvGraphicFramePr/>
          <p:nvPr/>
        </p:nvGraphicFramePr>
        <p:xfrm>
          <a:off x="946438" y="17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{17366C4F-398E-44D3-875E-7859E6B9B99A}</a:tableStyleId>
              </a:tblPr>
              <a:tblGrid>
                <a:gridCol w="1450225"/>
                <a:gridCol w="1450225"/>
                <a:gridCol w="1450225"/>
                <a:gridCol w="1450225"/>
                <a:gridCol w="1450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4" name="Google Shape;394;p13"/>
          <p:cNvSpPr txBox="1"/>
          <p:nvPr/>
        </p:nvSpPr>
        <p:spPr>
          <a:xfrm>
            <a:off x="1397425" y="2281425"/>
            <a:ext cx="63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¿Cómo se lee la fracción (rojo es lo que tenemos)?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3655175" y="3251800"/>
            <a:ext cx="916800" cy="916800"/>
          </a:xfrm>
          <a:prstGeom prst="diamond">
            <a:avLst/>
          </a:prstGeom>
          <a:solidFill>
            <a:srgbClr val="FF0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4571975" y="3251800"/>
            <a:ext cx="916800" cy="916800"/>
          </a:xfrm>
          <a:prstGeom prst="diamond">
            <a:avLst/>
          </a:prstGeom>
          <a:solidFill>
            <a:srgbClr val="FF0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4114725" y="2793225"/>
            <a:ext cx="916800" cy="916800"/>
          </a:xfrm>
          <a:prstGeom prst="diamond">
            <a:avLst/>
          </a:prstGeom>
          <a:solidFill>
            <a:srgbClr val="FF00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114725" y="3710025"/>
            <a:ext cx="916800" cy="916800"/>
          </a:xfrm>
          <a:prstGeom prst="diamond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13"/>
          <p:cNvPicPr preferRelativeResize="0"/>
          <p:nvPr/>
        </p:nvPicPr>
        <p:blipFill rotWithShape="1">
          <a:blip r:embed="rId4">
            <a:alphaModFix/>
          </a:blip>
          <a:srcRect b="8011" l="8010" r="8011" t="8010"/>
          <a:stretch/>
        </p:blipFill>
        <p:spPr>
          <a:xfrm>
            <a:off x="6059275" y="2743125"/>
            <a:ext cx="2034276" cy="20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8356" y="3665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405" name="Google Shape;40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4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408" name="Google Shape;408;p14" title="Reforzamiento - Fracciones (1 a 3) - Presentación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8325" y="1044875"/>
            <a:ext cx="6627350" cy="372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9" name="Google Shape;40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2831" y="3976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