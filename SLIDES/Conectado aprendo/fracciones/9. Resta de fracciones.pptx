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atrick Hand"/>
      <p:regular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Poppins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iM8YaFhpcB6aOZ11jA2Ai3jdW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font" Target="fonts/PatrickHa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Light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boldItalic.fntdata"/><Relationship Id="rId30" Type="http://schemas.openxmlformats.org/officeDocument/2006/relationships/font" Target="fonts/Poppins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0c946081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0c94608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c946081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c946081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0c946081a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0c946081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1" name="Google Shape;46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n9.cl/v0cfyb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Relationship Id="rId4" Type="http://schemas.openxmlformats.org/officeDocument/2006/relationships/hyperlink" Target="http://www.youtube.com/watch?v=Sc4H5GRdXDA" TargetMode="External"/><Relationship Id="rId5" Type="http://schemas.openxmlformats.org/officeDocument/2006/relationships/image" Target="../media/image7.jpg"/><Relationship Id="rId6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gle/6ZHPLsQHPzSHc66D6" TargetMode="External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Relationship Id="rId4" Type="http://schemas.openxmlformats.org/officeDocument/2006/relationships/hyperlink" Target="http://www.youtube.com/watch?v=CiyE2hAvpck" TargetMode="External"/><Relationship Id="rId5" Type="http://schemas.openxmlformats.org/officeDocument/2006/relationships/image" Target="../media/image8.jp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42664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0c946081a_0_0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Enseñar al estudiante a restar fracciones, tanto con igual como con distinto denominador,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desarrollando habilidades para encontrar denominadores comunes.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6" name="Google Shape;116;g330c946081a_0_0"/>
          <p:cNvSpPr txBox="1"/>
          <p:nvPr/>
        </p:nvSpPr>
        <p:spPr>
          <a:xfrm>
            <a:off x="868700" y="1980075"/>
            <a:ext cx="3524100" cy="2670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Aprender a restar fracciones con igual denominador.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Aprender a restar fracciones con distinto denominador.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30c946081a_0_0"/>
          <p:cNvSpPr txBox="1"/>
          <p:nvPr/>
        </p:nvSpPr>
        <p:spPr>
          <a:xfrm>
            <a:off x="4782050" y="1979974"/>
            <a:ext cx="3524100" cy="2670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Resta.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Numerador.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Denominador.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330c946081a_0_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30c946081a_0_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30c946081a_0_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g330c946081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0756" y="42664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0c946081a_0_10"/>
          <p:cNvSpPr txBox="1"/>
          <p:nvPr/>
        </p:nvSpPr>
        <p:spPr>
          <a:xfrm>
            <a:off x="589763" y="11216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7" name="Google Shape;127;g330c946081a_0_10"/>
          <p:cNvSpPr txBox="1"/>
          <p:nvPr/>
        </p:nvSpPr>
        <p:spPr>
          <a:xfrm>
            <a:off x="589763" y="1598681"/>
            <a:ext cx="7875000" cy="56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Similar a la sesión anterior, los mismos consejos para realizar la presente se aplican pero en vez de tener una lógica de “agregar”, tu estudiante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debe comprender que está “quitando”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cuadritos. Entonces vuelve a reforzar lo que revisaste, pero con el foco de las restas.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Respecto a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errores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frecuentes, algunos estudiantes no entienden el procedimiento y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restan los denominadores.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En otros casos también terminan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sumando los numeradores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. Ten cuidado que tu estudiante no tenga esos problemas.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Para reforzar lo aprendido en la sesión, revisa el siguiente recurso interactivo 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n9.cl/v0cfyb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] que muestra visualmente la resta de fracciones.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30c946081a_0_1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30c946081a_0_1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30c946081a_0_1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g330c946081a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42664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0c946081a_0_28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30c946081a_0_28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Siguiendo el recurso interactivo, pídele a tu estudiante que construya “cuadraditos” para que pueda representar en su casa la resta de 3 situaciones que consideres importante repasar.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g330c946081a_0_28"/>
          <p:cNvSpPr txBox="1"/>
          <p:nvPr/>
        </p:nvSpPr>
        <p:spPr>
          <a:xfrm>
            <a:off x="285206" y="32726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En fracciones con igual denominador, ¿por qué restamos el numerado y mantenemos el denominador?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En fracciones con distinto denominador, ¿por qué aplicamos mínimo común múltiplo?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g330c946081a_0_28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30c946081a_0_28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g330c946081a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0756" y="42664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53" name="Google Shape;15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"/>
          <p:cNvSpPr txBox="1"/>
          <p:nvPr/>
        </p:nvSpPr>
        <p:spPr>
          <a:xfrm>
            <a:off x="497813" y="383963"/>
            <a:ext cx="81483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fracción representa las partes que estás considerando del total de partes iguales. Esta se representa de la siguiente manera simbólicamente: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2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 8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4338413" y="1978650"/>
            <a:ext cx="4350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NUMERADOR: número de partes que tenemos.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4320252" y="2882138"/>
            <a:ext cx="3834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DENOMINADOR: número de partes en que hemos dividido la unidad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1726838" y="1950269"/>
            <a:ext cx="1990800" cy="162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3"/>
          <p:cNvCxnSpPr/>
          <p:nvPr/>
        </p:nvCxnSpPr>
        <p:spPr>
          <a:xfrm flipH="1" rot="10800000">
            <a:off x="1909394" y="2817650"/>
            <a:ext cx="1625700" cy="132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3"/>
          <p:cNvCxnSpPr>
            <a:endCxn id="155" idx="1"/>
          </p:cNvCxnSpPr>
          <p:nvPr/>
        </p:nvCxnSpPr>
        <p:spPr>
          <a:xfrm>
            <a:off x="3717713" y="2333550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p3"/>
          <p:cNvCxnSpPr/>
          <p:nvPr/>
        </p:nvCxnSpPr>
        <p:spPr>
          <a:xfrm>
            <a:off x="3717638" y="3171788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61" name="Google Shape;16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166" name="Google Shape;16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"/>
          <p:cNvSpPr txBox="1"/>
          <p:nvPr/>
        </p:nvSpPr>
        <p:spPr>
          <a:xfrm>
            <a:off x="2442175" y="228600"/>
            <a:ext cx="640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Resta de fracciones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74400" y="813450"/>
            <a:ext cx="9144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atrick Hand"/>
              <a:buAutoNum type="arabicPeriod"/>
            </a:pPr>
            <a:r>
              <a:rPr b="1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Restar fracciones de igual denominador: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Char char="○"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 restan los numeradores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Char char="○"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El denominador queda igual, ya que es igual en todas las fracciones.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ejemplo: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1277500" y="2302125"/>
            <a:ext cx="404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         3           6 -  3       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8          8               8            8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1783900" y="24439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2836450" y="25098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4"/>
          <p:cNvCxnSpPr>
            <a:stCxn id="171" idx="3"/>
          </p:cNvCxnSpPr>
          <p:nvPr/>
        </p:nvCxnSpPr>
        <p:spPr>
          <a:xfrm flipH="1" rot="10800000">
            <a:off x="3203650" y="2774700"/>
            <a:ext cx="8796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4"/>
          <p:cNvCxnSpPr/>
          <p:nvPr/>
        </p:nvCxnSpPr>
        <p:spPr>
          <a:xfrm>
            <a:off x="1344175" y="27748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4"/>
          <p:cNvCxnSpPr/>
          <p:nvPr/>
        </p:nvCxnSpPr>
        <p:spPr>
          <a:xfrm>
            <a:off x="2240575" y="27792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4"/>
          <p:cNvSpPr txBox="1"/>
          <p:nvPr/>
        </p:nvSpPr>
        <p:spPr>
          <a:xfrm>
            <a:off x="1344175" y="3566550"/>
            <a:ext cx="450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    7           8 - 7        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9          9               9            9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1783900" y="3729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 txBox="1"/>
          <p:nvPr/>
        </p:nvSpPr>
        <p:spPr>
          <a:xfrm>
            <a:off x="2919400" y="38050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4"/>
          <p:cNvCxnSpPr/>
          <p:nvPr/>
        </p:nvCxnSpPr>
        <p:spPr>
          <a:xfrm>
            <a:off x="1277500" y="4074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4"/>
          <p:cNvCxnSpPr/>
          <p:nvPr/>
        </p:nvCxnSpPr>
        <p:spPr>
          <a:xfrm>
            <a:off x="2240575" y="4074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4"/>
          <p:cNvCxnSpPr>
            <a:stCxn id="177" idx="3"/>
          </p:cNvCxnSpPr>
          <p:nvPr/>
        </p:nvCxnSpPr>
        <p:spPr>
          <a:xfrm>
            <a:off x="3286600" y="4074450"/>
            <a:ext cx="80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4"/>
          <p:cNvCxnSpPr/>
          <p:nvPr/>
        </p:nvCxnSpPr>
        <p:spPr>
          <a:xfrm>
            <a:off x="4572000" y="2810025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4"/>
          <p:cNvSpPr txBox="1"/>
          <p:nvPr/>
        </p:nvSpPr>
        <p:spPr>
          <a:xfrm>
            <a:off x="4144025" y="2518225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4"/>
          <p:cNvCxnSpPr/>
          <p:nvPr/>
        </p:nvCxnSpPr>
        <p:spPr>
          <a:xfrm>
            <a:off x="4511225" y="4074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4"/>
          <p:cNvSpPr txBox="1"/>
          <p:nvPr/>
        </p:nvSpPr>
        <p:spPr>
          <a:xfrm>
            <a:off x="4119488" y="3729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92" name="Google Shape;19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 txBox="1"/>
          <p:nvPr/>
        </p:nvSpPr>
        <p:spPr>
          <a:xfrm>
            <a:off x="0" y="187600"/>
            <a:ext cx="90054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y resuelve los siguientes ejercicios según lo que aprendimos en la diapositiva anterior.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477975" y="155595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4          1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7          7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562025" y="2782425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6          3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9          9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3283500" y="1555950"/>
            <a:ext cx="163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12         8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23        23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7" name="Google Shape;197;p5"/>
          <p:cNvSpPr txBox="1"/>
          <p:nvPr/>
        </p:nvSpPr>
        <p:spPr>
          <a:xfrm>
            <a:off x="3283500" y="2738900"/>
            <a:ext cx="163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25        18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38        38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6222525" y="1555950"/>
            <a:ext cx="163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32        19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40        40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6260825" y="2662700"/>
            <a:ext cx="163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11        8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12       12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945700" y="1758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1021900" y="29773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3841300" y="1758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3841300" y="29773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6813100" y="2901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6736900" y="1758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1845850" y="17478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1845850" y="2967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4665250" y="1824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4741450" y="28908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7637050" y="1824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7637050" y="28908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5"/>
          <p:cNvCxnSpPr/>
          <p:nvPr/>
        </p:nvCxnSpPr>
        <p:spPr>
          <a:xfrm>
            <a:off x="4297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5"/>
          <p:cNvCxnSpPr/>
          <p:nvPr/>
        </p:nvCxnSpPr>
        <p:spPr>
          <a:xfrm>
            <a:off x="13441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5"/>
          <p:cNvCxnSpPr/>
          <p:nvPr/>
        </p:nvCxnSpPr>
        <p:spPr>
          <a:xfrm>
            <a:off x="582175" y="33082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5"/>
          <p:cNvCxnSpPr/>
          <p:nvPr/>
        </p:nvCxnSpPr>
        <p:spPr>
          <a:xfrm>
            <a:off x="1420375" y="33082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5"/>
          <p:cNvCxnSpPr/>
          <p:nvPr/>
        </p:nvCxnSpPr>
        <p:spPr>
          <a:xfrm>
            <a:off x="3249175" y="3232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5"/>
          <p:cNvCxnSpPr/>
          <p:nvPr/>
        </p:nvCxnSpPr>
        <p:spPr>
          <a:xfrm>
            <a:off x="4239775" y="3232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5"/>
          <p:cNvCxnSpPr/>
          <p:nvPr/>
        </p:nvCxnSpPr>
        <p:spPr>
          <a:xfrm>
            <a:off x="32491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5"/>
          <p:cNvCxnSpPr/>
          <p:nvPr/>
        </p:nvCxnSpPr>
        <p:spPr>
          <a:xfrm>
            <a:off x="41635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5"/>
          <p:cNvCxnSpPr/>
          <p:nvPr/>
        </p:nvCxnSpPr>
        <p:spPr>
          <a:xfrm>
            <a:off x="62209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5"/>
          <p:cNvCxnSpPr/>
          <p:nvPr/>
        </p:nvCxnSpPr>
        <p:spPr>
          <a:xfrm>
            <a:off x="7135375" y="20890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5"/>
          <p:cNvCxnSpPr/>
          <p:nvPr/>
        </p:nvCxnSpPr>
        <p:spPr>
          <a:xfrm>
            <a:off x="7135375" y="31558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5"/>
          <p:cNvCxnSpPr/>
          <p:nvPr/>
        </p:nvCxnSpPr>
        <p:spPr>
          <a:xfrm>
            <a:off x="6297175" y="31558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5"/>
          <p:cNvSpPr txBox="1"/>
          <p:nvPr/>
        </p:nvSpPr>
        <p:spPr>
          <a:xfrm>
            <a:off x="2135538" y="2814600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25" name="Google Shape;225;p5"/>
          <p:cNvCxnSpPr>
            <a:stCxn id="224" idx="1"/>
            <a:endCxn id="224" idx="3"/>
          </p:cNvCxnSpPr>
          <p:nvPr/>
        </p:nvCxnSpPr>
        <p:spPr>
          <a:xfrm>
            <a:off x="2135538" y="3322500"/>
            <a:ext cx="50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5"/>
          <p:cNvSpPr txBox="1"/>
          <p:nvPr/>
        </p:nvSpPr>
        <p:spPr>
          <a:xfrm>
            <a:off x="2149588" y="1571525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27" name="Google Shape;227;p5"/>
          <p:cNvCxnSpPr>
            <a:stCxn id="226" idx="1"/>
            <a:endCxn id="226" idx="3"/>
          </p:cNvCxnSpPr>
          <p:nvPr/>
        </p:nvCxnSpPr>
        <p:spPr>
          <a:xfrm>
            <a:off x="2149588" y="2079425"/>
            <a:ext cx="50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5"/>
          <p:cNvSpPr txBox="1"/>
          <p:nvPr/>
        </p:nvSpPr>
        <p:spPr>
          <a:xfrm>
            <a:off x="5114700" y="1585500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29" name="Google Shape;229;p5"/>
          <p:cNvCxnSpPr>
            <a:stCxn id="228" idx="1"/>
            <a:endCxn id="228" idx="3"/>
          </p:cNvCxnSpPr>
          <p:nvPr/>
        </p:nvCxnSpPr>
        <p:spPr>
          <a:xfrm>
            <a:off x="5114700" y="20934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5"/>
          <p:cNvSpPr txBox="1"/>
          <p:nvPr/>
        </p:nvSpPr>
        <p:spPr>
          <a:xfrm>
            <a:off x="5152025" y="2782425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31" name="Google Shape;231;p5"/>
          <p:cNvCxnSpPr>
            <a:stCxn id="230" idx="1"/>
            <a:endCxn id="230" idx="3"/>
          </p:cNvCxnSpPr>
          <p:nvPr/>
        </p:nvCxnSpPr>
        <p:spPr>
          <a:xfrm>
            <a:off x="5152025" y="3290325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5"/>
          <p:cNvSpPr txBox="1"/>
          <p:nvPr/>
        </p:nvSpPr>
        <p:spPr>
          <a:xfrm>
            <a:off x="8004238" y="1571525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33" name="Google Shape;233;p5"/>
          <p:cNvCxnSpPr>
            <a:stCxn id="232" idx="1"/>
            <a:endCxn id="232" idx="3"/>
          </p:cNvCxnSpPr>
          <p:nvPr/>
        </p:nvCxnSpPr>
        <p:spPr>
          <a:xfrm>
            <a:off x="8004238" y="2079425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5"/>
          <p:cNvSpPr txBox="1"/>
          <p:nvPr/>
        </p:nvSpPr>
        <p:spPr>
          <a:xfrm>
            <a:off x="7973563" y="2693850"/>
            <a:ext cx="506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35" name="Google Shape;235;p5"/>
          <p:cNvCxnSpPr>
            <a:stCxn id="234" idx="1"/>
            <a:endCxn id="234" idx="3"/>
          </p:cNvCxnSpPr>
          <p:nvPr/>
        </p:nvCxnSpPr>
        <p:spPr>
          <a:xfrm>
            <a:off x="7973563" y="3201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5"/>
          <p:cNvSpPr/>
          <p:nvPr/>
        </p:nvSpPr>
        <p:spPr>
          <a:xfrm>
            <a:off x="79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2746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5794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79950" y="3075875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2741475" y="30997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5832750" y="305520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42" name="Google Shape;24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47" name="Google Shape;247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6"/>
          <p:cNvSpPr txBox="1"/>
          <p:nvPr/>
        </p:nvSpPr>
        <p:spPr>
          <a:xfrm>
            <a:off x="2442175" y="228600"/>
            <a:ext cx="640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Resta de fracciones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74400" y="813450"/>
            <a:ext cx="9144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2.    Resta fracciones de distinto denominador:</a:t>
            </a:r>
            <a:endParaRPr b="1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Char char="○"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Debemos encontrar un denominador común (m.c.m)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Char char="○"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Transformar todas las fracciones al mismo denominador.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ejemplo: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3353375" y="227130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7          3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8          6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3830825" y="24295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4943475" y="2509800"/>
            <a:ext cx="238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6"/>
          <p:cNvCxnSpPr/>
          <p:nvPr/>
        </p:nvCxnSpPr>
        <p:spPr>
          <a:xfrm>
            <a:off x="3203650" y="27792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6"/>
          <p:cNvCxnSpPr/>
          <p:nvPr/>
        </p:nvCxnSpPr>
        <p:spPr>
          <a:xfrm>
            <a:off x="4318800" y="27792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6"/>
          <p:cNvSpPr/>
          <p:nvPr/>
        </p:nvSpPr>
        <p:spPr>
          <a:xfrm>
            <a:off x="3830825" y="3287100"/>
            <a:ext cx="506400" cy="677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2865600" y="410672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Pasos para resolverlo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62" name="Google Shape;26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 txBox="1"/>
          <p:nvPr/>
        </p:nvSpPr>
        <p:spPr>
          <a:xfrm>
            <a:off x="2442175" y="228600"/>
            <a:ext cx="640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Resta de fracciones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 txBox="1"/>
          <p:nvPr/>
        </p:nvSpPr>
        <p:spPr>
          <a:xfrm>
            <a:off x="936175" y="11338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1998250" y="11382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7"/>
          <p:cNvCxnSpPr/>
          <p:nvPr/>
        </p:nvCxnSpPr>
        <p:spPr>
          <a:xfrm>
            <a:off x="429775" y="14032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7"/>
          <p:cNvCxnSpPr/>
          <p:nvPr/>
        </p:nvCxnSpPr>
        <p:spPr>
          <a:xfrm>
            <a:off x="1306650" y="14076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7"/>
          <p:cNvSpPr txBox="1"/>
          <p:nvPr/>
        </p:nvSpPr>
        <p:spPr>
          <a:xfrm>
            <a:off x="4945025" y="1437450"/>
            <a:ext cx="300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m.c.m de 8 y 6 →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4328425" y="1407600"/>
            <a:ext cx="2400" cy="141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7"/>
          <p:cNvCxnSpPr/>
          <p:nvPr/>
        </p:nvCxnSpPr>
        <p:spPr>
          <a:xfrm>
            <a:off x="3532225" y="1685900"/>
            <a:ext cx="8724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7"/>
          <p:cNvSpPr txBox="1"/>
          <p:nvPr/>
        </p:nvSpPr>
        <p:spPr>
          <a:xfrm>
            <a:off x="6915750" y="1420400"/>
            <a:ext cx="2238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x 2 x 2 x 3 = </a:t>
            </a:r>
            <a:r>
              <a:rPr b="0" i="0" lang="es" sz="2300" u="none" cap="none" strike="noStrike">
                <a:solidFill>
                  <a:schemeClr val="dk1"/>
                </a:solidFill>
                <a:highlight>
                  <a:srgbClr val="23BAAF"/>
                </a:highlight>
                <a:latin typeface="Patrick Hand"/>
                <a:ea typeface="Patrick Hand"/>
                <a:cs typeface="Patrick Hand"/>
                <a:sym typeface="Patrick Hand"/>
              </a:rPr>
              <a:t>24 </a:t>
            </a:r>
            <a:endParaRPr b="0" i="0" sz="1400" u="none" cap="none" strike="noStrike">
              <a:solidFill>
                <a:srgbClr val="000000"/>
              </a:solidFill>
              <a:highlight>
                <a:srgbClr val="23BAA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3315325" y="2982775"/>
            <a:ext cx="5838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Amplificar los numeradores a lo mismo que se amplifico el denominador.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2871925" y="1039100"/>
            <a:ext cx="367200" cy="433200"/>
          </a:xfrm>
          <a:prstGeom prst="ellipse">
            <a:avLst/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1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3239125" y="994100"/>
            <a:ext cx="575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Encontrar m.c.m de los denominadores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3427525" y="1262725"/>
            <a:ext cx="16347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	6	2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	3	2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	</a:t>
            </a:r>
            <a:r>
              <a:rPr b="0" i="0" lang="es" sz="23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3	</a:t>
            </a: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	</a:t>
            </a:r>
            <a:r>
              <a:rPr b="0" i="0" lang="es" sz="23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3	</a:t>
            </a: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871925" y="2677975"/>
            <a:ext cx="367200" cy="433200"/>
          </a:xfrm>
          <a:prstGeom prst="ellipse">
            <a:avLst/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1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1303375" y="3463675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7              21        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8              24       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8" name="Google Shape;278;p7"/>
          <p:cNvSpPr txBox="1"/>
          <p:nvPr/>
        </p:nvSpPr>
        <p:spPr>
          <a:xfrm>
            <a:off x="4945025" y="3463675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3               12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6                24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1875950" y="33207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x 3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1875950" y="40089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x 3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5434275" y="31660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x 4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5543375" y="40089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x 4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1522749" y="3373750"/>
            <a:ext cx="1455903" cy="223674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5180349" y="3373750"/>
            <a:ext cx="1455903" cy="223674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1495775" y="4295200"/>
            <a:ext cx="1455841" cy="223661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5229575" y="4371400"/>
            <a:ext cx="1455841" cy="223661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7"/>
          <p:cNvCxnSpPr/>
          <p:nvPr/>
        </p:nvCxnSpPr>
        <p:spPr>
          <a:xfrm>
            <a:off x="1298850" y="3978425"/>
            <a:ext cx="359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7"/>
          <p:cNvCxnSpPr/>
          <p:nvPr/>
        </p:nvCxnSpPr>
        <p:spPr>
          <a:xfrm>
            <a:off x="2670450" y="3978425"/>
            <a:ext cx="359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7"/>
          <p:cNvCxnSpPr/>
          <p:nvPr/>
        </p:nvCxnSpPr>
        <p:spPr>
          <a:xfrm>
            <a:off x="5032650" y="3978425"/>
            <a:ext cx="359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7"/>
          <p:cNvCxnSpPr/>
          <p:nvPr/>
        </p:nvCxnSpPr>
        <p:spPr>
          <a:xfrm>
            <a:off x="6480450" y="3978425"/>
            <a:ext cx="359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7"/>
          <p:cNvSpPr txBox="1"/>
          <p:nvPr/>
        </p:nvSpPr>
        <p:spPr>
          <a:xfrm>
            <a:off x="429775" y="871125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7          3  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8          6             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92" name="Google Shape;29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97" name="Google Shape;29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910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8"/>
          <p:cNvSpPr/>
          <p:nvPr/>
        </p:nvSpPr>
        <p:spPr>
          <a:xfrm>
            <a:off x="6089400" y="3792800"/>
            <a:ext cx="585000" cy="1045500"/>
          </a:xfrm>
          <a:prstGeom prst="roundRect">
            <a:avLst>
              <a:gd fmla="val 16667" name="adj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 txBox="1"/>
          <p:nvPr/>
        </p:nvSpPr>
        <p:spPr>
          <a:xfrm>
            <a:off x="2442175" y="228600"/>
            <a:ext cx="640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Resta de fracciones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433525" y="1039100"/>
            <a:ext cx="367200" cy="433200"/>
          </a:xfrm>
          <a:prstGeom prst="ellipse">
            <a:avLst/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1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1" name="Google Shape;301;p8"/>
          <p:cNvSpPr txBox="1"/>
          <p:nvPr/>
        </p:nvSpPr>
        <p:spPr>
          <a:xfrm>
            <a:off x="975775" y="832150"/>
            <a:ext cx="787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Restar las fracciones con el mismo denominador ya amplificadas.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1155025" y="13553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21       12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24       24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3" name="Google Shape;303;p8"/>
          <p:cNvSpPr txBox="1"/>
          <p:nvPr/>
        </p:nvSpPr>
        <p:spPr>
          <a:xfrm>
            <a:off x="1734750" y="14723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3411625" y="13553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21      12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24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5839975" y="13525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24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06" name="Google Shape;306;p8"/>
          <p:cNvCxnSpPr/>
          <p:nvPr/>
        </p:nvCxnSpPr>
        <p:spPr>
          <a:xfrm>
            <a:off x="1191775" y="1860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8"/>
          <p:cNvCxnSpPr/>
          <p:nvPr/>
        </p:nvCxnSpPr>
        <p:spPr>
          <a:xfrm>
            <a:off x="2029975" y="1860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8"/>
          <p:cNvCxnSpPr/>
          <p:nvPr/>
        </p:nvCxnSpPr>
        <p:spPr>
          <a:xfrm>
            <a:off x="3630175" y="1936650"/>
            <a:ext cx="9879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8"/>
          <p:cNvCxnSpPr/>
          <p:nvPr/>
        </p:nvCxnSpPr>
        <p:spPr>
          <a:xfrm>
            <a:off x="5839975" y="19366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8"/>
          <p:cNvSpPr txBox="1"/>
          <p:nvPr/>
        </p:nvSpPr>
        <p:spPr>
          <a:xfrm>
            <a:off x="3944275" y="13553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5171650" y="15910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2785350" y="1674100"/>
            <a:ext cx="626400" cy="26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 rot="5400000">
            <a:off x="5662825" y="2598600"/>
            <a:ext cx="860700" cy="585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 txBox="1"/>
          <p:nvPr/>
        </p:nvSpPr>
        <p:spPr>
          <a:xfrm>
            <a:off x="3482275" y="3245250"/>
            <a:ext cx="787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Puedo simplificar esta fracción: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 txBox="1"/>
          <p:nvPr/>
        </p:nvSpPr>
        <p:spPr>
          <a:xfrm>
            <a:off x="4270375" y="3761450"/>
            <a:ext cx="506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24 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16" name="Google Shape;316;p8"/>
          <p:cNvCxnSpPr/>
          <p:nvPr/>
        </p:nvCxnSpPr>
        <p:spPr>
          <a:xfrm>
            <a:off x="4270375" y="43155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8"/>
          <p:cNvSpPr txBox="1"/>
          <p:nvPr/>
        </p:nvSpPr>
        <p:spPr>
          <a:xfrm>
            <a:off x="6214350" y="3761450"/>
            <a:ext cx="1454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s" sz="3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      </a:t>
            </a:r>
            <a:endParaRPr b="0" i="0" sz="30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4804375" y="4182350"/>
            <a:ext cx="1062300" cy="26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3BAAF"/>
          </a:solidFill>
          <a:ln cap="flat" cmpd="sng" w="952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8"/>
          <p:cNvCxnSpPr/>
          <p:nvPr/>
        </p:nvCxnSpPr>
        <p:spPr>
          <a:xfrm>
            <a:off x="6107988" y="43155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8"/>
          <p:cNvSpPr txBox="1"/>
          <p:nvPr/>
        </p:nvSpPr>
        <p:spPr>
          <a:xfrm>
            <a:off x="4945375" y="3749750"/>
            <a:ext cx="86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3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4929175" y="4253700"/>
            <a:ext cx="506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3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329" name="Google Shape;329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9"/>
          <p:cNvSpPr txBox="1"/>
          <p:nvPr/>
        </p:nvSpPr>
        <p:spPr>
          <a:xfrm>
            <a:off x="0" y="187600"/>
            <a:ext cx="90054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y resuelve los siguientes ejercicios según lo que aprendimos en la diapositiva anterior.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9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464650" y="17425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7       4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9        6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5139800" y="209420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779075" y="18720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9"/>
          <p:cNvCxnSpPr/>
          <p:nvPr/>
        </p:nvCxnSpPr>
        <p:spPr>
          <a:xfrm>
            <a:off x="1115575" y="2241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9"/>
          <p:cNvCxnSpPr/>
          <p:nvPr/>
        </p:nvCxnSpPr>
        <p:spPr>
          <a:xfrm>
            <a:off x="353575" y="2241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9"/>
          <p:cNvSpPr txBox="1"/>
          <p:nvPr/>
        </p:nvSpPr>
        <p:spPr>
          <a:xfrm>
            <a:off x="1600750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 txBox="1"/>
          <p:nvPr/>
        </p:nvSpPr>
        <p:spPr>
          <a:xfrm>
            <a:off x="1904850" y="17335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28    24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36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9" name="Google Shape;339;p9"/>
          <p:cNvSpPr txBox="1"/>
          <p:nvPr/>
        </p:nvSpPr>
        <p:spPr>
          <a:xfrm>
            <a:off x="2324700" y="17100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9"/>
          <p:cNvCxnSpPr>
            <a:stCxn id="338" idx="1"/>
            <a:endCxn id="338" idx="3"/>
          </p:cNvCxnSpPr>
          <p:nvPr/>
        </p:nvCxnSpPr>
        <p:spPr>
          <a:xfrm>
            <a:off x="1904850" y="22414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9"/>
          <p:cNvSpPr txBox="1"/>
          <p:nvPr/>
        </p:nvSpPr>
        <p:spPr>
          <a:xfrm>
            <a:off x="3449025" y="17425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36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2" name="Google Shape;342;p9"/>
          <p:cNvSpPr txBox="1"/>
          <p:nvPr/>
        </p:nvSpPr>
        <p:spPr>
          <a:xfrm>
            <a:off x="3124750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9"/>
          <p:cNvCxnSpPr/>
          <p:nvPr/>
        </p:nvCxnSpPr>
        <p:spPr>
          <a:xfrm>
            <a:off x="3449025" y="22504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9"/>
          <p:cNvSpPr/>
          <p:nvPr/>
        </p:nvSpPr>
        <p:spPr>
          <a:xfrm>
            <a:off x="79950" y="33163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5" name="Google Shape;345;p9"/>
          <p:cNvSpPr txBox="1"/>
          <p:nvPr/>
        </p:nvSpPr>
        <p:spPr>
          <a:xfrm>
            <a:off x="4353450" y="1782825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46" name="Google Shape;346;p9"/>
          <p:cNvCxnSpPr>
            <a:stCxn id="345" idx="1"/>
            <a:endCxn id="345" idx="3"/>
          </p:cNvCxnSpPr>
          <p:nvPr/>
        </p:nvCxnSpPr>
        <p:spPr>
          <a:xfrm>
            <a:off x="4353450" y="2290725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9"/>
          <p:cNvSpPr txBox="1"/>
          <p:nvPr/>
        </p:nvSpPr>
        <p:spPr>
          <a:xfrm>
            <a:off x="3919950" y="1565200"/>
            <a:ext cx="86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4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3941750" y="2150200"/>
            <a:ext cx="86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4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5520800" y="173285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14       3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20      8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0" name="Google Shape;350;p9"/>
          <p:cNvSpPr txBox="1"/>
          <p:nvPr/>
        </p:nvSpPr>
        <p:spPr>
          <a:xfrm>
            <a:off x="5884475" y="18720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6894275" y="17328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28   15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40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2" name="Google Shape;352;p9"/>
          <p:cNvSpPr txBox="1"/>
          <p:nvPr/>
        </p:nvSpPr>
        <p:spPr>
          <a:xfrm>
            <a:off x="8442775" y="173355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3" name="Google Shape;353;p9"/>
          <p:cNvSpPr txBox="1"/>
          <p:nvPr/>
        </p:nvSpPr>
        <p:spPr>
          <a:xfrm>
            <a:off x="6529975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"/>
          <p:cNvSpPr txBox="1"/>
          <p:nvPr/>
        </p:nvSpPr>
        <p:spPr>
          <a:xfrm>
            <a:off x="8088925" y="1981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9"/>
          <p:cNvCxnSpPr/>
          <p:nvPr/>
        </p:nvCxnSpPr>
        <p:spPr>
          <a:xfrm>
            <a:off x="5483863" y="2240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9"/>
          <p:cNvCxnSpPr/>
          <p:nvPr/>
        </p:nvCxnSpPr>
        <p:spPr>
          <a:xfrm>
            <a:off x="6263338" y="2240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9"/>
          <p:cNvCxnSpPr>
            <a:stCxn id="352" idx="1"/>
            <a:endCxn id="352" idx="3"/>
          </p:cNvCxnSpPr>
          <p:nvPr/>
        </p:nvCxnSpPr>
        <p:spPr>
          <a:xfrm>
            <a:off x="8442775" y="224145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9"/>
          <p:cNvCxnSpPr/>
          <p:nvPr/>
        </p:nvCxnSpPr>
        <p:spPr>
          <a:xfrm>
            <a:off x="6914850" y="22407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9"/>
          <p:cNvSpPr txBox="1"/>
          <p:nvPr/>
        </p:nvSpPr>
        <p:spPr>
          <a:xfrm>
            <a:off x="464650" y="30358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13       8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15      10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0" name="Google Shape;360;p9"/>
          <p:cNvSpPr txBox="1"/>
          <p:nvPr/>
        </p:nvSpPr>
        <p:spPr>
          <a:xfrm>
            <a:off x="935125" y="3091113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 txBox="1"/>
          <p:nvPr/>
        </p:nvSpPr>
        <p:spPr>
          <a:xfrm>
            <a:off x="1859900" y="30610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26   24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30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2" name="Google Shape;362;p9"/>
          <p:cNvSpPr txBox="1"/>
          <p:nvPr/>
        </p:nvSpPr>
        <p:spPr>
          <a:xfrm>
            <a:off x="3449025" y="30358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3919950" y="2915550"/>
            <a:ext cx="86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2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 txBox="1"/>
          <p:nvPr/>
        </p:nvSpPr>
        <p:spPr>
          <a:xfrm>
            <a:off x="3919950" y="3420400"/>
            <a:ext cx="86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2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4429450" y="30358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66" name="Google Shape;366;p9"/>
          <p:cNvCxnSpPr/>
          <p:nvPr/>
        </p:nvCxnSpPr>
        <p:spPr>
          <a:xfrm>
            <a:off x="1859900" y="35689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9"/>
          <p:cNvSpPr txBox="1"/>
          <p:nvPr/>
        </p:nvSpPr>
        <p:spPr>
          <a:xfrm>
            <a:off x="1538350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 txBox="1"/>
          <p:nvPr/>
        </p:nvSpPr>
        <p:spPr>
          <a:xfrm>
            <a:off x="3124750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"/>
          <p:cNvSpPr txBox="1"/>
          <p:nvPr/>
        </p:nvSpPr>
        <p:spPr>
          <a:xfrm>
            <a:off x="4034163" y="1920875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4050988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9"/>
          <p:cNvCxnSpPr/>
          <p:nvPr/>
        </p:nvCxnSpPr>
        <p:spPr>
          <a:xfrm>
            <a:off x="3449025" y="35437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9"/>
          <p:cNvCxnSpPr/>
          <p:nvPr/>
        </p:nvCxnSpPr>
        <p:spPr>
          <a:xfrm>
            <a:off x="4429450" y="350215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9"/>
          <p:cNvCxnSpPr/>
          <p:nvPr/>
        </p:nvCxnSpPr>
        <p:spPr>
          <a:xfrm>
            <a:off x="492850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9"/>
          <p:cNvCxnSpPr/>
          <p:nvPr/>
        </p:nvCxnSpPr>
        <p:spPr>
          <a:xfrm>
            <a:off x="1115575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9"/>
          <p:cNvSpPr/>
          <p:nvPr/>
        </p:nvSpPr>
        <p:spPr>
          <a:xfrm>
            <a:off x="5185350" y="33163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6" name="Google Shape;376;p9"/>
          <p:cNvSpPr txBox="1"/>
          <p:nvPr/>
        </p:nvSpPr>
        <p:spPr>
          <a:xfrm>
            <a:off x="5583200" y="30165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8      1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11      4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7" name="Google Shape;377;p9"/>
          <p:cNvSpPr txBox="1"/>
          <p:nvPr/>
        </p:nvSpPr>
        <p:spPr>
          <a:xfrm>
            <a:off x="5880150" y="3091125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9"/>
          <p:cNvSpPr txBox="1"/>
          <p:nvPr/>
        </p:nvSpPr>
        <p:spPr>
          <a:xfrm>
            <a:off x="6871250" y="30610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32    11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44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2172300" y="30054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 txBox="1"/>
          <p:nvPr/>
        </p:nvSpPr>
        <p:spPr>
          <a:xfrm>
            <a:off x="7277700" y="30816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 txBox="1"/>
          <p:nvPr/>
        </p:nvSpPr>
        <p:spPr>
          <a:xfrm>
            <a:off x="7277700" y="17100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"/>
          <p:cNvSpPr txBox="1"/>
          <p:nvPr/>
        </p:nvSpPr>
        <p:spPr>
          <a:xfrm>
            <a:off x="8189100" y="32148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9"/>
          <p:cNvSpPr txBox="1"/>
          <p:nvPr/>
        </p:nvSpPr>
        <p:spPr>
          <a:xfrm>
            <a:off x="8450350" y="30179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84" name="Google Shape;384;p9"/>
          <p:cNvCxnSpPr/>
          <p:nvPr/>
        </p:nvCxnSpPr>
        <p:spPr>
          <a:xfrm>
            <a:off x="8450350" y="35244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9"/>
          <p:cNvCxnSpPr/>
          <p:nvPr/>
        </p:nvCxnSpPr>
        <p:spPr>
          <a:xfrm>
            <a:off x="5501613" y="34675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9"/>
          <p:cNvCxnSpPr/>
          <p:nvPr/>
        </p:nvCxnSpPr>
        <p:spPr>
          <a:xfrm>
            <a:off x="6231663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9"/>
          <p:cNvSpPr txBox="1"/>
          <p:nvPr/>
        </p:nvSpPr>
        <p:spPr>
          <a:xfrm>
            <a:off x="6575175" y="32134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9"/>
          <p:cNvCxnSpPr/>
          <p:nvPr/>
        </p:nvCxnSpPr>
        <p:spPr>
          <a:xfrm>
            <a:off x="6917600" y="35437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395" name="Google Shape;39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0"/>
          <p:cNvSpPr txBox="1"/>
          <p:nvPr/>
        </p:nvSpPr>
        <p:spPr>
          <a:xfrm>
            <a:off x="0" y="187600"/>
            <a:ext cx="90054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y resuelve los siguientes ejercicios según lo que aprendimos en la diapositiva anterior. 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79950" y="19321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98" name="Google Shape;398;p10"/>
          <p:cNvSpPr txBox="1"/>
          <p:nvPr/>
        </p:nvSpPr>
        <p:spPr>
          <a:xfrm>
            <a:off x="464650" y="17425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9       5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10     12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225400" y="209420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00" name="Google Shape;400;p10"/>
          <p:cNvSpPr txBox="1"/>
          <p:nvPr/>
        </p:nvSpPr>
        <p:spPr>
          <a:xfrm>
            <a:off x="779075" y="18720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10"/>
          <p:cNvCxnSpPr/>
          <p:nvPr/>
        </p:nvCxnSpPr>
        <p:spPr>
          <a:xfrm>
            <a:off x="1115575" y="2241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10"/>
          <p:cNvCxnSpPr/>
          <p:nvPr/>
        </p:nvCxnSpPr>
        <p:spPr>
          <a:xfrm>
            <a:off x="353575" y="22414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0"/>
          <p:cNvSpPr txBox="1"/>
          <p:nvPr/>
        </p:nvSpPr>
        <p:spPr>
          <a:xfrm>
            <a:off x="1600750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0"/>
          <p:cNvSpPr txBox="1"/>
          <p:nvPr/>
        </p:nvSpPr>
        <p:spPr>
          <a:xfrm>
            <a:off x="1904850" y="17335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54    25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60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05" name="Google Shape;405;p10"/>
          <p:cNvSpPr txBox="1"/>
          <p:nvPr/>
        </p:nvSpPr>
        <p:spPr>
          <a:xfrm>
            <a:off x="2324700" y="17100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10"/>
          <p:cNvCxnSpPr>
            <a:stCxn id="404" idx="1"/>
            <a:endCxn id="404" idx="3"/>
          </p:cNvCxnSpPr>
          <p:nvPr/>
        </p:nvCxnSpPr>
        <p:spPr>
          <a:xfrm>
            <a:off x="1904850" y="22414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10"/>
          <p:cNvSpPr txBox="1"/>
          <p:nvPr/>
        </p:nvSpPr>
        <p:spPr>
          <a:xfrm>
            <a:off x="3449025" y="17425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60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08" name="Google Shape;408;p10"/>
          <p:cNvSpPr txBox="1"/>
          <p:nvPr/>
        </p:nvSpPr>
        <p:spPr>
          <a:xfrm>
            <a:off x="3124750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0"/>
          <p:cNvCxnSpPr/>
          <p:nvPr/>
        </p:nvCxnSpPr>
        <p:spPr>
          <a:xfrm>
            <a:off x="3449025" y="22504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10"/>
          <p:cNvSpPr/>
          <p:nvPr/>
        </p:nvSpPr>
        <p:spPr>
          <a:xfrm>
            <a:off x="79950" y="33163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1" name="Google Shape;411;p10"/>
          <p:cNvSpPr txBox="1"/>
          <p:nvPr/>
        </p:nvSpPr>
        <p:spPr>
          <a:xfrm>
            <a:off x="4682600" y="173285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5       3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2" name="Google Shape;412;p10"/>
          <p:cNvSpPr txBox="1"/>
          <p:nvPr/>
        </p:nvSpPr>
        <p:spPr>
          <a:xfrm>
            <a:off x="5122475" y="187205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0"/>
          <p:cNvSpPr txBox="1"/>
          <p:nvPr/>
        </p:nvSpPr>
        <p:spPr>
          <a:xfrm>
            <a:off x="6208475" y="17328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9     5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4" name="Google Shape;414;p10"/>
          <p:cNvSpPr txBox="1"/>
          <p:nvPr/>
        </p:nvSpPr>
        <p:spPr>
          <a:xfrm>
            <a:off x="7985575" y="173355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5" name="Google Shape;415;p10"/>
          <p:cNvSpPr txBox="1"/>
          <p:nvPr/>
        </p:nvSpPr>
        <p:spPr>
          <a:xfrm>
            <a:off x="5844175" y="18951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0"/>
          <p:cNvSpPr txBox="1"/>
          <p:nvPr/>
        </p:nvSpPr>
        <p:spPr>
          <a:xfrm>
            <a:off x="7479325" y="198100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10"/>
          <p:cNvCxnSpPr/>
          <p:nvPr/>
        </p:nvCxnSpPr>
        <p:spPr>
          <a:xfrm>
            <a:off x="4569463" y="2240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10"/>
          <p:cNvCxnSpPr/>
          <p:nvPr/>
        </p:nvCxnSpPr>
        <p:spPr>
          <a:xfrm>
            <a:off x="5348938" y="22407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10"/>
          <p:cNvCxnSpPr>
            <a:stCxn id="414" idx="1"/>
            <a:endCxn id="414" idx="3"/>
          </p:cNvCxnSpPr>
          <p:nvPr/>
        </p:nvCxnSpPr>
        <p:spPr>
          <a:xfrm>
            <a:off x="7985575" y="224145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10"/>
          <p:cNvCxnSpPr/>
          <p:nvPr/>
        </p:nvCxnSpPr>
        <p:spPr>
          <a:xfrm>
            <a:off x="6229050" y="22407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10"/>
          <p:cNvSpPr txBox="1"/>
          <p:nvPr/>
        </p:nvSpPr>
        <p:spPr>
          <a:xfrm>
            <a:off x="464650" y="30358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8       12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12     20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2" name="Google Shape;422;p10"/>
          <p:cNvSpPr txBox="1"/>
          <p:nvPr/>
        </p:nvSpPr>
        <p:spPr>
          <a:xfrm>
            <a:off x="935125" y="3091113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 txBox="1"/>
          <p:nvPr/>
        </p:nvSpPr>
        <p:spPr>
          <a:xfrm>
            <a:off x="1859900" y="30610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40   36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60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3449025" y="30358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60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25" name="Google Shape;425;p10"/>
          <p:cNvSpPr txBox="1"/>
          <p:nvPr/>
        </p:nvSpPr>
        <p:spPr>
          <a:xfrm>
            <a:off x="3919950" y="2915550"/>
            <a:ext cx="86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4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 txBox="1"/>
          <p:nvPr/>
        </p:nvSpPr>
        <p:spPr>
          <a:xfrm>
            <a:off x="3919950" y="3420400"/>
            <a:ext cx="86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: 4</a:t>
            </a: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0"/>
          <p:cNvSpPr txBox="1"/>
          <p:nvPr/>
        </p:nvSpPr>
        <p:spPr>
          <a:xfrm>
            <a:off x="4429450" y="30358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15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28" name="Google Shape;428;p10"/>
          <p:cNvCxnSpPr/>
          <p:nvPr/>
        </p:nvCxnSpPr>
        <p:spPr>
          <a:xfrm>
            <a:off x="1859900" y="356895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10"/>
          <p:cNvSpPr txBox="1"/>
          <p:nvPr/>
        </p:nvSpPr>
        <p:spPr>
          <a:xfrm>
            <a:off x="1538350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0"/>
          <p:cNvSpPr txBox="1"/>
          <p:nvPr/>
        </p:nvSpPr>
        <p:spPr>
          <a:xfrm>
            <a:off x="3124750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0"/>
          <p:cNvSpPr txBox="1"/>
          <p:nvPr/>
        </p:nvSpPr>
        <p:spPr>
          <a:xfrm>
            <a:off x="4050988" y="32327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10"/>
          <p:cNvCxnSpPr/>
          <p:nvPr/>
        </p:nvCxnSpPr>
        <p:spPr>
          <a:xfrm>
            <a:off x="3449025" y="35437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10"/>
          <p:cNvCxnSpPr/>
          <p:nvPr/>
        </p:nvCxnSpPr>
        <p:spPr>
          <a:xfrm>
            <a:off x="4429450" y="350215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10"/>
          <p:cNvCxnSpPr/>
          <p:nvPr/>
        </p:nvCxnSpPr>
        <p:spPr>
          <a:xfrm>
            <a:off x="492850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10"/>
          <p:cNvCxnSpPr/>
          <p:nvPr/>
        </p:nvCxnSpPr>
        <p:spPr>
          <a:xfrm>
            <a:off x="1115575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10"/>
          <p:cNvSpPr/>
          <p:nvPr/>
        </p:nvSpPr>
        <p:spPr>
          <a:xfrm>
            <a:off x="5185350" y="3316350"/>
            <a:ext cx="290100" cy="293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7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8</a:t>
            </a:r>
            <a:endParaRPr b="0" i="0" sz="17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7" name="Google Shape;437;p10"/>
          <p:cNvSpPr txBox="1"/>
          <p:nvPr/>
        </p:nvSpPr>
        <p:spPr>
          <a:xfrm>
            <a:off x="5583200" y="3016500"/>
            <a:ext cx="144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5     3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6     8 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8" name="Google Shape;438;p10"/>
          <p:cNvSpPr txBox="1"/>
          <p:nvPr/>
        </p:nvSpPr>
        <p:spPr>
          <a:xfrm>
            <a:off x="5880150" y="3091125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0"/>
          <p:cNvSpPr txBox="1"/>
          <p:nvPr/>
        </p:nvSpPr>
        <p:spPr>
          <a:xfrm>
            <a:off x="6871250" y="3061050"/>
            <a:ext cx="11994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20    9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40" name="Google Shape;440;p10"/>
          <p:cNvSpPr txBox="1"/>
          <p:nvPr/>
        </p:nvSpPr>
        <p:spPr>
          <a:xfrm>
            <a:off x="2172300" y="30054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0"/>
          <p:cNvSpPr txBox="1"/>
          <p:nvPr/>
        </p:nvSpPr>
        <p:spPr>
          <a:xfrm>
            <a:off x="7277700" y="30816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0"/>
          <p:cNvSpPr txBox="1"/>
          <p:nvPr/>
        </p:nvSpPr>
        <p:spPr>
          <a:xfrm>
            <a:off x="6515700" y="1710000"/>
            <a:ext cx="3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0"/>
          <p:cNvSpPr txBox="1"/>
          <p:nvPr/>
        </p:nvSpPr>
        <p:spPr>
          <a:xfrm>
            <a:off x="8189100" y="32148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0"/>
          <p:cNvSpPr txBox="1"/>
          <p:nvPr/>
        </p:nvSpPr>
        <p:spPr>
          <a:xfrm>
            <a:off x="8450350" y="3017900"/>
            <a:ext cx="590700" cy="1015800"/>
          </a:xfrm>
          <a:prstGeom prst="rect">
            <a:avLst/>
          </a:prstGeom>
          <a:solidFill>
            <a:srgbClr val="23BA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11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s" sz="27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24</a:t>
            </a:r>
            <a:endParaRPr b="0" i="0" sz="27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45" name="Google Shape;445;p10"/>
          <p:cNvCxnSpPr/>
          <p:nvPr/>
        </p:nvCxnSpPr>
        <p:spPr>
          <a:xfrm>
            <a:off x="8450350" y="3524400"/>
            <a:ext cx="59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10"/>
          <p:cNvCxnSpPr/>
          <p:nvPr/>
        </p:nvCxnSpPr>
        <p:spPr>
          <a:xfrm>
            <a:off x="5501613" y="346750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10"/>
          <p:cNvCxnSpPr/>
          <p:nvPr/>
        </p:nvCxnSpPr>
        <p:spPr>
          <a:xfrm>
            <a:off x="6231663" y="3502150"/>
            <a:ext cx="50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10"/>
          <p:cNvSpPr txBox="1"/>
          <p:nvPr/>
        </p:nvSpPr>
        <p:spPr>
          <a:xfrm>
            <a:off x="6575175" y="3213450"/>
            <a:ext cx="36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10"/>
          <p:cNvCxnSpPr/>
          <p:nvPr/>
        </p:nvCxnSpPr>
        <p:spPr>
          <a:xfrm>
            <a:off x="6917600" y="3543700"/>
            <a:ext cx="119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454" name="Google Shape;454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1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457" name="Google Shape;457;p11" title="Resumen - Fracciones (8 a 9) - Suma y Resta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3975" y="1044875"/>
            <a:ext cx="6516150" cy="36653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8" name="Google Shape;458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0756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2"/>
          <p:cNvSpPr txBox="1"/>
          <p:nvPr/>
        </p:nvSpPr>
        <p:spPr>
          <a:xfrm>
            <a:off x="785234" y="366599"/>
            <a:ext cx="757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952500" y="911025"/>
            <a:ext cx="3619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¿Cuál es el resultado de la resta entre?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65" name="Google Shape;465;p12"/>
          <p:cNvSpPr txBox="1"/>
          <p:nvPr/>
        </p:nvSpPr>
        <p:spPr>
          <a:xfrm>
            <a:off x="2800464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66" name="Google Shape;466;p12"/>
          <p:cNvCxnSpPr/>
          <p:nvPr/>
        </p:nvCxnSpPr>
        <p:spPr>
          <a:xfrm>
            <a:off x="2849063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p12"/>
          <p:cNvSpPr txBox="1"/>
          <p:nvPr/>
        </p:nvSpPr>
        <p:spPr>
          <a:xfrm>
            <a:off x="1977214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68" name="Google Shape;468;p12"/>
          <p:cNvCxnSpPr/>
          <p:nvPr/>
        </p:nvCxnSpPr>
        <p:spPr>
          <a:xfrm>
            <a:off x="2025813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12"/>
          <p:cNvSpPr txBox="1"/>
          <p:nvPr/>
        </p:nvSpPr>
        <p:spPr>
          <a:xfrm>
            <a:off x="4572000" y="911025"/>
            <a:ext cx="3619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¿Cuál es el resultado de la resta entre?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70" name="Google Shape;470;p12"/>
          <p:cNvSpPr txBox="1"/>
          <p:nvPr/>
        </p:nvSpPr>
        <p:spPr>
          <a:xfrm>
            <a:off x="5688239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71" name="Google Shape;471;p12"/>
          <p:cNvCxnSpPr/>
          <p:nvPr/>
        </p:nvCxnSpPr>
        <p:spPr>
          <a:xfrm>
            <a:off x="5736838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12"/>
          <p:cNvSpPr txBox="1"/>
          <p:nvPr/>
        </p:nvSpPr>
        <p:spPr>
          <a:xfrm>
            <a:off x="6495439" y="154573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73" name="Google Shape;473;p12"/>
          <p:cNvCxnSpPr/>
          <p:nvPr/>
        </p:nvCxnSpPr>
        <p:spPr>
          <a:xfrm>
            <a:off x="6544038" y="200473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12"/>
          <p:cNvSpPr txBox="1"/>
          <p:nvPr/>
        </p:nvSpPr>
        <p:spPr>
          <a:xfrm>
            <a:off x="1899100" y="2571750"/>
            <a:ext cx="5345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3) ¿Cuál es el resultado como fracción irreductible de la resta entre?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75" name="Google Shape;475;p12"/>
          <p:cNvSpPr txBox="1"/>
          <p:nvPr/>
        </p:nvSpPr>
        <p:spPr>
          <a:xfrm>
            <a:off x="3878489" y="324728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76" name="Google Shape;476;p12"/>
          <p:cNvCxnSpPr/>
          <p:nvPr/>
        </p:nvCxnSpPr>
        <p:spPr>
          <a:xfrm>
            <a:off x="3927088" y="370628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p12"/>
          <p:cNvSpPr txBox="1"/>
          <p:nvPr/>
        </p:nvSpPr>
        <p:spPr>
          <a:xfrm>
            <a:off x="4685689" y="3247288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78" name="Google Shape;478;p12"/>
          <p:cNvCxnSpPr/>
          <p:nvPr/>
        </p:nvCxnSpPr>
        <p:spPr>
          <a:xfrm>
            <a:off x="4734288" y="3706288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12"/>
          <p:cNvSpPr txBox="1"/>
          <p:nvPr/>
        </p:nvSpPr>
        <p:spPr>
          <a:xfrm>
            <a:off x="845750" y="4086307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https://forms.gle/6ZHPLsQHPzSHc66D6</a:t>
            </a: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p12"/>
          <p:cNvCxnSpPr/>
          <p:nvPr/>
        </p:nvCxnSpPr>
        <p:spPr>
          <a:xfrm>
            <a:off x="6280238" y="2004738"/>
            <a:ext cx="202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12"/>
          <p:cNvCxnSpPr/>
          <p:nvPr/>
        </p:nvCxnSpPr>
        <p:spPr>
          <a:xfrm>
            <a:off x="2577238" y="2004738"/>
            <a:ext cx="202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12"/>
          <p:cNvCxnSpPr/>
          <p:nvPr/>
        </p:nvCxnSpPr>
        <p:spPr>
          <a:xfrm>
            <a:off x="4470588" y="3708988"/>
            <a:ext cx="2028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83" name="Google Shape;483;p12"/>
          <p:cNvPicPr preferRelativeResize="0"/>
          <p:nvPr/>
        </p:nvPicPr>
        <p:blipFill rotWithShape="1">
          <a:blip r:embed="rId4">
            <a:alphaModFix/>
          </a:blip>
          <a:srcRect b="8684" l="8676" r="8684" t="8676"/>
          <a:stretch/>
        </p:blipFill>
        <p:spPr>
          <a:xfrm>
            <a:off x="6808800" y="2744850"/>
            <a:ext cx="1938751" cy="193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488" name="Google Shape;48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3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491" name="Google Shape;491;p13" title="Reforzamiento - Fracciones (8 a 9) - Suma y Resta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50" y="1044864"/>
            <a:ext cx="6553200" cy="36861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2" name="Google Shape;492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0756" y="39466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