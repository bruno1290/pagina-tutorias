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Patrick Hand"/>
      <p:regular r:id="rId22"/>
    </p:embeddedFont>
    <p:embeddedFont>
      <p:font typeface="Poppins"/>
      <p:regular r:id="rId23"/>
      <p:bold r:id="rId24"/>
      <p:italic r:id="rId25"/>
      <p:boldItalic r:id="rId26"/>
    </p:embeddedFont>
    <p:embeddedFont>
      <p:font typeface="Poppins Light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1" roundtripDataSignature="AMtx7mjB4bK6sd9vk1WqABPYWm/7zpOM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atrickHand-regular.fntdata"/><Relationship Id="rId21" Type="http://schemas.openxmlformats.org/officeDocument/2006/relationships/slide" Target="slides/slide15.xml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28" Type="http://schemas.openxmlformats.org/officeDocument/2006/relationships/font" Target="fonts/PoppinsLight-bold.fntdata"/><Relationship Id="rId27" Type="http://schemas.openxmlformats.org/officeDocument/2006/relationships/font" Target="fonts/PoppinsLight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Ligh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font" Target="fonts/PoppinsLight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30c9096d2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30c9096d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30c9096d2b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30c9096d2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30c9096d2b_0_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30c9096d2b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0c9096d2b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0c9096d2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3" name="Google Shape;483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9" name="Google Shape;4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8" name="Google Shape;68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9" name="Google Shape;6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2" name="Google Shape;7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3" name="Google Shape;8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4" name="Google Shape;8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7" name="Google Shape;8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1" name="Google Shape;91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2" name="Google Shape;92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6" name="Google Shape;9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9" name="Google Shape;99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n9.cl/nkn91" TargetMode="External"/><Relationship Id="rId4" Type="http://schemas.openxmlformats.org/officeDocument/2006/relationships/hyperlink" Target="http://n9.cl/x4dx5" TargetMode="External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n9.cl/r6gx2" TargetMode="External"/><Relationship Id="rId4" Type="http://schemas.openxmlformats.org/officeDocument/2006/relationships/hyperlink" Target="http://n9.cl/q92f8" TargetMode="External"/><Relationship Id="rId5" Type="http://schemas.openxmlformats.org/officeDocument/2006/relationships/hyperlink" Target="http://n9.cl/jy9o1" TargetMode="External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forms.gle/8S9ewQqSqRqwe64d8" TargetMode="External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108" name="Google Shape;108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9" name="Google Shape;10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67431" y="4279725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30c9096d2b_0_0"/>
          <p:cNvSpPr txBox="1"/>
          <p:nvPr/>
        </p:nvSpPr>
        <p:spPr>
          <a:xfrm>
            <a:off x="589763" y="125503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Propósito</a:t>
            </a:r>
            <a:r>
              <a:rPr b="1" lang="e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Enseñar al estudiante a sumar fracciones, tanto con igual como con distinto denominador,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desarrollando habilidades para encontrar denominadores comunes.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16" name="Google Shape;116;g330c9096d2b_0_0"/>
          <p:cNvSpPr txBox="1"/>
          <p:nvPr/>
        </p:nvSpPr>
        <p:spPr>
          <a:xfrm>
            <a:off x="868700" y="1980075"/>
            <a:ext cx="3524100" cy="2670600"/>
          </a:xfrm>
          <a:prstGeom prst="rect">
            <a:avLst/>
          </a:prstGeom>
          <a:noFill/>
          <a:ln cap="flat" cmpd="sng" w="28575">
            <a:solidFill>
              <a:srgbClr val="3259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Objetivos de la Clase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Aprender a sumar fracciones con igual denominador.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Aprender a sumar fracciones con distinto denominador.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" name="Google Shape;117;g330c9096d2b_0_0"/>
          <p:cNvSpPr txBox="1"/>
          <p:nvPr/>
        </p:nvSpPr>
        <p:spPr>
          <a:xfrm>
            <a:off x="4782050" y="1979974"/>
            <a:ext cx="3524100" cy="2670600"/>
          </a:xfrm>
          <a:prstGeom prst="rect">
            <a:avLst/>
          </a:prstGeom>
          <a:noFill/>
          <a:ln cap="flat" cmpd="sng" w="28575">
            <a:solidFill>
              <a:srgbClr val="3259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Conceptos Clave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Suma.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Numerador.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Denominador.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" name="Google Shape;118;g330c9096d2b_0_0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30c9096d2b_0_0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30c9096d2b_0_0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1" name="Google Shape;121;g330c9096d2b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67431" y="4279725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30c9096d2b_0_10"/>
          <p:cNvSpPr txBox="1"/>
          <p:nvPr/>
        </p:nvSpPr>
        <p:spPr>
          <a:xfrm>
            <a:off x="589763" y="112168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Consejos para realizar la sesión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27" name="Google Shape;127;g330c9096d2b_0_10"/>
          <p:cNvSpPr txBox="1"/>
          <p:nvPr/>
        </p:nvSpPr>
        <p:spPr>
          <a:xfrm>
            <a:off x="589763" y="1598681"/>
            <a:ext cx="7875000" cy="56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En esa sesión estudiarán a cómo sumar en situaciones con igual o distinto denominador. En el primer caso, pon especial atención si tu estudiante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a la hora de sumar también lo hace en el denominador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 ya que es un error frecuente. Para explicar adecuadamente por qué eso es erróneo,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muéstrale una figura como la siguiente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 [</a:t>
            </a:r>
            <a:r>
              <a:rPr lang="es" sz="11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n9.cl/nkn91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] y explícale que finalmente lo que están haciendo es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agregar “cuadritos” a la misma división.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Luego, realizarán sumas con distinto denominador y para ello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primero enséñale la siguiente figura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 [</a:t>
            </a:r>
            <a:r>
              <a:rPr lang="es" sz="11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4"/>
              </a:rPr>
              <a:t>n9.cl/x4dx5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] y pregúntale: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¿cómo son los “cuadritos” de cada parte? ¿podemos agregarlos a la misma división?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 Deberá ser capaz de darse cuenta que las fracciones tienen distintos cuadritos y por ello no pueden sumarse directamente. Con eso, puedes pasar a explicarle nuevamente el mínimo común múltiplo y así poder sumar.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" name="Google Shape;128;g330c9096d2b_0_10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30c9096d2b_0_10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30c9096d2b_0_10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1" name="Google Shape;131;g330c9096d2b_0_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67431" y="4279725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30c9096d2b_0_86"/>
          <p:cNvSpPr txBox="1"/>
          <p:nvPr/>
        </p:nvSpPr>
        <p:spPr>
          <a:xfrm>
            <a:off x="589763" y="112168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Consejos para realizar la sesión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37" name="Google Shape;137;g330c9096d2b_0_86"/>
          <p:cNvSpPr txBox="1"/>
          <p:nvPr/>
        </p:nvSpPr>
        <p:spPr>
          <a:xfrm>
            <a:off x="589763" y="1598681"/>
            <a:ext cx="7875000" cy="4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Por último, es usual que cuando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sumen fracciones, el numerador es mayor al denominador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 y por tanto podrán representarlo como un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número mixto.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 Pregúntale si tu estudiante recuerda el concepto y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refuercen la noción mediante el siguiente recurso 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[</a:t>
            </a:r>
            <a:r>
              <a:rPr lang="es" sz="11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n9.cl/r6gx2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] que permite ejercitar y visualizar el concepto.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Es sumamente recomendado revisar el recurso interactivo que muestra la suma de fracciones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con igual y distinto denominador: [</a:t>
            </a:r>
            <a:r>
              <a:rPr lang="es" sz="11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4"/>
              </a:rPr>
              <a:t>n9.cl/q92f8],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 [</a:t>
            </a:r>
            <a:r>
              <a:rPr lang="es" sz="11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5"/>
              </a:rPr>
              <a:t>n9.cl/jy9o1]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 (respectivamente).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g330c9096d2b_0_86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30c9096d2b_0_86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30c9096d2b_0_86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1" name="Google Shape;141;g330c9096d2b_0_8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67431" y="4279725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30c9096d2b_0_19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30c9096d2b_0_19"/>
          <p:cNvSpPr txBox="1"/>
          <p:nvPr/>
        </p:nvSpPr>
        <p:spPr>
          <a:xfrm>
            <a:off x="285206" y="1218713"/>
            <a:ext cx="84516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Para Complementar</a:t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Siguiendo el recurso interactivo, pídele a tu estudiante que construya “cuadraditos” para que pueda representar en su casa la suma de 3 pares de fracciones que consideres importante repasar.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8" name="Google Shape;148;g330c9096d2b_0_19"/>
          <p:cNvSpPr txBox="1"/>
          <p:nvPr/>
        </p:nvSpPr>
        <p:spPr>
          <a:xfrm>
            <a:off x="285206" y="3272644"/>
            <a:ext cx="84516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Preguntas de Cierre</a:t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En fracciones con igual denominador, ¿por qué sumamos el numerado y mantenemos el denominador?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En fracciones con distinto denominador, ¿por qué aplicamos mínimo común múltiplo?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9" name="Google Shape;149;g330c9096d2b_0_19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30c9096d2b_0_19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1" name="Google Shape;151;g330c9096d2b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67431" y="4279725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67431" y="3946600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"/>
          <p:cNvSpPr txBox="1"/>
          <p:nvPr>
            <p:ph type="title"/>
          </p:nvPr>
        </p:nvSpPr>
        <p:spPr>
          <a:xfrm>
            <a:off x="471488" y="205383"/>
            <a:ext cx="59151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163" name="Google Shape;163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"/>
          <p:cNvSpPr txBox="1"/>
          <p:nvPr/>
        </p:nvSpPr>
        <p:spPr>
          <a:xfrm>
            <a:off x="497813" y="383963"/>
            <a:ext cx="8148300" cy="3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Recordemos</a:t>
            </a:r>
            <a:endParaRPr b="0" i="0" sz="3200" u="none" cap="none" strike="noStrike">
              <a:solidFill>
                <a:schemeClr val="lt1"/>
              </a:solidFill>
              <a:highlight>
                <a:srgbClr val="009287"/>
              </a:highlight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Una fracción representa las partes que estás considerando del total de partes iguales. Esta se representa de la siguiente manera simbólicamente:</a:t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 1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				 5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65" name="Google Shape;165;p3"/>
          <p:cNvSpPr txBox="1"/>
          <p:nvPr/>
        </p:nvSpPr>
        <p:spPr>
          <a:xfrm>
            <a:off x="4338413" y="1978650"/>
            <a:ext cx="43500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NUMERADOR: número de partes que tenemos. </a:t>
            </a:r>
            <a:endParaRPr b="0" i="0" sz="2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66" name="Google Shape;166;p3"/>
          <p:cNvSpPr txBox="1"/>
          <p:nvPr/>
        </p:nvSpPr>
        <p:spPr>
          <a:xfrm>
            <a:off x="4320252" y="2882138"/>
            <a:ext cx="38346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DENOMINADOR: número de partes en que hemos dividido la unidad</a:t>
            </a:r>
            <a:endParaRPr b="0" i="0" sz="2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1726838" y="1950269"/>
            <a:ext cx="1990800" cy="1627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" name="Google Shape;168;p3"/>
          <p:cNvCxnSpPr/>
          <p:nvPr/>
        </p:nvCxnSpPr>
        <p:spPr>
          <a:xfrm flipH="1" rot="10800000">
            <a:off x="1909394" y="2817650"/>
            <a:ext cx="1625700" cy="132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" name="Google Shape;169;p3"/>
          <p:cNvCxnSpPr>
            <a:endCxn id="165" idx="1"/>
          </p:cNvCxnSpPr>
          <p:nvPr/>
        </p:nvCxnSpPr>
        <p:spPr>
          <a:xfrm>
            <a:off x="3717713" y="2333550"/>
            <a:ext cx="620700" cy="3000"/>
          </a:xfrm>
          <a:prstGeom prst="straightConnector1">
            <a:avLst/>
          </a:pr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0" name="Google Shape;170;p3"/>
          <p:cNvCxnSpPr/>
          <p:nvPr/>
        </p:nvCxnSpPr>
        <p:spPr>
          <a:xfrm>
            <a:off x="3717638" y="3171788"/>
            <a:ext cx="620700" cy="3000"/>
          </a:xfrm>
          <a:prstGeom prst="straightConnector1">
            <a:avLst/>
          </a:pr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71" name="Google Shape;171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67431" y="3946600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176" name="Google Shape;176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4"/>
          <p:cNvSpPr/>
          <p:nvPr/>
        </p:nvSpPr>
        <p:spPr>
          <a:xfrm>
            <a:off x="8181575" y="4024200"/>
            <a:ext cx="662100" cy="759600"/>
          </a:xfrm>
          <a:prstGeom prst="roundRect">
            <a:avLst>
              <a:gd fmla="val 16667" name="adj"/>
            </a:avLst>
          </a:prstGeom>
          <a:solidFill>
            <a:srgbClr val="23BA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"/>
          <p:cNvSpPr txBox="1"/>
          <p:nvPr/>
        </p:nvSpPr>
        <p:spPr>
          <a:xfrm>
            <a:off x="2442175" y="228600"/>
            <a:ext cx="6405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Suma de fracciones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4"/>
          <p:cNvSpPr txBox="1"/>
          <p:nvPr/>
        </p:nvSpPr>
        <p:spPr>
          <a:xfrm>
            <a:off x="74400" y="813450"/>
            <a:ext cx="9144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rick Hand"/>
              <a:buAutoNum type="arabicPeriod"/>
            </a:pPr>
            <a:r>
              <a:rPr b="1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Sumar fracciones de igual denominador:</a:t>
            </a:r>
            <a:endParaRPr b="1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atrick Hand"/>
              <a:buChar char="○"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Se suman los numeradores</a:t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atrick Hand"/>
              <a:buChar char="○"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El denominador queda igual, ya que es igual en todas las fracciones. </a:t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Por ejemplo: </a:t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80" name="Google Shape;180;p4"/>
          <p:cNvSpPr txBox="1"/>
          <p:nvPr/>
        </p:nvSpPr>
        <p:spPr>
          <a:xfrm>
            <a:off x="1277500" y="2302125"/>
            <a:ext cx="3000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3          2                5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7          7               7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81" name="Google Shape;181;p4"/>
          <p:cNvSpPr txBox="1"/>
          <p:nvPr/>
        </p:nvSpPr>
        <p:spPr>
          <a:xfrm>
            <a:off x="1783900" y="24439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+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4"/>
          <p:cNvSpPr txBox="1"/>
          <p:nvPr/>
        </p:nvSpPr>
        <p:spPr>
          <a:xfrm>
            <a:off x="2836450" y="250980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" name="Google Shape;183;p4"/>
          <p:cNvCxnSpPr/>
          <p:nvPr/>
        </p:nvCxnSpPr>
        <p:spPr>
          <a:xfrm>
            <a:off x="3576975" y="27748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" name="Google Shape;184;p4"/>
          <p:cNvCxnSpPr/>
          <p:nvPr/>
        </p:nvCxnSpPr>
        <p:spPr>
          <a:xfrm>
            <a:off x="1344175" y="27748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" name="Google Shape;185;p4"/>
          <p:cNvCxnSpPr/>
          <p:nvPr/>
        </p:nvCxnSpPr>
        <p:spPr>
          <a:xfrm>
            <a:off x="2240575" y="277920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4"/>
          <p:cNvSpPr txBox="1"/>
          <p:nvPr/>
        </p:nvSpPr>
        <p:spPr>
          <a:xfrm>
            <a:off x="1344175" y="3566550"/>
            <a:ext cx="3000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3          7               10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9          9                 9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87" name="Google Shape;187;p4"/>
          <p:cNvSpPr txBox="1"/>
          <p:nvPr/>
        </p:nvSpPr>
        <p:spPr>
          <a:xfrm>
            <a:off x="1783900" y="372900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"/>
          <p:cNvSpPr txBox="1"/>
          <p:nvPr/>
        </p:nvSpPr>
        <p:spPr>
          <a:xfrm>
            <a:off x="2919400" y="38050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9" name="Google Shape;189;p4"/>
          <p:cNvCxnSpPr/>
          <p:nvPr/>
        </p:nvCxnSpPr>
        <p:spPr>
          <a:xfrm>
            <a:off x="1277500" y="40744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" name="Google Shape;190;p4"/>
          <p:cNvCxnSpPr/>
          <p:nvPr/>
        </p:nvCxnSpPr>
        <p:spPr>
          <a:xfrm>
            <a:off x="2240575" y="40744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" name="Google Shape;191;p4"/>
          <p:cNvCxnSpPr/>
          <p:nvPr/>
        </p:nvCxnSpPr>
        <p:spPr>
          <a:xfrm>
            <a:off x="3588550" y="40744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4"/>
          <p:cNvSpPr txBox="1"/>
          <p:nvPr/>
        </p:nvSpPr>
        <p:spPr>
          <a:xfrm>
            <a:off x="4344175" y="3145700"/>
            <a:ext cx="4835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Esta suma nos resulta una fracción impropia que podemos transformar en un n° mixto: 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"/>
          <p:cNvSpPr txBox="1"/>
          <p:nvPr/>
        </p:nvSpPr>
        <p:spPr>
          <a:xfrm>
            <a:off x="8475900" y="3896100"/>
            <a:ext cx="506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9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94" name="Google Shape;194;p4"/>
          <p:cNvSpPr txBox="1"/>
          <p:nvPr/>
        </p:nvSpPr>
        <p:spPr>
          <a:xfrm>
            <a:off x="4817350" y="4007588"/>
            <a:ext cx="506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10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9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5406838" y="4312650"/>
            <a:ext cx="533100" cy="18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3BAAF"/>
          </a:solidFill>
          <a:ln cap="flat" cmpd="sng" w="952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" name="Google Shape;196;p4"/>
          <p:cNvCxnSpPr/>
          <p:nvPr/>
        </p:nvCxnSpPr>
        <p:spPr>
          <a:xfrm>
            <a:off x="4757125" y="451550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" name="Google Shape;197;p4"/>
          <p:cNvCxnSpPr>
            <a:stCxn id="193" idx="1"/>
          </p:cNvCxnSpPr>
          <p:nvPr/>
        </p:nvCxnSpPr>
        <p:spPr>
          <a:xfrm flipH="1" rot="10800000">
            <a:off x="8475900" y="4387200"/>
            <a:ext cx="327600" cy="1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" name="Google Shape;198;p4"/>
          <p:cNvSpPr txBox="1"/>
          <p:nvPr/>
        </p:nvSpPr>
        <p:spPr>
          <a:xfrm>
            <a:off x="5854125" y="3851238"/>
            <a:ext cx="506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9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9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99" name="Google Shape;199;p4"/>
          <p:cNvSpPr txBox="1"/>
          <p:nvPr/>
        </p:nvSpPr>
        <p:spPr>
          <a:xfrm>
            <a:off x="6890900" y="3851238"/>
            <a:ext cx="506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1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9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7617663" y="4267800"/>
            <a:ext cx="533100" cy="18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3BAAF"/>
          </a:solidFill>
          <a:ln cap="flat" cmpd="sng" w="952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"/>
          <p:cNvSpPr txBox="1"/>
          <p:nvPr/>
        </p:nvSpPr>
        <p:spPr>
          <a:xfrm>
            <a:off x="6360525" y="3896100"/>
            <a:ext cx="367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s" sz="3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"/>
          <p:cNvSpPr txBox="1"/>
          <p:nvPr/>
        </p:nvSpPr>
        <p:spPr>
          <a:xfrm>
            <a:off x="6748375" y="40897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6220125" y="4069775"/>
            <a:ext cx="261000" cy="5388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" name="Google Shape;204;p4"/>
          <p:cNvCxnSpPr/>
          <p:nvPr/>
        </p:nvCxnSpPr>
        <p:spPr>
          <a:xfrm>
            <a:off x="6009675" y="4339175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" name="Google Shape;205;p4"/>
          <p:cNvCxnSpPr/>
          <p:nvPr/>
        </p:nvCxnSpPr>
        <p:spPr>
          <a:xfrm>
            <a:off x="6919500" y="4339175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p4"/>
          <p:cNvSpPr txBox="1"/>
          <p:nvPr/>
        </p:nvSpPr>
        <p:spPr>
          <a:xfrm>
            <a:off x="8105375" y="4012800"/>
            <a:ext cx="367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s" sz="3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4141925" y="3708975"/>
            <a:ext cx="202200" cy="860700"/>
          </a:xfrm>
          <a:prstGeom prst="chevron">
            <a:avLst>
              <a:gd fmla="val 50000" name="adj"/>
            </a:avLst>
          </a:prstGeom>
          <a:solidFill>
            <a:srgbClr val="23BAAF"/>
          </a:solidFill>
          <a:ln cap="flat" cmpd="sng" w="952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4543" y="375450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215" name="Google Shape;215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5"/>
          <p:cNvSpPr txBox="1"/>
          <p:nvPr/>
        </p:nvSpPr>
        <p:spPr>
          <a:xfrm>
            <a:off x="0" y="187600"/>
            <a:ext cx="90054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Ejercicios</a:t>
            </a:r>
            <a:endParaRPr b="1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Abre tu cuaderno y resuelve los siguientes ejercicios según lo que aprendimos en la diapositiva anterior. </a:t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17" name="Google Shape;217;p5"/>
          <p:cNvSpPr txBox="1"/>
          <p:nvPr/>
        </p:nvSpPr>
        <p:spPr>
          <a:xfrm>
            <a:off x="477975" y="1555950"/>
            <a:ext cx="1440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3          2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9          9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18" name="Google Shape;218;p5"/>
          <p:cNvSpPr txBox="1"/>
          <p:nvPr/>
        </p:nvSpPr>
        <p:spPr>
          <a:xfrm>
            <a:off x="562025" y="2782425"/>
            <a:ext cx="1440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1          2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4         4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19" name="Google Shape;219;p5"/>
          <p:cNvSpPr txBox="1"/>
          <p:nvPr/>
        </p:nvSpPr>
        <p:spPr>
          <a:xfrm>
            <a:off x="3283500" y="1555950"/>
            <a:ext cx="1639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10         7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21       21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20" name="Google Shape;220;p5"/>
          <p:cNvSpPr txBox="1"/>
          <p:nvPr/>
        </p:nvSpPr>
        <p:spPr>
          <a:xfrm>
            <a:off x="3283500" y="2738900"/>
            <a:ext cx="1639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31       12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49       49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21" name="Google Shape;221;p5"/>
          <p:cNvSpPr txBox="1"/>
          <p:nvPr/>
        </p:nvSpPr>
        <p:spPr>
          <a:xfrm>
            <a:off x="6222525" y="1555950"/>
            <a:ext cx="1639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17       16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34       34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22" name="Google Shape;222;p5"/>
          <p:cNvSpPr txBox="1"/>
          <p:nvPr/>
        </p:nvSpPr>
        <p:spPr>
          <a:xfrm>
            <a:off x="6260825" y="2662700"/>
            <a:ext cx="1639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11       6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18       18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23" name="Google Shape;223;p5"/>
          <p:cNvSpPr txBox="1"/>
          <p:nvPr/>
        </p:nvSpPr>
        <p:spPr>
          <a:xfrm>
            <a:off x="945700" y="17581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5"/>
          <p:cNvSpPr txBox="1"/>
          <p:nvPr/>
        </p:nvSpPr>
        <p:spPr>
          <a:xfrm>
            <a:off x="1021900" y="29773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5"/>
          <p:cNvSpPr txBox="1"/>
          <p:nvPr/>
        </p:nvSpPr>
        <p:spPr>
          <a:xfrm>
            <a:off x="3841300" y="17581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5"/>
          <p:cNvSpPr txBox="1"/>
          <p:nvPr/>
        </p:nvSpPr>
        <p:spPr>
          <a:xfrm>
            <a:off x="3841300" y="29773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5"/>
          <p:cNvSpPr txBox="1"/>
          <p:nvPr/>
        </p:nvSpPr>
        <p:spPr>
          <a:xfrm>
            <a:off x="6813100" y="29011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5"/>
          <p:cNvSpPr txBox="1"/>
          <p:nvPr/>
        </p:nvSpPr>
        <p:spPr>
          <a:xfrm>
            <a:off x="6736900" y="17581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5"/>
          <p:cNvSpPr txBox="1"/>
          <p:nvPr/>
        </p:nvSpPr>
        <p:spPr>
          <a:xfrm>
            <a:off x="1845850" y="174780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5"/>
          <p:cNvSpPr txBox="1"/>
          <p:nvPr/>
        </p:nvSpPr>
        <p:spPr>
          <a:xfrm>
            <a:off x="1845850" y="296700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5"/>
          <p:cNvSpPr txBox="1"/>
          <p:nvPr/>
        </p:nvSpPr>
        <p:spPr>
          <a:xfrm>
            <a:off x="4665250" y="182400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5"/>
          <p:cNvSpPr txBox="1"/>
          <p:nvPr/>
        </p:nvSpPr>
        <p:spPr>
          <a:xfrm>
            <a:off x="4741450" y="289080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5"/>
          <p:cNvSpPr txBox="1"/>
          <p:nvPr/>
        </p:nvSpPr>
        <p:spPr>
          <a:xfrm>
            <a:off x="7637050" y="182400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5"/>
          <p:cNvSpPr txBox="1"/>
          <p:nvPr/>
        </p:nvSpPr>
        <p:spPr>
          <a:xfrm>
            <a:off x="7637050" y="289080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5" name="Google Shape;235;p5"/>
          <p:cNvCxnSpPr/>
          <p:nvPr/>
        </p:nvCxnSpPr>
        <p:spPr>
          <a:xfrm>
            <a:off x="429775" y="20890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6" name="Google Shape;236;p5"/>
          <p:cNvCxnSpPr/>
          <p:nvPr/>
        </p:nvCxnSpPr>
        <p:spPr>
          <a:xfrm>
            <a:off x="1344175" y="20890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7" name="Google Shape;237;p5"/>
          <p:cNvCxnSpPr/>
          <p:nvPr/>
        </p:nvCxnSpPr>
        <p:spPr>
          <a:xfrm>
            <a:off x="582175" y="33082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8" name="Google Shape;238;p5"/>
          <p:cNvCxnSpPr/>
          <p:nvPr/>
        </p:nvCxnSpPr>
        <p:spPr>
          <a:xfrm>
            <a:off x="1420375" y="33082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" name="Google Shape;239;p5"/>
          <p:cNvCxnSpPr/>
          <p:nvPr/>
        </p:nvCxnSpPr>
        <p:spPr>
          <a:xfrm>
            <a:off x="3249175" y="32320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" name="Google Shape;240;p5"/>
          <p:cNvCxnSpPr/>
          <p:nvPr/>
        </p:nvCxnSpPr>
        <p:spPr>
          <a:xfrm>
            <a:off x="4239775" y="32320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" name="Google Shape;241;p5"/>
          <p:cNvCxnSpPr/>
          <p:nvPr/>
        </p:nvCxnSpPr>
        <p:spPr>
          <a:xfrm>
            <a:off x="3249175" y="20890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2" name="Google Shape;242;p5"/>
          <p:cNvCxnSpPr/>
          <p:nvPr/>
        </p:nvCxnSpPr>
        <p:spPr>
          <a:xfrm>
            <a:off x="4163575" y="20890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3" name="Google Shape;243;p5"/>
          <p:cNvCxnSpPr/>
          <p:nvPr/>
        </p:nvCxnSpPr>
        <p:spPr>
          <a:xfrm>
            <a:off x="6220975" y="20890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4" name="Google Shape;244;p5"/>
          <p:cNvCxnSpPr/>
          <p:nvPr/>
        </p:nvCxnSpPr>
        <p:spPr>
          <a:xfrm>
            <a:off x="7135375" y="20890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5" name="Google Shape;245;p5"/>
          <p:cNvCxnSpPr/>
          <p:nvPr/>
        </p:nvCxnSpPr>
        <p:spPr>
          <a:xfrm>
            <a:off x="7135375" y="31558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6" name="Google Shape;246;p5"/>
          <p:cNvCxnSpPr/>
          <p:nvPr/>
        </p:nvCxnSpPr>
        <p:spPr>
          <a:xfrm>
            <a:off x="6297175" y="31558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" name="Google Shape;247;p5"/>
          <p:cNvSpPr txBox="1"/>
          <p:nvPr/>
        </p:nvSpPr>
        <p:spPr>
          <a:xfrm>
            <a:off x="2135538" y="2814600"/>
            <a:ext cx="5064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 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48" name="Google Shape;248;p5"/>
          <p:cNvCxnSpPr>
            <a:stCxn id="247" idx="1"/>
            <a:endCxn id="247" idx="3"/>
          </p:cNvCxnSpPr>
          <p:nvPr/>
        </p:nvCxnSpPr>
        <p:spPr>
          <a:xfrm>
            <a:off x="2135538" y="3322500"/>
            <a:ext cx="506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p5"/>
          <p:cNvSpPr txBox="1"/>
          <p:nvPr/>
        </p:nvSpPr>
        <p:spPr>
          <a:xfrm>
            <a:off x="2149588" y="1571525"/>
            <a:ext cx="5064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5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9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50" name="Google Shape;250;p5"/>
          <p:cNvCxnSpPr>
            <a:stCxn id="249" idx="1"/>
            <a:endCxn id="249" idx="3"/>
          </p:cNvCxnSpPr>
          <p:nvPr/>
        </p:nvCxnSpPr>
        <p:spPr>
          <a:xfrm>
            <a:off x="2149588" y="2079425"/>
            <a:ext cx="506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1" name="Google Shape;251;p5"/>
          <p:cNvSpPr txBox="1"/>
          <p:nvPr/>
        </p:nvSpPr>
        <p:spPr>
          <a:xfrm>
            <a:off x="5114700" y="1585500"/>
            <a:ext cx="5064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17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21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52" name="Google Shape;252;p5"/>
          <p:cNvCxnSpPr>
            <a:stCxn id="251" idx="1"/>
            <a:endCxn id="251" idx="3"/>
          </p:cNvCxnSpPr>
          <p:nvPr/>
        </p:nvCxnSpPr>
        <p:spPr>
          <a:xfrm>
            <a:off x="5114700" y="209340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3" name="Google Shape;253;p5"/>
          <p:cNvSpPr txBox="1"/>
          <p:nvPr/>
        </p:nvSpPr>
        <p:spPr>
          <a:xfrm>
            <a:off x="5152025" y="2782425"/>
            <a:ext cx="5064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43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49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54" name="Google Shape;254;p5"/>
          <p:cNvCxnSpPr>
            <a:stCxn id="253" idx="1"/>
            <a:endCxn id="253" idx="3"/>
          </p:cNvCxnSpPr>
          <p:nvPr/>
        </p:nvCxnSpPr>
        <p:spPr>
          <a:xfrm>
            <a:off x="5152025" y="3290325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5" name="Google Shape;255;p5"/>
          <p:cNvSpPr txBox="1"/>
          <p:nvPr/>
        </p:nvSpPr>
        <p:spPr>
          <a:xfrm>
            <a:off x="8004238" y="1571525"/>
            <a:ext cx="5064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33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34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56" name="Google Shape;256;p5"/>
          <p:cNvCxnSpPr>
            <a:stCxn id="255" idx="1"/>
            <a:endCxn id="255" idx="3"/>
          </p:cNvCxnSpPr>
          <p:nvPr/>
        </p:nvCxnSpPr>
        <p:spPr>
          <a:xfrm>
            <a:off x="8004238" y="2079425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7" name="Google Shape;257;p5"/>
          <p:cNvSpPr txBox="1"/>
          <p:nvPr/>
        </p:nvSpPr>
        <p:spPr>
          <a:xfrm>
            <a:off x="7973563" y="2693850"/>
            <a:ext cx="5064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17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18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58" name="Google Shape;258;p5"/>
          <p:cNvCxnSpPr>
            <a:stCxn id="257" idx="1"/>
            <a:endCxn id="257" idx="3"/>
          </p:cNvCxnSpPr>
          <p:nvPr/>
        </p:nvCxnSpPr>
        <p:spPr>
          <a:xfrm>
            <a:off x="7973563" y="32017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5"/>
          <p:cNvSpPr/>
          <p:nvPr/>
        </p:nvSpPr>
        <p:spPr>
          <a:xfrm>
            <a:off x="79950" y="1932150"/>
            <a:ext cx="290100" cy="293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1</a:t>
            </a:r>
            <a:endParaRPr b="0" i="0" sz="17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60" name="Google Shape;260;p5"/>
          <p:cNvSpPr/>
          <p:nvPr/>
        </p:nvSpPr>
        <p:spPr>
          <a:xfrm>
            <a:off x="2746950" y="1932150"/>
            <a:ext cx="290100" cy="293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2</a:t>
            </a:r>
            <a:endParaRPr b="0" i="0" sz="17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61" name="Google Shape;261;p5"/>
          <p:cNvSpPr/>
          <p:nvPr/>
        </p:nvSpPr>
        <p:spPr>
          <a:xfrm>
            <a:off x="5794950" y="1932150"/>
            <a:ext cx="290100" cy="293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3</a:t>
            </a:r>
            <a:endParaRPr b="0" i="0" sz="17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62" name="Google Shape;262;p5"/>
          <p:cNvSpPr/>
          <p:nvPr/>
        </p:nvSpPr>
        <p:spPr>
          <a:xfrm>
            <a:off x="79950" y="3075875"/>
            <a:ext cx="290100" cy="293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4</a:t>
            </a:r>
            <a:endParaRPr b="0" i="0" sz="17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63" name="Google Shape;263;p5"/>
          <p:cNvSpPr/>
          <p:nvPr/>
        </p:nvSpPr>
        <p:spPr>
          <a:xfrm>
            <a:off x="2741475" y="3099750"/>
            <a:ext cx="290100" cy="293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5</a:t>
            </a:r>
            <a:endParaRPr b="0" i="0" sz="17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64" name="Google Shape;264;p5"/>
          <p:cNvSpPr/>
          <p:nvPr/>
        </p:nvSpPr>
        <p:spPr>
          <a:xfrm>
            <a:off x="5832750" y="3055200"/>
            <a:ext cx="290100" cy="293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6</a:t>
            </a:r>
            <a:endParaRPr b="0" i="0" sz="17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265" name="Google Shape;265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67431" y="3946600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270" name="Google Shape;270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6"/>
          <p:cNvSpPr txBox="1"/>
          <p:nvPr/>
        </p:nvSpPr>
        <p:spPr>
          <a:xfrm>
            <a:off x="2442175" y="228600"/>
            <a:ext cx="6405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Suma de fracciones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6"/>
          <p:cNvSpPr txBox="1"/>
          <p:nvPr/>
        </p:nvSpPr>
        <p:spPr>
          <a:xfrm>
            <a:off x="74400" y="813450"/>
            <a:ext cx="9144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2.    Sumar fracciones de distinto denominador:</a:t>
            </a:r>
            <a:endParaRPr b="1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atrick Hand"/>
              <a:buChar char="○"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Debemos encontrar un denominador común (m.c.m) </a:t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atrick Hand"/>
              <a:buChar char="○"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Transformar todas las fracciones al mismo denominador. </a:t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Por ejemplo: </a:t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73" name="Google Shape;273;p6"/>
          <p:cNvSpPr txBox="1"/>
          <p:nvPr/>
        </p:nvSpPr>
        <p:spPr>
          <a:xfrm>
            <a:off x="3353375" y="2271300"/>
            <a:ext cx="3000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3          2                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5          4              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74" name="Google Shape;274;p6"/>
          <p:cNvSpPr txBox="1"/>
          <p:nvPr/>
        </p:nvSpPr>
        <p:spPr>
          <a:xfrm>
            <a:off x="3830825" y="24295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+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6"/>
          <p:cNvSpPr txBox="1"/>
          <p:nvPr/>
        </p:nvSpPr>
        <p:spPr>
          <a:xfrm>
            <a:off x="4943475" y="2509800"/>
            <a:ext cx="238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6" name="Google Shape;276;p6"/>
          <p:cNvCxnSpPr/>
          <p:nvPr/>
        </p:nvCxnSpPr>
        <p:spPr>
          <a:xfrm>
            <a:off x="3203650" y="277920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7" name="Google Shape;277;p6"/>
          <p:cNvCxnSpPr/>
          <p:nvPr/>
        </p:nvCxnSpPr>
        <p:spPr>
          <a:xfrm>
            <a:off x="4318800" y="277920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" name="Google Shape;278;p6"/>
          <p:cNvSpPr/>
          <p:nvPr/>
        </p:nvSpPr>
        <p:spPr>
          <a:xfrm>
            <a:off x="3830825" y="3287100"/>
            <a:ext cx="506400" cy="677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3BAAF"/>
          </a:solidFill>
          <a:ln cap="flat" cmpd="sng" w="952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6"/>
          <p:cNvSpPr txBox="1"/>
          <p:nvPr/>
        </p:nvSpPr>
        <p:spPr>
          <a:xfrm>
            <a:off x="2865600" y="4106725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Pasos para resolverlo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0" name="Google Shape;280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67431" y="3946600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285" name="Google Shape;285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7"/>
          <p:cNvSpPr txBox="1"/>
          <p:nvPr/>
        </p:nvSpPr>
        <p:spPr>
          <a:xfrm>
            <a:off x="2442175" y="228600"/>
            <a:ext cx="6405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Suma de fracciones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7"/>
          <p:cNvSpPr txBox="1"/>
          <p:nvPr/>
        </p:nvSpPr>
        <p:spPr>
          <a:xfrm>
            <a:off x="515500" y="930525"/>
            <a:ext cx="3000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3          2                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5          4              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88" name="Google Shape;288;p7"/>
          <p:cNvSpPr txBox="1"/>
          <p:nvPr/>
        </p:nvSpPr>
        <p:spPr>
          <a:xfrm>
            <a:off x="936175" y="11338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+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7"/>
          <p:cNvSpPr txBox="1"/>
          <p:nvPr/>
        </p:nvSpPr>
        <p:spPr>
          <a:xfrm>
            <a:off x="1998250" y="113820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0" name="Google Shape;290;p7"/>
          <p:cNvCxnSpPr/>
          <p:nvPr/>
        </p:nvCxnSpPr>
        <p:spPr>
          <a:xfrm>
            <a:off x="429775" y="14032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1" name="Google Shape;291;p7"/>
          <p:cNvCxnSpPr/>
          <p:nvPr/>
        </p:nvCxnSpPr>
        <p:spPr>
          <a:xfrm>
            <a:off x="1306650" y="140760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" name="Google Shape;292;p7"/>
          <p:cNvSpPr txBox="1"/>
          <p:nvPr/>
        </p:nvSpPr>
        <p:spPr>
          <a:xfrm>
            <a:off x="4945025" y="1437450"/>
            <a:ext cx="3000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m.c.m de 5 y 4 → </a:t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93" name="Google Shape;293;p7"/>
          <p:cNvCxnSpPr/>
          <p:nvPr/>
        </p:nvCxnSpPr>
        <p:spPr>
          <a:xfrm>
            <a:off x="4328425" y="1407600"/>
            <a:ext cx="28800" cy="95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" name="Google Shape;294;p7"/>
          <p:cNvCxnSpPr/>
          <p:nvPr/>
        </p:nvCxnSpPr>
        <p:spPr>
          <a:xfrm>
            <a:off x="3532225" y="1685900"/>
            <a:ext cx="872400" cy="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7"/>
          <p:cNvSpPr txBox="1"/>
          <p:nvPr/>
        </p:nvSpPr>
        <p:spPr>
          <a:xfrm>
            <a:off x="7045275" y="1420400"/>
            <a:ext cx="1743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5 x 2 x 2 = </a:t>
            </a:r>
            <a:r>
              <a:rPr b="0" i="0" lang="es" sz="2300" u="none" cap="none" strike="noStrike">
                <a:solidFill>
                  <a:schemeClr val="dk1"/>
                </a:solidFill>
                <a:highlight>
                  <a:srgbClr val="23BAAF"/>
                </a:highlight>
                <a:latin typeface="Patrick Hand"/>
                <a:ea typeface="Patrick Hand"/>
                <a:cs typeface="Patrick Hand"/>
                <a:sym typeface="Patrick Hand"/>
              </a:rPr>
              <a:t>20 </a:t>
            </a:r>
            <a:endParaRPr b="0" i="0" sz="1400" u="none" cap="none" strike="noStrike">
              <a:solidFill>
                <a:srgbClr val="000000"/>
              </a:solidFill>
              <a:highlight>
                <a:srgbClr val="23BAA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7"/>
          <p:cNvSpPr txBox="1"/>
          <p:nvPr/>
        </p:nvSpPr>
        <p:spPr>
          <a:xfrm>
            <a:off x="3315325" y="2601775"/>
            <a:ext cx="58386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Amplificar los numeradores a lo mismo que se amplifico el denominador.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2871925" y="1039100"/>
            <a:ext cx="367200" cy="433200"/>
          </a:xfrm>
          <a:prstGeom prst="ellipse">
            <a:avLst/>
          </a:prstGeom>
          <a:solidFill>
            <a:srgbClr val="23BAAF"/>
          </a:solidFill>
          <a:ln cap="flat" cmpd="sng" w="952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1</a:t>
            </a:r>
            <a:endParaRPr b="0" i="0" sz="21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98" name="Google Shape;298;p7"/>
          <p:cNvSpPr txBox="1"/>
          <p:nvPr/>
        </p:nvSpPr>
        <p:spPr>
          <a:xfrm>
            <a:off x="3239125" y="994100"/>
            <a:ext cx="575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Encontrar m.c.m de los denominadores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7"/>
          <p:cNvSpPr txBox="1"/>
          <p:nvPr/>
        </p:nvSpPr>
        <p:spPr>
          <a:xfrm>
            <a:off x="3479800" y="1250850"/>
            <a:ext cx="16347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5     4    5</a:t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      </a:t>
            </a:r>
            <a:r>
              <a:rPr b="0" i="0" lang="es" sz="23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4   </a:t>
            </a: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</a:t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2   2</a:t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1</a:t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2871925" y="2677975"/>
            <a:ext cx="367200" cy="433200"/>
          </a:xfrm>
          <a:prstGeom prst="ellipse">
            <a:avLst/>
          </a:prstGeom>
          <a:solidFill>
            <a:srgbClr val="23BAAF"/>
          </a:solidFill>
          <a:ln cap="flat" cmpd="sng" w="952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2</a:t>
            </a:r>
            <a:endParaRPr b="0" i="0" sz="21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01" name="Google Shape;301;p7"/>
          <p:cNvSpPr txBox="1"/>
          <p:nvPr/>
        </p:nvSpPr>
        <p:spPr>
          <a:xfrm>
            <a:off x="1303375" y="3463675"/>
            <a:ext cx="3000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3              12                        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5              20                       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02" name="Google Shape;302;p7"/>
          <p:cNvSpPr txBox="1"/>
          <p:nvPr/>
        </p:nvSpPr>
        <p:spPr>
          <a:xfrm>
            <a:off x="4945025" y="3463675"/>
            <a:ext cx="3000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2               10                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4                20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03" name="Google Shape;303;p7"/>
          <p:cNvSpPr txBox="1"/>
          <p:nvPr/>
        </p:nvSpPr>
        <p:spPr>
          <a:xfrm>
            <a:off x="1875950" y="3320713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b="0" i="0" lang="es" sz="20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x 4</a:t>
            </a: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7"/>
          <p:cNvSpPr txBox="1"/>
          <p:nvPr/>
        </p:nvSpPr>
        <p:spPr>
          <a:xfrm>
            <a:off x="1875950" y="4008913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b="0" i="0" lang="es" sz="20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x 4</a:t>
            </a: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7"/>
          <p:cNvSpPr txBox="1"/>
          <p:nvPr/>
        </p:nvSpPr>
        <p:spPr>
          <a:xfrm>
            <a:off x="5434275" y="3166013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b="0" i="0" lang="es" sz="20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x 5</a:t>
            </a: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7"/>
          <p:cNvSpPr txBox="1"/>
          <p:nvPr/>
        </p:nvSpPr>
        <p:spPr>
          <a:xfrm>
            <a:off x="5543375" y="4008913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b="0" i="0" lang="es" sz="20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x 5</a:t>
            </a: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1522749" y="3373750"/>
            <a:ext cx="1455903" cy="223674"/>
          </a:xfrm>
          <a:custGeom>
            <a:rect b="b" l="l" r="r" t="t"/>
            <a:pathLst>
              <a:path extrusionOk="0" h="8017" w="70890">
                <a:moveTo>
                  <a:pt x="0" y="7484"/>
                </a:moveTo>
                <a:cubicBezTo>
                  <a:pt x="5685" y="6240"/>
                  <a:pt x="22297" y="-67"/>
                  <a:pt x="34112" y="22"/>
                </a:cubicBezTo>
                <a:cubicBezTo>
                  <a:pt x="45927" y="111"/>
                  <a:pt x="64760" y="6685"/>
                  <a:pt x="70890" y="8017"/>
                </a:cubicBezTo>
              </a:path>
            </a:pathLst>
          </a:cu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7"/>
          <p:cNvSpPr/>
          <p:nvPr/>
        </p:nvSpPr>
        <p:spPr>
          <a:xfrm>
            <a:off x="5180349" y="3373750"/>
            <a:ext cx="1455903" cy="223674"/>
          </a:xfrm>
          <a:custGeom>
            <a:rect b="b" l="l" r="r" t="t"/>
            <a:pathLst>
              <a:path extrusionOk="0" h="8017" w="70890">
                <a:moveTo>
                  <a:pt x="0" y="7484"/>
                </a:moveTo>
                <a:cubicBezTo>
                  <a:pt x="5685" y="6240"/>
                  <a:pt x="22297" y="-67"/>
                  <a:pt x="34112" y="22"/>
                </a:cubicBezTo>
                <a:cubicBezTo>
                  <a:pt x="45927" y="111"/>
                  <a:pt x="64760" y="6685"/>
                  <a:pt x="70890" y="8017"/>
                </a:cubicBezTo>
              </a:path>
            </a:pathLst>
          </a:cu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7"/>
          <p:cNvSpPr/>
          <p:nvPr/>
        </p:nvSpPr>
        <p:spPr>
          <a:xfrm>
            <a:off x="1495775" y="4295200"/>
            <a:ext cx="1455841" cy="223661"/>
          </a:xfrm>
          <a:custGeom>
            <a:rect b="b" l="l" r="r" t="t"/>
            <a:pathLst>
              <a:path extrusionOk="0" h="11859" w="62362">
                <a:moveTo>
                  <a:pt x="0" y="3198"/>
                </a:moveTo>
                <a:cubicBezTo>
                  <a:pt x="4797" y="4619"/>
                  <a:pt x="18388" y="12259"/>
                  <a:pt x="28782" y="11726"/>
                </a:cubicBezTo>
                <a:cubicBezTo>
                  <a:pt x="39176" y="11193"/>
                  <a:pt x="56765" y="1954"/>
                  <a:pt x="62362" y="0"/>
                </a:cubicBezTo>
              </a:path>
            </a:pathLst>
          </a:cu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7"/>
          <p:cNvSpPr/>
          <p:nvPr/>
        </p:nvSpPr>
        <p:spPr>
          <a:xfrm>
            <a:off x="5229575" y="4371400"/>
            <a:ext cx="1455841" cy="223661"/>
          </a:xfrm>
          <a:custGeom>
            <a:rect b="b" l="l" r="r" t="t"/>
            <a:pathLst>
              <a:path extrusionOk="0" h="11859" w="62362">
                <a:moveTo>
                  <a:pt x="0" y="3198"/>
                </a:moveTo>
                <a:cubicBezTo>
                  <a:pt x="4797" y="4619"/>
                  <a:pt x="18388" y="12259"/>
                  <a:pt x="28782" y="11726"/>
                </a:cubicBezTo>
                <a:cubicBezTo>
                  <a:pt x="39176" y="11193"/>
                  <a:pt x="56765" y="1954"/>
                  <a:pt x="62362" y="0"/>
                </a:cubicBezTo>
              </a:path>
            </a:pathLst>
          </a:cu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1" name="Google Shape;311;p7"/>
          <p:cNvCxnSpPr/>
          <p:nvPr/>
        </p:nvCxnSpPr>
        <p:spPr>
          <a:xfrm>
            <a:off x="1298850" y="3978425"/>
            <a:ext cx="359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" name="Google Shape;312;p7"/>
          <p:cNvCxnSpPr/>
          <p:nvPr/>
        </p:nvCxnSpPr>
        <p:spPr>
          <a:xfrm>
            <a:off x="2670450" y="3978425"/>
            <a:ext cx="359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3" name="Google Shape;313;p7"/>
          <p:cNvCxnSpPr/>
          <p:nvPr/>
        </p:nvCxnSpPr>
        <p:spPr>
          <a:xfrm>
            <a:off x="5032650" y="3978425"/>
            <a:ext cx="359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4" name="Google Shape;314;p7"/>
          <p:cNvCxnSpPr/>
          <p:nvPr/>
        </p:nvCxnSpPr>
        <p:spPr>
          <a:xfrm>
            <a:off x="6480450" y="3978425"/>
            <a:ext cx="359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15" name="Google Shape;315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67431" y="3946600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320" name="Google Shape;320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8"/>
          <p:cNvSpPr/>
          <p:nvPr/>
        </p:nvSpPr>
        <p:spPr>
          <a:xfrm>
            <a:off x="5628400" y="3795575"/>
            <a:ext cx="987900" cy="1045500"/>
          </a:xfrm>
          <a:prstGeom prst="roundRect">
            <a:avLst>
              <a:gd fmla="val 16667" name="adj"/>
            </a:avLst>
          </a:prstGeom>
          <a:solidFill>
            <a:srgbClr val="23BAAF"/>
          </a:solidFill>
          <a:ln cap="flat" cmpd="sng" w="952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8"/>
          <p:cNvSpPr txBox="1"/>
          <p:nvPr/>
        </p:nvSpPr>
        <p:spPr>
          <a:xfrm>
            <a:off x="2442175" y="228600"/>
            <a:ext cx="6405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Suma de fracciones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433525" y="1039100"/>
            <a:ext cx="367200" cy="433200"/>
          </a:xfrm>
          <a:prstGeom prst="ellipse">
            <a:avLst/>
          </a:prstGeom>
          <a:solidFill>
            <a:srgbClr val="23BAAF"/>
          </a:solidFill>
          <a:ln cap="flat" cmpd="sng" w="952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3</a:t>
            </a:r>
            <a:endParaRPr b="0" i="0" sz="21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24" name="Google Shape;324;p8"/>
          <p:cNvSpPr txBox="1"/>
          <p:nvPr/>
        </p:nvSpPr>
        <p:spPr>
          <a:xfrm>
            <a:off x="975775" y="832150"/>
            <a:ext cx="7871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Sumar las fracciones con el mismo denominador ya amplificadas.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8"/>
          <p:cNvSpPr txBox="1"/>
          <p:nvPr/>
        </p:nvSpPr>
        <p:spPr>
          <a:xfrm>
            <a:off x="1155025" y="1355350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" sz="3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12       10</a:t>
            </a:r>
            <a:endParaRPr b="0" i="0" sz="30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" sz="3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20       20             </a:t>
            </a:r>
            <a:endParaRPr b="0" i="0" sz="30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26" name="Google Shape;326;p8"/>
          <p:cNvSpPr txBox="1"/>
          <p:nvPr/>
        </p:nvSpPr>
        <p:spPr>
          <a:xfrm>
            <a:off x="1734750" y="1472300"/>
            <a:ext cx="359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8"/>
          <p:cNvSpPr txBox="1"/>
          <p:nvPr/>
        </p:nvSpPr>
        <p:spPr>
          <a:xfrm>
            <a:off x="3411625" y="1355350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" sz="3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12       10</a:t>
            </a:r>
            <a:endParaRPr b="0" i="0" sz="30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" sz="3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20             </a:t>
            </a:r>
            <a:endParaRPr b="0" i="0" sz="30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28" name="Google Shape;328;p8"/>
          <p:cNvSpPr txBox="1"/>
          <p:nvPr/>
        </p:nvSpPr>
        <p:spPr>
          <a:xfrm>
            <a:off x="5839975" y="1352550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" sz="3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22</a:t>
            </a:r>
            <a:endParaRPr b="0" i="0" sz="30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" sz="3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20             </a:t>
            </a:r>
            <a:endParaRPr b="0" i="0" sz="30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329" name="Google Shape;329;p8"/>
          <p:cNvCxnSpPr/>
          <p:nvPr/>
        </p:nvCxnSpPr>
        <p:spPr>
          <a:xfrm>
            <a:off x="1191775" y="18604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0" name="Google Shape;330;p8"/>
          <p:cNvCxnSpPr/>
          <p:nvPr/>
        </p:nvCxnSpPr>
        <p:spPr>
          <a:xfrm>
            <a:off x="2029975" y="18604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1" name="Google Shape;331;p8"/>
          <p:cNvCxnSpPr/>
          <p:nvPr/>
        </p:nvCxnSpPr>
        <p:spPr>
          <a:xfrm>
            <a:off x="3630175" y="1936650"/>
            <a:ext cx="987900" cy="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2" name="Google Shape;332;p8"/>
          <p:cNvCxnSpPr/>
          <p:nvPr/>
        </p:nvCxnSpPr>
        <p:spPr>
          <a:xfrm>
            <a:off x="5839975" y="19366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3" name="Google Shape;333;p8"/>
          <p:cNvSpPr txBox="1"/>
          <p:nvPr/>
        </p:nvSpPr>
        <p:spPr>
          <a:xfrm>
            <a:off x="3944275" y="1355350"/>
            <a:ext cx="359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8"/>
          <p:cNvSpPr txBox="1"/>
          <p:nvPr/>
        </p:nvSpPr>
        <p:spPr>
          <a:xfrm>
            <a:off x="5171650" y="15910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2785350" y="1674100"/>
            <a:ext cx="626400" cy="266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3BAAF"/>
          </a:solidFill>
          <a:ln cap="flat" cmpd="sng" w="952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8"/>
          <p:cNvSpPr/>
          <p:nvPr/>
        </p:nvSpPr>
        <p:spPr>
          <a:xfrm rot="5400000">
            <a:off x="5662825" y="2598600"/>
            <a:ext cx="860700" cy="585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3BAAF"/>
          </a:solidFill>
          <a:ln cap="flat" cmpd="sng" w="952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8"/>
          <p:cNvSpPr txBox="1"/>
          <p:nvPr/>
        </p:nvSpPr>
        <p:spPr>
          <a:xfrm>
            <a:off x="1272475" y="3321450"/>
            <a:ext cx="7871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Como quedó una fracción impropia la puedo transformar en n° mixto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8"/>
          <p:cNvSpPr txBox="1"/>
          <p:nvPr/>
        </p:nvSpPr>
        <p:spPr>
          <a:xfrm>
            <a:off x="1908175" y="3761450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" sz="3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22</a:t>
            </a:r>
            <a:endParaRPr b="0" i="0" sz="30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" sz="3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20             </a:t>
            </a:r>
            <a:endParaRPr b="0" i="0" sz="30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339" name="Google Shape;339;p8"/>
          <p:cNvCxnSpPr/>
          <p:nvPr/>
        </p:nvCxnSpPr>
        <p:spPr>
          <a:xfrm>
            <a:off x="1908175" y="43155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" name="Google Shape;340;p8"/>
          <p:cNvSpPr txBox="1"/>
          <p:nvPr/>
        </p:nvSpPr>
        <p:spPr>
          <a:xfrm>
            <a:off x="2937750" y="3761450"/>
            <a:ext cx="1454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" sz="3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20</a:t>
            </a:r>
            <a:endParaRPr b="0" i="0" sz="30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" sz="3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20             </a:t>
            </a:r>
            <a:endParaRPr b="0" i="0" sz="30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41" name="Google Shape;341;p8"/>
          <p:cNvSpPr txBox="1"/>
          <p:nvPr/>
        </p:nvSpPr>
        <p:spPr>
          <a:xfrm>
            <a:off x="4392175" y="3769350"/>
            <a:ext cx="1146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" sz="3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2</a:t>
            </a:r>
            <a:endParaRPr b="0" i="0" sz="30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" sz="3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20             </a:t>
            </a:r>
            <a:endParaRPr b="0" i="0" sz="30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42" name="Google Shape;342;p8"/>
          <p:cNvSpPr/>
          <p:nvPr/>
        </p:nvSpPr>
        <p:spPr>
          <a:xfrm>
            <a:off x="2442175" y="4182350"/>
            <a:ext cx="506400" cy="266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3BAAF"/>
          </a:solidFill>
          <a:ln cap="flat" cmpd="sng" w="952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8"/>
          <p:cNvSpPr txBox="1"/>
          <p:nvPr/>
        </p:nvSpPr>
        <p:spPr>
          <a:xfrm>
            <a:off x="4021350" y="4023050"/>
            <a:ext cx="359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8"/>
          <p:cNvSpPr/>
          <p:nvPr/>
        </p:nvSpPr>
        <p:spPr>
          <a:xfrm>
            <a:off x="4887025" y="4190250"/>
            <a:ext cx="506400" cy="266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3BAAF"/>
          </a:solidFill>
          <a:ln cap="flat" cmpd="sng" w="952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3354463" y="4046150"/>
            <a:ext cx="261000" cy="5388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8"/>
          <p:cNvSpPr txBox="1"/>
          <p:nvPr/>
        </p:nvSpPr>
        <p:spPr>
          <a:xfrm>
            <a:off x="3708325" y="3961800"/>
            <a:ext cx="5064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s" sz="3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8"/>
          <p:cNvSpPr txBox="1"/>
          <p:nvPr/>
        </p:nvSpPr>
        <p:spPr>
          <a:xfrm>
            <a:off x="5538850" y="3845550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" sz="3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8"/>
          <p:cNvSpPr txBox="1"/>
          <p:nvPr/>
        </p:nvSpPr>
        <p:spPr>
          <a:xfrm>
            <a:off x="5899400" y="3732775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" sz="3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2</a:t>
            </a:r>
            <a:endParaRPr b="0" i="0" sz="30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" sz="3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20             </a:t>
            </a:r>
            <a:endParaRPr b="0" i="0" sz="30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349" name="Google Shape;349;p8"/>
          <p:cNvCxnSpPr/>
          <p:nvPr/>
        </p:nvCxnSpPr>
        <p:spPr>
          <a:xfrm>
            <a:off x="2983788" y="43155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0" name="Google Shape;350;p8"/>
          <p:cNvCxnSpPr/>
          <p:nvPr/>
        </p:nvCxnSpPr>
        <p:spPr>
          <a:xfrm>
            <a:off x="4323950" y="43234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1" name="Google Shape;351;p8"/>
          <p:cNvCxnSpPr/>
          <p:nvPr/>
        </p:nvCxnSpPr>
        <p:spPr>
          <a:xfrm>
            <a:off x="5937738" y="4286875"/>
            <a:ext cx="506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52" name="Google Shape;35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67431" y="3946600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8" name="Google Shape;358;p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359" name="Google Shape;359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9"/>
          <p:cNvSpPr txBox="1"/>
          <p:nvPr/>
        </p:nvSpPr>
        <p:spPr>
          <a:xfrm>
            <a:off x="0" y="187600"/>
            <a:ext cx="90054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Ejercicios</a:t>
            </a:r>
            <a:endParaRPr b="1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Abre tu cuaderno y resuelve los siguientes ejercicios según lo que aprendimos en la diapositiva anterior. </a:t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79950" y="1932150"/>
            <a:ext cx="290100" cy="293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1</a:t>
            </a:r>
            <a:endParaRPr b="0" i="0" sz="17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62" name="Google Shape;362;p9"/>
          <p:cNvSpPr txBox="1"/>
          <p:nvPr/>
        </p:nvSpPr>
        <p:spPr>
          <a:xfrm>
            <a:off x="464650" y="1742500"/>
            <a:ext cx="1440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3       4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8        6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5139800" y="2094200"/>
            <a:ext cx="290100" cy="293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2</a:t>
            </a:r>
            <a:endParaRPr b="0" i="0" sz="17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64" name="Google Shape;364;p9"/>
          <p:cNvSpPr txBox="1"/>
          <p:nvPr/>
        </p:nvSpPr>
        <p:spPr>
          <a:xfrm>
            <a:off x="779075" y="1872050"/>
            <a:ext cx="359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5" name="Google Shape;365;p9"/>
          <p:cNvCxnSpPr/>
          <p:nvPr/>
        </p:nvCxnSpPr>
        <p:spPr>
          <a:xfrm>
            <a:off x="1115575" y="22414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6" name="Google Shape;366;p9"/>
          <p:cNvCxnSpPr/>
          <p:nvPr/>
        </p:nvCxnSpPr>
        <p:spPr>
          <a:xfrm>
            <a:off x="353575" y="22414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7" name="Google Shape;367;p9"/>
          <p:cNvSpPr txBox="1"/>
          <p:nvPr/>
        </p:nvSpPr>
        <p:spPr>
          <a:xfrm>
            <a:off x="1600750" y="18951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9"/>
          <p:cNvSpPr txBox="1"/>
          <p:nvPr/>
        </p:nvSpPr>
        <p:spPr>
          <a:xfrm>
            <a:off x="1904850" y="1733550"/>
            <a:ext cx="11994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9      16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24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69" name="Google Shape;369;p9"/>
          <p:cNvSpPr txBox="1"/>
          <p:nvPr/>
        </p:nvSpPr>
        <p:spPr>
          <a:xfrm>
            <a:off x="2324700" y="1710000"/>
            <a:ext cx="359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0" name="Google Shape;370;p9"/>
          <p:cNvCxnSpPr>
            <a:stCxn id="368" idx="1"/>
            <a:endCxn id="368" idx="3"/>
          </p:cNvCxnSpPr>
          <p:nvPr/>
        </p:nvCxnSpPr>
        <p:spPr>
          <a:xfrm>
            <a:off x="1904850" y="2241450"/>
            <a:ext cx="119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1" name="Google Shape;371;p9"/>
          <p:cNvSpPr txBox="1"/>
          <p:nvPr/>
        </p:nvSpPr>
        <p:spPr>
          <a:xfrm>
            <a:off x="3449025" y="1742500"/>
            <a:ext cx="5907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25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24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72" name="Google Shape;372;p9"/>
          <p:cNvSpPr txBox="1"/>
          <p:nvPr/>
        </p:nvSpPr>
        <p:spPr>
          <a:xfrm>
            <a:off x="3124750" y="18951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3" name="Google Shape;373;p9"/>
          <p:cNvCxnSpPr/>
          <p:nvPr/>
        </p:nvCxnSpPr>
        <p:spPr>
          <a:xfrm>
            <a:off x="3449025" y="2250400"/>
            <a:ext cx="590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4" name="Google Shape;374;p9"/>
          <p:cNvSpPr/>
          <p:nvPr/>
        </p:nvSpPr>
        <p:spPr>
          <a:xfrm>
            <a:off x="79950" y="3316350"/>
            <a:ext cx="290100" cy="293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3</a:t>
            </a:r>
            <a:endParaRPr b="0" i="0" sz="17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75" name="Google Shape;375;p9"/>
          <p:cNvSpPr txBox="1"/>
          <p:nvPr/>
        </p:nvSpPr>
        <p:spPr>
          <a:xfrm>
            <a:off x="4353450" y="1782825"/>
            <a:ext cx="6666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1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24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376" name="Google Shape;376;p9"/>
          <p:cNvCxnSpPr>
            <a:endCxn id="375" idx="3"/>
          </p:cNvCxnSpPr>
          <p:nvPr/>
        </p:nvCxnSpPr>
        <p:spPr>
          <a:xfrm flipH="1" rot="10800000">
            <a:off x="4704750" y="2290725"/>
            <a:ext cx="315300" cy="1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7" name="Google Shape;377;p9"/>
          <p:cNvSpPr txBox="1"/>
          <p:nvPr/>
        </p:nvSpPr>
        <p:spPr>
          <a:xfrm>
            <a:off x="5520800" y="1732850"/>
            <a:ext cx="1440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4       3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12      8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78" name="Google Shape;378;p9"/>
          <p:cNvSpPr txBox="1"/>
          <p:nvPr/>
        </p:nvSpPr>
        <p:spPr>
          <a:xfrm>
            <a:off x="5884475" y="1872050"/>
            <a:ext cx="359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9"/>
          <p:cNvSpPr txBox="1"/>
          <p:nvPr/>
        </p:nvSpPr>
        <p:spPr>
          <a:xfrm>
            <a:off x="6894275" y="1732850"/>
            <a:ext cx="11994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8     9 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24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80" name="Google Shape;380;p9"/>
          <p:cNvSpPr txBox="1"/>
          <p:nvPr/>
        </p:nvSpPr>
        <p:spPr>
          <a:xfrm>
            <a:off x="8442775" y="1733550"/>
            <a:ext cx="5907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17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24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81" name="Google Shape;381;p9"/>
          <p:cNvSpPr txBox="1"/>
          <p:nvPr/>
        </p:nvSpPr>
        <p:spPr>
          <a:xfrm>
            <a:off x="6529975" y="18951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9"/>
          <p:cNvSpPr txBox="1"/>
          <p:nvPr/>
        </p:nvSpPr>
        <p:spPr>
          <a:xfrm>
            <a:off x="8088925" y="198100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3" name="Google Shape;383;p9"/>
          <p:cNvCxnSpPr/>
          <p:nvPr/>
        </p:nvCxnSpPr>
        <p:spPr>
          <a:xfrm>
            <a:off x="5483863" y="22407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4" name="Google Shape;384;p9"/>
          <p:cNvCxnSpPr/>
          <p:nvPr/>
        </p:nvCxnSpPr>
        <p:spPr>
          <a:xfrm>
            <a:off x="6263338" y="22407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5" name="Google Shape;385;p9"/>
          <p:cNvCxnSpPr>
            <a:stCxn id="380" idx="1"/>
            <a:endCxn id="380" idx="3"/>
          </p:cNvCxnSpPr>
          <p:nvPr/>
        </p:nvCxnSpPr>
        <p:spPr>
          <a:xfrm>
            <a:off x="8442775" y="2241450"/>
            <a:ext cx="590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6" name="Google Shape;386;p9"/>
          <p:cNvCxnSpPr/>
          <p:nvPr/>
        </p:nvCxnSpPr>
        <p:spPr>
          <a:xfrm>
            <a:off x="6914850" y="2240750"/>
            <a:ext cx="119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7" name="Google Shape;387;p9"/>
          <p:cNvSpPr txBox="1"/>
          <p:nvPr/>
        </p:nvSpPr>
        <p:spPr>
          <a:xfrm>
            <a:off x="464650" y="3035800"/>
            <a:ext cx="1440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2        7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6        9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88" name="Google Shape;388;p9"/>
          <p:cNvSpPr txBox="1"/>
          <p:nvPr/>
        </p:nvSpPr>
        <p:spPr>
          <a:xfrm>
            <a:off x="935125" y="3091113"/>
            <a:ext cx="359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9"/>
          <p:cNvSpPr txBox="1"/>
          <p:nvPr/>
        </p:nvSpPr>
        <p:spPr>
          <a:xfrm>
            <a:off x="1859900" y="3061050"/>
            <a:ext cx="11994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12    28     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36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90" name="Google Shape;390;p9"/>
          <p:cNvSpPr txBox="1"/>
          <p:nvPr/>
        </p:nvSpPr>
        <p:spPr>
          <a:xfrm>
            <a:off x="3449025" y="3035800"/>
            <a:ext cx="5907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40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36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91" name="Google Shape;391;p9"/>
          <p:cNvSpPr txBox="1"/>
          <p:nvPr/>
        </p:nvSpPr>
        <p:spPr>
          <a:xfrm>
            <a:off x="4353550" y="3035800"/>
            <a:ext cx="6666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4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36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392" name="Google Shape;392;p9"/>
          <p:cNvCxnSpPr/>
          <p:nvPr/>
        </p:nvCxnSpPr>
        <p:spPr>
          <a:xfrm>
            <a:off x="1859900" y="3568950"/>
            <a:ext cx="119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3" name="Google Shape;393;p9"/>
          <p:cNvSpPr txBox="1"/>
          <p:nvPr/>
        </p:nvSpPr>
        <p:spPr>
          <a:xfrm>
            <a:off x="1538350" y="32327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9"/>
          <p:cNvSpPr txBox="1"/>
          <p:nvPr/>
        </p:nvSpPr>
        <p:spPr>
          <a:xfrm>
            <a:off x="3124750" y="32327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9"/>
          <p:cNvSpPr txBox="1"/>
          <p:nvPr/>
        </p:nvSpPr>
        <p:spPr>
          <a:xfrm>
            <a:off x="4034163" y="1920875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9"/>
          <p:cNvSpPr txBox="1"/>
          <p:nvPr/>
        </p:nvSpPr>
        <p:spPr>
          <a:xfrm>
            <a:off x="4050988" y="32327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7" name="Google Shape;397;p9"/>
          <p:cNvCxnSpPr/>
          <p:nvPr/>
        </p:nvCxnSpPr>
        <p:spPr>
          <a:xfrm>
            <a:off x="3449025" y="3543700"/>
            <a:ext cx="590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8" name="Google Shape;398;p9"/>
          <p:cNvCxnSpPr/>
          <p:nvPr/>
        </p:nvCxnSpPr>
        <p:spPr>
          <a:xfrm>
            <a:off x="4429450" y="3502150"/>
            <a:ext cx="590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9" name="Google Shape;399;p9"/>
          <p:cNvCxnSpPr/>
          <p:nvPr/>
        </p:nvCxnSpPr>
        <p:spPr>
          <a:xfrm>
            <a:off x="492850" y="35021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0" name="Google Shape;400;p9"/>
          <p:cNvCxnSpPr/>
          <p:nvPr/>
        </p:nvCxnSpPr>
        <p:spPr>
          <a:xfrm>
            <a:off x="1115575" y="35021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1" name="Google Shape;401;p9"/>
          <p:cNvSpPr/>
          <p:nvPr/>
        </p:nvSpPr>
        <p:spPr>
          <a:xfrm>
            <a:off x="5185350" y="3316350"/>
            <a:ext cx="290100" cy="293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4</a:t>
            </a:r>
            <a:endParaRPr b="0" i="0" sz="17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02" name="Google Shape;402;p9"/>
          <p:cNvSpPr txBox="1"/>
          <p:nvPr/>
        </p:nvSpPr>
        <p:spPr>
          <a:xfrm>
            <a:off x="5583200" y="3016500"/>
            <a:ext cx="1440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2      1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3      4 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03" name="Google Shape;403;p9"/>
          <p:cNvSpPr txBox="1"/>
          <p:nvPr/>
        </p:nvSpPr>
        <p:spPr>
          <a:xfrm>
            <a:off x="5880150" y="3091125"/>
            <a:ext cx="359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9"/>
          <p:cNvSpPr txBox="1"/>
          <p:nvPr/>
        </p:nvSpPr>
        <p:spPr>
          <a:xfrm>
            <a:off x="6871250" y="3061050"/>
            <a:ext cx="11994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8      3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12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05" name="Google Shape;405;p9"/>
          <p:cNvSpPr txBox="1"/>
          <p:nvPr/>
        </p:nvSpPr>
        <p:spPr>
          <a:xfrm>
            <a:off x="2172300" y="3005400"/>
            <a:ext cx="359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9"/>
          <p:cNvSpPr txBox="1"/>
          <p:nvPr/>
        </p:nvSpPr>
        <p:spPr>
          <a:xfrm>
            <a:off x="7277700" y="3081600"/>
            <a:ext cx="359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9"/>
          <p:cNvSpPr txBox="1"/>
          <p:nvPr/>
        </p:nvSpPr>
        <p:spPr>
          <a:xfrm>
            <a:off x="7277700" y="1710000"/>
            <a:ext cx="359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9"/>
          <p:cNvSpPr txBox="1"/>
          <p:nvPr/>
        </p:nvSpPr>
        <p:spPr>
          <a:xfrm>
            <a:off x="8189100" y="32148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9"/>
          <p:cNvSpPr txBox="1"/>
          <p:nvPr/>
        </p:nvSpPr>
        <p:spPr>
          <a:xfrm>
            <a:off x="8450350" y="3017900"/>
            <a:ext cx="5907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11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12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410" name="Google Shape;410;p9"/>
          <p:cNvCxnSpPr/>
          <p:nvPr/>
        </p:nvCxnSpPr>
        <p:spPr>
          <a:xfrm>
            <a:off x="8450350" y="3524400"/>
            <a:ext cx="590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1" name="Google Shape;411;p9"/>
          <p:cNvCxnSpPr/>
          <p:nvPr/>
        </p:nvCxnSpPr>
        <p:spPr>
          <a:xfrm>
            <a:off x="5501613" y="346750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2" name="Google Shape;412;p9"/>
          <p:cNvCxnSpPr/>
          <p:nvPr/>
        </p:nvCxnSpPr>
        <p:spPr>
          <a:xfrm>
            <a:off x="6231663" y="35021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3" name="Google Shape;413;p9"/>
          <p:cNvSpPr txBox="1"/>
          <p:nvPr/>
        </p:nvSpPr>
        <p:spPr>
          <a:xfrm>
            <a:off x="6575175" y="32134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4" name="Google Shape;414;p9"/>
          <p:cNvCxnSpPr/>
          <p:nvPr/>
        </p:nvCxnSpPr>
        <p:spPr>
          <a:xfrm>
            <a:off x="6917600" y="3543700"/>
            <a:ext cx="119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5" name="Google Shape;415;p9"/>
          <p:cNvSpPr txBox="1"/>
          <p:nvPr/>
        </p:nvSpPr>
        <p:spPr>
          <a:xfrm>
            <a:off x="4310913" y="1888750"/>
            <a:ext cx="5064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s" sz="3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9"/>
          <p:cNvSpPr txBox="1"/>
          <p:nvPr/>
        </p:nvSpPr>
        <p:spPr>
          <a:xfrm>
            <a:off x="4283138" y="3040250"/>
            <a:ext cx="5064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s" sz="3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2" name="Google Shape;422;p1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423" name="Google Shape;423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0"/>
          <p:cNvSpPr txBox="1"/>
          <p:nvPr/>
        </p:nvSpPr>
        <p:spPr>
          <a:xfrm>
            <a:off x="0" y="187600"/>
            <a:ext cx="90054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Ejercicios</a:t>
            </a:r>
            <a:endParaRPr b="1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Abre tu cuaderno y resuelve los siguientes ejercicios según lo que aprendimos en la diapositiva anterior. </a:t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25" name="Google Shape;425;p10"/>
          <p:cNvSpPr/>
          <p:nvPr/>
        </p:nvSpPr>
        <p:spPr>
          <a:xfrm>
            <a:off x="79950" y="1932150"/>
            <a:ext cx="290100" cy="293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5</a:t>
            </a:r>
            <a:endParaRPr b="0" i="0" sz="17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26" name="Google Shape;426;p10"/>
          <p:cNvSpPr txBox="1"/>
          <p:nvPr/>
        </p:nvSpPr>
        <p:spPr>
          <a:xfrm>
            <a:off x="464650" y="1742500"/>
            <a:ext cx="1440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4        6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5        15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27" name="Google Shape;427;p10"/>
          <p:cNvSpPr/>
          <p:nvPr/>
        </p:nvSpPr>
        <p:spPr>
          <a:xfrm>
            <a:off x="5139800" y="2094200"/>
            <a:ext cx="290100" cy="293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6</a:t>
            </a:r>
            <a:endParaRPr b="0" i="0" sz="17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28" name="Google Shape;428;p10"/>
          <p:cNvSpPr txBox="1"/>
          <p:nvPr/>
        </p:nvSpPr>
        <p:spPr>
          <a:xfrm>
            <a:off x="779075" y="1872050"/>
            <a:ext cx="359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9" name="Google Shape;429;p10"/>
          <p:cNvCxnSpPr/>
          <p:nvPr/>
        </p:nvCxnSpPr>
        <p:spPr>
          <a:xfrm>
            <a:off x="1115575" y="22414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0" name="Google Shape;430;p10"/>
          <p:cNvCxnSpPr/>
          <p:nvPr/>
        </p:nvCxnSpPr>
        <p:spPr>
          <a:xfrm>
            <a:off x="353575" y="22414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1" name="Google Shape;431;p10"/>
          <p:cNvSpPr txBox="1"/>
          <p:nvPr/>
        </p:nvSpPr>
        <p:spPr>
          <a:xfrm>
            <a:off x="1600750" y="18951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0"/>
          <p:cNvSpPr txBox="1"/>
          <p:nvPr/>
        </p:nvSpPr>
        <p:spPr>
          <a:xfrm>
            <a:off x="1904850" y="1733550"/>
            <a:ext cx="11994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12     6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15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33" name="Google Shape;433;p10"/>
          <p:cNvSpPr txBox="1"/>
          <p:nvPr/>
        </p:nvSpPr>
        <p:spPr>
          <a:xfrm>
            <a:off x="2324700" y="1710000"/>
            <a:ext cx="359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4" name="Google Shape;434;p10"/>
          <p:cNvCxnSpPr>
            <a:stCxn id="432" idx="1"/>
            <a:endCxn id="432" idx="3"/>
          </p:cNvCxnSpPr>
          <p:nvPr/>
        </p:nvCxnSpPr>
        <p:spPr>
          <a:xfrm>
            <a:off x="1904850" y="2241450"/>
            <a:ext cx="119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5" name="Google Shape;435;p10"/>
          <p:cNvSpPr txBox="1"/>
          <p:nvPr/>
        </p:nvSpPr>
        <p:spPr>
          <a:xfrm>
            <a:off x="3449025" y="1742500"/>
            <a:ext cx="5907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18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15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36" name="Google Shape;436;p10"/>
          <p:cNvSpPr txBox="1"/>
          <p:nvPr/>
        </p:nvSpPr>
        <p:spPr>
          <a:xfrm>
            <a:off x="3124750" y="18951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7" name="Google Shape;437;p10"/>
          <p:cNvCxnSpPr/>
          <p:nvPr/>
        </p:nvCxnSpPr>
        <p:spPr>
          <a:xfrm>
            <a:off x="3449025" y="2250400"/>
            <a:ext cx="590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8" name="Google Shape;438;p10"/>
          <p:cNvSpPr/>
          <p:nvPr/>
        </p:nvSpPr>
        <p:spPr>
          <a:xfrm>
            <a:off x="79950" y="3316350"/>
            <a:ext cx="290100" cy="293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7</a:t>
            </a:r>
            <a:endParaRPr b="0" i="0" sz="17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39" name="Google Shape;439;p10"/>
          <p:cNvSpPr txBox="1"/>
          <p:nvPr/>
        </p:nvSpPr>
        <p:spPr>
          <a:xfrm>
            <a:off x="4353450" y="1782825"/>
            <a:ext cx="6666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3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15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440" name="Google Shape;440;p10"/>
          <p:cNvCxnSpPr>
            <a:endCxn id="439" idx="3"/>
          </p:cNvCxnSpPr>
          <p:nvPr/>
        </p:nvCxnSpPr>
        <p:spPr>
          <a:xfrm flipH="1" rot="10800000">
            <a:off x="4704750" y="2290725"/>
            <a:ext cx="315300" cy="1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1" name="Google Shape;441;p10"/>
          <p:cNvSpPr txBox="1"/>
          <p:nvPr/>
        </p:nvSpPr>
        <p:spPr>
          <a:xfrm>
            <a:off x="5520800" y="1732850"/>
            <a:ext cx="1440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7       4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10      15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42" name="Google Shape;442;p10"/>
          <p:cNvSpPr txBox="1"/>
          <p:nvPr/>
        </p:nvSpPr>
        <p:spPr>
          <a:xfrm>
            <a:off x="5884475" y="1872050"/>
            <a:ext cx="359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0"/>
          <p:cNvSpPr txBox="1"/>
          <p:nvPr/>
        </p:nvSpPr>
        <p:spPr>
          <a:xfrm>
            <a:off x="6894275" y="1732850"/>
            <a:ext cx="11994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21    8 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30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44" name="Google Shape;444;p10"/>
          <p:cNvSpPr txBox="1"/>
          <p:nvPr/>
        </p:nvSpPr>
        <p:spPr>
          <a:xfrm>
            <a:off x="8442775" y="1733550"/>
            <a:ext cx="5907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29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30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45" name="Google Shape;445;p10"/>
          <p:cNvSpPr txBox="1"/>
          <p:nvPr/>
        </p:nvSpPr>
        <p:spPr>
          <a:xfrm>
            <a:off x="6529975" y="18951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0"/>
          <p:cNvSpPr txBox="1"/>
          <p:nvPr/>
        </p:nvSpPr>
        <p:spPr>
          <a:xfrm>
            <a:off x="8088925" y="198100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7" name="Google Shape;447;p10"/>
          <p:cNvCxnSpPr/>
          <p:nvPr/>
        </p:nvCxnSpPr>
        <p:spPr>
          <a:xfrm>
            <a:off x="5483863" y="22407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8" name="Google Shape;448;p10"/>
          <p:cNvCxnSpPr/>
          <p:nvPr/>
        </p:nvCxnSpPr>
        <p:spPr>
          <a:xfrm>
            <a:off x="6263338" y="22407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9" name="Google Shape;449;p10"/>
          <p:cNvCxnSpPr>
            <a:stCxn id="444" idx="1"/>
            <a:endCxn id="444" idx="3"/>
          </p:cNvCxnSpPr>
          <p:nvPr/>
        </p:nvCxnSpPr>
        <p:spPr>
          <a:xfrm>
            <a:off x="8442775" y="2241450"/>
            <a:ext cx="590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0" name="Google Shape;450;p10"/>
          <p:cNvCxnSpPr/>
          <p:nvPr/>
        </p:nvCxnSpPr>
        <p:spPr>
          <a:xfrm>
            <a:off x="6914850" y="2240750"/>
            <a:ext cx="119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1" name="Google Shape;451;p10"/>
          <p:cNvSpPr txBox="1"/>
          <p:nvPr/>
        </p:nvSpPr>
        <p:spPr>
          <a:xfrm>
            <a:off x="464650" y="3035800"/>
            <a:ext cx="1440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6       2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11       3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52" name="Google Shape;452;p10"/>
          <p:cNvSpPr txBox="1"/>
          <p:nvPr/>
        </p:nvSpPr>
        <p:spPr>
          <a:xfrm>
            <a:off x="935125" y="3091113"/>
            <a:ext cx="359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0"/>
          <p:cNvSpPr txBox="1"/>
          <p:nvPr/>
        </p:nvSpPr>
        <p:spPr>
          <a:xfrm>
            <a:off x="1859900" y="3061050"/>
            <a:ext cx="11994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18   22   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33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54" name="Google Shape;454;p10"/>
          <p:cNvSpPr txBox="1"/>
          <p:nvPr/>
        </p:nvSpPr>
        <p:spPr>
          <a:xfrm>
            <a:off x="3449025" y="3035800"/>
            <a:ext cx="5907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40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33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55" name="Google Shape;455;p10"/>
          <p:cNvSpPr txBox="1"/>
          <p:nvPr/>
        </p:nvSpPr>
        <p:spPr>
          <a:xfrm>
            <a:off x="4353550" y="3035800"/>
            <a:ext cx="6666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7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33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456" name="Google Shape;456;p10"/>
          <p:cNvCxnSpPr/>
          <p:nvPr/>
        </p:nvCxnSpPr>
        <p:spPr>
          <a:xfrm>
            <a:off x="1859900" y="3568950"/>
            <a:ext cx="119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7" name="Google Shape;457;p10"/>
          <p:cNvSpPr txBox="1"/>
          <p:nvPr/>
        </p:nvSpPr>
        <p:spPr>
          <a:xfrm>
            <a:off x="1538350" y="32327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0"/>
          <p:cNvSpPr txBox="1"/>
          <p:nvPr/>
        </p:nvSpPr>
        <p:spPr>
          <a:xfrm>
            <a:off x="3124750" y="32327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0"/>
          <p:cNvSpPr txBox="1"/>
          <p:nvPr/>
        </p:nvSpPr>
        <p:spPr>
          <a:xfrm>
            <a:off x="4034163" y="1920875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0"/>
          <p:cNvSpPr txBox="1"/>
          <p:nvPr/>
        </p:nvSpPr>
        <p:spPr>
          <a:xfrm>
            <a:off x="4050988" y="32327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1" name="Google Shape;461;p10"/>
          <p:cNvCxnSpPr/>
          <p:nvPr/>
        </p:nvCxnSpPr>
        <p:spPr>
          <a:xfrm>
            <a:off x="3449025" y="3543700"/>
            <a:ext cx="590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2" name="Google Shape;462;p10"/>
          <p:cNvCxnSpPr/>
          <p:nvPr/>
        </p:nvCxnSpPr>
        <p:spPr>
          <a:xfrm>
            <a:off x="4429450" y="3502150"/>
            <a:ext cx="590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3" name="Google Shape;463;p10"/>
          <p:cNvCxnSpPr/>
          <p:nvPr/>
        </p:nvCxnSpPr>
        <p:spPr>
          <a:xfrm>
            <a:off x="492850" y="35021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4" name="Google Shape;464;p10"/>
          <p:cNvCxnSpPr/>
          <p:nvPr/>
        </p:nvCxnSpPr>
        <p:spPr>
          <a:xfrm>
            <a:off x="1115575" y="35021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5" name="Google Shape;465;p10"/>
          <p:cNvSpPr/>
          <p:nvPr/>
        </p:nvSpPr>
        <p:spPr>
          <a:xfrm>
            <a:off x="5185350" y="3316350"/>
            <a:ext cx="290100" cy="293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8</a:t>
            </a:r>
            <a:endParaRPr b="0" i="0" sz="17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66" name="Google Shape;466;p10"/>
          <p:cNvSpPr txBox="1"/>
          <p:nvPr/>
        </p:nvSpPr>
        <p:spPr>
          <a:xfrm>
            <a:off x="5583200" y="3016500"/>
            <a:ext cx="1440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6       3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9       12 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67" name="Google Shape;467;p10"/>
          <p:cNvSpPr txBox="1"/>
          <p:nvPr/>
        </p:nvSpPr>
        <p:spPr>
          <a:xfrm>
            <a:off x="5880150" y="3091125"/>
            <a:ext cx="359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0"/>
          <p:cNvSpPr txBox="1"/>
          <p:nvPr/>
        </p:nvSpPr>
        <p:spPr>
          <a:xfrm>
            <a:off x="6871250" y="3061050"/>
            <a:ext cx="11994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24     9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36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69" name="Google Shape;469;p10"/>
          <p:cNvSpPr txBox="1"/>
          <p:nvPr/>
        </p:nvSpPr>
        <p:spPr>
          <a:xfrm>
            <a:off x="2172300" y="3005400"/>
            <a:ext cx="359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0"/>
          <p:cNvSpPr txBox="1"/>
          <p:nvPr/>
        </p:nvSpPr>
        <p:spPr>
          <a:xfrm>
            <a:off x="7277700" y="3081600"/>
            <a:ext cx="359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0"/>
          <p:cNvSpPr txBox="1"/>
          <p:nvPr/>
        </p:nvSpPr>
        <p:spPr>
          <a:xfrm>
            <a:off x="7277700" y="1710000"/>
            <a:ext cx="359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0"/>
          <p:cNvSpPr txBox="1"/>
          <p:nvPr/>
        </p:nvSpPr>
        <p:spPr>
          <a:xfrm>
            <a:off x="8189100" y="32148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0"/>
          <p:cNvSpPr txBox="1"/>
          <p:nvPr/>
        </p:nvSpPr>
        <p:spPr>
          <a:xfrm>
            <a:off x="8450350" y="3017900"/>
            <a:ext cx="5907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33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36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474" name="Google Shape;474;p10"/>
          <p:cNvCxnSpPr/>
          <p:nvPr/>
        </p:nvCxnSpPr>
        <p:spPr>
          <a:xfrm>
            <a:off x="8450350" y="3524400"/>
            <a:ext cx="590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5" name="Google Shape;475;p10"/>
          <p:cNvCxnSpPr/>
          <p:nvPr/>
        </p:nvCxnSpPr>
        <p:spPr>
          <a:xfrm>
            <a:off x="5501613" y="346750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6" name="Google Shape;476;p10"/>
          <p:cNvCxnSpPr/>
          <p:nvPr/>
        </p:nvCxnSpPr>
        <p:spPr>
          <a:xfrm>
            <a:off x="6231663" y="35021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7" name="Google Shape;477;p10"/>
          <p:cNvSpPr txBox="1"/>
          <p:nvPr/>
        </p:nvSpPr>
        <p:spPr>
          <a:xfrm>
            <a:off x="6575175" y="32134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8" name="Google Shape;478;p10"/>
          <p:cNvCxnSpPr/>
          <p:nvPr/>
        </p:nvCxnSpPr>
        <p:spPr>
          <a:xfrm>
            <a:off x="6917600" y="3543700"/>
            <a:ext cx="119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9" name="Google Shape;479;p10"/>
          <p:cNvSpPr txBox="1"/>
          <p:nvPr/>
        </p:nvSpPr>
        <p:spPr>
          <a:xfrm>
            <a:off x="4310913" y="1888750"/>
            <a:ext cx="5064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s" sz="3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0"/>
          <p:cNvSpPr txBox="1"/>
          <p:nvPr/>
        </p:nvSpPr>
        <p:spPr>
          <a:xfrm>
            <a:off x="4283138" y="3040250"/>
            <a:ext cx="5064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s" sz="3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1"/>
          <p:cNvSpPr txBox="1"/>
          <p:nvPr/>
        </p:nvSpPr>
        <p:spPr>
          <a:xfrm>
            <a:off x="785234" y="366599"/>
            <a:ext cx="7573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¡Ahora es tu turno!</a:t>
            </a:r>
            <a:endParaRPr b="0" i="0" sz="32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1"/>
          <p:cNvSpPr txBox="1"/>
          <p:nvPr/>
        </p:nvSpPr>
        <p:spPr>
          <a:xfrm>
            <a:off x="768000" y="911025"/>
            <a:ext cx="3619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1) ¿Cuál es el resultado de la suma entre?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87" name="Google Shape;487;p11"/>
          <p:cNvSpPr txBox="1"/>
          <p:nvPr/>
        </p:nvSpPr>
        <p:spPr>
          <a:xfrm>
            <a:off x="1884239" y="1545738"/>
            <a:ext cx="57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7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488" name="Google Shape;488;p11"/>
          <p:cNvCxnSpPr/>
          <p:nvPr/>
        </p:nvCxnSpPr>
        <p:spPr>
          <a:xfrm>
            <a:off x="1932838" y="2004738"/>
            <a:ext cx="482400" cy="5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9" name="Google Shape;489;p11"/>
          <p:cNvSpPr txBox="1"/>
          <p:nvPr/>
        </p:nvSpPr>
        <p:spPr>
          <a:xfrm>
            <a:off x="2691439" y="1545738"/>
            <a:ext cx="57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7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490" name="Google Shape;490;p11"/>
          <p:cNvCxnSpPr/>
          <p:nvPr/>
        </p:nvCxnSpPr>
        <p:spPr>
          <a:xfrm>
            <a:off x="2740038" y="2004738"/>
            <a:ext cx="482400" cy="5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1" name="Google Shape;491;p11"/>
          <p:cNvSpPr txBox="1"/>
          <p:nvPr/>
        </p:nvSpPr>
        <p:spPr>
          <a:xfrm>
            <a:off x="4387500" y="911025"/>
            <a:ext cx="3619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2) ¿Cuál es el resultado de la suma entre?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92" name="Google Shape;492;p11"/>
          <p:cNvSpPr txBox="1"/>
          <p:nvPr/>
        </p:nvSpPr>
        <p:spPr>
          <a:xfrm>
            <a:off x="5503739" y="1545738"/>
            <a:ext cx="57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493" name="Google Shape;493;p11"/>
          <p:cNvCxnSpPr/>
          <p:nvPr/>
        </p:nvCxnSpPr>
        <p:spPr>
          <a:xfrm>
            <a:off x="5552338" y="2004738"/>
            <a:ext cx="482400" cy="5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4" name="Google Shape;494;p11"/>
          <p:cNvSpPr txBox="1"/>
          <p:nvPr/>
        </p:nvSpPr>
        <p:spPr>
          <a:xfrm>
            <a:off x="6310939" y="1545738"/>
            <a:ext cx="57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5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495" name="Google Shape;495;p11"/>
          <p:cNvCxnSpPr/>
          <p:nvPr/>
        </p:nvCxnSpPr>
        <p:spPr>
          <a:xfrm>
            <a:off x="6359538" y="2004738"/>
            <a:ext cx="482400" cy="5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6" name="Google Shape;496;p11"/>
          <p:cNvSpPr txBox="1"/>
          <p:nvPr/>
        </p:nvSpPr>
        <p:spPr>
          <a:xfrm>
            <a:off x="1899100" y="2571750"/>
            <a:ext cx="5345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3) ¿Cuál es el resultado de la suma como número mixto?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97" name="Google Shape;497;p11"/>
          <p:cNvSpPr txBox="1"/>
          <p:nvPr/>
        </p:nvSpPr>
        <p:spPr>
          <a:xfrm>
            <a:off x="3878489" y="3206463"/>
            <a:ext cx="57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9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10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498" name="Google Shape;498;p11"/>
          <p:cNvCxnSpPr/>
          <p:nvPr/>
        </p:nvCxnSpPr>
        <p:spPr>
          <a:xfrm>
            <a:off x="3927088" y="3665463"/>
            <a:ext cx="482400" cy="5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9" name="Google Shape;499;p11"/>
          <p:cNvSpPr txBox="1"/>
          <p:nvPr/>
        </p:nvSpPr>
        <p:spPr>
          <a:xfrm>
            <a:off x="4685689" y="3206463"/>
            <a:ext cx="57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6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10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500" name="Google Shape;500;p11"/>
          <p:cNvCxnSpPr/>
          <p:nvPr/>
        </p:nvCxnSpPr>
        <p:spPr>
          <a:xfrm>
            <a:off x="4734288" y="3665463"/>
            <a:ext cx="482400" cy="5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1" name="Google Shape;501;p11"/>
          <p:cNvSpPr txBox="1"/>
          <p:nvPr/>
        </p:nvSpPr>
        <p:spPr>
          <a:xfrm>
            <a:off x="845750" y="4005582"/>
            <a:ext cx="457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RESPONDER ACÁ: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https://forms.gle/8S9ewQqSqRqwe64d8</a:t>
            </a:r>
            <a:r>
              <a:rPr b="1" i="0" lang="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2" name="Google Shape;502;p11"/>
          <p:cNvPicPr preferRelativeResize="0"/>
          <p:nvPr/>
        </p:nvPicPr>
        <p:blipFill rotWithShape="1">
          <a:blip r:embed="rId4">
            <a:alphaModFix/>
          </a:blip>
          <a:srcRect b="8547" l="8547" r="8547" t="8547"/>
          <a:stretch/>
        </p:blipFill>
        <p:spPr>
          <a:xfrm>
            <a:off x="6083350" y="2999775"/>
            <a:ext cx="1751625" cy="175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52131" y="366600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