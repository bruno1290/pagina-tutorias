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atrick Hand"/>
      <p:regular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mf2KxPt2tGzdAGxPdwASvsSTw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39F508-89BA-4C6E-A7C9-2A3F8C5762F1}">
  <a:tblStyle styleId="{7539F508-89BA-4C6E-A7C9-2A3F8C5762F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oppins-regular.fntdata"/><Relationship Id="rId23" Type="http://schemas.openxmlformats.org/officeDocument/2006/relationships/font" Target="fonts/PatrickHan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4780d2dc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4780d2d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4780d2dc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4780d2d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4780d2dc1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4780d2dc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4780d2dc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4780d2d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9.cl/du9wpd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UcmLcvk9E2jd2tsh9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4780d2dc1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Mostrar cómo representar fracciones visualmente a través de figuras.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4780d2dc1_0_0"/>
          <p:cNvSpPr txBox="1"/>
          <p:nvPr/>
        </p:nvSpPr>
        <p:spPr>
          <a:xfrm>
            <a:off x="868688" y="1980075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Representar fracciones en figuras.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4780d2dc1_0_0"/>
          <p:cNvSpPr txBox="1"/>
          <p:nvPr/>
        </p:nvSpPr>
        <p:spPr>
          <a:xfrm>
            <a:off x="4782038" y="1979981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Fracciones.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Representación Pictográfica.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Referente.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4780d2dc1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4780d2dc1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4780d2dc1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4780d2dc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4780d2dc1_0_10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4780d2dc1_0_10"/>
          <p:cNvSpPr txBox="1"/>
          <p:nvPr/>
        </p:nvSpPr>
        <p:spPr>
          <a:xfrm>
            <a:off x="589763" y="1598681"/>
            <a:ext cx="78750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esta sesión te abocarás a mostrar la representación de distintas fracciones por medio de figuras. Así, en cada momento, alude al concepto del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“referente”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dado que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no es lo mismo la mitad de una hoja tamaño carta a una de tamaño oficio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(por ejemplo). Para explicitar aquello, trae dos hoja tamaño carta pero una cortada en forma de triángulo, en ambos casos divídelas por la mitad. Luego pregúntale a tu estudiante: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¿qué es lo que las diferencias?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La respuesta debe ser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el referente.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Con lo anterior, recálcale a tu estudiante las fracciones permiten cuantificar partes de un objeto y profundiza en la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utilidad que tiene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el día a día. Pídele ejemplos de su vida cotidiana.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4780d2dc1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4780d2dc1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4780d2dc1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4780d2dc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4780d2dc1_0_108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Google Shape;137;g334780d2dc1_0_108"/>
          <p:cNvSpPr txBox="1"/>
          <p:nvPr/>
        </p:nvSpPr>
        <p:spPr>
          <a:xfrm>
            <a:off x="589763" y="1598681"/>
            <a:ext cx="78750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Es común que al representar una fracción como parte de un todo, los estudiantes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confundan las partes ocupadas con las que no fueron consideradas.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Esto los lleva a poner en el numerador lo que no ha sido considerado. Es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fundamental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explicarles que las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partes consideradas son las pintadas.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caso de que necesiten más ejercicios para consolidar adecuadamente lo estudiado en esta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sesión, en el siguiente enlace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n9.cl/du9wpd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encontrarás más ejemplos como los revisados.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4780d2dc1_0_108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4780d2dc1_0_108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4780d2dc1_0_108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4780d2dc1_0_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4780d2dc1_0_2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34780d2dc1_0_2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Profundizando en el ejemplo de las dos hojas de tamaño carta, pídele a tu estudiante que represente en distintas hojas las fracciones                       . En la siguiente sesión, pregúntale si notó alguna relación entre las dos primeras.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34780d2dc1_0_20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una fracción?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puedes representar una fracción?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34780d2dc1_0_2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34780d2dc1_0_2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g334780d2dc1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675" y="2001925"/>
            <a:ext cx="1012275" cy="4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34780d2dc1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64" name="Google Shape;16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3"/>
          <p:cNvCxnSpPr>
            <a:endCxn id="166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2" name="Google Shape;17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77" name="Google Shape;17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 txBox="1"/>
          <p:nvPr/>
        </p:nvSpPr>
        <p:spPr>
          <a:xfrm>
            <a:off x="1393050" y="273850"/>
            <a:ext cx="6357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Fracción</a:t>
            </a:r>
            <a:endParaRPr b="0" i="0" sz="17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-685800" y="749975"/>
            <a:ext cx="92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6156200" y="1534500"/>
            <a:ext cx="2987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cantidad de partes pintadas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Cantidad de partes total en la que está dividida la figura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886575" y="1465775"/>
            <a:ext cx="1109700" cy="11061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996275" y="14657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886575" y="2571875"/>
            <a:ext cx="1109700" cy="1106100"/>
          </a:xfrm>
          <a:prstGeom prst="rect">
            <a:avLst/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996275" y="25718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105975" y="14657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105975" y="25718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4783750" y="8037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2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88" name="Google Shape;188;p4"/>
          <p:cNvCxnSpPr/>
          <p:nvPr/>
        </p:nvCxnSpPr>
        <p:spPr>
          <a:xfrm>
            <a:off x="4410625" y="2505125"/>
            <a:ext cx="1212600" cy="1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4"/>
          <p:cNvSpPr/>
          <p:nvPr/>
        </p:nvSpPr>
        <p:spPr>
          <a:xfrm>
            <a:off x="4340725" y="1465775"/>
            <a:ext cx="1356000" cy="2212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4"/>
          <p:cNvCxnSpPr/>
          <p:nvPr/>
        </p:nvCxnSpPr>
        <p:spPr>
          <a:xfrm flipH="1" rot="10800000">
            <a:off x="5689750" y="2843800"/>
            <a:ext cx="546300" cy="81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4"/>
          <p:cNvCxnSpPr/>
          <p:nvPr/>
        </p:nvCxnSpPr>
        <p:spPr>
          <a:xfrm flipH="1" rot="10800000">
            <a:off x="5689750" y="1853200"/>
            <a:ext cx="546300" cy="81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92" name="Google Shape;19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97" name="Google Shape;19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275250" y="6530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54475" y="2022075"/>
            <a:ext cx="2571900" cy="19056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 flipH="1">
            <a:off x="5038575" y="1898625"/>
            <a:ext cx="2664900" cy="218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>
            <a:stCxn id="200" idx="1"/>
            <a:endCxn id="200" idx="3"/>
          </p:cNvCxnSpPr>
          <p:nvPr/>
        </p:nvCxnSpPr>
        <p:spPr>
          <a:xfrm>
            <a:off x="1497450" y="2974875"/>
            <a:ext cx="642900" cy="95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5"/>
          <p:cNvCxnSpPr>
            <a:stCxn id="200" idx="1"/>
            <a:endCxn id="200" idx="5"/>
          </p:cNvCxnSpPr>
          <p:nvPr/>
        </p:nvCxnSpPr>
        <p:spPr>
          <a:xfrm>
            <a:off x="1497450" y="2974875"/>
            <a:ext cx="128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5"/>
          <p:cNvCxnSpPr>
            <a:stCxn id="200" idx="3"/>
            <a:endCxn id="200" idx="5"/>
          </p:cNvCxnSpPr>
          <p:nvPr/>
        </p:nvCxnSpPr>
        <p:spPr>
          <a:xfrm flipH="1" rot="10800000">
            <a:off x="2140425" y="2974875"/>
            <a:ext cx="642900" cy="9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5"/>
          <p:cNvSpPr/>
          <p:nvPr/>
        </p:nvSpPr>
        <p:spPr>
          <a:xfrm>
            <a:off x="2140425" y="2974875"/>
            <a:ext cx="1286100" cy="952800"/>
          </a:xfrm>
          <a:prstGeom prst="triangle">
            <a:avLst>
              <a:gd fmla="val 50000" name="adj"/>
            </a:avLst>
          </a:prstGeom>
          <a:solidFill>
            <a:srgbClr val="B78ED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008725" y="1898375"/>
            <a:ext cx="1286100" cy="2185200"/>
          </a:xfrm>
          <a:prstGeom prst="moon">
            <a:avLst>
              <a:gd fmla="val 87500" name="adj"/>
            </a:avLst>
          </a:prstGeom>
          <a:solidFill>
            <a:srgbClr val="CF8585"/>
          </a:solidFill>
          <a:ln cap="flat" cmpd="sng" w="9525">
            <a:solidFill>
              <a:srgbClr val="CF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5"/>
          <p:cNvCxnSpPr/>
          <p:nvPr/>
        </p:nvCxnSpPr>
        <p:spPr>
          <a:xfrm>
            <a:off x="6371025" y="1898375"/>
            <a:ext cx="0" cy="20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5"/>
          <p:cNvCxnSpPr>
            <a:stCxn id="201" idx="0"/>
          </p:cNvCxnSpPr>
          <p:nvPr/>
        </p:nvCxnSpPr>
        <p:spPr>
          <a:xfrm>
            <a:off x="6371025" y="1898625"/>
            <a:ext cx="0" cy="21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5"/>
          <p:cNvSpPr/>
          <p:nvPr/>
        </p:nvSpPr>
        <p:spPr>
          <a:xfrm>
            <a:off x="6224525" y="1898500"/>
            <a:ext cx="146700" cy="2185200"/>
          </a:xfrm>
          <a:prstGeom prst="rect">
            <a:avLst/>
          </a:prstGeom>
          <a:solidFill>
            <a:srgbClr val="CF8585"/>
          </a:solidFill>
          <a:ln cap="flat" cmpd="sng" w="9525">
            <a:solidFill>
              <a:srgbClr val="CF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104575" y="2138250"/>
            <a:ext cx="146700" cy="1652400"/>
          </a:xfrm>
          <a:prstGeom prst="rect">
            <a:avLst/>
          </a:prstGeom>
          <a:solidFill>
            <a:srgbClr val="CF8585"/>
          </a:solidFill>
          <a:ln cap="flat" cmpd="sng" w="9525">
            <a:solidFill>
              <a:srgbClr val="CF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460674" y="21304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859874" y="208880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646050" y="20109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>
            <a:off x="3569850" y="288825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5"/>
          <p:cNvCxnSpPr/>
          <p:nvPr/>
        </p:nvCxnSpPr>
        <p:spPr>
          <a:xfrm>
            <a:off x="8008100" y="28800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5"/>
          <p:cNvSpPr txBox="1"/>
          <p:nvPr/>
        </p:nvSpPr>
        <p:spPr>
          <a:xfrm>
            <a:off x="7953000" y="201915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7" name="Google Shape;21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22" name="Google Shape;22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73625" y="1667295"/>
            <a:ext cx="2225100" cy="2052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791450" y="1888023"/>
            <a:ext cx="2959500" cy="1850700"/>
          </a:xfrm>
          <a:prstGeom prst="trapezoid">
            <a:avLst>
              <a:gd fmla="val 18519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6"/>
          <p:cNvCxnSpPr>
            <a:stCxn id="225" idx="0"/>
            <a:endCxn id="225" idx="2"/>
          </p:cNvCxnSpPr>
          <p:nvPr/>
        </p:nvCxnSpPr>
        <p:spPr>
          <a:xfrm>
            <a:off x="6271200" y="1888023"/>
            <a:ext cx="0" cy="185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6"/>
          <p:cNvCxnSpPr>
            <a:stCxn id="224" idx="1"/>
            <a:endCxn id="224" idx="3"/>
          </p:cNvCxnSpPr>
          <p:nvPr/>
        </p:nvCxnSpPr>
        <p:spPr>
          <a:xfrm>
            <a:off x="873625" y="2693295"/>
            <a:ext cx="222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6"/>
          <p:cNvCxnSpPr>
            <a:stCxn id="224" idx="0"/>
          </p:cNvCxnSpPr>
          <p:nvPr/>
        </p:nvCxnSpPr>
        <p:spPr>
          <a:xfrm>
            <a:off x="1986175" y="1667295"/>
            <a:ext cx="0" cy="205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6"/>
          <p:cNvCxnSpPr/>
          <p:nvPr/>
        </p:nvCxnSpPr>
        <p:spPr>
          <a:xfrm>
            <a:off x="907003" y="1689598"/>
            <a:ext cx="2180700" cy="200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6"/>
          <p:cNvCxnSpPr/>
          <p:nvPr/>
        </p:nvCxnSpPr>
        <p:spPr>
          <a:xfrm flipH="1" rot="10800000">
            <a:off x="895877" y="1678301"/>
            <a:ext cx="2202900" cy="205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6"/>
          <p:cNvSpPr/>
          <p:nvPr/>
        </p:nvSpPr>
        <p:spPr>
          <a:xfrm>
            <a:off x="1986197" y="2693264"/>
            <a:ext cx="1112700" cy="1026000"/>
          </a:xfrm>
          <a:prstGeom prst="rtTriangl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 flipH="1" rot="-5400000">
            <a:off x="2018535" y="2649769"/>
            <a:ext cx="1059300" cy="1101600"/>
          </a:xfrm>
          <a:prstGeom prst="rtTriangl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 flipH="1">
            <a:off x="2019509" y="1644825"/>
            <a:ext cx="1068300" cy="1026000"/>
          </a:xfrm>
          <a:prstGeom prst="rtTriangl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 flipH="1">
            <a:off x="6271464" y="1888023"/>
            <a:ext cx="1479300" cy="1850700"/>
          </a:xfrm>
          <a:prstGeom prst="parallelogram">
            <a:avLst>
              <a:gd fmla="val 2154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259688" y="1879638"/>
            <a:ext cx="709500" cy="1850700"/>
          </a:xfrm>
          <a:prstGeom prst="rtTriangl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427561" y="19354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890424" y="18796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6"/>
          <p:cNvCxnSpPr/>
          <p:nvPr/>
        </p:nvCxnSpPr>
        <p:spPr>
          <a:xfrm>
            <a:off x="8008100" y="26514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6"/>
          <p:cNvCxnSpPr/>
          <p:nvPr/>
        </p:nvCxnSpPr>
        <p:spPr>
          <a:xfrm>
            <a:off x="3588500" y="27276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6"/>
          <p:cNvSpPr txBox="1"/>
          <p:nvPr/>
        </p:nvSpPr>
        <p:spPr>
          <a:xfrm>
            <a:off x="3646050" y="18585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8141850" y="17823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275250" y="6530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48" name="Google Shape;248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"/>
          <p:cNvSpPr/>
          <p:nvPr/>
        </p:nvSpPr>
        <p:spPr>
          <a:xfrm>
            <a:off x="3822141" y="2229720"/>
            <a:ext cx="1909200" cy="114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99625" y="2052963"/>
            <a:ext cx="1745400" cy="1799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822141" y="2229720"/>
            <a:ext cx="3866400" cy="1143900"/>
          </a:xfrm>
          <a:prstGeom prst="rect">
            <a:avLst/>
          </a:prstGeom>
          <a:solidFill>
            <a:srgbClr val="F67F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7"/>
          <p:cNvCxnSpPr>
            <a:stCxn id="251" idx="0"/>
            <a:endCxn id="251" idx="2"/>
          </p:cNvCxnSpPr>
          <p:nvPr/>
        </p:nvCxnSpPr>
        <p:spPr>
          <a:xfrm>
            <a:off x="1472325" y="2052963"/>
            <a:ext cx="0" cy="179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>
            <a:stCxn id="252" idx="1"/>
            <a:endCxn id="252" idx="3"/>
          </p:cNvCxnSpPr>
          <p:nvPr/>
        </p:nvCxnSpPr>
        <p:spPr>
          <a:xfrm>
            <a:off x="3822141" y="2801670"/>
            <a:ext cx="386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>
            <a:stCxn id="252" idx="0"/>
          </p:cNvCxnSpPr>
          <p:nvPr/>
        </p:nvCxnSpPr>
        <p:spPr>
          <a:xfrm>
            <a:off x="5755341" y="2229720"/>
            <a:ext cx="0" cy="114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1047969" y="2801680"/>
            <a:ext cx="424200" cy="1050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 flipH="1">
            <a:off x="643400" y="2052875"/>
            <a:ext cx="828900" cy="860700"/>
          </a:xfrm>
          <a:prstGeom prst="rtTriangle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7"/>
          <p:cNvCxnSpPr>
            <a:stCxn id="257" idx="4"/>
            <a:endCxn id="257" idx="3"/>
          </p:cNvCxnSpPr>
          <p:nvPr/>
        </p:nvCxnSpPr>
        <p:spPr>
          <a:xfrm>
            <a:off x="643400" y="2913575"/>
            <a:ext cx="4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7"/>
          <p:cNvCxnSpPr>
            <a:stCxn id="256" idx="2"/>
            <a:endCxn id="256" idx="2"/>
          </p:cNvCxnSpPr>
          <p:nvPr/>
        </p:nvCxnSpPr>
        <p:spPr>
          <a:xfrm>
            <a:off x="1260069" y="385228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7"/>
          <p:cNvCxnSpPr/>
          <p:nvPr/>
        </p:nvCxnSpPr>
        <p:spPr>
          <a:xfrm>
            <a:off x="1057793" y="3851944"/>
            <a:ext cx="8289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7"/>
          <p:cNvCxnSpPr>
            <a:stCxn id="252" idx="1"/>
          </p:cNvCxnSpPr>
          <p:nvPr/>
        </p:nvCxnSpPr>
        <p:spPr>
          <a:xfrm>
            <a:off x="3822141" y="2801670"/>
            <a:ext cx="19332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7"/>
          <p:cNvSpPr/>
          <p:nvPr/>
        </p:nvSpPr>
        <p:spPr>
          <a:xfrm>
            <a:off x="5755439" y="2240119"/>
            <a:ext cx="1909200" cy="5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7"/>
          <p:cNvCxnSpPr/>
          <p:nvPr/>
        </p:nvCxnSpPr>
        <p:spPr>
          <a:xfrm>
            <a:off x="5737201" y="2801657"/>
            <a:ext cx="192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>
            <a:off x="2565949" y="2046425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7909474" y="194430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7"/>
          <p:cNvCxnSpPr/>
          <p:nvPr/>
        </p:nvCxnSpPr>
        <p:spPr>
          <a:xfrm>
            <a:off x="8084300" y="27276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7"/>
          <p:cNvCxnSpPr/>
          <p:nvPr/>
        </p:nvCxnSpPr>
        <p:spPr>
          <a:xfrm>
            <a:off x="2674100" y="28800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7"/>
          <p:cNvSpPr txBox="1"/>
          <p:nvPr/>
        </p:nvSpPr>
        <p:spPr>
          <a:xfrm>
            <a:off x="2807850" y="19347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8141850" y="18585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275250" y="6530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76" name="Google Shape;27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164725" y="1850525"/>
            <a:ext cx="2371800" cy="2345100"/>
          </a:xfrm>
          <a:prstGeom prst="plus">
            <a:avLst>
              <a:gd fmla="val 25000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337325" y="1863850"/>
            <a:ext cx="1199100" cy="1159200"/>
          </a:xfrm>
          <a:prstGeom prst="corner">
            <a:avLst>
              <a:gd fmla="val 50000" name="adj1"/>
              <a:gd fmla="val 52877" name="adj2"/>
            </a:avLst>
          </a:prstGeom>
          <a:solidFill>
            <a:srgbClr val="FCE5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68975" y="1584000"/>
            <a:ext cx="2491800" cy="2585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8"/>
          <p:cNvCxnSpPr>
            <a:stCxn id="278" idx="1"/>
          </p:cNvCxnSpPr>
          <p:nvPr/>
        </p:nvCxnSpPr>
        <p:spPr>
          <a:xfrm>
            <a:off x="1164725" y="3023075"/>
            <a:ext cx="237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8"/>
          <p:cNvCxnSpPr>
            <a:stCxn id="278" idx="0"/>
          </p:cNvCxnSpPr>
          <p:nvPr/>
        </p:nvCxnSpPr>
        <p:spPr>
          <a:xfrm>
            <a:off x="2350625" y="1850525"/>
            <a:ext cx="0" cy="23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6314875" y="1584000"/>
            <a:ext cx="1245900" cy="1292700"/>
          </a:xfrm>
          <a:prstGeom prst="rtTriangle">
            <a:avLst/>
          </a:prstGeom>
          <a:solidFill>
            <a:srgbClr val="EA9999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 flipH="1">
            <a:off x="5068975" y="1584000"/>
            <a:ext cx="1245900" cy="1292700"/>
          </a:xfrm>
          <a:prstGeom prst="rtTriangle">
            <a:avLst/>
          </a:prstGeom>
          <a:solidFill>
            <a:srgbClr val="EA9999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8"/>
          <p:cNvCxnSpPr>
            <a:stCxn id="284" idx="2"/>
          </p:cNvCxnSpPr>
          <p:nvPr/>
        </p:nvCxnSpPr>
        <p:spPr>
          <a:xfrm rot="10800000">
            <a:off x="6314875" y="1584000"/>
            <a:ext cx="0" cy="12927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8"/>
          <p:cNvCxnSpPr>
            <a:stCxn id="284" idx="4"/>
            <a:endCxn id="283" idx="4"/>
          </p:cNvCxnSpPr>
          <p:nvPr/>
        </p:nvCxnSpPr>
        <p:spPr>
          <a:xfrm>
            <a:off x="5068975" y="2876700"/>
            <a:ext cx="249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8"/>
          <p:cNvCxnSpPr>
            <a:stCxn id="284" idx="4"/>
            <a:endCxn id="284" idx="0"/>
          </p:cNvCxnSpPr>
          <p:nvPr/>
        </p:nvCxnSpPr>
        <p:spPr>
          <a:xfrm flipH="1" rot="10800000">
            <a:off x="5068975" y="1584000"/>
            <a:ext cx="1245900" cy="12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8"/>
          <p:cNvCxnSpPr>
            <a:stCxn id="284" idx="0"/>
            <a:endCxn id="283" idx="4"/>
          </p:cNvCxnSpPr>
          <p:nvPr/>
        </p:nvCxnSpPr>
        <p:spPr>
          <a:xfrm>
            <a:off x="6314875" y="1584000"/>
            <a:ext cx="1245900" cy="12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8"/>
          <p:cNvCxnSpPr>
            <a:stCxn id="284" idx="4"/>
            <a:endCxn id="284" idx="0"/>
          </p:cNvCxnSpPr>
          <p:nvPr/>
        </p:nvCxnSpPr>
        <p:spPr>
          <a:xfrm flipH="1" rot="10800000">
            <a:off x="5068975" y="1584000"/>
            <a:ext cx="1245900" cy="12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8"/>
          <p:cNvCxnSpPr>
            <a:stCxn id="284" idx="0"/>
            <a:endCxn id="283" idx="4"/>
          </p:cNvCxnSpPr>
          <p:nvPr/>
        </p:nvCxnSpPr>
        <p:spPr>
          <a:xfrm>
            <a:off x="6314875" y="1584000"/>
            <a:ext cx="1245900" cy="12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8"/>
          <p:cNvCxnSpPr>
            <a:stCxn id="284" idx="4"/>
            <a:endCxn id="280" idx="2"/>
          </p:cNvCxnSpPr>
          <p:nvPr/>
        </p:nvCxnSpPr>
        <p:spPr>
          <a:xfrm>
            <a:off x="5068975" y="2876700"/>
            <a:ext cx="1245900" cy="129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8"/>
          <p:cNvCxnSpPr>
            <a:stCxn id="280" idx="2"/>
            <a:endCxn id="283" idx="4"/>
          </p:cNvCxnSpPr>
          <p:nvPr/>
        </p:nvCxnSpPr>
        <p:spPr>
          <a:xfrm flipH="1" rot="10800000">
            <a:off x="6314875" y="2876700"/>
            <a:ext cx="1245900" cy="129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8"/>
          <p:cNvSpPr/>
          <p:nvPr/>
        </p:nvSpPr>
        <p:spPr>
          <a:xfrm>
            <a:off x="3785049" y="211890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809399" y="21187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8"/>
          <p:cNvCxnSpPr/>
          <p:nvPr/>
        </p:nvCxnSpPr>
        <p:spPr>
          <a:xfrm>
            <a:off x="7931900" y="29562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8"/>
          <p:cNvCxnSpPr/>
          <p:nvPr/>
        </p:nvCxnSpPr>
        <p:spPr>
          <a:xfrm>
            <a:off x="3893300" y="28800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8"/>
          <p:cNvSpPr txBox="1"/>
          <p:nvPr/>
        </p:nvSpPr>
        <p:spPr>
          <a:xfrm>
            <a:off x="3959850" y="1993325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7999725" y="20109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275250" y="6530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05" name="Google Shape;305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 txBox="1"/>
          <p:nvPr/>
        </p:nvSpPr>
        <p:spPr>
          <a:xfrm>
            <a:off x="1393050" y="1214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55000" y="1774325"/>
            <a:ext cx="2598300" cy="22653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084850" y="1627800"/>
            <a:ext cx="2691600" cy="234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9"/>
          <p:cNvCxnSpPr>
            <a:stCxn id="307" idx="0"/>
            <a:endCxn id="307" idx="3"/>
          </p:cNvCxnSpPr>
          <p:nvPr/>
        </p:nvCxnSpPr>
        <p:spPr>
          <a:xfrm>
            <a:off x="2054150" y="1774325"/>
            <a:ext cx="0" cy="22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>
            <a:stCxn id="308" idx="2"/>
            <a:endCxn id="308" idx="6"/>
          </p:cNvCxnSpPr>
          <p:nvPr/>
        </p:nvCxnSpPr>
        <p:spPr>
          <a:xfrm>
            <a:off x="5084850" y="2800350"/>
            <a:ext cx="269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>
            <a:stCxn id="308" idx="1"/>
            <a:endCxn id="308" idx="5"/>
          </p:cNvCxnSpPr>
          <p:nvPr/>
        </p:nvCxnSpPr>
        <p:spPr>
          <a:xfrm>
            <a:off x="5479026" y="1971232"/>
            <a:ext cx="1903200" cy="16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>
            <a:stCxn id="308" idx="0"/>
            <a:endCxn id="308" idx="4"/>
          </p:cNvCxnSpPr>
          <p:nvPr/>
        </p:nvCxnSpPr>
        <p:spPr>
          <a:xfrm>
            <a:off x="6430650" y="1627800"/>
            <a:ext cx="0" cy="23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>
            <a:stCxn id="308" idx="7"/>
            <a:endCxn id="308" idx="3"/>
          </p:cNvCxnSpPr>
          <p:nvPr/>
        </p:nvCxnSpPr>
        <p:spPr>
          <a:xfrm flipH="1">
            <a:off x="5479074" y="1971232"/>
            <a:ext cx="1903200" cy="16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9"/>
          <p:cNvSpPr/>
          <p:nvPr/>
        </p:nvSpPr>
        <p:spPr>
          <a:xfrm>
            <a:off x="5084875" y="1627800"/>
            <a:ext cx="2691600" cy="2345100"/>
          </a:xfrm>
          <a:prstGeom prst="pie">
            <a:avLst>
              <a:gd fmla="val 31841" name="adj1"/>
              <a:gd fmla="val 16175451" name="adj2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9"/>
          <p:cNvCxnSpPr>
            <a:stCxn id="314" idx="2"/>
            <a:endCxn id="314" idx="0"/>
          </p:cNvCxnSpPr>
          <p:nvPr/>
        </p:nvCxnSpPr>
        <p:spPr>
          <a:xfrm>
            <a:off x="5084875" y="2800350"/>
            <a:ext cx="26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>
            <a:stCxn id="314" idx="3"/>
          </p:cNvCxnSpPr>
          <p:nvPr/>
        </p:nvCxnSpPr>
        <p:spPr>
          <a:xfrm>
            <a:off x="6430675" y="1627800"/>
            <a:ext cx="0" cy="23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9"/>
          <p:cNvCxnSpPr>
            <a:endCxn id="308" idx="7"/>
          </p:cNvCxnSpPr>
          <p:nvPr/>
        </p:nvCxnSpPr>
        <p:spPr>
          <a:xfrm flipH="1" rot="10800000">
            <a:off x="5449674" y="1971232"/>
            <a:ext cx="1932600" cy="164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9"/>
          <p:cNvCxnSpPr/>
          <p:nvPr/>
        </p:nvCxnSpPr>
        <p:spPr>
          <a:xfrm>
            <a:off x="5529525" y="1894250"/>
            <a:ext cx="17988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/>
          <p:nvPr/>
        </p:nvSpPr>
        <p:spPr>
          <a:xfrm>
            <a:off x="2054150" y="1787650"/>
            <a:ext cx="1299000" cy="860700"/>
          </a:xfrm>
          <a:prstGeom prst="rtTriangle">
            <a:avLst/>
          </a:prstGeom>
          <a:solidFill>
            <a:srgbClr val="EDA1C1"/>
          </a:solidFill>
          <a:ln cap="flat" cmpd="sng" w="9525">
            <a:solidFill>
              <a:srgbClr val="EDA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 flipH="1" rot="5400000">
            <a:off x="1870963" y="2823638"/>
            <a:ext cx="1399125" cy="1032750"/>
          </a:xfrm>
          <a:prstGeom prst="flowChartManualInput">
            <a:avLst/>
          </a:prstGeom>
          <a:solidFill>
            <a:srgbClr val="EDA1C1"/>
          </a:solidFill>
          <a:ln cap="flat" cmpd="sng" w="9525">
            <a:solidFill>
              <a:srgbClr val="EDA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 rot="-9691124">
            <a:off x="2777473" y="2541937"/>
            <a:ext cx="352056" cy="1471123"/>
          </a:xfrm>
          <a:prstGeom prst="rtTriangle">
            <a:avLst/>
          </a:prstGeom>
          <a:solidFill>
            <a:srgbClr val="EDA1C1"/>
          </a:solidFill>
          <a:ln cap="flat" cmpd="sng" w="9525">
            <a:solidFill>
              <a:srgbClr val="EDA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9"/>
          <p:cNvCxnSpPr>
            <a:stCxn id="319" idx="0"/>
          </p:cNvCxnSpPr>
          <p:nvPr/>
        </p:nvCxnSpPr>
        <p:spPr>
          <a:xfrm>
            <a:off x="2054150" y="1787650"/>
            <a:ext cx="6600" cy="225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9"/>
          <p:cNvCxnSpPr>
            <a:stCxn id="321" idx="0"/>
            <a:endCxn id="321" idx="2"/>
          </p:cNvCxnSpPr>
          <p:nvPr/>
        </p:nvCxnSpPr>
        <p:spPr>
          <a:xfrm flipH="1" rot="10800000">
            <a:off x="2887282" y="2635625"/>
            <a:ext cx="466200" cy="139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9"/>
          <p:cNvCxnSpPr>
            <a:endCxn id="319" idx="0"/>
          </p:cNvCxnSpPr>
          <p:nvPr/>
        </p:nvCxnSpPr>
        <p:spPr>
          <a:xfrm rot="10800000">
            <a:off x="2054150" y="1787650"/>
            <a:ext cx="1299000" cy="84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9"/>
          <p:cNvCxnSpPr>
            <a:stCxn id="307" idx="2"/>
            <a:endCxn id="321" idx="0"/>
          </p:cNvCxnSpPr>
          <p:nvPr/>
        </p:nvCxnSpPr>
        <p:spPr>
          <a:xfrm flipH="1" rot="10800000">
            <a:off x="1251233" y="4030919"/>
            <a:ext cx="1635900" cy="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9"/>
          <p:cNvCxnSpPr>
            <a:stCxn id="307" idx="2"/>
            <a:endCxn id="307" idx="2"/>
          </p:cNvCxnSpPr>
          <p:nvPr/>
        </p:nvCxnSpPr>
        <p:spPr>
          <a:xfrm>
            <a:off x="1251233" y="4039619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9"/>
          <p:cNvCxnSpPr>
            <a:stCxn id="319" idx="0"/>
            <a:endCxn id="307" idx="1"/>
          </p:cNvCxnSpPr>
          <p:nvPr/>
        </p:nvCxnSpPr>
        <p:spPr>
          <a:xfrm flipH="1">
            <a:off x="755150" y="1787650"/>
            <a:ext cx="1299000" cy="85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9"/>
          <p:cNvCxnSpPr>
            <a:stCxn id="307" idx="1"/>
            <a:endCxn id="307" idx="2"/>
          </p:cNvCxnSpPr>
          <p:nvPr/>
        </p:nvCxnSpPr>
        <p:spPr>
          <a:xfrm>
            <a:off x="755003" y="2639590"/>
            <a:ext cx="496200" cy="140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9"/>
          <p:cNvSpPr/>
          <p:nvPr/>
        </p:nvSpPr>
        <p:spPr>
          <a:xfrm>
            <a:off x="3633899" y="20025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7970374" y="20425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9"/>
          <p:cNvCxnSpPr/>
          <p:nvPr/>
        </p:nvCxnSpPr>
        <p:spPr>
          <a:xfrm>
            <a:off x="8084300" y="28800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9"/>
          <p:cNvCxnSpPr/>
          <p:nvPr/>
        </p:nvCxnSpPr>
        <p:spPr>
          <a:xfrm>
            <a:off x="3817100" y="28038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9"/>
          <p:cNvSpPr txBox="1"/>
          <p:nvPr/>
        </p:nvSpPr>
        <p:spPr>
          <a:xfrm>
            <a:off x="3874650" y="19347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8218050" y="20109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275250" y="5768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41" name="Google Shape;341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fracción representa?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16439" y="1692029"/>
            <a:ext cx="2520900" cy="1933800"/>
          </a:xfrm>
          <a:prstGeom prst="heart">
            <a:avLst/>
          </a:prstGeom>
          <a:solidFill>
            <a:srgbClr val="FF47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969772" y="1450375"/>
            <a:ext cx="1468200" cy="26619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716439" y="1692029"/>
            <a:ext cx="2520900" cy="1933800"/>
          </a:xfrm>
          <a:prstGeom prst="hear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0"/>
          <p:cNvCxnSpPr>
            <a:stCxn id="345" idx="0"/>
            <a:endCxn id="345" idx="1"/>
          </p:cNvCxnSpPr>
          <p:nvPr/>
        </p:nvCxnSpPr>
        <p:spPr>
          <a:xfrm>
            <a:off x="1976889" y="2175479"/>
            <a:ext cx="0" cy="145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0"/>
          <p:cNvSpPr/>
          <p:nvPr/>
        </p:nvSpPr>
        <p:spPr>
          <a:xfrm>
            <a:off x="4970275" y="1684925"/>
            <a:ext cx="2598300" cy="2398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0"/>
          <p:cNvCxnSpPr>
            <a:stCxn id="347" idx="0"/>
          </p:cNvCxnSpPr>
          <p:nvPr/>
        </p:nvCxnSpPr>
        <p:spPr>
          <a:xfrm>
            <a:off x="6269425" y="1684925"/>
            <a:ext cx="0" cy="23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0"/>
          <p:cNvCxnSpPr>
            <a:stCxn id="347" idx="1"/>
            <a:endCxn id="347" idx="3"/>
          </p:cNvCxnSpPr>
          <p:nvPr/>
        </p:nvCxnSpPr>
        <p:spPr>
          <a:xfrm>
            <a:off x="4970275" y="2884175"/>
            <a:ext cx="259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0"/>
          <p:cNvCxnSpPr/>
          <p:nvPr/>
        </p:nvCxnSpPr>
        <p:spPr>
          <a:xfrm flipH="1">
            <a:off x="5610000" y="1698125"/>
            <a:ext cx="13200" cy="24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0"/>
          <p:cNvCxnSpPr/>
          <p:nvPr/>
        </p:nvCxnSpPr>
        <p:spPr>
          <a:xfrm flipH="1">
            <a:off x="6905400" y="1698125"/>
            <a:ext cx="13200" cy="24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0"/>
          <p:cNvSpPr/>
          <p:nvPr/>
        </p:nvSpPr>
        <p:spPr>
          <a:xfrm>
            <a:off x="4968251" y="1684925"/>
            <a:ext cx="641700" cy="1199400"/>
          </a:xfrm>
          <a:prstGeom prst="rect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618839" y="1684925"/>
            <a:ext cx="641700" cy="1199400"/>
          </a:xfrm>
          <a:prstGeom prst="rect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278301" y="1684925"/>
            <a:ext cx="641700" cy="1199400"/>
          </a:xfrm>
          <a:prstGeom prst="rect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516874" y="18139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7986674" y="1813950"/>
            <a:ext cx="1035300" cy="151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0"/>
          <p:cNvCxnSpPr/>
          <p:nvPr/>
        </p:nvCxnSpPr>
        <p:spPr>
          <a:xfrm>
            <a:off x="8084300" y="26514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0"/>
          <p:cNvCxnSpPr/>
          <p:nvPr/>
        </p:nvCxnSpPr>
        <p:spPr>
          <a:xfrm>
            <a:off x="3664700" y="2651400"/>
            <a:ext cx="777900" cy="165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0"/>
          <p:cNvSpPr txBox="1"/>
          <p:nvPr/>
        </p:nvSpPr>
        <p:spPr>
          <a:xfrm>
            <a:off x="3722250" y="17061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8200800" y="1706100"/>
            <a:ext cx="114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275250" y="653050"/>
            <a:ext cx="87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Recordemos que el numerador (n° sobre la línea) representa las partes pintadas y el denominador todas las partes en las que está dividida la figura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-457275" y="3448607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https://forms.gle/UcmLcvk9E2jd2tsh9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845750" y="1055950"/>
            <a:ext cx="74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fracción representa (rojo es lo que tenemos)?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0" name="Google Shape;370;p11"/>
          <p:cNvGraphicFramePr/>
          <p:nvPr/>
        </p:nvGraphicFramePr>
        <p:xfrm>
          <a:off x="946438" y="17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{7539F508-89BA-4C6E-A7C9-2A3F8C5762F1}</a:tableStyleId>
              </a:tblPr>
              <a:tblGrid>
                <a:gridCol w="1450225"/>
                <a:gridCol w="1450225"/>
                <a:gridCol w="1450225"/>
                <a:gridCol w="1450225"/>
                <a:gridCol w="1450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11"/>
          <p:cNvSpPr txBox="1"/>
          <p:nvPr/>
        </p:nvSpPr>
        <p:spPr>
          <a:xfrm>
            <a:off x="1397425" y="2281425"/>
            <a:ext cx="634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¿Qué fracción representa (rojo es lo que tenemos)?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3655175" y="3251800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4571975" y="3251800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4114725" y="2793225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114725" y="3710025"/>
            <a:ext cx="916800" cy="916800"/>
          </a:xfrm>
          <a:prstGeom prst="diamond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11"/>
          <p:cNvPicPr preferRelativeResize="0"/>
          <p:nvPr/>
        </p:nvPicPr>
        <p:blipFill rotWithShape="1">
          <a:blip r:embed="rId4">
            <a:alphaModFix/>
          </a:blip>
          <a:srcRect b="9104" l="9095" r="9104" t="9095"/>
          <a:stretch/>
        </p:blipFill>
        <p:spPr>
          <a:xfrm>
            <a:off x="6216450" y="2746942"/>
            <a:ext cx="1926524" cy="192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8356" y="3665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