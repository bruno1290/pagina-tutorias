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5143500" cx="9144000"/>
  <p:notesSz cx="6858000" cy="9144000"/>
  <p:embeddedFontLst>
    <p:embeddedFont>
      <p:font typeface="Patrick Hand"/>
      <p:regular r:id="rId28"/>
    </p:embeddedFont>
    <p:embeddedFont>
      <p:font typeface="Poppins"/>
      <p:regular r:id="rId29"/>
      <p:bold r:id="rId30"/>
      <p:italic r:id="rId31"/>
      <p:boldItalic r:id="rId32"/>
    </p:embeddedFont>
    <p:embeddedFont>
      <p:font typeface="Poppins Light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7" roundtripDataSignature="AMtx7mjqrsORDOn7cHoElswpzQgp3Xzc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77B243-3DF2-4788-A91D-F57CBAB3177F}">
  <a:tblStyle styleId="{FC77B243-3DF2-4788-A91D-F57CBAB3177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PatrickHand-regular.fntdata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Poppins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oppins-italic.fntdata"/><Relationship Id="rId30" Type="http://schemas.openxmlformats.org/officeDocument/2006/relationships/font" Target="fonts/Poppins-bold.fntdata"/><Relationship Id="rId11" Type="http://schemas.openxmlformats.org/officeDocument/2006/relationships/slide" Target="slides/slide4.xml"/><Relationship Id="rId33" Type="http://schemas.openxmlformats.org/officeDocument/2006/relationships/font" Target="fonts/PoppinsLight-regular.fntdata"/><Relationship Id="rId10" Type="http://schemas.openxmlformats.org/officeDocument/2006/relationships/slide" Target="slides/slide3.xml"/><Relationship Id="rId32" Type="http://schemas.openxmlformats.org/officeDocument/2006/relationships/font" Target="fonts/Poppins-boldItalic.fntdata"/><Relationship Id="rId13" Type="http://schemas.openxmlformats.org/officeDocument/2006/relationships/slide" Target="slides/slide6.xml"/><Relationship Id="rId35" Type="http://schemas.openxmlformats.org/officeDocument/2006/relationships/font" Target="fonts/PoppinsLight-italic.fntdata"/><Relationship Id="rId12" Type="http://schemas.openxmlformats.org/officeDocument/2006/relationships/slide" Target="slides/slide5.xml"/><Relationship Id="rId34" Type="http://schemas.openxmlformats.org/officeDocument/2006/relationships/font" Target="fonts/PoppinsLight-bold.fntdata"/><Relationship Id="rId15" Type="http://schemas.openxmlformats.org/officeDocument/2006/relationships/slide" Target="slides/slide8.xml"/><Relationship Id="rId37" Type="http://customschemas.google.com/relationships/presentationmetadata" Target="metadata"/><Relationship Id="rId14" Type="http://schemas.openxmlformats.org/officeDocument/2006/relationships/slide" Target="slides/slide7.xml"/><Relationship Id="rId36" Type="http://schemas.openxmlformats.org/officeDocument/2006/relationships/font" Target="fonts/PoppinsLight-bold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0c9ca7fa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0c9ca7f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0c9ca7faa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0c9ca7fa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30c9ca7faa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30c9ca7faa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30c9ca7faa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30c9ca7fa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2" name="Google Shape;522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3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2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8" name="Google Shape;68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9" name="Google Shape;6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2" name="Google Shape;7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3" name="Google Shape;8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" name="Google Shape;8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6" name="Google Shape;96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9" name="Google Shape;99;p4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12.jp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jpg"/><Relationship Id="rId4" Type="http://schemas.openxmlformats.org/officeDocument/2006/relationships/hyperlink" Target="http://www.youtube.com/watch?v=_ikI5SXtCVY" TargetMode="External"/><Relationship Id="rId5" Type="http://schemas.openxmlformats.org/officeDocument/2006/relationships/image" Target="../media/image14.jpg"/><Relationship Id="rId6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forms.gle/ckBKxSSzYwTawbGe7" TargetMode="External"/><Relationship Id="rId4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jpg"/><Relationship Id="rId4" Type="http://schemas.openxmlformats.org/officeDocument/2006/relationships/hyperlink" Target="http://www.youtube.com/watch?v=XDLfzFH8ggU" TargetMode="External"/><Relationship Id="rId5" Type="http://schemas.openxmlformats.org/officeDocument/2006/relationships/image" Target="../media/image13.jp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108" name="Google Shape;108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9" name="Google Shape;10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4081" y="4279725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0c9ca7faa_0_0"/>
          <p:cNvSpPr txBox="1"/>
          <p:nvPr/>
        </p:nvSpPr>
        <p:spPr>
          <a:xfrm>
            <a:off x="589763" y="125503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Propósito</a:t>
            </a:r>
            <a:r>
              <a:rPr b="1" lang="e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Explorar los números decimales, comprender su relación con las fracciones y aprender a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compararlos.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6" name="Google Shape;116;g330c9ca7faa_0_0"/>
          <p:cNvSpPr txBox="1"/>
          <p:nvPr/>
        </p:nvSpPr>
        <p:spPr>
          <a:xfrm>
            <a:off x="868700" y="1980075"/>
            <a:ext cx="3524100" cy="26706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Objetivos de la Clase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Introducir la noción de números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decimales.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Relacionar números decimales con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racciones.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Comparar números decimales.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g330c9ca7faa_0_0"/>
          <p:cNvSpPr txBox="1"/>
          <p:nvPr/>
        </p:nvSpPr>
        <p:spPr>
          <a:xfrm>
            <a:off x="4782050" y="1979974"/>
            <a:ext cx="3524100" cy="26706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Conceptos Clave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Decimales.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Décima, centésima, milésima.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g330c9ca7faa_0_0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30c9ca7faa_0_0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30c9ca7faa_0_0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1" name="Google Shape;121;g330c9ca7faa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4081" y="4279725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0c9ca7faa_0_10"/>
          <p:cNvSpPr txBox="1"/>
          <p:nvPr/>
        </p:nvSpPr>
        <p:spPr>
          <a:xfrm>
            <a:off x="589763" y="112168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Consejos para realizar la sesión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27" name="Google Shape;127;g330c9ca7faa_0_10"/>
          <p:cNvSpPr txBox="1"/>
          <p:nvPr/>
        </p:nvSpPr>
        <p:spPr>
          <a:xfrm>
            <a:off x="589763" y="1598681"/>
            <a:ext cx="7875000" cy="6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En esta sesión presentarás lo que son los decimales. Para ello motiva a tu estudiante a que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aprenderá algo nuevo 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y así entusiásmalo a adquirir nuevos conocimientos.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La definición de los decimales (diapositiva 3) la puedes complementar con la siguiente dada por el MINEDUC: “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Un número decimal está formado por una parte entera y una parte decimal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. La parte entera está delante de la coma y la parte decimal, después de la coma.”. Tras ello, y antes de seguir con la presentación, pregúntale a tu estudiante si recuerda: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Qué implica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tener un décimo, una centésima y una milésima de una cantidad (R: dividirla por 10, 100 y 1000).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Cómo representar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en una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fracción 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un décimo, una centésima y una milésima (R:                       )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" name="Google Shape;128;g330c9ca7faa_0_10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30c9ca7faa_0_10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30c9ca7faa_0_10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1" name="Google Shape;131;g330c9ca7faa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1922" y="3648522"/>
            <a:ext cx="758275" cy="32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30c9ca7faa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4081" y="4279725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0c9ca7faa_0_84"/>
          <p:cNvSpPr txBox="1"/>
          <p:nvPr/>
        </p:nvSpPr>
        <p:spPr>
          <a:xfrm>
            <a:off x="589763" y="112168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Consejos para realizar la sesión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38" name="Google Shape;138;g330c9ca7faa_0_84"/>
          <p:cNvSpPr txBox="1"/>
          <p:nvPr/>
        </p:nvSpPr>
        <p:spPr>
          <a:xfrm>
            <a:off x="589763" y="1598681"/>
            <a:ext cx="7875000" cy="6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Consolidando esas ideas previas, podrán repasar con mayor facilidad las siguientes diapositivas. Al momento de llegar a la diapositiva 11, concluyan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por qué tiene sentido que si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, por ejemplo,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dividen la unidad dos veces por 10, se obtiene una centésima 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(R: porque primero el entero se divide en 10 partes y después cada una de ellas lo hace de nuevo por 10). En caso de haber confusión,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entrega más ejemplos como este que permitan vincular los dígitos entre sí.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Por último, a la hora de comparar decimales, pregúntale a tu estudiante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por qué hacen la comparación desde las unidades hasta las milésimas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(R: porque una milésima es un número dividido en 1000 partes, entonces tiene “menos peso”).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g330c9ca7faa_0_84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30c9ca7faa_0_84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30c9ca7faa_0_84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2" name="Google Shape;142;g330c9ca7faa_0_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4081" y="4279725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30c9ca7faa_0_19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30c9ca7faa_0_19"/>
          <p:cNvSpPr txBox="1"/>
          <p:nvPr/>
        </p:nvSpPr>
        <p:spPr>
          <a:xfrm>
            <a:off x="285206" y="1218713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Para Complementar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Pídele a tu estudiante que represente en figuras dos pares de fracciones: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Mediante esas representaciones haz también que las compare e identifique cuál es mayor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menor.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" name="Google Shape;149;g330c9ca7faa_0_19"/>
          <p:cNvSpPr txBox="1"/>
          <p:nvPr/>
        </p:nvSpPr>
        <p:spPr>
          <a:xfrm>
            <a:off x="285206" y="3272644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Preguntas de Cierre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¿Qué es un número decimal?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¿Cómo se llaman los dígitos decimales?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¿Cómo comparas dos números decimales?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" name="Google Shape;150;g330c9ca7faa_0_19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30c9ca7faa_0_19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2" name="Google Shape;152;g330c9ca7faa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7948" y="1625075"/>
            <a:ext cx="1480350" cy="443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330c9ca7faa_0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4081" y="4279725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0756" y="397325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65" name="Google Shape;16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166" name="Google Shape;16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"/>
          <p:cNvSpPr txBox="1"/>
          <p:nvPr/>
        </p:nvSpPr>
        <p:spPr>
          <a:xfrm>
            <a:off x="262550" y="216425"/>
            <a:ext cx="8180700" cy="18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s" sz="29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N° Decimales</a:t>
            </a:r>
            <a:endParaRPr b="0" i="0" sz="24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Son números que al igual que las fracciones no representan n° enteros. La característica principal del n° decimal, es que tiene una </a:t>
            </a:r>
            <a:r>
              <a:rPr b="1" i="0" lang="es" sz="2400" u="none" cap="none" strike="noStrike">
                <a:solidFill>
                  <a:srgbClr val="000000"/>
                </a:solidFill>
                <a:highlight>
                  <a:srgbClr val="55DCD2"/>
                </a:highlight>
                <a:latin typeface="Patrick Hand"/>
                <a:ea typeface="Patrick Hand"/>
                <a:cs typeface="Patrick Hand"/>
                <a:sym typeface="Patrick Hand"/>
              </a:rPr>
              <a:t>coma.  </a:t>
            </a:r>
            <a:r>
              <a:rPr b="0" i="0" lang="es" sz="24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Esta se utiliza para marcar donde va la unidad.</a:t>
            </a:r>
            <a:endParaRPr b="0" i="0" sz="24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Las posiciones a la derecha de la coma tienen valores:</a:t>
            </a:r>
            <a:endParaRPr b="1" i="0" sz="25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				</a:t>
            </a:r>
            <a:endParaRPr b="1" i="0" sz="25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68" name="Google Shape;168;p3"/>
          <p:cNvSpPr txBox="1"/>
          <p:nvPr/>
        </p:nvSpPr>
        <p:spPr>
          <a:xfrm>
            <a:off x="2995800" y="2544325"/>
            <a:ext cx="3000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i="0" lang="es" sz="39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3 ,  4    3    2</a:t>
            </a:r>
            <a:endParaRPr b="1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821550" y="2630125"/>
            <a:ext cx="120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Unidad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"/>
          <p:cNvSpPr txBox="1"/>
          <p:nvPr/>
        </p:nvSpPr>
        <p:spPr>
          <a:xfrm>
            <a:off x="2843775" y="3883525"/>
            <a:ext cx="120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décimo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"/>
          <p:cNvSpPr txBox="1"/>
          <p:nvPr/>
        </p:nvSpPr>
        <p:spPr>
          <a:xfrm>
            <a:off x="4417250" y="3883525"/>
            <a:ext cx="1461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centésimo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"/>
          <p:cNvSpPr txBox="1"/>
          <p:nvPr/>
        </p:nvSpPr>
        <p:spPr>
          <a:xfrm>
            <a:off x="6357250" y="2659825"/>
            <a:ext cx="1461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milésimo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p3"/>
          <p:cNvCxnSpPr/>
          <p:nvPr/>
        </p:nvCxnSpPr>
        <p:spPr>
          <a:xfrm>
            <a:off x="3763150" y="3279100"/>
            <a:ext cx="0" cy="640200"/>
          </a:xfrm>
          <a:prstGeom prst="straightConnector1">
            <a:avLst/>
          </a:prstGeom>
          <a:noFill/>
          <a:ln cap="flat" cmpd="sng" w="28575">
            <a:solidFill>
              <a:srgbClr val="23BAA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4" name="Google Shape;174;p3"/>
          <p:cNvCxnSpPr/>
          <p:nvPr/>
        </p:nvCxnSpPr>
        <p:spPr>
          <a:xfrm flipH="1">
            <a:off x="4614675" y="3232250"/>
            <a:ext cx="4800" cy="651300"/>
          </a:xfrm>
          <a:prstGeom prst="straightConnector1">
            <a:avLst/>
          </a:prstGeom>
          <a:noFill/>
          <a:ln cap="flat" cmpd="sng" w="28575">
            <a:solidFill>
              <a:srgbClr val="23BAA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5" name="Google Shape;175;p3"/>
          <p:cNvCxnSpPr/>
          <p:nvPr/>
        </p:nvCxnSpPr>
        <p:spPr>
          <a:xfrm>
            <a:off x="5387100" y="2909975"/>
            <a:ext cx="970200" cy="0"/>
          </a:xfrm>
          <a:prstGeom prst="straightConnector1">
            <a:avLst/>
          </a:prstGeom>
          <a:noFill/>
          <a:ln cap="flat" cmpd="sng" w="28575">
            <a:solidFill>
              <a:srgbClr val="23BAA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" name="Google Shape;176;p3"/>
          <p:cNvCxnSpPr/>
          <p:nvPr/>
        </p:nvCxnSpPr>
        <p:spPr>
          <a:xfrm rot="10800000">
            <a:off x="2092425" y="2904325"/>
            <a:ext cx="836400" cy="5700"/>
          </a:xfrm>
          <a:prstGeom prst="straightConnector1">
            <a:avLst/>
          </a:prstGeom>
          <a:noFill/>
          <a:ln cap="flat" cmpd="sng" w="28575">
            <a:solidFill>
              <a:srgbClr val="23BAAF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77" name="Google Shape;177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0756" y="397325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182" name="Google Shape;18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4"/>
          <p:cNvSpPr/>
          <p:nvPr/>
        </p:nvSpPr>
        <p:spPr>
          <a:xfrm>
            <a:off x="6870500" y="1711025"/>
            <a:ext cx="1452300" cy="860700"/>
          </a:xfrm>
          <a:prstGeom prst="roundRect">
            <a:avLst>
              <a:gd fmla="val 16667" name="adj"/>
            </a:avLst>
          </a:prstGeom>
          <a:solidFill>
            <a:srgbClr val="55DCD2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74400" y="346100"/>
            <a:ext cx="26010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El décimo o décimos: </a:t>
            </a:r>
            <a:endParaRPr b="1" i="0" sz="25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504275" y="11766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656675" y="11766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809075" y="11766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961475" y="11766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1113875" y="11766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1266275" y="11766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1418675" y="11766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1571075" y="11766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1723475" y="11766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1875875" y="1176625"/>
            <a:ext cx="168000" cy="1698900"/>
          </a:xfrm>
          <a:prstGeom prst="rect">
            <a:avLst/>
          </a:prstGeom>
          <a:solidFill>
            <a:srgbClr val="FF9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2485475" y="950825"/>
            <a:ext cx="652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Una unidad se divide en 10 partes iguales.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"/>
          <p:cNvSpPr txBox="1"/>
          <p:nvPr/>
        </p:nvSpPr>
        <p:spPr>
          <a:xfrm>
            <a:off x="2714075" y="1706750"/>
            <a:ext cx="6521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Cada una de las partes es 1 décimo    1        0,1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457200" lvl="0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1 0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2143125" y="1947025"/>
            <a:ext cx="532200" cy="21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3BAAF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4"/>
          <p:cNvCxnSpPr/>
          <p:nvPr/>
        </p:nvCxnSpPr>
        <p:spPr>
          <a:xfrm flipH="1" rot="10800000">
            <a:off x="6961650" y="2171050"/>
            <a:ext cx="4482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p4"/>
          <p:cNvSpPr txBox="1"/>
          <p:nvPr/>
        </p:nvSpPr>
        <p:spPr>
          <a:xfrm>
            <a:off x="7334800" y="1767325"/>
            <a:ext cx="448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3082750" y="3025575"/>
            <a:ext cx="377100" cy="3669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3459850" y="3025575"/>
            <a:ext cx="377100" cy="3669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3082750" y="3392475"/>
            <a:ext cx="377100" cy="36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3459850" y="3392475"/>
            <a:ext cx="377100" cy="36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3082750" y="3757000"/>
            <a:ext cx="377100" cy="36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3459850" y="3757000"/>
            <a:ext cx="377100" cy="36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3082750" y="4123900"/>
            <a:ext cx="377100" cy="36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3459850" y="4123900"/>
            <a:ext cx="377100" cy="36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"/>
          <p:cNvSpPr/>
          <p:nvPr/>
        </p:nvSpPr>
        <p:spPr>
          <a:xfrm>
            <a:off x="3095075" y="2661038"/>
            <a:ext cx="377100" cy="3669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3459850" y="2661038"/>
            <a:ext cx="377100" cy="3669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"/>
          <p:cNvSpPr txBox="1"/>
          <p:nvPr/>
        </p:nvSpPr>
        <p:spPr>
          <a:xfrm>
            <a:off x="4018425" y="2803150"/>
            <a:ext cx="6010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Fracción  4      como n° decimal 0,4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   1 0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11" name="Google Shape;211;p4"/>
          <p:cNvCxnSpPr/>
          <p:nvPr/>
        </p:nvCxnSpPr>
        <p:spPr>
          <a:xfrm flipH="1" rot="10800000">
            <a:off x="5132850" y="3237850"/>
            <a:ext cx="4482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4"/>
          <p:cNvSpPr/>
          <p:nvPr/>
        </p:nvSpPr>
        <p:spPr>
          <a:xfrm>
            <a:off x="4076150" y="2714625"/>
            <a:ext cx="4062000" cy="954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"/>
          <p:cNvSpPr txBox="1"/>
          <p:nvPr/>
        </p:nvSpPr>
        <p:spPr>
          <a:xfrm>
            <a:off x="4018425" y="3885925"/>
            <a:ext cx="4992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highlight>
                  <a:srgbClr val="55DCD2"/>
                </a:highlight>
                <a:latin typeface="Patrick Hand"/>
                <a:ea typeface="Patrick Hand"/>
                <a:cs typeface="Patrick Hand"/>
                <a:sym typeface="Patrick Hand"/>
              </a:rPr>
              <a:t>Como el 10 tiene 1 cero , el n° decimal tendrá 1 cifra a la derecha de la coma.  </a:t>
            </a:r>
            <a:endParaRPr b="0" i="0" sz="1400" u="none" cap="none" strike="noStrike">
              <a:solidFill>
                <a:srgbClr val="000000"/>
              </a:solidFill>
              <a:highlight>
                <a:srgbClr val="55DCD2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6556" y="44850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220" name="Google Shape;2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5"/>
          <p:cNvSpPr txBox="1"/>
          <p:nvPr/>
        </p:nvSpPr>
        <p:spPr>
          <a:xfrm>
            <a:off x="74400" y="148725"/>
            <a:ext cx="83889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s" sz="2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Ejercicios: </a:t>
            </a:r>
            <a:endParaRPr b="1" i="0" sz="2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Según la fracción indique cual sería el n° decimal</a:t>
            </a:r>
            <a:endParaRPr b="0" i="0" sz="26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74400" y="1545850"/>
            <a:ext cx="576000" cy="572700"/>
          </a:xfrm>
          <a:prstGeom prst="ellipse">
            <a:avLst/>
          </a:prstGeom>
          <a:solidFill>
            <a:srgbClr val="55DC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1</a:t>
            </a:r>
            <a:endParaRPr b="0" i="0" sz="25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23" name="Google Shape;223;p5"/>
          <p:cNvSpPr txBox="1"/>
          <p:nvPr/>
        </p:nvSpPr>
        <p:spPr>
          <a:xfrm>
            <a:off x="586350" y="3121800"/>
            <a:ext cx="3166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Fracción           Decimal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4107750" y="1342875"/>
            <a:ext cx="474600" cy="494400"/>
          </a:xfrm>
          <a:prstGeom prst="ellipse">
            <a:avLst/>
          </a:prstGeom>
          <a:solidFill>
            <a:srgbClr val="55DC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0" i="0" sz="25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4107750" y="2181075"/>
            <a:ext cx="474600" cy="494400"/>
          </a:xfrm>
          <a:prstGeom prst="ellipse">
            <a:avLst/>
          </a:prstGeom>
          <a:solidFill>
            <a:srgbClr val="55DC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3</a:t>
            </a:r>
            <a:endParaRPr b="0" i="0" sz="25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4107750" y="3019275"/>
            <a:ext cx="474600" cy="494400"/>
          </a:xfrm>
          <a:prstGeom prst="ellipse">
            <a:avLst/>
          </a:prstGeom>
          <a:solidFill>
            <a:srgbClr val="55DC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4</a:t>
            </a:r>
            <a:endParaRPr b="0" i="0" sz="25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4107750" y="3933675"/>
            <a:ext cx="474600" cy="494400"/>
          </a:xfrm>
          <a:prstGeom prst="ellipse">
            <a:avLst/>
          </a:prstGeom>
          <a:solidFill>
            <a:srgbClr val="55DC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5</a:t>
            </a:r>
            <a:endParaRPr b="0" i="0" sz="25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28" name="Google Shape;228;p5"/>
          <p:cNvSpPr txBox="1"/>
          <p:nvPr/>
        </p:nvSpPr>
        <p:spPr>
          <a:xfrm>
            <a:off x="4759475" y="1036725"/>
            <a:ext cx="860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23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10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29" name="Google Shape;229;p5"/>
          <p:cNvSpPr txBox="1"/>
          <p:nvPr/>
        </p:nvSpPr>
        <p:spPr>
          <a:xfrm>
            <a:off x="4759475" y="1951125"/>
            <a:ext cx="860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2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10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30" name="Google Shape;230;p5"/>
          <p:cNvSpPr txBox="1"/>
          <p:nvPr/>
        </p:nvSpPr>
        <p:spPr>
          <a:xfrm>
            <a:off x="4759475" y="2865525"/>
            <a:ext cx="860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8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10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31" name="Google Shape;231;p5"/>
          <p:cNvSpPr txBox="1"/>
          <p:nvPr/>
        </p:nvSpPr>
        <p:spPr>
          <a:xfrm>
            <a:off x="4759475" y="3779925"/>
            <a:ext cx="860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6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10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32" name="Google Shape;232;p5"/>
          <p:cNvCxnSpPr/>
          <p:nvPr/>
        </p:nvCxnSpPr>
        <p:spPr>
          <a:xfrm>
            <a:off x="4871900" y="3344625"/>
            <a:ext cx="665700" cy="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5"/>
          <p:cNvCxnSpPr/>
          <p:nvPr/>
        </p:nvCxnSpPr>
        <p:spPr>
          <a:xfrm>
            <a:off x="4871900" y="4259025"/>
            <a:ext cx="665700" cy="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5"/>
          <p:cNvCxnSpPr/>
          <p:nvPr/>
        </p:nvCxnSpPr>
        <p:spPr>
          <a:xfrm>
            <a:off x="4871900" y="2430225"/>
            <a:ext cx="665700" cy="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" name="Google Shape;235;p5"/>
          <p:cNvCxnSpPr/>
          <p:nvPr/>
        </p:nvCxnSpPr>
        <p:spPr>
          <a:xfrm>
            <a:off x="4871900" y="1515825"/>
            <a:ext cx="665700" cy="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5"/>
          <p:cNvSpPr txBox="1"/>
          <p:nvPr/>
        </p:nvSpPr>
        <p:spPr>
          <a:xfrm>
            <a:off x="5537625" y="3064850"/>
            <a:ext cx="474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5"/>
          <p:cNvSpPr txBox="1"/>
          <p:nvPr/>
        </p:nvSpPr>
        <p:spPr>
          <a:xfrm>
            <a:off x="5537625" y="2150450"/>
            <a:ext cx="474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5"/>
          <p:cNvSpPr txBox="1"/>
          <p:nvPr/>
        </p:nvSpPr>
        <p:spPr>
          <a:xfrm>
            <a:off x="5537625" y="1236050"/>
            <a:ext cx="474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5"/>
          <p:cNvSpPr txBox="1"/>
          <p:nvPr/>
        </p:nvSpPr>
        <p:spPr>
          <a:xfrm>
            <a:off x="5613825" y="3903050"/>
            <a:ext cx="474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5"/>
          <p:cNvSpPr txBox="1"/>
          <p:nvPr/>
        </p:nvSpPr>
        <p:spPr>
          <a:xfrm>
            <a:off x="6087375" y="1103625"/>
            <a:ext cx="860700" cy="569400"/>
          </a:xfrm>
          <a:prstGeom prst="rect">
            <a:avLst/>
          </a:prstGeom>
          <a:solidFill>
            <a:srgbClr val="55DCD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2,3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41" name="Google Shape;241;p5"/>
          <p:cNvSpPr txBox="1"/>
          <p:nvPr/>
        </p:nvSpPr>
        <p:spPr>
          <a:xfrm>
            <a:off x="6087375" y="2094225"/>
            <a:ext cx="860700" cy="569400"/>
          </a:xfrm>
          <a:prstGeom prst="rect">
            <a:avLst/>
          </a:prstGeom>
          <a:solidFill>
            <a:srgbClr val="55DCD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4, 2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42" name="Google Shape;242;p5"/>
          <p:cNvSpPr txBox="1"/>
          <p:nvPr/>
        </p:nvSpPr>
        <p:spPr>
          <a:xfrm>
            <a:off x="4484300" y="2081925"/>
            <a:ext cx="474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s" sz="3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4</a:t>
            </a:r>
            <a:endParaRPr b="0" i="0" sz="3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43" name="Google Shape;243;p5"/>
          <p:cNvSpPr txBox="1"/>
          <p:nvPr/>
        </p:nvSpPr>
        <p:spPr>
          <a:xfrm>
            <a:off x="6087375" y="3008625"/>
            <a:ext cx="860700" cy="569400"/>
          </a:xfrm>
          <a:prstGeom prst="rect">
            <a:avLst/>
          </a:prstGeom>
          <a:solidFill>
            <a:srgbClr val="55DCD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0,8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44" name="Google Shape;244;p5"/>
          <p:cNvSpPr txBox="1"/>
          <p:nvPr/>
        </p:nvSpPr>
        <p:spPr>
          <a:xfrm>
            <a:off x="6087375" y="3770625"/>
            <a:ext cx="860700" cy="569400"/>
          </a:xfrm>
          <a:prstGeom prst="rect">
            <a:avLst/>
          </a:prstGeom>
          <a:solidFill>
            <a:srgbClr val="55DCD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8,6 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45" name="Google Shape;245;p5"/>
          <p:cNvSpPr txBox="1"/>
          <p:nvPr/>
        </p:nvSpPr>
        <p:spPr>
          <a:xfrm>
            <a:off x="2277375" y="3770625"/>
            <a:ext cx="860700" cy="569400"/>
          </a:xfrm>
          <a:prstGeom prst="rect">
            <a:avLst/>
          </a:prstGeom>
          <a:solidFill>
            <a:srgbClr val="55DCD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0,4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46" name="Google Shape;246;p5"/>
          <p:cNvSpPr txBox="1"/>
          <p:nvPr/>
        </p:nvSpPr>
        <p:spPr>
          <a:xfrm>
            <a:off x="949475" y="3551325"/>
            <a:ext cx="860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4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10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47" name="Google Shape;247;p5"/>
          <p:cNvCxnSpPr/>
          <p:nvPr/>
        </p:nvCxnSpPr>
        <p:spPr>
          <a:xfrm>
            <a:off x="1061900" y="4030425"/>
            <a:ext cx="665700" cy="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5"/>
          <p:cNvSpPr txBox="1"/>
          <p:nvPr/>
        </p:nvSpPr>
        <p:spPr>
          <a:xfrm>
            <a:off x="1803825" y="3750650"/>
            <a:ext cx="474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5"/>
          <p:cNvSpPr txBox="1"/>
          <p:nvPr/>
        </p:nvSpPr>
        <p:spPr>
          <a:xfrm>
            <a:off x="4484300" y="3834525"/>
            <a:ext cx="474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s" sz="3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8</a:t>
            </a:r>
            <a:endParaRPr b="0" i="0" sz="3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809075" y="11766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961475" y="11766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1113875" y="11766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5"/>
          <p:cNvSpPr/>
          <p:nvPr/>
        </p:nvSpPr>
        <p:spPr>
          <a:xfrm>
            <a:off x="1266275" y="11766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1418675" y="11766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1571075" y="11766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5"/>
          <p:cNvSpPr/>
          <p:nvPr/>
        </p:nvSpPr>
        <p:spPr>
          <a:xfrm>
            <a:off x="1723475" y="11766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1875875" y="11766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2028275" y="11766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2180675" y="1176625"/>
            <a:ext cx="168000" cy="1698900"/>
          </a:xfrm>
          <a:prstGeom prst="rect">
            <a:avLst/>
          </a:prstGeom>
          <a:solidFill>
            <a:srgbClr val="FF9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2028275" y="1176625"/>
            <a:ext cx="168000" cy="1698900"/>
          </a:xfrm>
          <a:prstGeom prst="rect">
            <a:avLst/>
          </a:prstGeom>
          <a:solidFill>
            <a:srgbClr val="FF9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1875875" y="1176625"/>
            <a:ext cx="168000" cy="1698900"/>
          </a:xfrm>
          <a:prstGeom prst="rect">
            <a:avLst/>
          </a:prstGeom>
          <a:solidFill>
            <a:srgbClr val="FF9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1723475" y="1176625"/>
            <a:ext cx="168000" cy="1698900"/>
          </a:xfrm>
          <a:prstGeom prst="rect">
            <a:avLst/>
          </a:prstGeom>
          <a:solidFill>
            <a:srgbClr val="FF9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0756" y="397325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268" name="Google Shape;26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6"/>
          <p:cNvSpPr/>
          <p:nvPr/>
        </p:nvSpPr>
        <p:spPr>
          <a:xfrm>
            <a:off x="7151550" y="1608325"/>
            <a:ext cx="1499100" cy="963300"/>
          </a:xfrm>
          <a:prstGeom prst="roundRect">
            <a:avLst>
              <a:gd fmla="val 16667" name="adj"/>
            </a:avLst>
          </a:prstGeom>
          <a:solidFill>
            <a:srgbClr val="55DCD2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6"/>
          <p:cNvSpPr txBox="1"/>
          <p:nvPr/>
        </p:nvSpPr>
        <p:spPr>
          <a:xfrm>
            <a:off x="74400" y="346100"/>
            <a:ext cx="26010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s" sz="29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Centésimos: </a:t>
            </a:r>
            <a:endParaRPr b="1" i="0" sz="29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504275" y="11766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656675" y="11766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809075" y="11766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961475" y="11766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1113875" y="11766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1266275" y="11766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1418675" y="11766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1571075" y="11766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1723475" y="11766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1875875" y="11766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6"/>
          <p:cNvSpPr txBox="1"/>
          <p:nvPr/>
        </p:nvSpPr>
        <p:spPr>
          <a:xfrm>
            <a:off x="2485475" y="950825"/>
            <a:ext cx="652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Una unidad se divide en 100 partes iguales.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6"/>
          <p:cNvSpPr txBox="1"/>
          <p:nvPr/>
        </p:nvSpPr>
        <p:spPr>
          <a:xfrm>
            <a:off x="2714075" y="1706750"/>
            <a:ext cx="6521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Cada una de las partes es 1 centésimo   1        0,01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457200" lvl="0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1 00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6"/>
          <p:cNvSpPr/>
          <p:nvPr/>
        </p:nvSpPr>
        <p:spPr>
          <a:xfrm>
            <a:off x="2112875" y="1867000"/>
            <a:ext cx="532200" cy="21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3BAAF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4" name="Google Shape;284;p6"/>
          <p:cNvCxnSpPr/>
          <p:nvPr/>
        </p:nvCxnSpPr>
        <p:spPr>
          <a:xfrm flipH="1" rot="10800000">
            <a:off x="7190250" y="2171050"/>
            <a:ext cx="4482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6"/>
          <p:cNvSpPr txBox="1"/>
          <p:nvPr/>
        </p:nvSpPr>
        <p:spPr>
          <a:xfrm>
            <a:off x="7487200" y="1767325"/>
            <a:ext cx="448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6"/>
          <p:cNvSpPr txBox="1"/>
          <p:nvPr/>
        </p:nvSpPr>
        <p:spPr>
          <a:xfrm>
            <a:off x="4018425" y="2955550"/>
            <a:ext cx="6010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Fracción  6      como n° decimal 0,06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   1 0 0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87" name="Google Shape;287;p6"/>
          <p:cNvCxnSpPr/>
          <p:nvPr/>
        </p:nvCxnSpPr>
        <p:spPr>
          <a:xfrm flipH="1" rot="10800000">
            <a:off x="5132850" y="3390250"/>
            <a:ext cx="4482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8" name="Google Shape;288;p6"/>
          <p:cNvCxnSpPr>
            <a:stCxn id="271" idx="1"/>
            <a:endCxn id="280" idx="3"/>
          </p:cNvCxnSpPr>
          <p:nvPr/>
        </p:nvCxnSpPr>
        <p:spPr>
          <a:xfrm>
            <a:off x="504275" y="2026075"/>
            <a:ext cx="153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p6"/>
          <p:cNvCxnSpPr/>
          <p:nvPr/>
        </p:nvCxnSpPr>
        <p:spPr>
          <a:xfrm>
            <a:off x="504275" y="2185150"/>
            <a:ext cx="153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" name="Google Shape;290;p6"/>
          <p:cNvCxnSpPr/>
          <p:nvPr/>
        </p:nvCxnSpPr>
        <p:spPr>
          <a:xfrm>
            <a:off x="504275" y="2374125"/>
            <a:ext cx="153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" name="Google Shape;291;p6"/>
          <p:cNvCxnSpPr/>
          <p:nvPr/>
        </p:nvCxnSpPr>
        <p:spPr>
          <a:xfrm>
            <a:off x="504275" y="2532075"/>
            <a:ext cx="153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2" name="Google Shape;292;p6"/>
          <p:cNvCxnSpPr/>
          <p:nvPr/>
        </p:nvCxnSpPr>
        <p:spPr>
          <a:xfrm>
            <a:off x="504275" y="2705875"/>
            <a:ext cx="153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3" name="Google Shape;293;p6"/>
          <p:cNvCxnSpPr/>
          <p:nvPr/>
        </p:nvCxnSpPr>
        <p:spPr>
          <a:xfrm>
            <a:off x="504275" y="1867000"/>
            <a:ext cx="153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6"/>
          <p:cNvCxnSpPr/>
          <p:nvPr/>
        </p:nvCxnSpPr>
        <p:spPr>
          <a:xfrm>
            <a:off x="504275" y="1714600"/>
            <a:ext cx="153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" name="Google Shape;295;p6"/>
          <p:cNvCxnSpPr/>
          <p:nvPr/>
        </p:nvCxnSpPr>
        <p:spPr>
          <a:xfrm>
            <a:off x="504275" y="1548850"/>
            <a:ext cx="153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" name="Google Shape;296;p6"/>
          <p:cNvCxnSpPr/>
          <p:nvPr/>
        </p:nvCxnSpPr>
        <p:spPr>
          <a:xfrm>
            <a:off x="504275" y="1359850"/>
            <a:ext cx="153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" name="Google Shape;297;p6"/>
          <p:cNvSpPr/>
          <p:nvPr/>
        </p:nvSpPr>
        <p:spPr>
          <a:xfrm>
            <a:off x="1873925" y="1178298"/>
            <a:ext cx="168000" cy="1815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6"/>
          <p:cNvSpPr/>
          <p:nvPr/>
        </p:nvSpPr>
        <p:spPr>
          <a:xfrm>
            <a:off x="1875875" y="29292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2028275" y="29292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6"/>
          <p:cNvSpPr/>
          <p:nvPr/>
        </p:nvSpPr>
        <p:spPr>
          <a:xfrm>
            <a:off x="2180675" y="29292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2333075" y="29292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2485475" y="29292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2637875" y="29292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6"/>
          <p:cNvSpPr/>
          <p:nvPr/>
        </p:nvSpPr>
        <p:spPr>
          <a:xfrm>
            <a:off x="2790275" y="29292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2942675" y="29292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3095075" y="29292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3247475" y="2929225"/>
            <a:ext cx="168000" cy="169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3484475" y="3619600"/>
            <a:ext cx="532200" cy="21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3BAAF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9" name="Google Shape;309;p6"/>
          <p:cNvCxnSpPr>
            <a:stCxn id="298" idx="1"/>
            <a:endCxn id="307" idx="3"/>
          </p:cNvCxnSpPr>
          <p:nvPr/>
        </p:nvCxnSpPr>
        <p:spPr>
          <a:xfrm>
            <a:off x="1875875" y="3778675"/>
            <a:ext cx="153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p6"/>
          <p:cNvCxnSpPr/>
          <p:nvPr/>
        </p:nvCxnSpPr>
        <p:spPr>
          <a:xfrm>
            <a:off x="1875875" y="3937750"/>
            <a:ext cx="153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6"/>
          <p:cNvCxnSpPr/>
          <p:nvPr/>
        </p:nvCxnSpPr>
        <p:spPr>
          <a:xfrm>
            <a:off x="1875875" y="4126725"/>
            <a:ext cx="153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6"/>
          <p:cNvCxnSpPr/>
          <p:nvPr/>
        </p:nvCxnSpPr>
        <p:spPr>
          <a:xfrm>
            <a:off x="1875875" y="4284675"/>
            <a:ext cx="153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6"/>
          <p:cNvCxnSpPr/>
          <p:nvPr/>
        </p:nvCxnSpPr>
        <p:spPr>
          <a:xfrm>
            <a:off x="1875875" y="4458475"/>
            <a:ext cx="153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6"/>
          <p:cNvCxnSpPr/>
          <p:nvPr/>
        </p:nvCxnSpPr>
        <p:spPr>
          <a:xfrm>
            <a:off x="1875875" y="3619600"/>
            <a:ext cx="153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" name="Google Shape;315;p6"/>
          <p:cNvCxnSpPr/>
          <p:nvPr/>
        </p:nvCxnSpPr>
        <p:spPr>
          <a:xfrm>
            <a:off x="1875875" y="3467200"/>
            <a:ext cx="153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" name="Google Shape;316;p6"/>
          <p:cNvCxnSpPr/>
          <p:nvPr/>
        </p:nvCxnSpPr>
        <p:spPr>
          <a:xfrm>
            <a:off x="1875875" y="3301450"/>
            <a:ext cx="153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7" name="Google Shape;317;p6"/>
          <p:cNvCxnSpPr/>
          <p:nvPr/>
        </p:nvCxnSpPr>
        <p:spPr>
          <a:xfrm>
            <a:off x="1875875" y="3112450"/>
            <a:ext cx="153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" name="Google Shape;318;p6"/>
          <p:cNvSpPr/>
          <p:nvPr/>
        </p:nvSpPr>
        <p:spPr>
          <a:xfrm>
            <a:off x="3245525" y="2930898"/>
            <a:ext cx="168000" cy="181500"/>
          </a:xfrm>
          <a:prstGeom prst="rect">
            <a:avLst/>
          </a:prstGeom>
          <a:solidFill>
            <a:srgbClr val="FF9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3251950" y="3119960"/>
            <a:ext cx="168000" cy="181500"/>
          </a:xfrm>
          <a:prstGeom prst="rect">
            <a:avLst/>
          </a:prstGeom>
          <a:solidFill>
            <a:srgbClr val="FF9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6"/>
          <p:cNvSpPr/>
          <p:nvPr/>
        </p:nvSpPr>
        <p:spPr>
          <a:xfrm>
            <a:off x="3251950" y="3449310"/>
            <a:ext cx="168000" cy="181500"/>
          </a:xfrm>
          <a:prstGeom prst="rect">
            <a:avLst/>
          </a:prstGeom>
          <a:solidFill>
            <a:srgbClr val="FF9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6"/>
          <p:cNvSpPr/>
          <p:nvPr/>
        </p:nvSpPr>
        <p:spPr>
          <a:xfrm>
            <a:off x="3251950" y="3275285"/>
            <a:ext cx="168000" cy="181500"/>
          </a:xfrm>
          <a:prstGeom prst="rect">
            <a:avLst/>
          </a:prstGeom>
          <a:solidFill>
            <a:srgbClr val="FF9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6"/>
          <p:cNvSpPr/>
          <p:nvPr/>
        </p:nvSpPr>
        <p:spPr>
          <a:xfrm>
            <a:off x="3251950" y="3611735"/>
            <a:ext cx="168000" cy="181500"/>
          </a:xfrm>
          <a:prstGeom prst="rect">
            <a:avLst/>
          </a:prstGeom>
          <a:solidFill>
            <a:srgbClr val="FF9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6"/>
          <p:cNvSpPr/>
          <p:nvPr/>
        </p:nvSpPr>
        <p:spPr>
          <a:xfrm>
            <a:off x="3251950" y="3788023"/>
            <a:ext cx="168000" cy="181500"/>
          </a:xfrm>
          <a:prstGeom prst="rect">
            <a:avLst/>
          </a:prstGeom>
          <a:solidFill>
            <a:srgbClr val="FF9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6"/>
          <p:cNvSpPr txBox="1"/>
          <p:nvPr/>
        </p:nvSpPr>
        <p:spPr>
          <a:xfrm>
            <a:off x="4018425" y="3885925"/>
            <a:ext cx="4992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highlight>
                  <a:srgbClr val="55DCD2"/>
                </a:highlight>
                <a:latin typeface="Patrick Hand"/>
                <a:ea typeface="Patrick Hand"/>
                <a:cs typeface="Patrick Hand"/>
                <a:sym typeface="Patrick Hand"/>
              </a:rPr>
              <a:t>Como el 100 tiene dos ceros, el n° decimal tendrá 2 cifras a la derecha de la coma.  </a:t>
            </a:r>
            <a:endParaRPr b="0" i="0" sz="1400" u="none" cap="none" strike="noStrike">
              <a:solidFill>
                <a:srgbClr val="000000"/>
              </a:solidFill>
              <a:highlight>
                <a:srgbClr val="55DCD2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6556" y="44850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331" name="Google Shape;331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332" name="Google Shape;3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7"/>
          <p:cNvPicPr preferRelativeResize="0"/>
          <p:nvPr/>
        </p:nvPicPr>
        <p:blipFill rotWithShape="1">
          <a:blip r:embed="rId4">
            <a:alphaModFix/>
          </a:blip>
          <a:srcRect b="14696" l="14020" r="12724" t="10013"/>
          <a:stretch/>
        </p:blipFill>
        <p:spPr>
          <a:xfrm>
            <a:off x="1138100" y="458175"/>
            <a:ext cx="2025500" cy="2025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7"/>
          <p:cNvPicPr preferRelativeResize="0"/>
          <p:nvPr/>
        </p:nvPicPr>
        <p:blipFill rotWithShape="1">
          <a:blip r:embed="rId5">
            <a:alphaModFix/>
          </a:blip>
          <a:srcRect b="5263" l="1323" r="53180" t="11054"/>
          <a:stretch/>
        </p:blipFill>
        <p:spPr>
          <a:xfrm>
            <a:off x="4637600" y="445023"/>
            <a:ext cx="2070824" cy="205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7"/>
          <p:cNvPicPr preferRelativeResize="0"/>
          <p:nvPr/>
        </p:nvPicPr>
        <p:blipFill rotWithShape="1">
          <a:blip r:embed="rId5">
            <a:alphaModFix/>
          </a:blip>
          <a:srcRect b="4513" l="52625" r="2263" t="10647"/>
          <a:stretch/>
        </p:blipFill>
        <p:spPr>
          <a:xfrm>
            <a:off x="6876875" y="445025"/>
            <a:ext cx="2025507" cy="205182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7"/>
          <p:cNvSpPr/>
          <p:nvPr/>
        </p:nvSpPr>
        <p:spPr>
          <a:xfrm>
            <a:off x="359150" y="1030575"/>
            <a:ext cx="576000" cy="572700"/>
          </a:xfrm>
          <a:prstGeom prst="ellipse">
            <a:avLst/>
          </a:prstGeom>
          <a:solidFill>
            <a:srgbClr val="55DC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1</a:t>
            </a:r>
            <a:endParaRPr b="0" i="0" sz="25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37" name="Google Shape;337;p7"/>
          <p:cNvSpPr/>
          <p:nvPr/>
        </p:nvSpPr>
        <p:spPr>
          <a:xfrm>
            <a:off x="3788150" y="1030575"/>
            <a:ext cx="576000" cy="572700"/>
          </a:xfrm>
          <a:prstGeom prst="ellipse">
            <a:avLst/>
          </a:prstGeom>
          <a:solidFill>
            <a:srgbClr val="55DC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0" i="0" sz="25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38" name="Google Shape;338;p7"/>
          <p:cNvSpPr txBox="1"/>
          <p:nvPr/>
        </p:nvSpPr>
        <p:spPr>
          <a:xfrm>
            <a:off x="1138100" y="3019875"/>
            <a:ext cx="860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15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100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39" name="Google Shape;339;p7"/>
          <p:cNvSpPr txBox="1"/>
          <p:nvPr/>
        </p:nvSpPr>
        <p:spPr>
          <a:xfrm>
            <a:off x="2367825" y="3217250"/>
            <a:ext cx="300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0, 1 5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7"/>
          <p:cNvSpPr txBox="1"/>
          <p:nvPr/>
        </p:nvSpPr>
        <p:spPr>
          <a:xfrm>
            <a:off x="1803825" y="3217250"/>
            <a:ext cx="300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7"/>
          <p:cNvSpPr txBox="1"/>
          <p:nvPr/>
        </p:nvSpPr>
        <p:spPr>
          <a:xfrm>
            <a:off x="567600" y="2565775"/>
            <a:ext cx="3166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Fracción           Decimal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7"/>
          <p:cNvCxnSpPr/>
          <p:nvPr/>
        </p:nvCxnSpPr>
        <p:spPr>
          <a:xfrm>
            <a:off x="1061900" y="3497025"/>
            <a:ext cx="665700" cy="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7"/>
          <p:cNvSpPr/>
          <p:nvPr/>
        </p:nvSpPr>
        <p:spPr>
          <a:xfrm>
            <a:off x="594175" y="2576425"/>
            <a:ext cx="1241700" cy="1397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23BA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7"/>
          <p:cNvSpPr/>
          <p:nvPr/>
        </p:nvSpPr>
        <p:spPr>
          <a:xfrm>
            <a:off x="2238525" y="2576425"/>
            <a:ext cx="1241700" cy="1397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23BA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7"/>
          <p:cNvSpPr/>
          <p:nvPr/>
        </p:nvSpPr>
        <p:spPr>
          <a:xfrm>
            <a:off x="5286525" y="2576425"/>
            <a:ext cx="1241700" cy="1397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23BA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7"/>
          <p:cNvSpPr/>
          <p:nvPr/>
        </p:nvSpPr>
        <p:spPr>
          <a:xfrm>
            <a:off x="7115325" y="2576425"/>
            <a:ext cx="1241700" cy="1397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23BA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7"/>
          <p:cNvSpPr txBox="1"/>
          <p:nvPr/>
        </p:nvSpPr>
        <p:spPr>
          <a:xfrm>
            <a:off x="5368200" y="2489575"/>
            <a:ext cx="3166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Fracción           Decimal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7"/>
          <p:cNvSpPr txBox="1"/>
          <p:nvPr/>
        </p:nvSpPr>
        <p:spPr>
          <a:xfrm>
            <a:off x="6528225" y="2988650"/>
            <a:ext cx="300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7"/>
          <p:cNvSpPr txBox="1"/>
          <p:nvPr/>
        </p:nvSpPr>
        <p:spPr>
          <a:xfrm>
            <a:off x="5633900" y="2943675"/>
            <a:ext cx="860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6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100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50" name="Google Shape;350;p7"/>
          <p:cNvSpPr txBox="1"/>
          <p:nvPr/>
        </p:nvSpPr>
        <p:spPr>
          <a:xfrm>
            <a:off x="5235675" y="3074475"/>
            <a:ext cx="860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s" sz="3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</a:t>
            </a:r>
            <a:endParaRPr b="0" i="0" sz="3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51" name="Google Shape;351;p7"/>
          <p:cNvCxnSpPr/>
          <p:nvPr/>
        </p:nvCxnSpPr>
        <p:spPr>
          <a:xfrm>
            <a:off x="5633900" y="3420825"/>
            <a:ext cx="665700" cy="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" name="Google Shape;352;p7"/>
          <p:cNvSpPr txBox="1"/>
          <p:nvPr/>
        </p:nvSpPr>
        <p:spPr>
          <a:xfrm>
            <a:off x="7324675" y="3136125"/>
            <a:ext cx="860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1, 0 6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53" name="Google Shape;353;p7"/>
          <p:cNvSpPr txBox="1"/>
          <p:nvPr/>
        </p:nvSpPr>
        <p:spPr>
          <a:xfrm>
            <a:off x="5368200" y="4053700"/>
            <a:ext cx="3166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 entero y 6 centésimos.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54" name="Google Shape;354;p7"/>
          <p:cNvSpPr txBox="1"/>
          <p:nvPr/>
        </p:nvSpPr>
        <p:spPr>
          <a:xfrm>
            <a:off x="1061900" y="4154588"/>
            <a:ext cx="3166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15 centésimos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360" name="Google Shape;360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361" name="Google Shape;36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8"/>
          <p:cNvPicPr preferRelativeResize="0"/>
          <p:nvPr/>
        </p:nvPicPr>
        <p:blipFill rotWithShape="1">
          <a:blip r:embed="rId4">
            <a:alphaModFix/>
          </a:blip>
          <a:srcRect b="3090" l="52478" r="1871" t="3816"/>
          <a:stretch/>
        </p:blipFill>
        <p:spPr>
          <a:xfrm>
            <a:off x="935125" y="1152475"/>
            <a:ext cx="2030725" cy="204552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8"/>
          <p:cNvSpPr txBox="1"/>
          <p:nvPr/>
        </p:nvSpPr>
        <p:spPr>
          <a:xfrm>
            <a:off x="74400" y="148725"/>
            <a:ext cx="83889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s" sz="2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Ejercicios: </a:t>
            </a:r>
            <a:endParaRPr b="1" i="0" sz="2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Según la fracción indique cual sería el n° decimal</a:t>
            </a:r>
            <a:endParaRPr b="0" i="0" sz="26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74400" y="1545850"/>
            <a:ext cx="576000" cy="572700"/>
          </a:xfrm>
          <a:prstGeom prst="ellipse">
            <a:avLst/>
          </a:prstGeom>
          <a:solidFill>
            <a:srgbClr val="55DC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1</a:t>
            </a:r>
            <a:endParaRPr b="0" i="0" sz="25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5" name="Google Shape;365;p8"/>
          <p:cNvSpPr txBox="1"/>
          <p:nvPr/>
        </p:nvSpPr>
        <p:spPr>
          <a:xfrm>
            <a:off x="586350" y="3121800"/>
            <a:ext cx="3166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Fracción           Decimal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4107750" y="1342875"/>
            <a:ext cx="474600" cy="494400"/>
          </a:xfrm>
          <a:prstGeom prst="ellipse">
            <a:avLst/>
          </a:prstGeom>
          <a:solidFill>
            <a:srgbClr val="55DC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0" i="0" sz="25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4107750" y="2181075"/>
            <a:ext cx="474600" cy="494400"/>
          </a:xfrm>
          <a:prstGeom prst="ellipse">
            <a:avLst/>
          </a:prstGeom>
          <a:solidFill>
            <a:srgbClr val="55DC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3</a:t>
            </a:r>
            <a:endParaRPr b="0" i="0" sz="25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4107750" y="3019275"/>
            <a:ext cx="474600" cy="494400"/>
          </a:xfrm>
          <a:prstGeom prst="ellipse">
            <a:avLst/>
          </a:prstGeom>
          <a:solidFill>
            <a:srgbClr val="55DC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4</a:t>
            </a:r>
            <a:endParaRPr b="0" i="0" sz="25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4107750" y="3933675"/>
            <a:ext cx="474600" cy="494400"/>
          </a:xfrm>
          <a:prstGeom prst="ellipse">
            <a:avLst/>
          </a:prstGeom>
          <a:solidFill>
            <a:srgbClr val="55DC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5</a:t>
            </a:r>
            <a:endParaRPr b="0" i="0" sz="25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70" name="Google Shape;370;p8"/>
          <p:cNvSpPr txBox="1"/>
          <p:nvPr/>
        </p:nvSpPr>
        <p:spPr>
          <a:xfrm>
            <a:off x="4759475" y="1036725"/>
            <a:ext cx="860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23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100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71" name="Google Shape;371;p8"/>
          <p:cNvSpPr txBox="1"/>
          <p:nvPr/>
        </p:nvSpPr>
        <p:spPr>
          <a:xfrm>
            <a:off x="4759475" y="1951125"/>
            <a:ext cx="860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32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100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72" name="Google Shape;372;p8"/>
          <p:cNvSpPr txBox="1"/>
          <p:nvPr/>
        </p:nvSpPr>
        <p:spPr>
          <a:xfrm>
            <a:off x="4759475" y="2865525"/>
            <a:ext cx="860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78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100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73" name="Google Shape;373;p8"/>
          <p:cNvSpPr txBox="1"/>
          <p:nvPr/>
        </p:nvSpPr>
        <p:spPr>
          <a:xfrm>
            <a:off x="4759475" y="3779925"/>
            <a:ext cx="860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4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100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74" name="Google Shape;374;p8"/>
          <p:cNvCxnSpPr/>
          <p:nvPr/>
        </p:nvCxnSpPr>
        <p:spPr>
          <a:xfrm>
            <a:off x="4871900" y="3344625"/>
            <a:ext cx="665700" cy="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5" name="Google Shape;375;p8"/>
          <p:cNvCxnSpPr/>
          <p:nvPr/>
        </p:nvCxnSpPr>
        <p:spPr>
          <a:xfrm>
            <a:off x="4871900" y="4259025"/>
            <a:ext cx="665700" cy="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" name="Google Shape;376;p8"/>
          <p:cNvCxnSpPr/>
          <p:nvPr/>
        </p:nvCxnSpPr>
        <p:spPr>
          <a:xfrm>
            <a:off x="4871900" y="2430225"/>
            <a:ext cx="665700" cy="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" name="Google Shape;377;p8"/>
          <p:cNvCxnSpPr/>
          <p:nvPr/>
        </p:nvCxnSpPr>
        <p:spPr>
          <a:xfrm>
            <a:off x="4871900" y="1515825"/>
            <a:ext cx="665700" cy="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8" name="Google Shape;378;p8"/>
          <p:cNvSpPr txBox="1"/>
          <p:nvPr/>
        </p:nvSpPr>
        <p:spPr>
          <a:xfrm>
            <a:off x="5537625" y="3064850"/>
            <a:ext cx="474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8"/>
          <p:cNvSpPr txBox="1"/>
          <p:nvPr/>
        </p:nvSpPr>
        <p:spPr>
          <a:xfrm>
            <a:off x="5537625" y="2150450"/>
            <a:ext cx="474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8"/>
          <p:cNvSpPr txBox="1"/>
          <p:nvPr/>
        </p:nvSpPr>
        <p:spPr>
          <a:xfrm>
            <a:off x="5537625" y="1236050"/>
            <a:ext cx="474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8"/>
          <p:cNvSpPr txBox="1"/>
          <p:nvPr/>
        </p:nvSpPr>
        <p:spPr>
          <a:xfrm>
            <a:off x="5613825" y="3903050"/>
            <a:ext cx="474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8"/>
          <p:cNvSpPr txBox="1"/>
          <p:nvPr/>
        </p:nvSpPr>
        <p:spPr>
          <a:xfrm>
            <a:off x="6087375" y="1103625"/>
            <a:ext cx="860700" cy="569400"/>
          </a:xfrm>
          <a:prstGeom prst="rect">
            <a:avLst/>
          </a:prstGeom>
          <a:solidFill>
            <a:srgbClr val="55DCD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0, 23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83" name="Google Shape;383;p8"/>
          <p:cNvSpPr txBox="1"/>
          <p:nvPr/>
        </p:nvSpPr>
        <p:spPr>
          <a:xfrm>
            <a:off x="6087375" y="2094225"/>
            <a:ext cx="860700" cy="569400"/>
          </a:xfrm>
          <a:prstGeom prst="rect">
            <a:avLst/>
          </a:prstGeom>
          <a:solidFill>
            <a:srgbClr val="55DCD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3, 32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84" name="Google Shape;384;p8"/>
          <p:cNvSpPr txBox="1"/>
          <p:nvPr/>
        </p:nvSpPr>
        <p:spPr>
          <a:xfrm>
            <a:off x="4484300" y="2081925"/>
            <a:ext cx="860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s" sz="3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3</a:t>
            </a:r>
            <a:endParaRPr b="0" i="0" sz="3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85" name="Google Shape;385;p8"/>
          <p:cNvSpPr txBox="1"/>
          <p:nvPr/>
        </p:nvSpPr>
        <p:spPr>
          <a:xfrm>
            <a:off x="6087375" y="3008625"/>
            <a:ext cx="860700" cy="569400"/>
          </a:xfrm>
          <a:prstGeom prst="rect">
            <a:avLst/>
          </a:prstGeom>
          <a:solidFill>
            <a:srgbClr val="55DCD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0,78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86" name="Google Shape;386;p8"/>
          <p:cNvSpPr txBox="1"/>
          <p:nvPr/>
        </p:nvSpPr>
        <p:spPr>
          <a:xfrm>
            <a:off x="6087375" y="3770625"/>
            <a:ext cx="860700" cy="569400"/>
          </a:xfrm>
          <a:prstGeom prst="rect">
            <a:avLst/>
          </a:prstGeom>
          <a:solidFill>
            <a:srgbClr val="55DCD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0,0 4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87" name="Google Shape;387;p8"/>
          <p:cNvSpPr txBox="1"/>
          <p:nvPr/>
        </p:nvSpPr>
        <p:spPr>
          <a:xfrm>
            <a:off x="2277375" y="3770625"/>
            <a:ext cx="860700" cy="569400"/>
          </a:xfrm>
          <a:prstGeom prst="rect">
            <a:avLst/>
          </a:prstGeom>
          <a:solidFill>
            <a:srgbClr val="55DCD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0,1 9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88" name="Google Shape;388;p8"/>
          <p:cNvSpPr txBox="1"/>
          <p:nvPr/>
        </p:nvSpPr>
        <p:spPr>
          <a:xfrm>
            <a:off x="949475" y="3551325"/>
            <a:ext cx="860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19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100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89" name="Google Shape;389;p8"/>
          <p:cNvCxnSpPr/>
          <p:nvPr/>
        </p:nvCxnSpPr>
        <p:spPr>
          <a:xfrm>
            <a:off x="1061900" y="4030425"/>
            <a:ext cx="665700" cy="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0" name="Google Shape;390;p8"/>
          <p:cNvSpPr txBox="1"/>
          <p:nvPr/>
        </p:nvSpPr>
        <p:spPr>
          <a:xfrm>
            <a:off x="1803825" y="3750650"/>
            <a:ext cx="474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1" name="Google Shape;391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80756" y="397325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396" name="Google Shape;39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9"/>
          <p:cNvSpPr/>
          <p:nvPr/>
        </p:nvSpPr>
        <p:spPr>
          <a:xfrm>
            <a:off x="7151550" y="1608325"/>
            <a:ext cx="1499100" cy="963300"/>
          </a:xfrm>
          <a:prstGeom prst="roundRect">
            <a:avLst>
              <a:gd fmla="val 16667" name="adj"/>
            </a:avLst>
          </a:prstGeom>
          <a:solidFill>
            <a:srgbClr val="55DCD2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9"/>
          <p:cNvSpPr txBox="1"/>
          <p:nvPr/>
        </p:nvSpPr>
        <p:spPr>
          <a:xfrm>
            <a:off x="74400" y="346100"/>
            <a:ext cx="26010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s" sz="29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Milésimos: </a:t>
            </a:r>
            <a:endParaRPr b="1" i="0" sz="29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99" name="Google Shape;399;p9"/>
          <p:cNvSpPr txBox="1"/>
          <p:nvPr/>
        </p:nvSpPr>
        <p:spPr>
          <a:xfrm>
            <a:off x="2485475" y="950825"/>
            <a:ext cx="652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Una unidad se divide en 1000 partes iguales.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9"/>
          <p:cNvSpPr txBox="1"/>
          <p:nvPr/>
        </p:nvSpPr>
        <p:spPr>
          <a:xfrm>
            <a:off x="2714075" y="1706750"/>
            <a:ext cx="6521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Cada una de las partes es 1 milésimo    1        0,001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457200" lvl="0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1 000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1" name="Google Shape;401;p9"/>
          <p:cNvCxnSpPr/>
          <p:nvPr/>
        </p:nvCxnSpPr>
        <p:spPr>
          <a:xfrm flipH="1" rot="10800000">
            <a:off x="7190250" y="2171050"/>
            <a:ext cx="4482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2" name="Google Shape;402;p9"/>
          <p:cNvSpPr txBox="1"/>
          <p:nvPr/>
        </p:nvSpPr>
        <p:spPr>
          <a:xfrm>
            <a:off x="7487200" y="1767325"/>
            <a:ext cx="448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9"/>
          <p:cNvSpPr txBox="1"/>
          <p:nvPr/>
        </p:nvSpPr>
        <p:spPr>
          <a:xfrm>
            <a:off x="3065925" y="2796338"/>
            <a:ext cx="6010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Ejemplo: la fracción  8      como n° decimal 0,008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   			1 00 0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04" name="Google Shape;404;p9"/>
          <p:cNvCxnSpPr/>
          <p:nvPr/>
        </p:nvCxnSpPr>
        <p:spPr>
          <a:xfrm flipH="1" rot="10800000">
            <a:off x="5581925" y="3203963"/>
            <a:ext cx="4482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5" name="Google Shape;405;p9"/>
          <p:cNvSpPr txBox="1"/>
          <p:nvPr/>
        </p:nvSpPr>
        <p:spPr>
          <a:xfrm>
            <a:off x="2714075" y="3885925"/>
            <a:ext cx="6297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highlight>
                  <a:srgbClr val="55DCD2"/>
                </a:highlight>
                <a:latin typeface="Patrick Hand"/>
                <a:ea typeface="Patrick Hand"/>
                <a:cs typeface="Patrick Hand"/>
                <a:sym typeface="Patrick Hand"/>
              </a:rPr>
              <a:t>Como el 1000 tiene 3 ceros, el n° decimal tendrá 3 cifras a la derecha de la coma.  </a:t>
            </a:r>
            <a:endParaRPr b="0" i="0" sz="1400" u="none" cap="none" strike="noStrike">
              <a:solidFill>
                <a:srgbClr val="000000"/>
              </a:solidFill>
              <a:highlight>
                <a:srgbClr val="55DCD2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6" name="Google Shape;406;p9"/>
          <p:cNvPicPr preferRelativeResize="0"/>
          <p:nvPr/>
        </p:nvPicPr>
        <p:blipFill rotWithShape="1">
          <a:blip r:embed="rId4">
            <a:alphaModFix/>
          </a:blip>
          <a:srcRect b="30999" l="65613" r="7063" t="19169"/>
          <a:stretch/>
        </p:blipFill>
        <p:spPr>
          <a:xfrm>
            <a:off x="215650" y="1069462"/>
            <a:ext cx="2498426" cy="256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16556" y="44850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413" name="Google Shape;413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414" name="Google Shape;41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0"/>
          <p:cNvSpPr txBox="1"/>
          <p:nvPr/>
        </p:nvSpPr>
        <p:spPr>
          <a:xfrm>
            <a:off x="74400" y="148725"/>
            <a:ext cx="83889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s" sz="2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Ejercicios: </a:t>
            </a:r>
            <a:endParaRPr b="1" i="0" sz="2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Según la fracción indique cual sería el n° decimal</a:t>
            </a:r>
            <a:endParaRPr b="0" i="0" sz="26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267459" y="1311050"/>
            <a:ext cx="474600" cy="494400"/>
          </a:xfrm>
          <a:prstGeom prst="ellipse">
            <a:avLst/>
          </a:prstGeom>
          <a:solidFill>
            <a:srgbClr val="55DC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1</a:t>
            </a:r>
            <a:endParaRPr b="0" i="0" sz="25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267475" y="2430225"/>
            <a:ext cx="474600" cy="494400"/>
          </a:xfrm>
          <a:prstGeom prst="ellipse">
            <a:avLst/>
          </a:prstGeom>
          <a:solidFill>
            <a:srgbClr val="55DC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0" i="0" sz="25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267475" y="3448975"/>
            <a:ext cx="474600" cy="494400"/>
          </a:xfrm>
          <a:prstGeom prst="ellipse">
            <a:avLst/>
          </a:prstGeom>
          <a:solidFill>
            <a:srgbClr val="55DC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3</a:t>
            </a:r>
            <a:endParaRPr b="0" i="0" sz="25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4107750" y="1311050"/>
            <a:ext cx="474600" cy="494400"/>
          </a:xfrm>
          <a:prstGeom prst="ellipse">
            <a:avLst/>
          </a:prstGeom>
          <a:solidFill>
            <a:srgbClr val="55DC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4</a:t>
            </a:r>
            <a:endParaRPr b="0" i="0" sz="25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4107750" y="2266125"/>
            <a:ext cx="474600" cy="494400"/>
          </a:xfrm>
          <a:prstGeom prst="ellipse">
            <a:avLst/>
          </a:prstGeom>
          <a:solidFill>
            <a:srgbClr val="55DC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5</a:t>
            </a:r>
            <a:endParaRPr b="0" i="0" sz="25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21" name="Google Shape;421;p10"/>
          <p:cNvSpPr txBox="1"/>
          <p:nvPr/>
        </p:nvSpPr>
        <p:spPr>
          <a:xfrm>
            <a:off x="918800" y="2036175"/>
            <a:ext cx="860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45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1000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22" name="Google Shape;422;p10"/>
          <p:cNvSpPr txBox="1"/>
          <p:nvPr/>
        </p:nvSpPr>
        <p:spPr>
          <a:xfrm>
            <a:off x="1035025" y="3316825"/>
            <a:ext cx="860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6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1000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23" name="Google Shape;423;p10"/>
          <p:cNvSpPr txBox="1"/>
          <p:nvPr/>
        </p:nvSpPr>
        <p:spPr>
          <a:xfrm>
            <a:off x="4596675" y="1081100"/>
            <a:ext cx="860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125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1000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24" name="Google Shape;424;p10"/>
          <p:cNvSpPr txBox="1"/>
          <p:nvPr/>
        </p:nvSpPr>
        <p:spPr>
          <a:xfrm>
            <a:off x="4629625" y="2098775"/>
            <a:ext cx="860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454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1000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25" name="Google Shape;425;p10"/>
          <p:cNvCxnSpPr/>
          <p:nvPr/>
        </p:nvCxnSpPr>
        <p:spPr>
          <a:xfrm>
            <a:off x="4689038" y="1594550"/>
            <a:ext cx="665700" cy="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6" name="Google Shape;426;p10"/>
          <p:cNvCxnSpPr/>
          <p:nvPr/>
        </p:nvCxnSpPr>
        <p:spPr>
          <a:xfrm>
            <a:off x="4871925" y="2550775"/>
            <a:ext cx="665700" cy="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7" name="Google Shape;427;p10"/>
          <p:cNvCxnSpPr/>
          <p:nvPr/>
        </p:nvCxnSpPr>
        <p:spPr>
          <a:xfrm>
            <a:off x="1230025" y="3791575"/>
            <a:ext cx="665700" cy="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" name="Google Shape;428;p10"/>
          <p:cNvCxnSpPr/>
          <p:nvPr/>
        </p:nvCxnSpPr>
        <p:spPr>
          <a:xfrm>
            <a:off x="918800" y="2510925"/>
            <a:ext cx="665700" cy="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9" name="Google Shape;429;p10"/>
          <p:cNvSpPr txBox="1"/>
          <p:nvPr/>
        </p:nvSpPr>
        <p:spPr>
          <a:xfrm>
            <a:off x="5461425" y="1312250"/>
            <a:ext cx="474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0"/>
          <p:cNvSpPr txBox="1"/>
          <p:nvPr/>
        </p:nvSpPr>
        <p:spPr>
          <a:xfrm>
            <a:off x="1877900" y="3578025"/>
            <a:ext cx="474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0"/>
          <p:cNvSpPr txBox="1"/>
          <p:nvPr/>
        </p:nvSpPr>
        <p:spPr>
          <a:xfrm>
            <a:off x="1956225" y="2302850"/>
            <a:ext cx="474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0"/>
          <p:cNvSpPr txBox="1"/>
          <p:nvPr/>
        </p:nvSpPr>
        <p:spPr>
          <a:xfrm>
            <a:off x="5537600" y="2114125"/>
            <a:ext cx="474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0"/>
          <p:cNvSpPr txBox="1"/>
          <p:nvPr/>
        </p:nvSpPr>
        <p:spPr>
          <a:xfrm>
            <a:off x="2376638" y="2228625"/>
            <a:ext cx="860700" cy="569400"/>
          </a:xfrm>
          <a:prstGeom prst="rect">
            <a:avLst/>
          </a:prstGeom>
          <a:solidFill>
            <a:srgbClr val="55DCD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0,045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34" name="Google Shape;434;p10"/>
          <p:cNvSpPr txBox="1"/>
          <p:nvPr/>
        </p:nvSpPr>
        <p:spPr>
          <a:xfrm>
            <a:off x="2320425" y="3509275"/>
            <a:ext cx="1084200" cy="569400"/>
          </a:xfrm>
          <a:prstGeom prst="rect">
            <a:avLst/>
          </a:prstGeom>
          <a:solidFill>
            <a:srgbClr val="55DCD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9, 006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35" name="Google Shape;435;p10"/>
          <p:cNvSpPr txBox="1"/>
          <p:nvPr/>
        </p:nvSpPr>
        <p:spPr>
          <a:xfrm>
            <a:off x="797075" y="3349825"/>
            <a:ext cx="582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s" sz="3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9</a:t>
            </a:r>
            <a:endParaRPr b="0" i="0" sz="3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36" name="Google Shape;436;p10"/>
          <p:cNvSpPr txBox="1"/>
          <p:nvPr/>
        </p:nvSpPr>
        <p:spPr>
          <a:xfrm>
            <a:off x="5853175" y="1273550"/>
            <a:ext cx="943500" cy="569400"/>
          </a:xfrm>
          <a:prstGeom prst="rect">
            <a:avLst/>
          </a:prstGeom>
          <a:solidFill>
            <a:srgbClr val="55DCD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0,125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37" name="Google Shape;437;p10"/>
          <p:cNvSpPr txBox="1"/>
          <p:nvPr/>
        </p:nvSpPr>
        <p:spPr>
          <a:xfrm>
            <a:off x="5936000" y="2228625"/>
            <a:ext cx="860700" cy="569400"/>
          </a:xfrm>
          <a:prstGeom prst="rect">
            <a:avLst/>
          </a:prstGeom>
          <a:solidFill>
            <a:srgbClr val="55DCD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5,454 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38" name="Google Shape;438;p10"/>
          <p:cNvSpPr txBox="1"/>
          <p:nvPr/>
        </p:nvSpPr>
        <p:spPr>
          <a:xfrm>
            <a:off x="2299301" y="1375600"/>
            <a:ext cx="1084200" cy="569400"/>
          </a:xfrm>
          <a:prstGeom prst="rect">
            <a:avLst/>
          </a:prstGeom>
          <a:solidFill>
            <a:srgbClr val="55DCD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0,3 49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39" name="Google Shape;439;p10"/>
          <p:cNvSpPr txBox="1"/>
          <p:nvPr/>
        </p:nvSpPr>
        <p:spPr>
          <a:xfrm>
            <a:off x="949475" y="1189125"/>
            <a:ext cx="860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349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1000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40" name="Google Shape;440;p10"/>
          <p:cNvCxnSpPr/>
          <p:nvPr/>
        </p:nvCxnSpPr>
        <p:spPr>
          <a:xfrm>
            <a:off x="1014100" y="1672025"/>
            <a:ext cx="665700" cy="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1" name="Google Shape;441;p10"/>
          <p:cNvSpPr txBox="1"/>
          <p:nvPr/>
        </p:nvSpPr>
        <p:spPr>
          <a:xfrm>
            <a:off x="1951850" y="1389725"/>
            <a:ext cx="326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0"/>
          <p:cNvSpPr/>
          <p:nvPr/>
        </p:nvSpPr>
        <p:spPr>
          <a:xfrm>
            <a:off x="4122075" y="3448975"/>
            <a:ext cx="474600" cy="494400"/>
          </a:xfrm>
          <a:prstGeom prst="ellipse">
            <a:avLst/>
          </a:prstGeom>
          <a:solidFill>
            <a:srgbClr val="55DC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6</a:t>
            </a:r>
            <a:endParaRPr b="0" i="0" sz="25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43" name="Google Shape;443;p10"/>
          <p:cNvSpPr txBox="1"/>
          <p:nvPr/>
        </p:nvSpPr>
        <p:spPr>
          <a:xfrm>
            <a:off x="4759475" y="3270200"/>
            <a:ext cx="860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9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1000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44" name="Google Shape;444;p10"/>
          <p:cNvSpPr txBox="1"/>
          <p:nvPr/>
        </p:nvSpPr>
        <p:spPr>
          <a:xfrm>
            <a:off x="5537625" y="3462650"/>
            <a:ext cx="474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0"/>
          <p:cNvSpPr txBox="1"/>
          <p:nvPr/>
        </p:nvSpPr>
        <p:spPr>
          <a:xfrm>
            <a:off x="6012200" y="3411475"/>
            <a:ext cx="860700" cy="569400"/>
          </a:xfrm>
          <a:prstGeom prst="rect">
            <a:avLst/>
          </a:prstGeom>
          <a:solidFill>
            <a:srgbClr val="55DCD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0,009 </a:t>
            </a:r>
            <a:endParaRPr b="0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46" name="Google Shape;446;p10"/>
          <p:cNvSpPr txBox="1"/>
          <p:nvPr/>
        </p:nvSpPr>
        <p:spPr>
          <a:xfrm>
            <a:off x="4431450" y="2191475"/>
            <a:ext cx="582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s" sz="3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7</a:t>
            </a:r>
            <a:endParaRPr b="0" i="0" sz="3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447" name="Google Shape;447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0756" y="397325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453" name="Google Shape;453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454" name="Google Shape;45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1"/>
          <p:cNvSpPr txBox="1"/>
          <p:nvPr/>
        </p:nvSpPr>
        <p:spPr>
          <a:xfrm>
            <a:off x="74400" y="346100"/>
            <a:ext cx="86856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s" sz="2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¿Qué relación existe entre la unidad, 1 décimo, 1 centésimo  y 1 milésimo?</a:t>
            </a:r>
            <a:endParaRPr b="1" i="0" sz="2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56" name="Google Shape;456;p11"/>
          <p:cNvSpPr txBox="1"/>
          <p:nvPr/>
        </p:nvSpPr>
        <p:spPr>
          <a:xfrm>
            <a:off x="515275" y="2213163"/>
            <a:ext cx="1940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1"/>
          <p:cNvSpPr txBox="1"/>
          <p:nvPr/>
        </p:nvSpPr>
        <p:spPr>
          <a:xfrm>
            <a:off x="2900600" y="2213163"/>
            <a:ext cx="1940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0, 1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1"/>
          <p:cNvSpPr txBox="1"/>
          <p:nvPr/>
        </p:nvSpPr>
        <p:spPr>
          <a:xfrm>
            <a:off x="4840700" y="2213163"/>
            <a:ext cx="1940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0, 01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1"/>
          <p:cNvSpPr txBox="1"/>
          <p:nvPr/>
        </p:nvSpPr>
        <p:spPr>
          <a:xfrm>
            <a:off x="7390150" y="2213163"/>
            <a:ext cx="1940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0, 001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1"/>
          <p:cNvSpPr txBox="1"/>
          <p:nvPr/>
        </p:nvSpPr>
        <p:spPr>
          <a:xfrm>
            <a:off x="1745125" y="1776350"/>
            <a:ext cx="300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x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1"/>
          <p:cNvSpPr txBox="1"/>
          <p:nvPr/>
        </p:nvSpPr>
        <p:spPr>
          <a:xfrm>
            <a:off x="3780800" y="1776350"/>
            <a:ext cx="300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x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1"/>
          <p:cNvSpPr txBox="1"/>
          <p:nvPr/>
        </p:nvSpPr>
        <p:spPr>
          <a:xfrm>
            <a:off x="6137100" y="1776350"/>
            <a:ext cx="300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x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1"/>
          <p:cNvSpPr txBox="1"/>
          <p:nvPr/>
        </p:nvSpPr>
        <p:spPr>
          <a:xfrm>
            <a:off x="1880650" y="2785675"/>
            <a:ext cx="300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: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1"/>
          <p:cNvSpPr txBox="1"/>
          <p:nvPr/>
        </p:nvSpPr>
        <p:spPr>
          <a:xfrm>
            <a:off x="4081525" y="2762550"/>
            <a:ext cx="300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: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1"/>
          <p:cNvSpPr txBox="1"/>
          <p:nvPr/>
        </p:nvSpPr>
        <p:spPr>
          <a:xfrm>
            <a:off x="6264650" y="2785675"/>
            <a:ext cx="300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: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5662975" y="1736087"/>
            <a:ext cx="1910225" cy="559875"/>
          </a:xfrm>
          <a:custGeom>
            <a:rect b="b" l="l" r="r" t="t"/>
            <a:pathLst>
              <a:path extrusionOk="0" h="22395" w="76409">
                <a:moveTo>
                  <a:pt x="0" y="19376"/>
                </a:moveTo>
                <a:cubicBezTo>
                  <a:pt x="6142" y="16149"/>
                  <a:pt x="25192" y="117"/>
                  <a:pt x="36851" y="13"/>
                </a:cubicBezTo>
                <a:cubicBezTo>
                  <a:pt x="48510" y="-91"/>
                  <a:pt x="63501" y="15108"/>
                  <a:pt x="69955" y="18751"/>
                </a:cubicBezTo>
                <a:cubicBezTo>
                  <a:pt x="76409" y="22395"/>
                  <a:pt x="74639" y="21354"/>
                  <a:pt x="75576" y="21874"/>
                </a:cubicBezTo>
              </a:path>
            </a:pathLst>
          </a:custGeom>
          <a:noFill/>
          <a:ln cap="flat" cmpd="sng" w="28575">
            <a:solidFill>
              <a:srgbClr val="23BA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1"/>
          <p:cNvSpPr/>
          <p:nvPr/>
        </p:nvSpPr>
        <p:spPr>
          <a:xfrm>
            <a:off x="3462088" y="1736074"/>
            <a:ext cx="1910225" cy="559875"/>
          </a:xfrm>
          <a:custGeom>
            <a:rect b="b" l="l" r="r" t="t"/>
            <a:pathLst>
              <a:path extrusionOk="0" h="22395" w="76409">
                <a:moveTo>
                  <a:pt x="0" y="19376"/>
                </a:moveTo>
                <a:cubicBezTo>
                  <a:pt x="6142" y="16149"/>
                  <a:pt x="25192" y="117"/>
                  <a:pt x="36851" y="13"/>
                </a:cubicBezTo>
                <a:cubicBezTo>
                  <a:pt x="48510" y="-91"/>
                  <a:pt x="63501" y="15108"/>
                  <a:pt x="69955" y="18751"/>
                </a:cubicBezTo>
                <a:cubicBezTo>
                  <a:pt x="76409" y="22395"/>
                  <a:pt x="74639" y="21354"/>
                  <a:pt x="75576" y="21874"/>
                </a:cubicBezTo>
              </a:path>
            </a:pathLst>
          </a:custGeom>
          <a:noFill/>
          <a:ln cap="flat" cmpd="sng" w="28575">
            <a:solidFill>
              <a:srgbClr val="23BA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1"/>
          <p:cNvSpPr/>
          <p:nvPr/>
        </p:nvSpPr>
        <p:spPr>
          <a:xfrm>
            <a:off x="1261225" y="1736074"/>
            <a:ext cx="1910225" cy="559875"/>
          </a:xfrm>
          <a:custGeom>
            <a:rect b="b" l="l" r="r" t="t"/>
            <a:pathLst>
              <a:path extrusionOk="0" h="22395" w="76409">
                <a:moveTo>
                  <a:pt x="0" y="19376"/>
                </a:moveTo>
                <a:cubicBezTo>
                  <a:pt x="6142" y="16149"/>
                  <a:pt x="25192" y="117"/>
                  <a:pt x="36851" y="13"/>
                </a:cubicBezTo>
                <a:cubicBezTo>
                  <a:pt x="48510" y="-91"/>
                  <a:pt x="63501" y="15108"/>
                  <a:pt x="69955" y="18751"/>
                </a:cubicBezTo>
                <a:cubicBezTo>
                  <a:pt x="76409" y="22395"/>
                  <a:pt x="74639" y="21354"/>
                  <a:pt x="75576" y="21874"/>
                </a:cubicBezTo>
              </a:path>
            </a:pathLst>
          </a:custGeom>
          <a:noFill/>
          <a:ln cap="flat" cmpd="sng" w="28575">
            <a:solidFill>
              <a:srgbClr val="23BA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1"/>
          <p:cNvSpPr/>
          <p:nvPr/>
        </p:nvSpPr>
        <p:spPr>
          <a:xfrm rot="10800000">
            <a:off x="1261213" y="2805887"/>
            <a:ext cx="1910225" cy="559875"/>
          </a:xfrm>
          <a:custGeom>
            <a:rect b="b" l="l" r="r" t="t"/>
            <a:pathLst>
              <a:path extrusionOk="0" h="22395" w="76409">
                <a:moveTo>
                  <a:pt x="0" y="19376"/>
                </a:moveTo>
                <a:cubicBezTo>
                  <a:pt x="6142" y="16149"/>
                  <a:pt x="25192" y="117"/>
                  <a:pt x="36851" y="13"/>
                </a:cubicBezTo>
                <a:cubicBezTo>
                  <a:pt x="48510" y="-91"/>
                  <a:pt x="63501" y="15108"/>
                  <a:pt x="69955" y="18751"/>
                </a:cubicBezTo>
                <a:cubicBezTo>
                  <a:pt x="76409" y="22395"/>
                  <a:pt x="74639" y="21354"/>
                  <a:pt x="75576" y="21874"/>
                </a:cubicBezTo>
              </a:path>
            </a:pathLst>
          </a:custGeom>
          <a:noFill/>
          <a:ln cap="flat" cmpd="sng" w="28575">
            <a:solidFill>
              <a:srgbClr val="23BA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1"/>
          <p:cNvSpPr/>
          <p:nvPr/>
        </p:nvSpPr>
        <p:spPr>
          <a:xfrm rot="10800000">
            <a:off x="3471013" y="2805887"/>
            <a:ext cx="1910225" cy="559875"/>
          </a:xfrm>
          <a:custGeom>
            <a:rect b="b" l="l" r="r" t="t"/>
            <a:pathLst>
              <a:path extrusionOk="0" h="22395" w="76409">
                <a:moveTo>
                  <a:pt x="0" y="19376"/>
                </a:moveTo>
                <a:cubicBezTo>
                  <a:pt x="6142" y="16149"/>
                  <a:pt x="25192" y="117"/>
                  <a:pt x="36851" y="13"/>
                </a:cubicBezTo>
                <a:cubicBezTo>
                  <a:pt x="48510" y="-91"/>
                  <a:pt x="63501" y="15108"/>
                  <a:pt x="69955" y="18751"/>
                </a:cubicBezTo>
                <a:cubicBezTo>
                  <a:pt x="76409" y="22395"/>
                  <a:pt x="74639" y="21354"/>
                  <a:pt x="75576" y="21874"/>
                </a:cubicBezTo>
              </a:path>
            </a:pathLst>
          </a:custGeom>
          <a:noFill/>
          <a:ln cap="flat" cmpd="sng" w="28575">
            <a:solidFill>
              <a:srgbClr val="23BA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1"/>
          <p:cNvSpPr/>
          <p:nvPr/>
        </p:nvSpPr>
        <p:spPr>
          <a:xfrm rot="10800000">
            <a:off x="5680813" y="2805887"/>
            <a:ext cx="1910225" cy="559875"/>
          </a:xfrm>
          <a:custGeom>
            <a:rect b="b" l="l" r="r" t="t"/>
            <a:pathLst>
              <a:path extrusionOk="0" h="22395" w="76409">
                <a:moveTo>
                  <a:pt x="0" y="19376"/>
                </a:moveTo>
                <a:cubicBezTo>
                  <a:pt x="6142" y="16149"/>
                  <a:pt x="25192" y="117"/>
                  <a:pt x="36851" y="13"/>
                </a:cubicBezTo>
                <a:cubicBezTo>
                  <a:pt x="48510" y="-91"/>
                  <a:pt x="63501" y="15108"/>
                  <a:pt x="69955" y="18751"/>
                </a:cubicBezTo>
                <a:cubicBezTo>
                  <a:pt x="76409" y="22395"/>
                  <a:pt x="74639" y="21354"/>
                  <a:pt x="75576" y="21874"/>
                </a:cubicBezTo>
              </a:path>
            </a:pathLst>
          </a:custGeom>
          <a:noFill/>
          <a:ln cap="flat" cmpd="sng" w="28575">
            <a:solidFill>
              <a:srgbClr val="23BA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1"/>
          <p:cNvSpPr txBox="1"/>
          <p:nvPr/>
        </p:nvSpPr>
        <p:spPr>
          <a:xfrm>
            <a:off x="7390150" y="4139138"/>
            <a:ext cx="300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milésimo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1"/>
          <p:cNvSpPr txBox="1"/>
          <p:nvPr/>
        </p:nvSpPr>
        <p:spPr>
          <a:xfrm>
            <a:off x="4897525" y="4186150"/>
            <a:ext cx="300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centésimo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1"/>
          <p:cNvSpPr txBox="1"/>
          <p:nvPr/>
        </p:nvSpPr>
        <p:spPr>
          <a:xfrm>
            <a:off x="2827850" y="4262350"/>
            <a:ext cx="300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décimo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1"/>
          <p:cNvSpPr txBox="1"/>
          <p:nvPr/>
        </p:nvSpPr>
        <p:spPr>
          <a:xfrm>
            <a:off x="933200" y="4186150"/>
            <a:ext cx="300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unidad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1"/>
          <p:cNvSpPr/>
          <p:nvPr/>
        </p:nvSpPr>
        <p:spPr>
          <a:xfrm>
            <a:off x="1089325" y="2888650"/>
            <a:ext cx="171900" cy="129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55DCD2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1"/>
          <p:cNvSpPr/>
          <p:nvPr/>
        </p:nvSpPr>
        <p:spPr>
          <a:xfrm>
            <a:off x="3222925" y="3041050"/>
            <a:ext cx="171900" cy="129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55DCD2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1"/>
          <p:cNvSpPr/>
          <p:nvPr/>
        </p:nvSpPr>
        <p:spPr>
          <a:xfrm>
            <a:off x="5432725" y="3041050"/>
            <a:ext cx="171900" cy="129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55DCD2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1"/>
          <p:cNvSpPr/>
          <p:nvPr/>
        </p:nvSpPr>
        <p:spPr>
          <a:xfrm>
            <a:off x="7871125" y="2964850"/>
            <a:ext cx="171900" cy="1297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55DCD2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484" name="Google Shape;48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12"/>
          <p:cNvSpPr txBox="1"/>
          <p:nvPr/>
        </p:nvSpPr>
        <p:spPr>
          <a:xfrm>
            <a:off x="2863550" y="204150"/>
            <a:ext cx="4353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rgbClr val="FFFFFF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Comparar decimales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2"/>
          <p:cNvSpPr txBox="1"/>
          <p:nvPr/>
        </p:nvSpPr>
        <p:spPr>
          <a:xfrm>
            <a:off x="299675" y="742100"/>
            <a:ext cx="85794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Para poder comparar los n° decimales tienes que comparar cada uno de los dígitos utilizando su posición. Siempre comienzas por la cifra de mayor valor de cada n°. 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Por ejemplo:       ¿Qué n° es mayor?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				3 , 6 5 7 o 3, 2 4 6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Paso 1: Comparar la  unidad         Ambos tienen un 3 por lo que seguimos a la 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siguiente cifra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Paso 2: Comparar los décimos: el primer n° tiene 6 décimos y el segundo 2 décimos, por lo tanto        3, 6 57 es mayor que 3 , 2 46.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graphicFrame>
        <p:nvGraphicFramePr>
          <p:cNvPr id="487" name="Google Shape;487;p12"/>
          <p:cNvGraphicFramePr/>
          <p:nvPr/>
        </p:nvGraphicFramePr>
        <p:xfrm>
          <a:off x="4664500" y="181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{FC77B243-3DF2-4788-A91D-F57CBAB3177F}</a:tableStyleId>
              </a:tblPr>
              <a:tblGrid>
                <a:gridCol w="1005575"/>
                <a:gridCol w="927500"/>
                <a:gridCol w="1083650"/>
                <a:gridCol w="1005575"/>
              </a:tblGrid>
              <a:tr h="51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" sz="17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Unidad</a:t>
                      </a:r>
                      <a:endParaRPr sz="17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" sz="17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Décimos</a:t>
                      </a:r>
                      <a:endParaRPr sz="17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" sz="17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centésimos</a:t>
                      </a:r>
                      <a:endParaRPr sz="17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" sz="17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milésimos</a:t>
                      </a:r>
                      <a:endParaRPr sz="17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s" sz="22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3</a:t>
                      </a:r>
                      <a:endParaRPr sz="22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s" sz="22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6</a:t>
                      </a:r>
                      <a:endParaRPr sz="22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s" sz="22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5</a:t>
                      </a:r>
                      <a:endParaRPr sz="22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s" sz="22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7</a:t>
                      </a:r>
                      <a:endParaRPr sz="22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s" sz="22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3</a:t>
                      </a:r>
                      <a:endParaRPr sz="22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s" sz="22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2</a:t>
                      </a:r>
                      <a:endParaRPr sz="22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s" sz="22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4</a:t>
                      </a:r>
                      <a:endParaRPr sz="22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s" sz="22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6</a:t>
                      </a:r>
                      <a:endParaRPr sz="22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8" name="Google Shape;488;p12"/>
          <p:cNvSpPr txBox="1"/>
          <p:nvPr/>
        </p:nvSpPr>
        <p:spPr>
          <a:xfrm>
            <a:off x="5555100" y="2242575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s" sz="3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,</a:t>
            </a:r>
            <a:endParaRPr b="1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2"/>
          <p:cNvSpPr txBox="1"/>
          <p:nvPr/>
        </p:nvSpPr>
        <p:spPr>
          <a:xfrm>
            <a:off x="5555100" y="2699775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s" sz="3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,</a:t>
            </a:r>
            <a:endParaRPr b="1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3638250" y="3482075"/>
            <a:ext cx="359100" cy="45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3BAAF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2787350" y="4497050"/>
            <a:ext cx="359100" cy="308400"/>
          </a:xfrm>
          <a:prstGeom prst="rightArrow">
            <a:avLst>
              <a:gd fmla="val 50000" name="adj1"/>
              <a:gd fmla="val 45155" name="adj2"/>
            </a:avLst>
          </a:prstGeom>
          <a:solidFill>
            <a:srgbClr val="23BAAF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497" name="Google Shape;49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498" name="Google Shape;49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13"/>
          <p:cNvSpPr txBox="1"/>
          <p:nvPr/>
        </p:nvSpPr>
        <p:spPr>
          <a:xfrm>
            <a:off x="0" y="343525"/>
            <a:ext cx="8666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Ejercicios: 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Abre tu cuaderno y compara los siguientes números ¿Cuál es mayor?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500" name="Google Shape;500;p13"/>
          <p:cNvSpPr txBox="1"/>
          <p:nvPr/>
        </p:nvSpPr>
        <p:spPr>
          <a:xfrm>
            <a:off x="935125" y="1266925"/>
            <a:ext cx="30000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rick Hand"/>
              <a:buChar char="●"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0, 5    -     0 , 6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rick Hand"/>
              <a:buChar char="●"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1, 2    -     1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rick Hand"/>
              <a:buChar char="●"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0, 57   -    0,6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rick Hand"/>
              <a:buChar char="●"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0 , 98  -    1 , 1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501" name="Google Shape;501;p13"/>
          <p:cNvSpPr txBox="1"/>
          <p:nvPr/>
        </p:nvSpPr>
        <p:spPr>
          <a:xfrm>
            <a:off x="4881900" y="1258375"/>
            <a:ext cx="30000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rick Hand"/>
              <a:buChar char="●"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4, 5    -     4 , 067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rick Hand"/>
              <a:buChar char="●"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1, 3    -     1, 009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rick Hand"/>
              <a:buChar char="●"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0, 35  -    0,53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rick Hand"/>
              <a:buChar char="●"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 , 78  -    1 , 81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502" name="Google Shape;502;p13"/>
          <p:cNvSpPr txBox="1"/>
          <p:nvPr/>
        </p:nvSpPr>
        <p:spPr>
          <a:xfrm>
            <a:off x="2003075" y="1959225"/>
            <a:ext cx="472200" cy="5541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3"/>
          <p:cNvSpPr txBox="1"/>
          <p:nvPr/>
        </p:nvSpPr>
        <p:spPr>
          <a:xfrm>
            <a:off x="2084900" y="1266925"/>
            <a:ext cx="472200" cy="5541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&lt;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3"/>
          <p:cNvSpPr txBox="1"/>
          <p:nvPr/>
        </p:nvSpPr>
        <p:spPr>
          <a:xfrm>
            <a:off x="2003075" y="2744575"/>
            <a:ext cx="472200" cy="5541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&lt;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3"/>
          <p:cNvSpPr txBox="1"/>
          <p:nvPr/>
        </p:nvSpPr>
        <p:spPr>
          <a:xfrm>
            <a:off x="2084900" y="3454825"/>
            <a:ext cx="472200" cy="5541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&lt;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3"/>
          <p:cNvSpPr txBox="1"/>
          <p:nvPr/>
        </p:nvSpPr>
        <p:spPr>
          <a:xfrm>
            <a:off x="6024200" y="2736025"/>
            <a:ext cx="472200" cy="5541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&lt;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3"/>
          <p:cNvSpPr txBox="1"/>
          <p:nvPr/>
        </p:nvSpPr>
        <p:spPr>
          <a:xfrm>
            <a:off x="5949850" y="1266925"/>
            <a:ext cx="472200" cy="5541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3"/>
          <p:cNvSpPr txBox="1"/>
          <p:nvPr/>
        </p:nvSpPr>
        <p:spPr>
          <a:xfrm>
            <a:off x="5949850" y="2001475"/>
            <a:ext cx="472200" cy="5541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3"/>
          <p:cNvSpPr txBox="1"/>
          <p:nvPr/>
        </p:nvSpPr>
        <p:spPr>
          <a:xfrm>
            <a:off x="6024200" y="3470575"/>
            <a:ext cx="472200" cy="5541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&lt;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0" name="Google Shape;51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0756" y="397325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515" name="Google Shape;515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14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¡Resumen de hoy!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1844744" y="1220127"/>
            <a:ext cx="5454600" cy="2722500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division" id="518" name="Google Shape;518;p14" title="Resumen - Decimales (12) - Presentación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13925" y="1044875"/>
            <a:ext cx="6516150" cy="36653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19" name="Google Shape;519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80756" y="397325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5"/>
          <p:cNvSpPr txBox="1"/>
          <p:nvPr/>
        </p:nvSpPr>
        <p:spPr>
          <a:xfrm>
            <a:off x="785234" y="366599"/>
            <a:ext cx="7573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¡Ahora es tu turno!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5"/>
          <p:cNvSpPr txBox="1"/>
          <p:nvPr/>
        </p:nvSpPr>
        <p:spPr>
          <a:xfrm>
            <a:off x="768000" y="1129575"/>
            <a:ext cx="361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1) ¿Qué número es mayor?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526" name="Google Shape;526;p15"/>
          <p:cNvSpPr txBox="1"/>
          <p:nvPr/>
        </p:nvSpPr>
        <p:spPr>
          <a:xfrm>
            <a:off x="4718475" y="1129563"/>
            <a:ext cx="397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2) ¿Cuál es el resultado decimal?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527" name="Google Shape;527;p15"/>
          <p:cNvSpPr txBox="1"/>
          <p:nvPr/>
        </p:nvSpPr>
        <p:spPr>
          <a:xfrm>
            <a:off x="2286000" y="4079382"/>
            <a:ext cx="457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RESPONDER ACÁ: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https://forms.gle/ckBKxSSzYwTawbGe7</a:t>
            </a:r>
            <a:r>
              <a:rPr b="1" i="0" lang="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28" name="Google Shape;528;p15"/>
          <p:cNvGraphicFramePr/>
          <p:nvPr/>
        </p:nvGraphicFramePr>
        <p:xfrm>
          <a:off x="856400" y="182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{FC77B243-3DF2-4788-A91D-F57CBAB3177F}</a:tableStyleId>
              </a:tblPr>
              <a:tblGrid>
                <a:gridCol w="1005575"/>
                <a:gridCol w="927500"/>
                <a:gridCol w="1083650"/>
                <a:gridCol w="1005575"/>
              </a:tblGrid>
              <a:tr h="51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" sz="17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Unidad</a:t>
                      </a:r>
                      <a:endParaRPr sz="17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" sz="17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Décimos</a:t>
                      </a:r>
                      <a:endParaRPr sz="17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" sz="17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centésimos</a:t>
                      </a:r>
                      <a:endParaRPr sz="17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" sz="17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milésimos</a:t>
                      </a:r>
                      <a:endParaRPr sz="17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s" sz="22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9</a:t>
                      </a:r>
                      <a:endParaRPr sz="22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s" sz="22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3</a:t>
                      </a:r>
                      <a:endParaRPr sz="22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s" sz="22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7</a:t>
                      </a:r>
                      <a:endParaRPr sz="22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s" sz="22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2</a:t>
                      </a:r>
                      <a:endParaRPr sz="22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s" sz="22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9</a:t>
                      </a:r>
                      <a:endParaRPr sz="22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s" sz="22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3</a:t>
                      </a:r>
                      <a:endParaRPr sz="22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s" sz="22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7</a:t>
                      </a:r>
                      <a:endParaRPr sz="22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s" sz="22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1</a:t>
                      </a:r>
                      <a:endParaRPr sz="22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s" sz="22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9</a:t>
                      </a:r>
                      <a:endParaRPr sz="22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s" sz="22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3</a:t>
                      </a:r>
                      <a:endParaRPr sz="22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s" sz="22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1</a:t>
                      </a:r>
                      <a:endParaRPr sz="22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s" sz="2200" u="none" cap="none" strike="noStrike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7</a:t>
                      </a:r>
                      <a:endParaRPr sz="2200" u="none" cap="none" strike="noStrike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3BA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29" name="Google Shape;529;p15"/>
          <p:cNvSpPr txBox="1"/>
          <p:nvPr/>
        </p:nvSpPr>
        <p:spPr>
          <a:xfrm>
            <a:off x="6720164" y="1591263"/>
            <a:ext cx="57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33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10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530" name="Google Shape;530;p15"/>
          <p:cNvCxnSpPr/>
          <p:nvPr/>
        </p:nvCxnSpPr>
        <p:spPr>
          <a:xfrm>
            <a:off x="6768763" y="2050263"/>
            <a:ext cx="482400" cy="5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1" name="Google Shape;531;p15"/>
          <p:cNvSpPr txBox="1"/>
          <p:nvPr/>
        </p:nvSpPr>
        <p:spPr>
          <a:xfrm>
            <a:off x="6108264" y="1775913"/>
            <a:ext cx="57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A)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532" name="Google Shape;532;p15"/>
          <p:cNvSpPr txBox="1"/>
          <p:nvPr/>
        </p:nvSpPr>
        <p:spPr>
          <a:xfrm>
            <a:off x="6720164" y="2373613"/>
            <a:ext cx="57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100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533" name="Google Shape;533;p15"/>
          <p:cNvCxnSpPr/>
          <p:nvPr/>
        </p:nvCxnSpPr>
        <p:spPr>
          <a:xfrm>
            <a:off x="6768763" y="2832613"/>
            <a:ext cx="482400" cy="5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4" name="Google Shape;534;p15"/>
          <p:cNvSpPr txBox="1"/>
          <p:nvPr/>
        </p:nvSpPr>
        <p:spPr>
          <a:xfrm>
            <a:off x="6108264" y="2558263"/>
            <a:ext cx="57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B)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535" name="Google Shape;535;p15"/>
          <p:cNvSpPr txBox="1"/>
          <p:nvPr/>
        </p:nvSpPr>
        <p:spPr>
          <a:xfrm>
            <a:off x="6610525" y="3155963"/>
            <a:ext cx="798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999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1000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536" name="Google Shape;536;p15"/>
          <p:cNvCxnSpPr/>
          <p:nvPr/>
        </p:nvCxnSpPr>
        <p:spPr>
          <a:xfrm>
            <a:off x="6777988" y="3614963"/>
            <a:ext cx="482400" cy="5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7" name="Google Shape;537;p15"/>
          <p:cNvSpPr txBox="1"/>
          <p:nvPr/>
        </p:nvSpPr>
        <p:spPr>
          <a:xfrm>
            <a:off x="6108264" y="3340613"/>
            <a:ext cx="57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C)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538" name="Google Shape;538;p15"/>
          <p:cNvSpPr txBox="1"/>
          <p:nvPr/>
        </p:nvSpPr>
        <p:spPr>
          <a:xfrm>
            <a:off x="276789" y="2330013"/>
            <a:ext cx="57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A)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539" name="Google Shape;539;p15"/>
          <p:cNvSpPr txBox="1"/>
          <p:nvPr/>
        </p:nvSpPr>
        <p:spPr>
          <a:xfrm>
            <a:off x="276789" y="2858463"/>
            <a:ext cx="57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B)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540" name="Google Shape;540;p15"/>
          <p:cNvSpPr txBox="1"/>
          <p:nvPr/>
        </p:nvSpPr>
        <p:spPr>
          <a:xfrm>
            <a:off x="276789" y="3376588"/>
            <a:ext cx="57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C)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541" name="Google Shape;541;p15"/>
          <p:cNvPicPr preferRelativeResize="0"/>
          <p:nvPr/>
        </p:nvPicPr>
        <p:blipFill rotWithShape="1">
          <a:blip r:embed="rId4">
            <a:alphaModFix/>
          </a:blip>
          <a:srcRect b="9109" l="9110" r="9109" t="9110"/>
          <a:stretch/>
        </p:blipFill>
        <p:spPr>
          <a:xfrm>
            <a:off x="7409425" y="3092525"/>
            <a:ext cx="1671226" cy="1671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546" name="Google Shape;546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6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¡Reforcemos lo aprendido!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6"/>
          <p:cNvSpPr/>
          <p:nvPr/>
        </p:nvSpPr>
        <p:spPr>
          <a:xfrm>
            <a:off x="1844744" y="1220127"/>
            <a:ext cx="5454600" cy="2722500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division" id="549" name="Google Shape;549;p16" title="Reforzamiento - Decimales (12) - Presentación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86125" y="1044875"/>
            <a:ext cx="6571750" cy="36966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50" name="Google Shape;55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80756" y="397325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