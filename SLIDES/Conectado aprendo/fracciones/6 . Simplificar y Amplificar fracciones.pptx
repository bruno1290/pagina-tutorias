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atrick Hand"/>
      <p:regular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Poppins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iv+hYeshT5FRqmNYNJeoi+WSuL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PatrickHand-regular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bold.fntdata"/><Relationship Id="rId30" Type="http://schemas.openxmlformats.org/officeDocument/2006/relationships/font" Target="fonts/PoppinsLight-regular.fntdata"/><Relationship Id="rId11" Type="http://schemas.openxmlformats.org/officeDocument/2006/relationships/slide" Target="slides/slide5.xml"/><Relationship Id="rId33" Type="http://schemas.openxmlformats.org/officeDocument/2006/relationships/font" Target="fonts/Poppins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Ligh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0c87ab80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0c87ab8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c87ab80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c87ab80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0c87ab800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0c87ab80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0c87ab800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0c87ab8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9.cl/7rjesb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hyperlink" Target="http://www.youtube.com/watch?v=9sZ8IMZakSU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forms.gle/dBY4qCdmwzPwGnZD9" TargetMode="External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hyperlink" Target="http://www.youtube.com/watch?v=GIXYowQQ2Xw" TargetMode="External"/><Relationship Id="rId5" Type="http://schemas.openxmlformats.org/officeDocument/2006/relationships/image" Target="../media/image11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42376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0c87ab800_0_0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Entender el concepto de fracciones equivalentes e irreductibles, explorando cómo se pueden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obtener mediante la simplificación y amplificación.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6" name="Google Shape;116;g330c87ab800_0_0"/>
          <p:cNvSpPr txBox="1"/>
          <p:nvPr/>
        </p:nvSpPr>
        <p:spPr>
          <a:xfrm>
            <a:off x="868700" y="1980075"/>
            <a:ext cx="3524100" cy="2670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Comprender qué es una fracción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equivalente y cómo se obtienen.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Comprender qué es una fracción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irreductible y cómo se obtienen.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30c87ab800_0_0"/>
          <p:cNvSpPr txBox="1"/>
          <p:nvPr/>
        </p:nvSpPr>
        <p:spPr>
          <a:xfrm>
            <a:off x="4782050" y="1979974"/>
            <a:ext cx="3524100" cy="2670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Amplificar.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Simplificar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Fracción equivalente.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Fracción irreductible.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Fracciones propias, impropias, iguales a la unidad y mixtas.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30c87ab800_0_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30c87ab800_0_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30c87ab800_0_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g330c87ab80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0756" y="42376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0c87ab800_0_10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7" name="Google Shape;127;g330c87ab800_0_10"/>
          <p:cNvSpPr txBox="1"/>
          <p:nvPr/>
        </p:nvSpPr>
        <p:spPr>
          <a:xfrm>
            <a:off x="589763" y="1370081"/>
            <a:ext cx="78750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esta sesión tu estudiante deberá aprender sobre qué es una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fracción equivalente y una irreductible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. Para ello revisarán dos operaciones: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simplificar y amplificar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. Es recomendable traer impreso o mostrar virtualmente las figuras equivalentes del siguiente enlace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n9.cl/7rjesb]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ya que es muy importante que pueda ver que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el valor de la fracción no cambia, solo cambia su representación.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A medida que avancen en la sesión, haz las siguientes preguntas porque si tu estudiante las puede contestar con seguridad, podrá naturalmente entender las fracciones irreductibles y equivalentes: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¿Qué deben tener en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común el numerador y denominador para simplificarlos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? (R: múltiplos)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¿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Hasta cuándo puedo simplificar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una fracción? (R: hasta que no tengan múltiplos comunes)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¿Necesito una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condición para poder amplificar fracciones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? (R: No)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¿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Hasta cuándo puedo amplificar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una fracción? (R: no hay límite)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30c87ab800_0_1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30c87ab800_0_1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30c87ab800_0_1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g330c87ab800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42376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0c87ab800_0_19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7" name="Google Shape;137;g330c87ab800_0_19"/>
          <p:cNvSpPr txBox="1"/>
          <p:nvPr/>
        </p:nvSpPr>
        <p:spPr>
          <a:xfrm>
            <a:off x="589763" y="1370081"/>
            <a:ext cx="7875000" cy="4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Vinculado con lo anterior, es común que los estudiantes comentan el </a:t>
            </a:r>
            <a:r>
              <a:rPr b="1"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error de utilizar las operaciones de suma o resta,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 vez de multiplicación y división, para efectuar amplificaciones y simplificaciones. Por ejemplo, </a:t>
            </a:r>
            <a:r>
              <a:rPr b="1"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creen que 2/3 es equivalente a 4/5 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porque ambos elementos, numerador y denominador, han sido </a:t>
            </a:r>
            <a:r>
              <a:rPr b="1"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“aumentados” en la misma cantidad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En este sentido, es </a:t>
            </a:r>
            <a:r>
              <a:rPr b="1"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clave usar las palabras correctas: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siempre utiliza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amplificación y no aumentar, o simplificar y no disminuir.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último, se presentarán las fracciones propias, impropias, iguales a la unidad y mixtas. Solo </a:t>
            </a:r>
            <a:r>
              <a:rPr b="1"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serán las definiciones,</a:t>
            </a:r>
            <a:r>
              <a:rPr lang="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por lo que no es necesario dedicarle mucho tiempo, el foco está en lo anterior.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g330c87ab800_0_19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30c87ab800_0_19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30c87ab800_0_19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g330c87ab800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0756" y="42376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0c87ab800_0_28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30c87ab800_0_28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Haz que tu estudiante junte 12 lápices. Con ellos, pídele que haga grupos de a 2, 3, 4, 6 y 12 lápices y pregúntale: ¿cómo representarías cada situación con fracciones? ¿Son equivalentes? Con eso podrá ver de forma palpable los conceptos de hoy.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g330c87ab800_0_28"/>
          <p:cNvSpPr txBox="1"/>
          <p:nvPr/>
        </p:nvSpPr>
        <p:spPr>
          <a:xfrm>
            <a:off x="285206" y="32726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¿Cómo obtienes una fracción equivalente?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obtienes una fracción irreductible?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¿Qué es una fracción propia e impropia?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g330c87ab800_0_28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30c87ab800_0_28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1" name="Google Shape;151;g330c87ab800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0756" y="42376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63" name="Google Shape;16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"/>
          <p:cNvSpPr txBox="1"/>
          <p:nvPr/>
        </p:nvSpPr>
        <p:spPr>
          <a:xfrm>
            <a:off x="497813" y="383963"/>
            <a:ext cx="81483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fracción representa las partes que estás considerando del total de partes iguales. Esta se representa de la siguiente manera simbólicamente: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1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 5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4338413" y="1978650"/>
            <a:ext cx="4350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número de partes que tenemos.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4320252" y="2882138"/>
            <a:ext cx="3834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número de partes en que hemos dividido la unidad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726838" y="1950269"/>
            <a:ext cx="19908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3"/>
          <p:cNvCxnSpPr/>
          <p:nvPr/>
        </p:nvCxnSpPr>
        <p:spPr>
          <a:xfrm flipH="1" rot="10800000">
            <a:off x="1909394" y="2817650"/>
            <a:ext cx="1625700" cy="132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3"/>
          <p:cNvCxnSpPr>
            <a:endCxn id="165" idx="1"/>
          </p:cNvCxnSpPr>
          <p:nvPr/>
        </p:nvCxnSpPr>
        <p:spPr>
          <a:xfrm>
            <a:off x="3717713" y="2333550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3"/>
          <p:cNvCxnSpPr/>
          <p:nvPr/>
        </p:nvCxnSpPr>
        <p:spPr>
          <a:xfrm>
            <a:off x="3717638" y="3171788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1" name="Google Shape;17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78" name="Google Shape;17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146575" y="413075"/>
            <a:ext cx="88878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Fracciones equivalentes </a:t>
            </a:r>
            <a:endParaRPr b="1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Las fracciones equivalentes, son aquellas que tienen el mismo valor o representan la misma cantidad. 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encontramos fracciones equivalentes? </a:t>
            </a:r>
            <a:endParaRPr b="1" i="1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AutoNum type="arabicPeriod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Simplificando la fracción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AutoNum type="arabicPeriod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Amplificando la fracción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0" name="Google Shape;18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87" name="Google Shape;187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 txBox="1"/>
          <p:nvPr/>
        </p:nvSpPr>
        <p:spPr>
          <a:xfrm>
            <a:off x="146575" y="413075"/>
            <a:ext cx="8997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AutoNum type="arabicPeriod"/>
            </a:pPr>
            <a:r>
              <a:rPr b="1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Simplificando la fracción</a:t>
            </a:r>
            <a:endParaRPr b="1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es simplificar una fracción? Es dividir el numerador y denominador de la fracción por el mismo n°. Este n° debe ser múltiplo del numerador y denominador de la fracción.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ejemplo:     8                       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12         </a:t>
            </a: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3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189" name="Google Shape;189;p5"/>
          <p:cNvCxnSpPr/>
          <p:nvPr/>
        </p:nvCxnSpPr>
        <p:spPr>
          <a:xfrm>
            <a:off x="1838875" y="3304625"/>
            <a:ext cx="6528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5"/>
          <p:cNvSpPr txBox="1"/>
          <p:nvPr/>
        </p:nvSpPr>
        <p:spPr>
          <a:xfrm>
            <a:off x="1526675" y="3956000"/>
            <a:ext cx="3537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Lo simplificamos dividiendo por 4 (ambos n° son múltiplos de 4)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5"/>
          <p:cNvCxnSpPr/>
          <p:nvPr/>
        </p:nvCxnSpPr>
        <p:spPr>
          <a:xfrm flipH="1" rot="10800000">
            <a:off x="3890950" y="3251450"/>
            <a:ext cx="5598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>
            <a:off x="2278600" y="2701675"/>
            <a:ext cx="1652269" cy="296469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2371875" y="3544475"/>
            <a:ext cx="1559050" cy="296475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2777450" y="33178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: 4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2777450" y="25574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: 4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783725" y="2880275"/>
            <a:ext cx="1359300" cy="861900"/>
          </a:xfrm>
          <a:prstGeom prst="chevron">
            <a:avLst>
              <a:gd fmla="val 50000" name="adj"/>
            </a:avLst>
          </a:prstGeom>
          <a:solidFill>
            <a:srgbClr val="14BEB1"/>
          </a:solidFill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6236275" y="2827100"/>
            <a:ext cx="1359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8    y   2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12        3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7385100" y="2845750"/>
            <a:ext cx="175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Son fracciones equivalentes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199" name="Google Shape;199;p5"/>
          <p:cNvCxnSpPr>
            <a:stCxn id="197" idx="1"/>
          </p:cNvCxnSpPr>
          <p:nvPr/>
        </p:nvCxnSpPr>
        <p:spPr>
          <a:xfrm>
            <a:off x="6236275" y="3258050"/>
            <a:ext cx="426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5"/>
          <p:cNvCxnSpPr>
            <a:endCxn id="198" idx="1"/>
          </p:cNvCxnSpPr>
          <p:nvPr/>
        </p:nvCxnSpPr>
        <p:spPr>
          <a:xfrm>
            <a:off x="6972300" y="3266800"/>
            <a:ext cx="4128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5"/>
          <p:cNvSpPr/>
          <p:nvPr/>
        </p:nvSpPr>
        <p:spPr>
          <a:xfrm>
            <a:off x="6236275" y="2770625"/>
            <a:ext cx="2784900" cy="1081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09" name="Google Shape;20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0" y="186550"/>
            <a:ext cx="9274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</a:t>
            </a:r>
            <a:endParaRPr b="1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simplifica las siguientes fracciones. Recuerda pensar ¿por qué número puedo dividir tanto numerador como denominador? 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7112250" y="1458263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8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2623350" y="145827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14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654600" y="145827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15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378925" y="145827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8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20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7112250" y="302372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623350" y="302372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7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4654600" y="302372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3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378925" y="302372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5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19" name="Google Shape;219;p6"/>
          <p:cNvCxnSpPr>
            <a:stCxn id="211" idx="2"/>
            <a:endCxn id="215" idx="0"/>
          </p:cNvCxnSpPr>
          <p:nvPr/>
        </p:nvCxnSpPr>
        <p:spPr>
          <a:xfrm>
            <a:off x="7702350" y="2443463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6"/>
          <p:cNvCxnSpPr>
            <a:stCxn id="212" idx="2"/>
            <a:endCxn id="216" idx="0"/>
          </p:cNvCxnSpPr>
          <p:nvPr/>
        </p:nvCxnSpPr>
        <p:spPr>
          <a:xfrm>
            <a:off x="3213450" y="24434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6"/>
          <p:cNvCxnSpPr>
            <a:stCxn id="213" idx="2"/>
            <a:endCxn id="217" idx="0"/>
          </p:cNvCxnSpPr>
          <p:nvPr/>
        </p:nvCxnSpPr>
        <p:spPr>
          <a:xfrm>
            <a:off x="5244700" y="24434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6"/>
          <p:cNvCxnSpPr>
            <a:stCxn id="214" idx="2"/>
            <a:endCxn id="218" idx="0"/>
          </p:cNvCxnSpPr>
          <p:nvPr/>
        </p:nvCxnSpPr>
        <p:spPr>
          <a:xfrm>
            <a:off x="969025" y="2443475"/>
            <a:ext cx="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6"/>
          <p:cNvCxnSpPr/>
          <p:nvPr/>
        </p:nvCxnSpPr>
        <p:spPr>
          <a:xfrm flipH="1" rot="10800000">
            <a:off x="735775" y="1944275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6"/>
          <p:cNvCxnSpPr/>
          <p:nvPr/>
        </p:nvCxnSpPr>
        <p:spPr>
          <a:xfrm flipH="1" rot="10800000">
            <a:off x="3086825" y="1944275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6"/>
          <p:cNvCxnSpPr/>
          <p:nvPr/>
        </p:nvCxnSpPr>
        <p:spPr>
          <a:xfrm flipH="1" rot="10800000">
            <a:off x="5011450" y="1944275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6"/>
          <p:cNvCxnSpPr/>
          <p:nvPr/>
        </p:nvCxnSpPr>
        <p:spPr>
          <a:xfrm flipH="1" rot="10800000">
            <a:off x="7469100" y="1931425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6"/>
          <p:cNvSpPr txBox="1"/>
          <p:nvPr/>
        </p:nvSpPr>
        <p:spPr>
          <a:xfrm>
            <a:off x="1202275" y="2592725"/>
            <a:ext cx="6528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4</a:t>
            </a:r>
            <a:endParaRPr b="0" i="0" sz="22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3353450" y="2478450"/>
            <a:ext cx="6528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2</a:t>
            </a:r>
            <a:endParaRPr b="0" i="0" sz="22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7862550" y="2473938"/>
            <a:ext cx="6528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2</a:t>
            </a:r>
            <a:endParaRPr b="0" i="0" sz="22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527900" y="2540400"/>
            <a:ext cx="6528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3</a:t>
            </a:r>
            <a:endParaRPr b="0" i="0" sz="22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31" name="Google Shape;23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38" name="Google Shape;238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 txBox="1"/>
          <p:nvPr/>
        </p:nvSpPr>
        <p:spPr>
          <a:xfrm>
            <a:off x="146575" y="413075"/>
            <a:ext cx="8997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2.   Amplificando la fracción</a:t>
            </a:r>
            <a:endParaRPr b="1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es amplificar una fracción? Es multiplicar el numerador y denominador de la fracción por el mismo n°. 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ejemplo:     4                       20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6         </a:t>
            </a: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30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40" name="Google Shape;240;p7"/>
          <p:cNvCxnSpPr/>
          <p:nvPr/>
        </p:nvCxnSpPr>
        <p:spPr>
          <a:xfrm>
            <a:off x="1838875" y="3304625"/>
            <a:ext cx="6528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7"/>
          <p:cNvCxnSpPr/>
          <p:nvPr/>
        </p:nvCxnSpPr>
        <p:spPr>
          <a:xfrm flipH="1" rot="10800000">
            <a:off x="3890950" y="3251450"/>
            <a:ext cx="5598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7"/>
          <p:cNvSpPr/>
          <p:nvPr/>
        </p:nvSpPr>
        <p:spPr>
          <a:xfrm>
            <a:off x="2278600" y="2701675"/>
            <a:ext cx="1652269" cy="296469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2371875" y="3544475"/>
            <a:ext cx="1559050" cy="296475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2777450" y="33178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5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2777450" y="25574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5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783725" y="2880275"/>
            <a:ext cx="1359300" cy="861900"/>
          </a:xfrm>
          <a:prstGeom prst="chevron">
            <a:avLst>
              <a:gd fmla="val 50000" name="adj"/>
            </a:avLst>
          </a:prstGeom>
          <a:solidFill>
            <a:srgbClr val="14BEB1"/>
          </a:solidFill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6236275" y="2827100"/>
            <a:ext cx="1359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    y   20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6        30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7385100" y="2845750"/>
            <a:ext cx="175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Son fracciones equivalentes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49" name="Google Shape;249;p7"/>
          <p:cNvCxnSpPr>
            <a:stCxn id="247" idx="1"/>
          </p:cNvCxnSpPr>
          <p:nvPr/>
        </p:nvCxnSpPr>
        <p:spPr>
          <a:xfrm>
            <a:off x="6236275" y="3258050"/>
            <a:ext cx="426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7"/>
          <p:cNvCxnSpPr>
            <a:endCxn id="248" idx="1"/>
          </p:cNvCxnSpPr>
          <p:nvPr/>
        </p:nvCxnSpPr>
        <p:spPr>
          <a:xfrm>
            <a:off x="6972300" y="3266800"/>
            <a:ext cx="4128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7"/>
          <p:cNvSpPr/>
          <p:nvPr/>
        </p:nvSpPr>
        <p:spPr>
          <a:xfrm>
            <a:off x="6236275" y="2736100"/>
            <a:ext cx="2784900" cy="1081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59" name="Google Shape;25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 txBox="1"/>
          <p:nvPr/>
        </p:nvSpPr>
        <p:spPr>
          <a:xfrm>
            <a:off x="0" y="186550"/>
            <a:ext cx="9274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</a:t>
            </a:r>
            <a:endParaRPr b="1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amplifica las siguientes fracciones.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6872400" y="1458263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3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2623350" y="145827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5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4654600" y="145827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7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378925" y="145827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6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65" name="Google Shape;265;p8"/>
          <p:cNvCxnSpPr/>
          <p:nvPr/>
        </p:nvCxnSpPr>
        <p:spPr>
          <a:xfrm flipH="1" rot="10800000">
            <a:off x="735775" y="1944275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8"/>
          <p:cNvCxnSpPr/>
          <p:nvPr/>
        </p:nvCxnSpPr>
        <p:spPr>
          <a:xfrm flipH="1" rot="10800000">
            <a:off x="3086825" y="1944275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8"/>
          <p:cNvCxnSpPr/>
          <p:nvPr/>
        </p:nvCxnSpPr>
        <p:spPr>
          <a:xfrm flipH="1" rot="10800000">
            <a:off x="5011450" y="1944275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8"/>
          <p:cNvCxnSpPr/>
          <p:nvPr/>
        </p:nvCxnSpPr>
        <p:spPr>
          <a:xfrm flipH="1" rot="10800000">
            <a:off x="7229275" y="1944275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8"/>
          <p:cNvSpPr txBox="1"/>
          <p:nvPr/>
        </p:nvSpPr>
        <p:spPr>
          <a:xfrm>
            <a:off x="1087525" y="4238450"/>
            <a:ext cx="820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¿Por qué número amplificaste cada fracción? ¿Qué resultado obtuviste?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378925" y="2490600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5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2623350" y="250832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6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7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4622763" y="2508313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8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6872425" y="2508325"/>
            <a:ext cx="1180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7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74" name="Google Shape;274;p8"/>
          <p:cNvCxnSpPr/>
          <p:nvPr/>
        </p:nvCxnSpPr>
        <p:spPr>
          <a:xfrm flipH="1" rot="10800000">
            <a:off x="834875" y="2976600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8"/>
          <p:cNvCxnSpPr/>
          <p:nvPr/>
        </p:nvCxnSpPr>
        <p:spPr>
          <a:xfrm flipH="1" rot="10800000">
            <a:off x="3086825" y="2976600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8"/>
          <p:cNvCxnSpPr/>
          <p:nvPr/>
        </p:nvCxnSpPr>
        <p:spPr>
          <a:xfrm flipH="1" rot="10800000">
            <a:off x="5104725" y="2976588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8"/>
          <p:cNvCxnSpPr/>
          <p:nvPr/>
        </p:nvCxnSpPr>
        <p:spPr>
          <a:xfrm flipH="1" rot="10800000">
            <a:off x="7389175" y="2976600"/>
            <a:ext cx="466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8" name="Google Shape;27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7431" y="49973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83" name="Google Shape;28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 txBox="1"/>
          <p:nvPr>
            <p:ph idx="1" type="body"/>
          </p:nvPr>
        </p:nvSpPr>
        <p:spPr>
          <a:xfrm>
            <a:off x="-1800" y="745525"/>
            <a:ext cx="9222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" sz="22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Cuando amplificamos y simplificamos encontramos las fracciones equivalentes: </a:t>
            </a:r>
            <a:endParaRPr sz="22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Patrick Hand"/>
              <a:buChar char="-"/>
            </a:pPr>
            <a:r>
              <a:rPr lang="es" sz="22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Amplificar: podemos amplificar muchisimas veces y seguir encontrando fracciones equivalentes.</a:t>
            </a:r>
            <a:endParaRPr sz="22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trick Hand"/>
              <a:buChar char="-"/>
            </a:pPr>
            <a:r>
              <a:rPr lang="es" sz="22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Simplificar: Cuando simplificamos, siempre debemos hacerlo por un n° por el cual se puedan dividir numerador y denominador, por lo que tiene un tope, no es infinito. </a:t>
            </a:r>
            <a:endParaRPr sz="22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" sz="22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Cuando ya no se puede simplificar la fracción más de lo que se ha hecho se le llama </a:t>
            </a:r>
            <a:r>
              <a:rPr b="1" i="1" lang="es" sz="22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“Fracción irreductible”</a:t>
            </a:r>
            <a:endParaRPr b="1" i="1" sz="22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i="1" sz="22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" sz="22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Ejemplo:   6      → lo puedo simplificar : 2 y obtengo    3</a:t>
            </a:r>
            <a:endParaRPr sz="22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" sz="22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8								              4</a:t>
            </a:r>
            <a:endParaRPr sz="22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0" y="2798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Fracción Irreducible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465775" y="3083925"/>
            <a:ext cx="492900" cy="1185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7065300" y="2922750"/>
            <a:ext cx="2078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Ya no puedo simplificar por ningún n°, por lo tanto es una fracción irreducible.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9"/>
          <p:cNvCxnSpPr>
            <a:stCxn id="286" idx="1"/>
          </p:cNvCxnSpPr>
          <p:nvPr/>
        </p:nvCxnSpPr>
        <p:spPr>
          <a:xfrm>
            <a:off x="1465775" y="3676875"/>
            <a:ext cx="492900" cy="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9"/>
          <p:cNvSpPr/>
          <p:nvPr/>
        </p:nvSpPr>
        <p:spPr>
          <a:xfrm>
            <a:off x="5802250" y="3083925"/>
            <a:ext cx="492900" cy="1185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9"/>
          <p:cNvCxnSpPr>
            <a:stCxn id="289" idx="1"/>
            <a:endCxn id="289" idx="3"/>
          </p:cNvCxnSpPr>
          <p:nvPr/>
        </p:nvCxnSpPr>
        <p:spPr>
          <a:xfrm>
            <a:off x="5802250" y="3676875"/>
            <a:ext cx="492900" cy="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9"/>
          <p:cNvSpPr/>
          <p:nvPr/>
        </p:nvSpPr>
        <p:spPr>
          <a:xfrm>
            <a:off x="6462700" y="3317950"/>
            <a:ext cx="679500" cy="585000"/>
          </a:xfrm>
          <a:prstGeom prst="chevron">
            <a:avLst>
              <a:gd fmla="val 50000" name="adj"/>
            </a:avLst>
          </a:prstGeom>
          <a:solidFill>
            <a:srgbClr val="14BEB1"/>
          </a:solidFill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98" name="Google Shape;29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 txBox="1"/>
          <p:nvPr/>
        </p:nvSpPr>
        <p:spPr>
          <a:xfrm>
            <a:off x="74400" y="359775"/>
            <a:ext cx="430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Las Fracciones pueden ser: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0" y="1105975"/>
            <a:ext cx="89412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AutoNum type="arabicPeriod"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Fracciones propias: Son menores que 1. El numerador es menor que es denominador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1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             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AutoNum type="arabicPeriod"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Fracciones impropias: Son aquellas que son mayores a 1. El numerador es mayor que el denominador.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 9 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8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104150" y="3584450"/>
            <a:ext cx="1172700" cy="1106100"/>
          </a:xfrm>
          <a:prstGeom prst="ellipse">
            <a:avLst/>
          </a:prstGeom>
          <a:solidFill>
            <a:srgbClr val="EF88E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455800" y="3526525"/>
            <a:ext cx="1172700" cy="1106100"/>
          </a:xfrm>
          <a:prstGeom prst="ellipse">
            <a:avLst/>
          </a:prstGeom>
          <a:solidFill>
            <a:srgbClr val="EF88E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0"/>
          <p:cNvCxnSpPr>
            <a:stCxn id="301" idx="2"/>
            <a:endCxn id="301" idx="6"/>
          </p:cNvCxnSpPr>
          <p:nvPr/>
        </p:nvCxnSpPr>
        <p:spPr>
          <a:xfrm>
            <a:off x="4104150" y="4137500"/>
            <a:ext cx="117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0"/>
          <p:cNvCxnSpPr>
            <a:stCxn id="301" idx="1"/>
            <a:endCxn id="301" idx="5"/>
          </p:cNvCxnSpPr>
          <p:nvPr/>
        </p:nvCxnSpPr>
        <p:spPr>
          <a:xfrm>
            <a:off x="4275888" y="3746435"/>
            <a:ext cx="829200" cy="7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0"/>
          <p:cNvCxnSpPr>
            <a:stCxn id="301" idx="0"/>
            <a:endCxn id="301" idx="4"/>
          </p:cNvCxnSpPr>
          <p:nvPr/>
        </p:nvCxnSpPr>
        <p:spPr>
          <a:xfrm>
            <a:off x="4690500" y="3584450"/>
            <a:ext cx="0" cy="11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0"/>
          <p:cNvCxnSpPr>
            <a:stCxn id="301" idx="3"/>
          </p:cNvCxnSpPr>
          <p:nvPr/>
        </p:nvCxnSpPr>
        <p:spPr>
          <a:xfrm flipH="1" rot="10800000">
            <a:off x="4275888" y="3746465"/>
            <a:ext cx="829200" cy="7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0"/>
          <p:cNvSpPr/>
          <p:nvPr/>
        </p:nvSpPr>
        <p:spPr>
          <a:xfrm>
            <a:off x="5455800" y="3499825"/>
            <a:ext cx="1172700" cy="1159500"/>
          </a:xfrm>
          <a:prstGeom prst="pie">
            <a:avLst>
              <a:gd fmla="val 21588250" name="adj1"/>
              <a:gd fmla="val 1854947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10"/>
          <p:cNvCxnSpPr>
            <a:stCxn id="307" idx="2"/>
            <a:endCxn id="307" idx="0"/>
          </p:cNvCxnSpPr>
          <p:nvPr/>
        </p:nvCxnSpPr>
        <p:spPr>
          <a:xfrm>
            <a:off x="5455800" y="4079575"/>
            <a:ext cx="117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0"/>
          <p:cNvCxnSpPr>
            <a:stCxn id="307" idx="3"/>
            <a:endCxn id="307" idx="1"/>
          </p:cNvCxnSpPr>
          <p:nvPr/>
        </p:nvCxnSpPr>
        <p:spPr>
          <a:xfrm>
            <a:off x="6042150" y="3499825"/>
            <a:ext cx="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0"/>
          <p:cNvCxnSpPr/>
          <p:nvPr/>
        </p:nvCxnSpPr>
        <p:spPr>
          <a:xfrm>
            <a:off x="5636525" y="3664400"/>
            <a:ext cx="813000" cy="82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0"/>
          <p:cNvCxnSpPr/>
          <p:nvPr/>
        </p:nvCxnSpPr>
        <p:spPr>
          <a:xfrm flipH="1">
            <a:off x="5663150" y="3651075"/>
            <a:ext cx="732900" cy="86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0"/>
          <p:cNvSpPr/>
          <p:nvPr/>
        </p:nvSpPr>
        <p:spPr>
          <a:xfrm>
            <a:off x="2744975" y="3557800"/>
            <a:ext cx="506400" cy="99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2830750" y="1577550"/>
            <a:ext cx="506400" cy="99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130800" y="1630850"/>
            <a:ext cx="1399200" cy="9942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10"/>
          <p:cNvCxnSpPr>
            <a:stCxn id="314" idx="1"/>
            <a:endCxn id="314" idx="3"/>
          </p:cNvCxnSpPr>
          <p:nvPr/>
        </p:nvCxnSpPr>
        <p:spPr>
          <a:xfrm>
            <a:off x="4480600" y="2127950"/>
            <a:ext cx="349800" cy="49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10"/>
          <p:cNvCxnSpPr>
            <a:stCxn id="314" idx="1"/>
            <a:endCxn id="314" idx="5"/>
          </p:cNvCxnSpPr>
          <p:nvPr/>
        </p:nvCxnSpPr>
        <p:spPr>
          <a:xfrm>
            <a:off x="4480600" y="2127950"/>
            <a:ext cx="69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10"/>
          <p:cNvCxnSpPr>
            <a:stCxn id="314" idx="5"/>
          </p:cNvCxnSpPr>
          <p:nvPr/>
        </p:nvCxnSpPr>
        <p:spPr>
          <a:xfrm flipH="1">
            <a:off x="4830400" y="2127950"/>
            <a:ext cx="349800" cy="49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0"/>
          <p:cNvSpPr/>
          <p:nvPr/>
        </p:nvSpPr>
        <p:spPr>
          <a:xfrm>
            <a:off x="4130825" y="2114625"/>
            <a:ext cx="699600" cy="497100"/>
          </a:xfrm>
          <a:prstGeom prst="triangle">
            <a:avLst>
              <a:gd fmla="val 50000" name="adj"/>
            </a:avLst>
          </a:prstGeom>
          <a:solidFill>
            <a:srgbClr val="FFA2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10"/>
          <p:cNvCxnSpPr>
            <a:stCxn id="313" idx="1"/>
            <a:endCxn id="313" idx="3"/>
          </p:cNvCxnSpPr>
          <p:nvPr/>
        </p:nvCxnSpPr>
        <p:spPr>
          <a:xfrm>
            <a:off x="2830750" y="20746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10"/>
          <p:cNvCxnSpPr/>
          <p:nvPr/>
        </p:nvCxnSpPr>
        <p:spPr>
          <a:xfrm>
            <a:off x="2744975" y="4008925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1" name="Google Shape;32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28" name="Google Shape;32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 txBox="1"/>
          <p:nvPr/>
        </p:nvSpPr>
        <p:spPr>
          <a:xfrm>
            <a:off x="74400" y="359775"/>
            <a:ext cx="430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Las Fracciones pueden ser: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0" y="1061425"/>
            <a:ext cx="9354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3.   Fracciones iguales a la unidad: son aquellas que el numerador y 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denominador son iguales, por lo que completan la unidad.        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4 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4.  N° mixtos: Mayores que 1, se componen de un n° entero y una fracción.  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</a:t>
            </a:r>
            <a:r>
              <a:rPr b="0" i="0" lang="es" sz="3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3</a:t>
            </a:r>
            <a:endParaRPr b="0" i="0" sz="19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31" name="Google Shape;331;p11"/>
          <p:cNvCxnSpPr/>
          <p:nvPr/>
        </p:nvCxnSpPr>
        <p:spPr>
          <a:xfrm>
            <a:off x="866125" y="2318575"/>
            <a:ext cx="51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1"/>
          <p:cNvSpPr/>
          <p:nvPr/>
        </p:nvSpPr>
        <p:spPr>
          <a:xfrm>
            <a:off x="872725" y="1979750"/>
            <a:ext cx="506400" cy="99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2904875" y="2078725"/>
            <a:ext cx="1772400" cy="1146000"/>
          </a:xfrm>
          <a:prstGeom prst="rect">
            <a:avLst/>
          </a:prstGeom>
          <a:solidFill>
            <a:srgbClr val="FE9C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1"/>
          <p:cNvCxnSpPr>
            <a:stCxn id="333" idx="1"/>
          </p:cNvCxnSpPr>
          <p:nvPr/>
        </p:nvCxnSpPr>
        <p:spPr>
          <a:xfrm>
            <a:off x="2904875" y="2651725"/>
            <a:ext cx="177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11"/>
          <p:cNvCxnSpPr>
            <a:stCxn id="333" idx="0"/>
            <a:endCxn id="333" idx="2"/>
          </p:cNvCxnSpPr>
          <p:nvPr/>
        </p:nvCxnSpPr>
        <p:spPr>
          <a:xfrm>
            <a:off x="3791075" y="2078725"/>
            <a:ext cx="0" cy="114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1"/>
          <p:cNvSpPr txBox="1"/>
          <p:nvPr/>
        </p:nvSpPr>
        <p:spPr>
          <a:xfrm>
            <a:off x="2291075" y="380422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37" name="Google Shape;337;p11"/>
          <p:cNvCxnSpPr/>
          <p:nvPr/>
        </p:nvCxnSpPr>
        <p:spPr>
          <a:xfrm>
            <a:off x="2291075" y="4265925"/>
            <a:ext cx="51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1"/>
          <p:cNvSpPr/>
          <p:nvPr/>
        </p:nvSpPr>
        <p:spPr>
          <a:xfrm>
            <a:off x="3423000" y="3957525"/>
            <a:ext cx="960900" cy="770100"/>
          </a:xfrm>
          <a:prstGeom prst="ellips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494825" y="3957525"/>
            <a:ext cx="960900" cy="770100"/>
          </a:xfrm>
          <a:prstGeom prst="ellips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566650" y="3957525"/>
            <a:ext cx="960900" cy="770100"/>
          </a:xfrm>
          <a:prstGeom prst="ellips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638475" y="3957525"/>
            <a:ext cx="960900" cy="770100"/>
          </a:xfrm>
          <a:prstGeom prst="ellipse">
            <a:avLst/>
          </a:prstGeom>
          <a:solidFill>
            <a:srgbClr val="6DDED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638475" y="3957525"/>
            <a:ext cx="960900" cy="770100"/>
          </a:xfrm>
          <a:prstGeom prst="pie">
            <a:avLst>
              <a:gd fmla="val 0" name="adj1"/>
              <a:gd fmla="val 1079013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406888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48" name="Google Shape;348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2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351" name="Google Shape;351;p12" title="Resumen - Fracciones (6) - Simplificar y Amplificar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1044864"/>
            <a:ext cx="6553200" cy="36861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2" name="Google Shape;352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/>
          <p:nvPr/>
        </p:nvSpPr>
        <p:spPr>
          <a:xfrm>
            <a:off x="785234" y="366599"/>
            <a:ext cx="757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2285987" y="4124332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https://forms.gle/dBY4qCdmwzPwGnZD9</a:t>
            </a: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751825" y="911025"/>
            <a:ext cx="3651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¿Cuál es la fracción irreductible?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4656800" y="911025"/>
            <a:ext cx="4158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¿Qué fracción se amplificó correctamente?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2287839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25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62" name="Google Shape;362;p13"/>
          <p:cNvCxnSpPr/>
          <p:nvPr/>
        </p:nvCxnSpPr>
        <p:spPr>
          <a:xfrm>
            <a:off x="2336438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3"/>
          <p:cNvSpPr txBox="1"/>
          <p:nvPr/>
        </p:nvSpPr>
        <p:spPr>
          <a:xfrm>
            <a:off x="6446139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64" name="Google Shape;364;p13"/>
          <p:cNvCxnSpPr/>
          <p:nvPr/>
        </p:nvCxnSpPr>
        <p:spPr>
          <a:xfrm>
            <a:off x="6494738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65" name="Google Shape;365;p13"/>
          <p:cNvPicPr preferRelativeResize="0"/>
          <p:nvPr/>
        </p:nvPicPr>
        <p:blipFill rotWithShape="1">
          <a:blip r:embed="rId4">
            <a:alphaModFix/>
          </a:blip>
          <a:srcRect b="8325" l="8326" r="8325" t="8326"/>
          <a:stretch/>
        </p:blipFill>
        <p:spPr>
          <a:xfrm>
            <a:off x="6735887" y="2634225"/>
            <a:ext cx="1885375" cy="188535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3"/>
          <p:cNvSpPr txBox="1"/>
          <p:nvPr/>
        </p:nvSpPr>
        <p:spPr>
          <a:xfrm>
            <a:off x="1794225" y="2469150"/>
            <a:ext cx="55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3) ¿Cuál es el número mixto?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4778750" y="2930850"/>
            <a:ext cx="442200" cy="430800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5220817" y="2930850"/>
            <a:ext cx="442200" cy="430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4778750" y="3361504"/>
            <a:ext cx="442200" cy="430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5220817" y="3361504"/>
            <a:ext cx="442200" cy="430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3592600" y="2930850"/>
            <a:ext cx="442200" cy="430800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034667" y="2930850"/>
            <a:ext cx="442200" cy="430800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592600" y="3361504"/>
            <a:ext cx="442200" cy="430800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034667" y="3361504"/>
            <a:ext cx="442200" cy="430800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79" name="Google Shape;379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4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382" name="Google Shape;382;p14" title="Reforzamiento - Fracciones (6) - Simplificar y Amplificar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3925" y="1044875"/>
            <a:ext cx="6516150" cy="36653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3" name="Google Shape;38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0756" y="39711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