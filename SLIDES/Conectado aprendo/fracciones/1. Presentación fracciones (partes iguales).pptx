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1" r:id="rId6"/>
    <p:sldMasterId id="2147483673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y="5143500" cx="9144000"/>
  <p:notesSz cx="6858000" cy="9144000"/>
  <p:embeddedFontLst>
    <p:embeddedFont>
      <p:font typeface="Patrick Hand"/>
      <p:regular r:id="rId20"/>
    </p:embeddedFont>
    <p:embeddedFont>
      <p:font typeface="Poppins"/>
      <p:regular r:id="rId21"/>
      <p:bold r:id="rId22"/>
      <p:italic r:id="rId23"/>
      <p:boldItalic r:id="rId24"/>
    </p:embeddedFont>
    <p:embeddedFont>
      <p:font typeface="Poppins Light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9" roundtripDataSignature="AMtx7mg7wZhPBNT84Ccmyy/SuttWFABk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4320D5B-CC6F-4D1D-B0DE-7195FFC72E72}">
  <a:tblStyle styleId="{24320D5B-CC6F-4D1D-B0DE-7195FFC72E7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atrickHand-regular.fntdata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font" Target="fonts/PoppinsLight-bold.fntdata"/><Relationship Id="rId25" Type="http://schemas.openxmlformats.org/officeDocument/2006/relationships/font" Target="fonts/PoppinsLight-regular.fntdata"/><Relationship Id="rId28" Type="http://schemas.openxmlformats.org/officeDocument/2006/relationships/font" Target="fonts/PoppinsLight-boldItalic.fntdata"/><Relationship Id="rId27" Type="http://schemas.openxmlformats.org/officeDocument/2006/relationships/font" Target="fonts/PoppinsLight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customschemas.google.com/relationships/presentationmetadata" Target="metadata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34767a2573_0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34767a2573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34767a2573_0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34767a2573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34767a2573_0_1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34767a2573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3" name="Google Shape;30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2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2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2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8" name="Google Shape;68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9" name="Google Shape;6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2" name="Google Shape;7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3" name="Google Shape;83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4" name="Google Shape;8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7" name="Google Shape;8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2" name="Google Shape;92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6" name="Google Shape;9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9" name="Google Shape;99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34767a2573_0_15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g334767a2573_0_155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12" name="Google Shape;112;g334767a2573_0_15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g334767a2573_0_15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g334767a2573_0_15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34767a2573_0_16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g334767a2573_0_16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8" name="Google Shape;118;g334767a2573_0_16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g334767a2573_0_16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g334767a2573_0_16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34767a2573_0_167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g334767a2573_0_167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g334767a2573_0_16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g334767a2573_0_16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g334767a2573_0_16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34767a2573_0_17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g334767a2573_0_173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0" name="Google Shape;130;g334767a2573_0_173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1" name="Google Shape;131;g334767a2573_0_17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g334767a2573_0_17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g334767a2573_0_17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34767a2573_0_180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g334767a2573_0_180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37" name="Google Shape;137;g334767a2573_0_180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8" name="Google Shape;138;g334767a2573_0_180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39" name="Google Shape;139;g334767a2573_0_180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0" name="Google Shape;140;g334767a2573_0_18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g334767a2573_0_18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g334767a2573_0_18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34767a2573_0_18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g334767a2573_0_18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g334767a2573_0_18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g334767a2573_0_18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34767a2573_0_19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0" name="Google Shape;150;g334767a2573_0_19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g334767a2573_0_19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34767a2573_0_198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g334767a2573_0_198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55" name="Google Shape;155;g334767a2573_0_198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56" name="Google Shape;156;g334767a2573_0_19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g334767a2573_0_19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g334767a2573_0_19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34767a2573_0_205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g334767a2573_0_205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g334767a2573_0_205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63" name="Google Shape;163;g334767a2573_0_20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4" name="Google Shape;164;g334767a2573_0_20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5" name="Google Shape;165;g334767a2573_0_20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34767a2573_0_21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8" name="Google Shape;168;g334767a2573_0_212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9" name="Google Shape;169;g334767a2573_0_2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0" name="Google Shape;170;g334767a2573_0_2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g334767a2573_0_2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34767a2573_0_218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4" name="Google Shape;174;g334767a2573_0_218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5" name="Google Shape;175;g334767a2573_0_2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g334767a2573_0_2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7" name="Google Shape;177;g334767a2573_0_2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2" Type="http://schemas.openxmlformats.org/officeDocument/2006/relationships/theme" Target="../theme/theme4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34767a2573_0_14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g334767a2573_0_14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" name="Google Shape;106;g334767a2573_0_14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Google Shape;107;g334767a2573_0_14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g334767a2573_0_14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n9.cl/qkxuy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forms.gle/sge1nkbGiSXKYYab7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183" name="Google Shape;183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84" name="Google Shape;1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9481" y="4243238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34767a2573_0_112"/>
          <p:cNvSpPr txBox="1"/>
          <p:nvPr/>
        </p:nvSpPr>
        <p:spPr>
          <a:xfrm>
            <a:off x="589763" y="125503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Propósito</a:t>
            </a:r>
            <a:r>
              <a:rPr b="1" lang="e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Introducir el concepto de fracciones mediante la representación de porciones iguales.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91" name="Google Shape;191;g334767a2573_0_112"/>
          <p:cNvSpPr txBox="1"/>
          <p:nvPr/>
        </p:nvSpPr>
        <p:spPr>
          <a:xfrm>
            <a:off x="868688" y="1980075"/>
            <a:ext cx="3524100" cy="24294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Objetivos de la Clase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Presentar qué es una fracción.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Mostrar relación de partes iguales con fracciones.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2" name="Google Shape;192;g334767a2573_0_112"/>
          <p:cNvSpPr txBox="1"/>
          <p:nvPr/>
        </p:nvSpPr>
        <p:spPr>
          <a:xfrm>
            <a:off x="4782038" y="1979981"/>
            <a:ext cx="3524100" cy="24294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Conceptos Clave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Fracciones: Parte y Todo.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Numerador.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Denominador.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3" name="Google Shape;193;g334767a2573_0_112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34767a2573_0_112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34767a2573_0_112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6" name="Google Shape;196;g334767a2573_0_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6156" y="4243238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34767a2573_0_122"/>
          <p:cNvSpPr txBox="1"/>
          <p:nvPr/>
        </p:nvSpPr>
        <p:spPr>
          <a:xfrm>
            <a:off x="589763" y="119788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Consejos para realizar la sesión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02" name="Google Shape;202;g334767a2573_0_122"/>
          <p:cNvSpPr txBox="1"/>
          <p:nvPr/>
        </p:nvSpPr>
        <p:spPr>
          <a:xfrm>
            <a:off x="589763" y="1598681"/>
            <a:ext cx="7875000" cy="4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Esta sesión consiste en presentar dos conceptos que se repetirán a lo largo de la ruta: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Qué es una fracción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• Qué implica que los objetos se dividan en “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partes por igual”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Por tanto, no debes profundizar en lo que implica matemáticamente la representación de las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fracciones en el formato          ,sino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solo dar sus definiciones.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 Enfatiza a tu estudiante lo que es el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numerador 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y el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denominador.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En línea con lo anterior, utiliza la mayoría del tiempo en dar ejemplo sobre la división de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partes por igual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. Por ello, mediante una hoja de papel,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muéstrale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 a tu estudiante la diferencia en dividirla en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4 partes iguales 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y hacerlo de forma desigual (enlace con ejemplo MINEDUC: [</a:t>
            </a:r>
            <a:r>
              <a:rPr lang="es" sz="11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n9.cl/qkxuy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]). Tras ello pídele que él lo haga, pero para la división en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8 partes iguales y desiguales.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 De esa forma te asegurarás de que comprenda la importante del concepto, sumado al resto de ejemplos virtuales que podrán revisar.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3" name="Google Shape;203;g334767a2573_0_122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34767a2573_0_122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34767a2573_0_122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6" name="Google Shape;206;g334767a2573_0_1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59075" y="2834481"/>
            <a:ext cx="284963" cy="463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334767a2573_0_1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06156" y="4243238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34767a2573_0_140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34767a2573_0_140"/>
          <p:cNvSpPr txBox="1"/>
          <p:nvPr/>
        </p:nvSpPr>
        <p:spPr>
          <a:xfrm>
            <a:off x="285206" y="1218713"/>
            <a:ext cx="84516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Para Complementar</a:t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Pregúntale a tu estudiante: ¿Dónde has escuchado o usado alguna fracción? En función de ello pídele que para la siguiente sesión que describa al menos 3 situaciones y cómo se representan.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4" name="Google Shape;214;g334767a2573_0_140"/>
          <p:cNvSpPr txBox="1"/>
          <p:nvPr/>
        </p:nvSpPr>
        <p:spPr>
          <a:xfrm>
            <a:off x="285206" y="3272644"/>
            <a:ext cx="84516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Preguntas de Cierre</a:t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¿Qué es una fracción?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¿Cómo puedes representar una fracción?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5" name="Google Shape;215;g334767a2573_0_140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34767a2573_0_140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7" name="Google Shape;217;g334767a2573_0_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6156" y="4243238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23" name="Google Shape;223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224" name="Google Shape;22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2831" y="3950088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"/>
          <p:cNvSpPr txBox="1"/>
          <p:nvPr>
            <p:ph type="title"/>
          </p:nvPr>
        </p:nvSpPr>
        <p:spPr>
          <a:xfrm>
            <a:off x="471488" y="205383"/>
            <a:ext cx="59151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231" name="Google Shape;231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"/>
          <p:cNvSpPr txBox="1"/>
          <p:nvPr/>
        </p:nvSpPr>
        <p:spPr>
          <a:xfrm>
            <a:off x="497813" y="383963"/>
            <a:ext cx="8148300" cy="3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¿Qué es una fracción?</a:t>
            </a:r>
            <a:endParaRPr b="0" i="0" sz="3200" u="none" cap="none" strike="noStrike">
              <a:solidFill>
                <a:schemeClr val="lt1"/>
              </a:solidFill>
              <a:highlight>
                <a:srgbClr val="009287"/>
              </a:highlight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Si dividimos un objeto o una unidad en partes iguales, cada una de esas partes iguales es una fracción. Por eso la fracción es una parte de un todo.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Las fracciones se representan de la siguiente manera. 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 1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				 4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33" name="Google Shape;233;p3"/>
          <p:cNvSpPr txBox="1"/>
          <p:nvPr/>
        </p:nvSpPr>
        <p:spPr>
          <a:xfrm>
            <a:off x="4338413" y="2283450"/>
            <a:ext cx="43500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NUMERADOR: número de partes que tenemos</a:t>
            </a:r>
            <a:endParaRPr b="0" i="0" sz="2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34" name="Google Shape;234;p3"/>
          <p:cNvSpPr txBox="1"/>
          <p:nvPr/>
        </p:nvSpPr>
        <p:spPr>
          <a:xfrm>
            <a:off x="4320252" y="3339338"/>
            <a:ext cx="38346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DENOMINADOR: número de partes en que hemos dividido la unidad</a:t>
            </a:r>
            <a:endParaRPr b="0" i="0" sz="2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35" name="Google Shape;235;p3"/>
          <p:cNvSpPr/>
          <p:nvPr/>
        </p:nvSpPr>
        <p:spPr>
          <a:xfrm>
            <a:off x="1723088" y="2253394"/>
            <a:ext cx="1990800" cy="1627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6" name="Google Shape;236;p3"/>
          <p:cNvCxnSpPr/>
          <p:nvPr/>
        </p:nvCxnSpPr>
        <p:spPr>
          <a:xfrm flipH="1" rot="10800000">
            <a:off x="1936294" y="3004200"/>
            <a:ext cx="1625700" cy="132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7" name="Google Shape;237;p3"/>
          <p:cNvCxnSpPr>
            <a:endCxn id="233" idx="1"/>
          </p:cNvCxnSpPr>
          <p:nvPr/>
        </p:nvCxnSpPr>
        <p:spPr>
          <a:xfrm>
            <a:off x="3717713" y="2638350"/>
            <a:ext cx="620700" cy="3000"/>
          </a:xfrm>
          <a:prstGeom prst="straightConnector1">
            <a:avLst/>
          </a:pr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8" name="Google Shape;238;p3"/>
          <p:cNvCxnSpPr/>
          <p:nvPr/>
        </p:nvCxnSpPr>
        <p:spPr>
          <a:xfrm>
            <a:off x="3717638" y="3552788"/>
            <a:ext cx="620700" cy="3000"/>
          </a:xfrm>
          <a:prstGeom prst="straightConnector1">
            <a:avLst/>
          </a:pr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39" name="Google Shape;239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2831" y="3950088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24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4"/>
          <p:cNvSpPr txBox="1"/>
          <p:nvPr/>
        </p:nvSpPr>
        <p:spPr>
          <a:xfrm>
            <a:off x="1393050" y="273850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¿Qué son las partes iguales?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"/>
          <p:cNvSpPr txBox="1"/>
          <p:nvPr/>
        </p:nvSpPr>
        <p:spPr>
          <a:xfrm>
            <a:off x="0" y="749975"/>
            <a:ext cx="9207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Para que la división de una unidad o un objeto pueda ser representado por una fracción, debe ser dividido en partes iguales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7" name="Google Shape;247;p4"/>
          <p:cNvCxnSpPr/>
          <p:nvPr/>
        </p:nvCxnSpPr>
        <p:spPr>
          <a:xfrm>
            <a:off x="2562175" y="2739550"/>
            <a:ext cx="13200" cy="186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" name="Google Shape;248;p4"/>
          <p:cNvCxnSpPr/>
          <p:nvPr/>
        </p:nvCxnSpPr>
        <p:spPr>
          <a:xfrm>
            <a:off x="1622725" y="3672250"/>
            <a:ext cx="1892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9" name="Google Shape;249;p4"/>
          <p:cNvCxnSpPr/>
          <p:nvPr/>
        </p:nvCxnSpPr>
        <p:spPr>
          <a:xfrm>
            <a:off x="6489350" y="2571750"/>
            <a:ext cx="0" cy="201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" name="Google Shape;250;p4"/>
          <p:cNvCxnSpPr/>
          <p:nvPr/>
        </p:nvCxnSpPr>
        <p:spPr>
          <a:xfrm flipH="1" rot="10800000">
            <a:off x="6489350" y="3171525"/>
            <a:ext cx="946200" cy="39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1" name="Google Shape;251;p4"/>
          <p:cNvSpPr txBox="1"/>
          <p:nvPr/>
        </p:nvSpPr>
        <p:spPr>
          <a:xfrm>
            <a:off x="940650" y="1699925"/>
            <a:ext cx="32988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PARTES IGUALES → Representa una fracción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4"/>
          <p:cNvSpPr txBox="1"/>
          <p:nvPr/>
        </p:nvSpPr>
        <p:spPr>
          <a:xfrm>
            <a:off x="5187600" y="1622763"/>
            <a:ext cx="32988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PARTES </a:t>
            </a:r>
            <a:r>
              <a:rPr b="1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NO </a:t>
            </a: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IGUALES → </a:t>
            </a:r>
            <a:r>
              <a:rPr b="1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NO </a:t>
            </a: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representa una fracción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"/>
          <p:cNvSpPr/>
          <p:nvPr/>
        </p:nvSpPr>
        <p:spPr>
          <a:xfrm>
            <a:off x="1066000" y="1738100"/>
            <a:ext cx="2944800" cy="860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4"/>
          <p:cNvSpPr/>
          <p:nvPr/>
        </p:nvSpPr>
        <p:spPr>
          <a:xfrm>
            <a:off x="5333200" y="1661900"/>
            <a:ext cx="3153300" cy="860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5" name="Google Shape;255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2831" y="3950088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262" name="Google Shape;262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5"/>
          <p:cNvSpPr/>
          <p:nvPr/>
        </p:nvSpPr>
        <p:spPr>
          <a:xfrm>
            <a:off x="935125" y="1772388"/>
            <a:ext cx="2038800" cy="1732200"/>
          </a:xfrm>
          <a:prstGeom prst="triangle">
            <a:avLst>
              <a:gd fmla="val 50000" name="adj"/>
            </a:avLst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4" name="Google Shape;264;p5"/>
          <p:cNvCxnSpPr>
            <a:stCxn id="263" idx="1"/>
            <a:endCxn id="263" idx="3"/>
          </p:cNvCxnSpPr>
          <p:nvPr/>
        </p:nvCxnSpPr>
        <p:spPr>
          <a:xfrm>
            <a:off x="1444825" y="2638488"/>
            <a:ext cx="509700" cy="86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5" name="Google Shape;265;p5"/>
          <p:cNvCxnSpPr>
            <a:stCxn id="263" idx="1"/>
            <a:endCxn id="263" idx="5"/>
          </p:cNvCxnSpPr>
          <p:nvPr/>
        </p:nvCxnSpPr>
        <p:spPr>
          <a:xfrm>
            <a:off x="1444825" y="2638488"/>
            <a:ext cx="101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6" name="Google Shape;266;p5"/>
          <p:cNvCxnSpPr>
            <a:stCxn id="263" idx="3"/>
            <a:endCxn id="263" idx="5"/>
          </p:cNvCxnSpPr>
          <p:nvPr/>
        </p:nvCxnSpPr>
        <p:spPr>
          <a:xfrm flipH="1" rot="10800000">
            <a:off x="1954525" y="2638488"/>
            <a:ext cx="509700" cy="86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7" name="Google Shape;267;p5"/>
          <p:cNvSpPr/>
          <p:nvPr/>
        </p:nvSpPr>
        <p:spPr>
          <a:xfrm>
            <a:off x="4572000" y="2078725"/>
            <a:ext cx="3464400" cy="1252500"/>
          </a:xfrm>
          <a:prstGeom prst="chevron">
            <a:avLst>
              <a:gd fmla="val 50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8" name="Google Shape;268;p5"/>
          <p:cNvCxnSpPr/>
          <p:nvPr/>
        </p:nvCxnSpPr>
        <p:spPr>
          <a:xfrm>
            <a:off x="5543250" y="2090375"/>
            <a:ext cx="0" cy="1266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9" name="Google Shape;269;p5"/>
          <p:cNvCxnSpPr/>
          <p:nvPr/>
        </p:nvCxnSpPr>
        <p:spPr>
          <a:xfrm>
            <a:off x="6686250" y="2090375"/>
            <a:ext cx="29700" cy="127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0" name="Google Shape;270;p5"/>
          <p:cNvSpPr txBox="1"/>
          <p:nvPr/>
        </p:nvSpPr>
        <p:spPr>
          <a:xfrm>
            <a:off x="1393050" y="197650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¿Son las partes iguales?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5"/>
          <p:cNvSpPr txBox="1"/>
          <p:nvPr/>
        </p:nvSpPr>
        <p:spPr>
          <a:xfrm>
            <a:off x="834150" y="729275"/>
            <a:ext cx="7475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Indica si la figura está dividida en partes iguales o en partes distintas.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2" name="Google Shape;272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2831" y="3950088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p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279" name="Google Shape;279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6"/>
          <p:cNvSpPr/>
          <p:nvPr/>
        </p:nvSpPr>
        <p:spPr>
          <a:xfrm>
            <a:off x="4917450" y="1872300"/>
            <a:ext cx="3597900" cy="1532400"/>
          </a:xfrm>
          <a:prstGeom prst="rect">
            <a:avLst/>
          </a:prstGeom>
          <a:solidFill>
            <a:srgbClr val="F7B03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6"/>
          <p:cNvSpPr/>
          <p:nvPr/>
        </p:nvSpPr>
        <p:spPr>
          <a:xfrm>
            <a:off x="1239250" y="1599788"/>
            <a:ext cx="2318700" cy="2052000"/>
          </a:xfrm>
          <a:prstGeom prst="hear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2" name="Google Shape;282;p6"/>
          <p:cNvCxnSpPr>
            <a:stCxn id="281" idx="0"/>
          </p:cNvCxnSpPr>
          <p:nvPr/>
        </p:nvCxnSpPr>
        <p:spPr>
          <a:xfrm>
            <a:off x="2398600" y="2112788"/>
            <a:ext cx="0" cy="153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" name="Google Shape;283;p6"/>
          <p:cNvCxnSpPr>
            <a:endCxn id="280" idx="2"/>
          </p:cNvCxnSpPr>
          <p:nvPr/>
        </p:nvCxnSpPr>
        <p:spPr>
          <a:xfrm>
            <a:off x="4930200" y="1878900"/>
            <a:ext cx="1786200" cy="1525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" name="Google Shape;284;p6"/>
          <p:cNvCxnSpPr>
            <a:stCxn id="280" idx="0"/>
            <a:endCxn id="280" idx="3"/>
          </p:cNvCxnSpPr>
          <p:nvPr/>
        </p:nvCxnSpPr>
        <p:spPr>
          <a:xfrm>
            <a:off x="6716400" y="1872300"/>
            <a:ext cx="1799100" cy="766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6"/>
          <p:cNvSpPr txBox="1"/>
          <p:nvPr/>
        </p:nvSpPr>
        <p:spPr>
          <a:xfrm>
            <a:off x="1393050" y="197650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¿Son las partes iguales?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6"/>
          <p:cNvSpPr txBox="1"/>
          <p:nvPr/>
        </p:nvSpPr>
        <p:spPr>
          <a:xfrm>
            <a:off x="834150" y="729275"/>
            <a:ext cx="7475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Indica si la figura está dividida en partes iguales o en partes distintas.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2831" y="3950088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292" name="Google Shape;292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95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7"/>
          <p:cNvSpPr/>
          <p:nvPr/>
        </p:nvSpPr>
        <p:spPr>
          <a:xfrm>
            <a:off x="5919525" y="1711500"/>
            <a:ext cx="2412000" cy="2025300"/>
          </a:xfrm>
          <a:prstGeom prst="smileyFace">
            <a:avLst>
              <a:gd fmla="val 4653" name="adj"/>
            </a:avLst>
          </a:prstGeom>
          <a:solidFill>
            <a:srgbClr val="FCE5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4" name="Google Shape;294;p7"/>
          <p:cNvCxnSpPr>
            <a:stCxn id="293" idx="0"/>
            <a:endCxn id="293" idx="4"/>
          </p:cNvCxnSpPr>
          <p:nvPr/>
        </p:nvCxnSpPr>
        <p:spPr>
          <a:xfrm>
            <a:off x="7125525" y="1711500"/>
            <a:ext cx="0" cy="2025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7"/>
          <p:cNvSpPr/>
          <p:nvPr/>
        </p:nvSpPr>
        <p:spPr>
          <a:xfrm>
            <a:off x="1280700" y="1559100"/>
            <a:ext cx="3291300" cy="2025300"/>
          </a:xfrm>
          <a:prstGeom prst="cloudCallout">
            <a:avLst>
              <a:gd fmla="val -20833" name="adj1"/>
              <a:gd fmla="val 62500" name="adj2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6" name="Google Shape;296;p7"/>
          <p:cNvCxnSpPr>
            <a:stCxn id="295" idx="3"/>
          </p:cNvCxnSpPr>
          <p:nvPr/>
        </p:nvCxnSpPr>
        <p:spPr>
          <a:xfrm>
            <a:off x="2926350" y="1674898"/>
            <a:ext cx="1217700" cy="129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" name="Google Shape;297;p7"/>
          <p:cNvCxnSpPr>
            <a:endCxn id="295" idx="1"/>
          </p:cNvCxnSpPr>
          <p:nvPr/>
        </p:nvCxnSpPr>
        <p:spPr>
          <a:xfrm>
            <a:off x="1812150" y="1838943"/>
            <a:ext cx="1114200" cy="174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7"/>
          <p:cNvSpPr txBox="1"/>
          <p:nvPr/>
        </p:nvSpPr>
        <p:spPr>
          <a:xfrm>
            <a:off x="834150" y="729275"/>
            <a:ext cx="7475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Indica si la figura está dividida en partes iguales o en partes distintas.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7"/>
          <p:cNvSpPr txBox="1"/>
          <p:nvPr/>
        </p:nvSpPr>
        <p:spPr>
          <a:xfrm>
            <a:off x="1393050" y="197650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¿Son las partes iguales?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0" name="Google Shape;300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2831" y="3950088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8"/>
          <p:cNvSpPr txBox="1"/>
          <p:nvPr/>
        </p:nvSpPr>
        <p:spPr>
          <a:xfrm>
            <a:off x="785234" y="366599"/>
            <a:ext cx="7573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¡Ahora es tu turno!</a:t>
            </a:r>
            <a:endParaRPr b="0" i="0" sz="32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8"/>
          <p:cNvSpPr txBox="1"/>
          <p:nvPr/>
        </p:nvSpPr>
        <p:spPr>
          <a:xfrm>
            <a:off x="2369475" y="4156594"/>
            <a:ext cx="457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RESPONDER ACÁ: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https://forms.gle/sge1nkbGiSXKYYab7</a:t>
            </a:r>
            <a:r>
              <a:rPr b="1" i="0" lang="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8"/>
          <p:cNvSpPr txBox="1"/>
          <p:nvPr/>
        </p:nvSpPr>
        <p:spPr>
          <a:xfrm>
            <a:off x="845750" y="1055950"/>
            <a:ext cx="745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1) ¿Qué fracción representa (rojo es lo que tenemos)?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8" name="Google Shape;308;p8"/>
          <p:cNvGraphicFramePr/>
          <p:nvPr/>
        </p:nvGraphicFramePr>
        <p:xfrm>
          <a:off x="946438" y="173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{24320D5B-CC6F-4D1D-B0DE-7195FFC72E72}</a:tableStyleId>
              </a:tblPr>
              <a:tblGrid>
                <a:gridCol w="1450225"/>
                <a:gridCol w="1450225"/>
                <a:gridCol w="1450225"/>
                <a:gridCol w="1450225"/>
                <a:gridCol w="14502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9" name="Google Shape;309;p8"/>
          <p:cNvSpPr/>
          <p:nvPr/>
        </p:nvSpPr>
        <p:spPr>
          <a:xfrm>
            <a:off x="3495975" y="2826800"/>
            <a:ext cx="2319000" cy="1076700"/>
          </a:xfrm>
          <a:prstGeom prst="wave">
            <a:avLst>
              <a:gd fmla="val 12500" name="adj1"/>
              <a:gd fmla="val 0" name="adj2"/>
            </a:avLst>
          </a:prstGeom>
          <a:solidFill>
            <a:srgbClr val="FAB235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8"/>
          <p:cNvSpPr txBox="1"/>
          <p:nvPr/>
        </p:nvSpPr>
        <p:spPr>
          <a:xfrm>
            <a:off x="2459225" y="2281425"/>
            <a:ext cx="422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2) ¿Son partes iguales?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1" name="Google Shape;311;p8"/>
          <p:cNvCxnSpPr/>
          <p:nvPr/>
        </p:nvCxnSpPr>
        <p:spPr>
          <a:xfrm>
            <a:off x="3491800" y="3233700"/>
            <a:ext cx="23184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12" name="Google Shape;312;p8"/>
          <p:cNvPicPr preferRelativeResize="0"/>
          <p:nvPr/>
        </p:nvPicPr>
        <p:blipFill rotWithShape="1">
          <a:blip r:embed="rId4">
            <a:alphaModFix/>
          </a:blip>
          <a:srcRect b="8561" l="8561" r="8561" t="8561"/>
          <a:stretch/>
        </p:blipFill>
        <p:spPr>
          <a:xfrm>
            <a:off x="262250" y="2434750"/>
            <a:ext cx="2196975" cy="219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92831" y="3950088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