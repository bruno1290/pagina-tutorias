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embeddedFontLst>
    <p:embeddedFont>
      <p:font typeface="Patrick Hand"/>
      <p:regular r:id="rId24"/>
    </p:embeddedFont>
    <p:embeddedFont>
      <p:font typeface="Poppins"/>
      <p:regular r:id="rId25"/>
      <p:bold r:id="rId26"/>
      <p:italic r:id="rId27"/>
      <p:boldItalic r:id="rId28"/>
    </p:embeddedFont>
    <p:embeddedFont>
      <p:font typeface="Poppins Light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3" roundtripDataSignature="AMtx7mjwEpAIT3bdcnonvLtqCDX8MDxU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atrickHand-regular.fntdata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Poppins-bold.fntdata"/><Relationship Id="rId25" Type="http://schemas.openxmlformats.org/officeDocument/2006/relationships/font" Target="fonts/Poppins-regular.fntdata"/><Relationship Id="rId28" Type="http://schemas.openxmlformats.org/officeDocument/2006/relationships/font" Target="fonts/Poppins-boldItalic.fntdata"/><Relationship Id="rId27" Type="http://schemas.openxmlformats.org/officeDocument/2006/relationships/font" Target="fonts/Poppins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Light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oppinsLight-italic.fntdata"/><Relationship Id="rId30" Type="http://schemas.openxmlformats.org/officeDocument/2006/relationships/font" Target="fonts/PoppinsLight-bold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PoppinsLight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3478254f9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3478254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3478254f91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3478254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3478254f91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3478254f91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478254f91_0_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478254f9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0" name="Google Shape;160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7" name="Google Shape;357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2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2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4" name="Google Shape;44;p2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5" name="Google Shape;45;p2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9" name="Google Shape;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2" name="Google Shape;52;p2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8" name="Google Shape;68;p2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9" name="Google Shape;6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2" name="Google Shape;72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3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84" name="Google Shape;8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6" name="Google Shape;96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9" name="Google Shape;99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://n9.cl/comparar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Relationship Id="rId4" Type="http://schemas.openxmlformats.org/officeDocument/2006/relationships/hyperlink" Target="http://www.youtube.com/watch?v=txLlA_fyL5g" TargetMode="External"/><Relationship Id="rId5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jpg"/><Relationship Id="rId4" Type="http://schemas.openxmlformats.org/officeDocument/2006/relationships/hyperlink" Target="http://www.youtube.com/watch?v=Nmm7IJyAo90" TargetMode="External"/><Relationship Id="rId5" Type="http://schemas.openxmlformats.org/officeDocument/2006/relationships/image" Target="../media/image12.jpg"/><Relationship Id="rId6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forms.gle/iANwoeMjoFSUNMe96" TargetMode="External"/><Relationship Id="rId4" Type="http://schemas.openxmlformats.org/officeDocument/2006/relationships/image" Target="../media/image10.png"/><Relationship Id="rId5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jpg"/><Relationship Id="rId4" Type="http://schemas.openxmlformats.org/officeDocument/2006/relationships/hyperlink" Target="http://www.youtube.com/watch?v=ZAmerr4dFrs" TargetMode="External"/><Relationship Id="rId5" Type="http://schemas.openxmlformats.org/officeDocument/2006/relationships/image" Target="../media/image11.jp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108" name="Google Shape;108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109" name="Google Shape;10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4229913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3478254f91_0_0"/>
          <p:cNvSpPr txBox="1"/>
          <p:nvPr/>
        </p:nvSpPr>
        <p:spPr>
          <a:xfrm>
            <a:off x="589763" y="125503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Propósito</a:t>
            </a:r>
            <a:r>
              <a:rPr b="1" lang="es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: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 </a:t>
            </a: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Introducir el concepto de comparar fracciones con diferentes numeradores y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2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rPr>
              <a:t>denominadores, enseñando un método para facilitar la comparación.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16" name="Google Shape;116;g33478254f91_0_0"/>
          <p:cNvSpPr txBox="1"/>
          <p:nvPr/>
        </p:nvSpPr>
        <p:spPr>
          <a:xfrm>
            <a:off x="868688" y="1980075"/>
            <a:ext cx="3524100" cy="2429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Comparar fracciones con distinto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numerador y denominador.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7" name="Google Shape;117;g33478254f91_0_0"/>
          <p:cNvSpPr txBox="1"/>
          <p:nvPr/>
        </p:nvSpPr>
        <p:spPr>
          <a:xfrm>
            <a:off x="4782038" y="1979981"/>
            <a:ext cx="3524100" cy="2429400"/>
          </a:xfrm>
          <a:prstGeom prst="rect">
            <a:avLst/>
          </a:prstGeom>
          <a:noFill/>
          <a:ln cap="flat" cmpd="sng" w="28575">
            <a:solidFill>
              <a:srgbClr val="3259A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Conceptos Clave</a:t>
            </a:r>
            <a:endParaRPr sz="19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Comparación.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Orden de fracciones.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Expansión de múltiplos.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4. Mínimo común múltiplo.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8" name="Google Shape;118;g33478254f91_0_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g33478254f91_0_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g33478254f91_0_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g33478254f91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831" y="4229913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478254f91_0_10"/>
          <p:cNvSpPr txBox="1"/>
          <p:nvPr/>
        </p:nvSpPr>
        <p:spPr>
          <a:xfrm>
            <a:off x="589763" y="9692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27" name="Google Shape;127;g33478254f91_0_10"/>
          <p:cNvSpPr txBox="1"/>
          <p:nvPr/>
        </p:nvSpPr>
        <p:spPr>
          <a:xfrm>
            <a:off x="589763" y="1370081"/>
            <a:ext cx="7875000" cy="53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En esta sesión se abocarán solamente a comparar fracciones con distinto denominador y numerador. Por eso estudiarán el siguiente procedimiento: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1.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Encontrar un múltiplo común en el denominador.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Para esto se utilizarán dos métodos: la expansión de múltiplos y mínimo común múltiplo. Indícale a tu estudiante que están haciendo esto por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dos razones: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la primera es porque es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difícil poder visualizar qué fracción es mayor 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si se han dividido en distintas partes. Y la segunda porque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ya aprendieron de la sesión pasada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a cómo hacerlo. 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Para enfatizar en los dos puntos anteriores,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lleva a la clase dos figuras que representen las fracciones de la diapositiva 5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para que el estudiante se dé cuenta de lo que le comentaste.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2. Amplificar la fracción. Explícale a tu estudiante por qué la amplificación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no afecta el valor de la fracción.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Para ello,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trae dos figuras más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con las fracciones de la diapositiva 5 pero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ya amplificadas, 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de tal forma que se dé cuenta de su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equivalencia.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8" name="Google Shape;128;g33478254f91_0_10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3478254f91_0_10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3478254f91_0_10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1" name="Google Shape;131;g33478254f91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831" y="4229913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3478254f91_0_83"/>
          <p:cNvSpPr txBox="1"/>
          <p:nvPr/>
        </p:nvSpPr>
        <p:spPr>
          <a:xfrm>
            <a:off x="589763" y="969281"/>
            <a:ext cx="8188800" cy="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Consejos para realizar la sesión</a:t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137" name="Google Shape;137;g33478254f91_0_83"/>
          <p:cNvSpPr txBox="1"/>
          <p:nvPr/>
        </p:nvSpPr>
        <p:spPr>
          <a:xfrm>
            <a:off x="589763" y="1370081"/>
            <a:ext cx="7875000" cy="3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Tómate todo el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tiempo necesario en explicar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adecuadamente el procedimiento, especialmente en el cálculo del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mínimo común múltiplo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 y en la </a:t>
            </a:r>
            <a:r>
              <a:rPr b="1" lang="es" sz="1100">
                <a:latin typeface="Poppins"/>
                <a:ea typeface="Poppins"/>
                <a:cs typeface="Poppins"/>
                <a:sym typeface="Poppins"/>
              </a:rPr>
              <a:t>lógica detrás de lo que están haciendo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Si tienen más tiempo, para fortalecer los conocimientos de tu estudiante sobre la sesión pasada y presente, pueden revisar el siguiente enlace [</a:t>
            </a:r>
            <a:r>
              <a:rPr lang="es" sz="1100" u="sng">
                <a:solidFill>
                  <a:schemeClr val="hlink"/>
                </a:solidFill>
                <a:latin typeface="Poppins"/>
                <a:ea typeface="Poppins"/>
                <a:cs typeface="Poppins"/>
                <a:sym typeface="Poppins"/>
                <a:hlinkClick r:id="rId3"/>
              </a:rPr>
              <a:t>n9.cl/comparar</a:t>
            </a:r>
            <a:r>
              <a:rPr lang="es" sz="1100">
                <a:latin typeface="Poppins"/>
                <a:ea typeface="Poppins"/>
                <a:cs typeface="Poppins"/>
                <a:sym typeface="Poppins"/>
              </a:rPr>
              <a:t>] que tiene más ejemplos.</a:t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1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8" name="Google Shape;138;g33478254f91_0_83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3478254f91_0_83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g33478254f91_0_83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1" name="Google Shape;141;g33478254f91_0_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4229913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478254f91_0_19"/>
          <p:cNvSpPr txBox="1"/>
          <p:nvPr/>
        </p:nvSpPr>
        <p:spPr>
          <a:xfrm>
            <a:off x="147788" y="85331"/>
            <a:ext cx="3423300" cy="3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IMPORTANTE: Información sólo para tutor/a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3478254f91_0_19"/>
          <p:cNvSpPr txBox="1"/>
          <p:nvPr/>
        </p:nvSpPr>
        <p:spPr>
          <a:xfrm>
            <a:off x="285206" y="1218713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Para Complementar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 forma similar a la sesión anterior, pídele a tu estudiante que, con sus propias palabras, escriba una breve explicación de cómo comparar fracciones con distinto numerador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y denominador. Además, en cada caso, deberá describir un ejemplo de su vida donde ha tenido que hacerlo.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8" name="Google Shape;148;g33478254f91_0_19"/>
          <p:cNvSpPr txBox="1"/>
          <p:nvPr/>
        </p:nvSpPr>
        <p:spPr>
          <a:xfrm>
            <a:off x="285206" y="3272644"/>
            <a:ext cx="8451600" cy="15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500">
                <a:solidFill>
                  <a:srgbClr val="3259A4"/>
                </a:solidFill>
                <a:latin typeface="Poppins"/>
                <a:ea typeface="Poppins"/>
                <a:cs typeface="Poppins"/>
                <a:sym typeface="Poppins"/>
              </a:rPr>
              <a:t>Preguntas de Cierre</a:t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3259A4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1. ¿Por qué buscamos un denominador común?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2. ¿Por qué usamos el mínimo común múltiplo y no otro de mayor valor?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3. ¿La amplificación cambia el valor de la fracción?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g33478254f91_0_19"/>
          <p:cNvSpPr/>
          <p:nvPr/>
        </p:nvSpPr>
        <p:spPr>
          <a:xfrm>
            <a:off x="1903631" y="472931"/>
            <a:ext cx="5795400" cy="472800"/>
          </a:xfrm>
          <a:prstGeom prst="roundRect">
            <a:avLst>
              <a:gd fmla="val 16667" name="adj"/>
            </a:avLst>
          </a:prstGeom>
          <a:solidFill>
            <a:srgbClr val="3259A4"/>
          </a:solidFill>
          <a:ln cap="flat" cmpd="sng" w="9525">
            <a:solidFill>
              <a:srgbClr val="4454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3478254f91_0_19"/>
          <p:cNvSpPr txBox="1"/>
          <p:nvPr/>
        </p:nvSpPr>
        <p:spPr>
          <a:xfrm>
            <a:off x="2638650" y="507467"/>
            <a:ext cx="4318500" cy="4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1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PLANIFICACIÓN TUTORÍA</a:t>
            </a:r>
            <a:endParaRPr sz="21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1" name="Google Shape;151;g33478254f91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92831" y="4229913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3936763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/>
          <p:nvPr>
            <p:ph type="title"/>
          </p:nvPr>
        </p:nvSpPr>
        <p:spPr>
          <a:xfrm>
            <a:off x="471488" y="205383"/>
            <a:ext cx="5915100" cy="7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63" name="Google Shape;163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3"/>
          <p:cNvSpPr txBox="1"/>
          <p:nvPr/>
        </p:nvSpPr>
        <p:spPr>
          <a:xfrm>
            <a:off x="497813" y="383963"/>
            <a:ext cx="81483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Recordemos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Una fracción representa las partes que estás considerando del total de partes iguales. Esta se representa de la siguiente manera simbólicamente:</a:t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1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00"/>
              <a:buFont typeface="Arial"/>
              <a:buNone/>
            </a:pPr>
            <a:r>
              <a:rPr b="1" i="0" lang="es" sz="5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				 5</a:t>
            </a:r>
            <a:endParaRPr b="1" i="0" sz="5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4338413" y="1978650"/>
            <a:ext cx="43500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NUMERADOR: número de partes que tenemos. 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4320252" y="2882138"/>
            <a:ext cx="3834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DENOMINADOR: número de partes en que hemos dividido la unidad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1726838" y="1950269"/>
            <a:ext cx="1990800" cy="16275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8" name="Google Shape;168;p3"/>
          <p:cNvCxnSpPr/>
          <p:nvPr/>
        </p:nvCxnSpPr>
        <p:spPr>
          <a:xfrm flipH="1" rot="10800000">
            <a:off x="1909394" y="2817650"/>
            <a:ext cx="1625700" cy="13200"/>
          </a:xfrm>
          <a:prstGeom prst="straightConnector1">
            <a:avLst/>
          </a:prstGeom>
          <a:noFill/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" name="Google Shape;169;p3"/>
          <p:cNvCxnSpPr>
            <a:endCxn id="165" idx="1"/>
          </p:cNvCxnSpPr>
          <p:nvPr/>
        </p:nvCxnSpPr>
        <p:spPr>
          <a:xfrm>
            <a:off x="3717713" y="2333550"/>
            <a:ext cx="620700" cy="30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70" name="Google Shape;170;p3"/>
          <p:cNvCxnSpPr/>
          <p:nvPr/>
        </p:nvCxnSpPr>
        <p:spPr>
          <a:xfrm>
            <a:off x="3717638" y="3171788"/>
            <a:ext cx="620700" cy="3000"/>
          </a:xfrm>
          <a:prstGeom prst="straightConnector1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171" name="Google Shape;171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3936763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78" name="Google Shape;178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4"/>
          <p:cNvSpPr txBox="1"/>
          <p:nvPr/>
        </p:nvSpPr>
        <p:spPr>
          <a:xfrm>
            <a:off x="146575" y="413075"/>
            <a:ext cx="89973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Para poder comparar fracciones de distinto numerador y denominador  denominador, primero debemos buscar un denominador común en ambas fracciones y luego compararlas. 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¿Cómo encontramos el denominador común? Buscando el mínimo común múltiplo de las siguientes maneras: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atrick Hand"/>
              <a:buAutoNum type="arabicPeriod"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Escribiendo los múltiplos de cada n° encontrando uno común.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atrick Hand"/>
              <a:buAutoNum type="arabicPeriod"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Utilizando los n° primos de cada número (tabla).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80" name="Google Shape;180;p4"/>
          <p:cNvSpPr txBox="1"/>
          <p:nvPr/>
        </p:nvSpPr>
        <p:spPr>
          <a:xfrm>
            <a:off x="2465150" y="3580125"/>
            <a:ext cx="3000000" cy="954300"/>
          </a:xfrm>
          <a:prstGeom prst="rect">
            <a:avLst/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Ejemplo:    4           3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 5          4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4"/>
          <p:cNvCxnSpPr/>
          <p:nvPr/>
        </p:nvCxnSpPr>
        <p:spPr>
          <a:xfrm flipH="1" rot="10800000">
            <a:off x="3602550" y="4050675"/>
            <a:ext cx="4929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" name="Google Shape;182;p4"/>
          <p:cNvCxnSpPr/>
          <p:nvPr/>
        </p:nvCxnSpPr>
        <p:spPr>
          <a:xfrm flipH="1" rot="10800000">
            <a:off x="4509725" y="4050675"/>
            <a:ext cx="4929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" name="Google Shape;183;p4"/>
          <p:cNvSpPr txBox="1"/>
          <p:nvPr/>
        </p:nvSpPr>
        <p:spPr>
          <a:xfrm>
            <a:off x="6076275" y="34338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descr="Hola aquí les dejo este vídeo del mínimo común múltiplo, espero les guste y les sirva.&#10;&#10;Números primos: &#10;https://www.youtube.com/watch?v=e1XtzmR-4jk&#10;&#10;Criterios de divisibilidad: &#10;https://www.youtube.com/watch?v=JO_SRpmojdM&#10;&#10;✉️ NEGOCIOS / CONTRATACIONES / PRENSA: contacto@danielcarreon.com.mx&#10;&#10;&#10;Únete a este canal para acceder a sus beneficios: https://www.youtube.com/channel/UCwScwtu5zVqc_wHtRx9XvDA/join &#10;&#10;¡¡Sígueme en mis redes sociales!! &#10;✉️ NEGOCIOS / CONTRATACIONES / PRENSA: contacto@danielcarreon.com.mx&#10;INSTAGRAM: https://www.instagram.com/soydanielcarreon/&#10;FACEBOOK: https://www.facebook.com/SoyDanielCarreon &#10;TIK TOK : https://vm.tiktok.com/ZMeMKc9eP/&#10;TWITTER: https://twitter.com/danielcarreonyt?lang=es&#10;&#10; CANALES DE MIS HERMANOS&#10; ROCIÓ CARREON https://www.youtube.com/c/RocioCarreon&#10; MARIO CARREON https://www.youtube.com/c/MARIOCARREÓN&#10;&#10;Descarga mi app MATES CON DANIEL aquí: &#10;ANDROID: https://play.google.com/store/apps/details?id=io.educup.matescondaniel&#10;IOS: https://matescondaniel.page.link/app&#10;&#10;SUSCRIBETE!!! Si llegaste hasta aquí comenta: &quot;¡Aprendamos juntos!&quot;&#10;0:00 Bienvenida &#10;0:20 Concepto basico &#10;0:30 Ejercicio 1&#10;1:30 Ejercicio 2&#10;4:37 Ejercicio 3&#10;6:23 Ejercicio 4&#10;8:20 Ejercicio 5" id="184" name="Google Shape;184;p4" title="MÍNIMO COMÚN MÚLTIPLO Super facil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28675" y="3178825"/>
            <a:ext cx="2824125" cy="158857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4"/>
          <p:cNvSpPr txBox="1"/>
          <p:nvPr/>
        </p:nvSpPr>
        <p:spPr>
          <a:xfrm>
            <a:off x="76200" y="228600"/>
            <a:ext cx="8363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3. Comparar fracciones con distinto numerador y denominador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192" name="Google Shape;192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5"/>
          <p:cNvSpPr txBox="1"/>
          <p:nvPr/>
        </p:nvSpPr>
        <p:spPr>
          <a:xfrm>
            <a:off x="146575" y="413075"/>
            <a:ext cx="8221500" cy="49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1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Resolvamos el ejemplo: 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atrick Hand"/>
              <a:buAutoNum type="arabicPeriod"/>
            </a:pPr>
            <a:r>
              <a:rPr b="0" i="0" lang="es" sz="2300" u="none" cap="none" strike="noStrike">
                <a:solidFill>
                  <a:schemeClr val="dk1"/>
                </a:solidFill>
                <a:highlight>
                  <a:srgbClr val="6DDED5"/>
                </a:highlight>
                <a:latin typeface="Patrick Hand"/>
                <a:ea typeface="Patrick Hand"/>
                <a:cs typeface="Patrick Hand"/>
                <a:sym typeface="Patrick Hand"/>
              </a:rPr>
              <a:t>Escribiendo los múltiplos de cada n° encontrando uno común</a:t>
            </a:r>
            <a:endParaRPr b="0" i="0" sz="2300" u="none" cap="none" strike="noStrike">
              <a:solidFill>
                <a:schemeClr val="dk1"/>
              </a:solidFill>
              <a:highlight>
                <a:srgbClr val="6DDED5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atrick Hand"/>
              <a:buChar char="○"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= (5  - 10 - 15 - 20 - 25 -30..)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atrick Hand"/>
              <a:buChar char="○"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= (4 - 8 - 12 - 16 - 20 - 24…)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atrick Hand"/>
              <a:buAutoNum type="arabicPeriod"/>
            </a:pPr>
            <a:r>
              <a:rPr b="0" i="0" lang="es" sz="2300" u="none" cap="none" strike="noStrike">
                <a:solidFill>
                  <a:schemeClr val="dk1"/>
                </a:solidFill>
                <a:highlight>
                  <a:srgbClr val="6DDED5"/>
                </a:highlight>
                <a:latin typeface="Patrick Hand"/>
                <a:ea typeface="Patrick Hand"/>
                <a:cs typeface="Patrick Hand"/>
                <a:sym typeface="Patrick Hand"/>
              </a:rPr>
              <a:t>Haciéndolo por medio de los n° primeros de cada n° (tabla)</a:t>
            </a:r>
            <a:endParaRPr b="0" i="0" sz="2300" u="none" cap="none" strike="noStrike">
              <a:solidFill>
                <a:schemeClr val="dk1"/>
              </a:solidFill>
              <a:highlight>
                <a:srgbClr val="6DDED5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</a:t>
            </a: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4      5   2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2     </a:t>
            </a:r>
            <a:r>
              <a:rPr b="0" i="0" lang="es" sz="21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5    </a:t>
            </a: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1     </a:t>
            </a:r>
            <a:r>
              <a:rPr b="0" i="0" lang="es" sz="21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5     </a:t>
            </a: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      1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194" name="Google Shape;194;p5"/>
          <p:cNvSpPr txBox="1"/>
          <p:nvPr/>
        </p:nvSpPr>
        <p:spPr>
          <a:xfrm>
            <a:off x="2791525" y="829625"/>
            <a:ext cx="2931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Ejemplo:    4           3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 5          4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5" name="Google Shape;195;p5"/>
          <p:cNvCxnSpPr/>
          <p:nvPr/>
        </p:nvCxnSpPr>
        <p:spPr>
          <a:xfrm flipH="1" rot="10800000">
            <a:off x="4010875" y="1312038"/>
            <a:ext cx="4929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5"/>
          <p:cNvCxnSpPr/>
          <p:nvPr/>
        </p:nvCxnSpPr>
        <p:spPr>
          <a:xfrm flipH="1" rot="10800000">
            <a:off x="4896150" y="1300175"/>
            <a:ext cx="4929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7" name="Google Shape;197;p5"/>
          <p:cNvSpPr/>
          <p:nvPr/>
        </p:nvSpPr>
        <p:spPr>
          <a:xfrm>
            <a:off x="2931425" y="2286338"/>
            <a:ext cx="373200" cy="319800"/>
          </a:xfrm>
          <a:prstGeom prst="ellipse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5"/>
          <p:cNvSpPr/>
          <p:nvPr/>
        </p:nvSpPr>
        <p:spPr>
          <a:xfrm>
            <a:off x="3243825" y="2606150"/>
            <a:ext cx="373200" cy="319800"/>
          </a:xfrm>
          <a:prstGeom prst="ellipse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" name="Google Shape;199;p5"/>
          <p:cNvCxnSpPr/>
          <p:nvPr/>
        </p:nvCxnSpPr>
        <p:spPr>
          <a:xfrm>
            <a:off x="1545900" y="3849025"/>
            <a:ext cx="812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0" name="Google Shape;200;p5"/>
          <p:cNvCxnSpPr/>
          <p:nvPr/>
        </p:nvCxnSpPr>
        <p:spPr>
          <a:xfrm>
            <a:off x="2331900" y="3611100"/>
            <a:ext cx="26700" cy="78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5"/>
          <p:cNvSpPr/>
          <p:nvPr/>
        </p:nvSpPr>
        <p:spPr>
          <a:xfrm>
            <a:off x="3304625" y="3624425"/>
            <a:ext cx="860700" cy="559800"/>
          </a:xfrm>
          <a:prstGeom prst="chevron">
            <a:avLst>
              <a:gd fmla="val 50000" name="adj"/>
            </a:avLst>
          </a:prstGeom>
          <a:solidFill>
            <a:srgbClr val="14BEB1"/>
          </a:solidFill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4165325" y="3504625"/>
            <a:ext cx="5095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Multiplicamos todos los n° primos y el resultado es el m.c.m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highlight>
                  <a:srgbClr val="6DDED5"/>
                </a:highlight>
                <a:latin typeface="Patrick Hand"/>
                <a:ea typeface="Patrick Hand"/>
                <a:cs typeface="Patrick Hand"/>
                <a:sym typeface="Patrick Hand"/>
              </a:rPr>
              <a:t>2 x 2 x 5 = 20</a:t>
            </a:r>
            <a:endParaRPr b="0" i="0" sz="2200" u="none" cap="none" strike="noStrike">
              <a:solidFill>
                <a:schemeClr val="dk1"/>
              </a:solidFill>
              <a:highlight>
                <a:srgbClr val="6DDED5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03" name="Google Shape;203;p5"/>
          <p:cNvSpPr txBox="1"/>
          <p:nvPr/>
        </p:nvSpPr>
        <p:spPr>
          <a:xfrm>
            <a:off x="-17925" y="205700"/>
            <a:ext cx="91440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Comparar fracciones con distinto numerador y denominador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40687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11" name="Google Shape;211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6"/>
          <p:cNvSpPr txBox="1"/>
          <p:nvPr/>
        </p:nvSpPr>
        <p:spPr>
          <a:xfrm>
            <a:off x="3858325" y="524825"/>
            <a:ext cx="2931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4           3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5          4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0" y="164500"/>
            <a:ext cx="83949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Comparar fracciones con distinto numerador y denominador</a:t>
            </a:r>
            <a:endParaRPr b="1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Resolvamos el ejemplo: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78600" y="1244675"/>
            <a:ext cx="8986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highlight>
                  <a:srgbClr val="6DDED5"/>
                </a:highlight>
                <a:latin typeface="Patrick Hand"/>
                <a:ea typeface="Patrick Hand"/>
                <a:cs typeface="Patrick Hand"/>
                <a:sym typeface="Patrick Hand"/>
              </a:rPr>
              <a:t>Paso 1:</a:t>
            </a: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Encontrar el m.cm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highlight>
                  <a:srgbClr val="6DDED5"/>
                </a:highlight>
                <a:latin typeface="Patrick Hand"/>
                <a:ea typeface="Patrick Hand"/>
                <a:cs typeface="Patrick Hand"/>
                <a:sym typeface="Patrick Hand"/>
              </a:rPr>
              <a:t>Paso 2:</a:t>
            </a: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Amplificar el numerador: 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atrick Hand"/>
              <a:buChar char="●"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Como usaremos el m.c.m de denominador de ambas fracciones debemos también amplificar los numeradores a lo mismo que se amplifico el denominador.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683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atrick Hand"/>
              <a:buChar char="●"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4                       16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5                      20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2105375" y="3685600"/>
            <a:ext cx="1455841" cy="223661"/>
          </a:xfrm>
          <a:custGeom>
            <a:rect b="b" l="l" r="r" t="t"/>
            <a:pathLst>
              <a:path extrusionOk="0" h="11859" w="62362">
                <a:moveTo>
                  <a:pt x="0" y="3198"/>
                </a:moveTo>
                <a:cubicBezTo>
                  <a:pt x="4797" y="4619"/>
                  <a:pt x="18388" y="12259"/>
                  <a:pt x="28782" y="11726"/>
                </a:cubicBezTo>
                <a:cubicBezTo>
                  <a:pt x="39176" y="11193"/>
                  <a:pt x="56765" y="1954"/>
                  <a:pt x="62362" y="0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 txBox="1"/>
          <p:nvPr/>
        </p:nvSpPr>
        <p:spPr>
          <a:xfrm>
            <a:off x="2510950" y="3392325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x 4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2208549" y="2916550"/>
            <a:ext cx="1455903" cy="223674"/>
          </a:xfrm>
          <a:custGeom>
            <a:rect b="b" l="l" r="r" t="t"/>
            <a:pathLst>
              <a:path extrusionOk="0" h="8017" w="70890">
                <a:moveTo>
                  <a:pt x="0" y="7484"/>
                </a:moveTo>
                <a:cubicBezTo>
                  <a:pt x="5685" y="6240"/>
                  <a:pt x="22297" y="-67"/>
                  <a:pt x="34112" y="22"/>
                </a:cubicBezTo>
                <a:cubicBezTo>
                  <a:pt x="45927" y="111"/>
                  <a:pt x="64760" y="6685"/>
                  <a:pt x="70890" y="8017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 txBox="1"/>
          <p:nvPr/>
        </p:nvSpPr>
        <p:spPr>
          <a:xfrm>
            <a:off x="2510950" y="2772288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x 4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 txBox="1"/>
          <p:nvPr/>
        </p:nvSpPr>
        <p:spPr>
          <a:xfrm>
            <a:off x="4834675" y="2937875"/>
            <a:ext cx="2931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atrick Hand"/>
              <a:buChar char="●"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3                     1 5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4                      20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5415825" y="3704125"/>
            <a:ext cx="1559050" cy="296475"/>
          </a:xfrm>
          <a:custGeom>
            <a:rect b="b" l="l" r="r" t="t"/>
            <a:pathLst>
              <a:path extrusionOk="0" h="11859" w="62362">
                <a:moveTo>
                  <a:pt x="0" y="3198"/>
                </a:moveTo>
                <a:cubicBezTo>
                  <a:pt x="4797" y="4619"/>
                  <a:pt x="18388" y="12259"/>
                  <a:pt x="28782" y="11726"/>
                </a:cubicBezTo>
                <a:cubicBezTo>
                  <a:pt x="39176" y="11193"/>
                  <a:pt x="56765" y="1954"/>
                  <a:pt x="62362" y="0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 txBox="1"/>
          <p:nvPr/>
        </p:nvSpPr>
        <p:spPr>
          <a:xfrm>
            <a:off x="5810150" y="3357300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x 5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5810150" y="2772300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x 5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p6"/>
          <p:cNvCxnSpPr/>
          <p:nvPr/>
        </p:nvCxnSpPr>
        <p:spPr>
          <a:xfrm>
            <a:off x="5255925" y="3445025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6"/>
          <p:cNvCxnSpPr/>
          <p:nvPr/>
        </p:nvCxnSpPr>
        <p:spPr>
          <a:xfrm>
            <a:off x="6830375" y="3368825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6"/>
          <p:cNvCxnSpPr/>
          <p:nvPr/>
        </p:nvCxnSpPr>
        <p:spPr>
          <a:xfrm>
            <a:off x="3508650" y="3368825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6"/>
          <p:cNvCxnSpPr/>
          <p:nvPr/>
        </p:nvCxnSpPr>
        <p:spPr>
          <a:xfrm>
            <a:off x="1848850" y="3292625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6"/>
          <p:cNvSpPr/>
          <p:nvPr/>
        </p:nvSpPr>
        <p:spPr>
          <a:xfrm rot="5402763">
            <a:off x="4286757" y="3401760"/>
            <a:ext cx="373200" cy="852900"/>
          </a:xfrm>
          <a:prstGeom prst="chevron">
            <a:avLst>
              <a:gd fmla="val 50000" name="adj"/>
            </a:avLst>
          </a:prstGeom>
          <a:solidFill>
            <a:srgbClr val="14BEB1"/>
          </a:solidFill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6"/>
          <p:cNvSpPr txBox="1"/>
          <p:nvPr/>
        </p:nvSpPr>
        <p:spPr>
          <a:xfrm>
            <a:off x="1270025" y="4012350"/>
            <a:ext cx="7631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Ahora comparamos  16        15               Por lo tanto:    4         3  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                 20       20					       5         4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29" name="Google Shape;229;p6"/>
          <p:cNvCxnSpPr/>
          <p:nvPr/>
        </p:nvCxnSpPr>
        <p:spPr>
          <a:xfrm>
            <a:off x="3304725" y="4439288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6"/>
          <p:cNvCxnSpPr/>
          <p:nvPr/>
        </p:nvCxnSpPr>
        <p:spPr>
          <a:xfrm>
            <a:off x="4039700" y="4443288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6"/>
          <p:cNvCxnSpPr/>
          <p:nvPr/>
        </p:nvCxnSpPr>
        <p:spPr>
          <a:xfrm>
            <a:off x="6691375" y="4439275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6"/>
          <p:cNvCxnSpPr/>
          <p:nvPr/>
        </p:nvCxnSpPr>
        <p:spPr>
          <a:xfrm>
            <a:off x="7445475" y="4443288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6"/>
          <p:cNvSpPr txBox="1"/>
          <p:nvPr/>
        </p:nvSpPr>
        <p:spPr>
          <a:xfrm flipH="1">
            <a:off x="3682900" y="4078525"/>
            <a:ext cx="65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009287"/>
                </a:solidFill>
                <a:latin typeface="Patrick Hand"/>
                <a:ea typeface="Patrick Hand"/>
                <a:cs typeface="Patrick Hand"/>
                <a:sym typeface="Patrick Hand"/>
              </a:rPr>
              <a:t>&gt;</a:t>
            </a:r>
            <a:endParaRPr b="1" i="0" sz="1600" u="none" cap="none" strike="noStrike">
              <a:solidFill>
                <a:srgbClr val="0092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6"/>
          <p:cNvSpPr txBox="1"/>
          <p:nvPr/>
        </p:nvSpPr>
        <p:spPr>
          <a:xfrm flipH="1">
            <a:off x="7086775" y="4078525"/>
            <a:ext cx="65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009287"/>
                </a:solidFill>
                <a:latin typeface="Patrick Hand"/>
                <a:ea typeface="Patrick Hand"/>
                <a:cs typeface="Patrick Hand"/>
                <a:sym typeface="Patrick Hand"/>
              </a:rPr>
              <a:t>&gt;</a:t>
            </a:r>
            <a:endParaRPr b="1" i="0" sz="1600" u="none" cap="none" strike="noStrike">
              <a:solidFill>
                <a:srgbClr val="0092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5485149" y="2840350"/>
            <a:ext cx="1455903" cy="223674"/>
          </a:xfrm>
          <a:custGeom>
            <a:rect b="b" l="l" r="r" t="t"/>
            <a:pathLst>
              <a:path extrusionOk="0" h="8017" w="70890">
                <a:moveTo>
                  <a:pt x="0" y="7484"/>
                </a:moveTo>
                <a:cubicBezTo>
                  <a:pt x="5685" y="6240"/>
                  <a:pt x="22297" y="-67"/>
                  <a:pt x="34112" y="22"/>
                </a:cubicBezTo>
                <a:cubicBezTo>
                  <a:pt x="45927" y="111"/>
                  <a:pt x="64760" y="6685"/>
                  <a:pt x="70890" y="8017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36" name="Google Shape;236;p6"/>
          <p:cNvCxnSpPr/>
          <p:nvPr/>
        </p:nvCxnSpPr>
        <p:spPr>
          <a:xfrm>
            <a:off x="3924375" y="900375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6"/>
          <p:cNvCxnSpPr/>
          <p:nvPr/>
        </p:nvCxnSpPr>
        <p:spPr>
          <a:xfrm>
            <a:off x="4729700" y="900375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38" name="Google Shape;238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40687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45" name="Google Shape;245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7"/>
          <p:cNvSpPr txBox="1"/>
          <p:nvPr/>
        </p:nvSpPr>
        <p:spPr>
          <a:xfrm>
            <a:off x="70375" y="170550"/>
            <a:ext cx="82215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Comparar fracciones con distinto numerador y denominador</a:t>
            </a:r>
            <a:endParaRPr b="1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Resolvamos el ejemplo: 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atrick Hand"/>
              <a:buAutoNum type="arabicPeriod"/>
            </a:pPr>
            <a:r>
              <a:rPr b="0" i="0" lang="es" sz="2300" u="none" cap="none" strike="noStrike">
                <a:solidFill>
                  <a:schemeClr val="dk1"/>
                </a:solidFill>
                <a:highlight>
                  <a:srgbClr val="6DDED5"/>
                </a:highlight>
                <a:latin typeface="Patrick Hand"/>
                <a:ea typeface="Patrick Hand"/>
                <a:cs typeface="Patrick Hand"/>
                <a:sym typeface="Patrick Hand"/>
              </a:rPr>
              <a:t>Escribiendo los múltiplos de cada n° encontrando uno común</a:t>
            </a:r>
            <a:endParaRPr b="0" i="0" sz="2300" u="none" cap="none" strike="noStrike">
              <a:solidFill>
                <a:schemeClr val="dk1"/>
              </a:solidFill>
              <a:highlight>
                <a:srgbClr val="6DDED5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atrick Hand"/>
              <a:buChar char="○"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= (12  - 24 - 36 - 48 - 60 - 72..)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683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atrick Hand"/>
              <a:buChar char="○"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 = (10 - 20 - 30 - 40- 50- 60- 70..)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746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Patrick Hand"/>
              <a:buAutoNum type="arabicPeriod"/>
            </a:pPr>
            <a:r>
              <a:rPr b="0" i="0" lang="es" sz="2300" u="none" cap="none" strike="noStrike">
                <a:solidFill>
                  <a:schemeClr val="dk1"/>
                </a:solidFill>
                <a:highlight>
                  <a:srgbClr val="6DDED5"/>
                </a:highlight>
                <a:latin typeface="Patrick Hand"/>
                <a:ea typeface="Patrick Hand"/>
                <a:cs typeface="Patrick Hand"/>
                <a:sym typeface="Patrick Hand"/>
              </a:rPr>
              <a:t>Haciéndolo por medio de los n° primeros de cada n° (tabla)</a:t>
            </a:r>
            <a:endParaRPr b="0" i="0" sz="2300" u="none" cap="none" strike="noStrike">
              <a:solidFill>
                <a:schemeClr val="dk1"/>
              </a:solidFill>
              <a:highlight>
                <a:srgbClr val="6DDED5"/>
              </a:highlight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			</a:t>
            </a: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	12     10   2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               6       5     2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               3       </a:t>
            </a:r>
            <a:r>
              <a:rPr b="0" i="0" lang="es" sz="21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5     </a:t>
            </a: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               </a:t>
            </a:r>
            <a:r>
              <a:rPr b="0" i="0" lang="es" sz="2100" u="none" cap="none" strike="noStrike">
                <a:solidFill>
                  <a:srgbClr val="FF0000"/>
                </a:solidFill>
                <a:latin typeface="Patrick Hand"/>
                <a:ea typeface="Patrick Hand"/>
                <a:cs typeface="Patrick Hand"/>
                <a:sym typeface="Patrick Hand"/>
              </a:rPr>
              <a:t>3       </a:t>
            </a: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1     3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es" sz="21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               1</a:t>
            </a:r>
            <a:endParaRPr b="0" i="0" sz="21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2867725" y="753425"/>
            <a:ext cx="2931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Ejemplo:    5           7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 12         10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7"/>
          <p:cNvCxnSpPr/>
          <p:nvPr/>
        </p:nvCxnSpPr>
        <p:spPr>
          <a:xfrm flipH="1" rot="10800000">
            <a:off x="3934675" y="1235838"/>
            <a:ext cx="4929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9" name="Google Shape;249;p7"/>
          <p:cNvCxnSpPr/>
          <p:nvPr/>
        </p:nvCxnSpPr>
        <p:spPr>
          <a:xfrm flipH="1" rot="10800000">
            <a:off x="4896150" y="1223975"/>
            <a:ext cx="4929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0" name="Google Shape;250;p7"/>
          <p:cNvSpPr/>
          <p:nvPr/>
        </p:nvSpPr>
        <p:spPr>
          <a:xfrm>
            <a:off x="3617025" y="2065400"/>
            <a:ext cx="373200" cy="319800"/>
          </a:xfrm>
          <a:prstGeom prst="ellipse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3994525" y="2411850"/>
            <a:ext cx="373200" cy="319800"/>
          </a:xfrm>
          <a:prstGeom prst="ellipse">
            <a:avLst/>
          </a:pr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7"/>
          <p:cNvCxnSpPr/>
          <p:nvPr/>
        </p:nvCxnSpPr>
        <p:spPr>
          <a:xfrm flipH="1">
            <a:off x="2758425" y="3371225"/>
            <a:ext cx="13200" cy="1146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7"/>
          <p:cNvCxnSpPr/>
          <p:nvPr/>
        </p:nvCxnSpPr>
        <p:spPr>
          <a:xfrm>
            <a:off x="1732125" y="3584450"/>
            <a:ext cx="1039500" cy="1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4" name="Google Shape;254;p7"/>
          <p:cNvSpPr/>
          <p:nvPr/>
        </p:nvSpPr>
        <p:spPr>
          <a:xfrm>
            <a:off x="3304625" y="3624425"/>
            <a:ext cx="860700" cy="559800"/>
          </a:xfrm>
          <a:prstGeom prst="chevron">
            <a:avLst>
              <a:gd fmla="val 50000" name="adj"/>
            </a:avLst>
          </a:prstGeom>
          <a:solidFill>
            <a:srgbClr val="14BEB1"/>
          </a:solidFill>
          <a:ln cap="flat" cmpd="sng" w="28575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4441325" y="3374225"/>
            <a:ext cx="4543800" cy="12468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009287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4165325" y="3291425"/>
            <a:ext cx="5095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Multiplicamos todos los n° primos y el resultado es el m.c.m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highlight>
                  <a:srgbClr val="6DDED5"/>
                </a:highlight>
                <a:latin typeface="Patrick Hand"/>
                <a:ea typeface="Patrick Hand"/>
                <a:cs typeface="Patrick Hand"/>
                <a:sym typeface="Patrick Hand"/>
              </a:rPr>
              <a:t>2 x 2 x 5 x 3 = 60</a:t>
            </a:r>
            <a:endParaRPr b="0" i="0" sz="2200" u="none" cap="none" strike="noStrike">
              <a:solidFill>
                <a:schemeClr val="dk1"/>
              </a:solidFill>
              <a:highlight>
                <a:srgbClr val="6DDED5"/>
              </a:highlight>
              <a:latin typeface="Patrick Hand"/>
              <a:ea typeface="Patrick Hand"/>
              <a:cs typeface="Patrick Hand"/>
              <a:sym typeface="Patrick Hand"/>
            </a:endParaRPr>
          </a:p>
        </p:txBody>
      </p:sp>
      <p:pic>
        <p:nvPicPr>
          <p:cNvPr id="257" name="Google Shape;257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40687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64" name="Google Shape;264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8"/>
          <p:cNvSpPr txBox="1"/>
          <p:nvPr/>
        </p:nvSpPr>
        <p:spPr>
          <a:xfrm>
            <a:off x="3858325" y="524825"/>
            <a:ext cx="2931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5            7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12          10</a:t>
            </a:r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8"/>
          <p:cNvSpPr txBox="1"/>
          <p:nvPr/>
        </p:nvSpPr>
        <p:spPr>
          <a:xfrm>
            <a:off x="0" y="164500"/>
            <a:ext cx="84081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s" sz="25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Comparar fracciones con distinto numerador y  denominador</a:t>
            </a:r>
            <a:endParaRPr b="1" i="0" sz="25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Resolvamos el ejemplo: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8"/>
          <p:cNvSpPr txBox="1"/>
          <p:nvPr/>
        </p:nvSpPr>
        <p:spPr>
          <a:xfrm>
            <a:off x="78600" y="1244675"/>
            <a:ext cx="89868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highlight>
                  <a:srgbClr val="6DDED5"/>
                </a:highlight>
                <a:latin typeface="Patrick Hand"/>
                <a:ea typeface="Patrick Hand"/>
                <a:cs typeface="Patrick Hand"/>
                <a:sym typeface="Patrick Hand"/>
              </a:rPr>
              <a:t>Paso 1:</a:t>
            </a: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Encontrar el m.cm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highlight>
                  <a:srgbClr val="6DDED5"/>
                </a:highlight>
                <a:latin typeface="Patrick Hand"/>
                <a:ea typeface="Patrick Hand"/>
                <a:cs typeface="Patrick Hand"/>
                <a:sym typeface="Patrick Hand"/>
              </a:rPr>
              <a:t>Paso 2:</a:t>
            </a: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Amplificar el numerador: 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atrick Hand"/>
              <a:buChar char="●"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Como usaremos el m.c.m de denominador de ambas fracciones debemos también amplificar los numeradores a lo mismo que se amplifico el denominador.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683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atrick Hand"/>
              <a:buChar char="●"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5                       25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45720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12                      60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2105375" y="3685600"/>
            <a:ext cx="1455841" cy="223661"/>
          </a:xfrm>
          <a:custGeom>
            <a:rect b="b" l="l" r="r" t="t"/>
            <a:pathLst>
              <a:path extrusionOk="0" h="11859" w="62362">
                <a:moveTo>
                  <a:pt x="0" y="3198"/>
                </a:moveTo>
                <a:cubicBezTo>
                  <a:pt x="4797" y="4619"/>
                  <a:pt x="18388" y="12259"/>
                  <a:pt x="28782" y="11726"/>
                </a:cubicBezTo>
                <a:cubicBezTo>
                  <a:pt x="39176" y="11193"/>
                  <a:pt x="56765" y="1954"/>
                  <a:pt x="62362" y="0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 txBox="1"/>
          <p:nvPr/>
        </p:nvSpPr>
        <p:spPr>
          <a:xfrm>
            <a:off x="2510950" y="3392325"/>
            <a:ext cx="656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x 5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2208549" y="2916550"/>
            <a:ext cx="1455903" cy="223674"/>
          </a:xfrm>
          <a:custGeom>
            <a:rect b="b" l="l" r="r" t="t"/>
            <a:pathLst>
              <a:path extrusionOk="0" h="8017" w="70890">
                <a:moveTo>
                  <a:pt x="0" y="7484"/>
                </a:moveTo>
                <a:cubicBezTo>
                  <a:pt x="5685" y="6240"/>
                  <a:pt x="22297" y="-67"/>
                  <a:pt x="34112" y="22"/>
                </a:cubicBezTo>
                <a:cubicBezTo>
                  <a:pt x="45927" y="111"/>
                  <a:pt x="64760" y="6685"/>
                  <a:pt x="70890" y="8017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 txBox="1"/>
          <p:nvPr/>
        </p:nvSpPr>
        <p:spPr>
          <a:xfrm>
            <a:off x="2510950" y="2772288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x 5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8"/>
          <p:cNvSpPr txBox="1"/>
          <p:nvPr/>
        </p:nvSpPr>
        <p:spPr>
          <a:xfrm>
            <a:off x="4834675" y="2937875"/>
            <a:ext cx="29316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Patrick Hand"/>
              <a:buChar char="●"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7                     4 3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10                     60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5415825" y="3704125"/>
            <a:ext cx="1559050" cy="296475"/>
          </a:xfrm>
          <a:custGeom>
            <a:rect b="b" l="l" r="r" t="t"/>
            <a:pathLst>
              <a:path extrusionOk="0" h="11859" w="62362">
                <a:moveTo>
                  <a:pt x="0" y="3198"/>
                </a:moveTo>
                <a:cubicBezTo>
                  <a:pt x="4797" y="4619"/>
                  <a:pt x="18388" y="12259"/>
                  <a:pt x="28782" y="11726"/>
                </a:cubicBezTo>
                <a:cubicBezTo>
                  <a:pt x="39176" y="11193"/>
                  <a:pt x="56765" y="1954"/>
                  <a:pt x="62362" y="0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 txBox="1"/>
          <p:nvPr/>
        </p:nvSpPr>
        <p:spPr>
          <a:xfrm>
            <a:off x="5810150" y="3357300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x 6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8"/>
          <p:cNvSpPr txBox="1"/>
          <p:nvPr/>
        </p:nvSpPr>
        <p:spPr>
          <a:xfrm>
            <a:off x="5810150" y="2772300"/>
            <a:ext cx="58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r>
              <a:rPr b="0" i="0" lang="es" sz="20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x 6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76" name="Google Shape;276;p8"/>
          <p:cNvCxnSpPr/>
          <p:nvPr/>
        </p:nvCxnSpPr>
        <p:spPr>
          <a:xfrm>
            <a:off x="5255925" y="3368825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7" name="Google Shape;277;p8"/>
          <p:cNvCxnSpPr/>
          <p:nvPr/>
        </p:nvCxnSpPr>
        <p:spPr>
          <a:xfrm>
            <a:off x="6830375" y="3368825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8" name="Google Shape;278;p8"/>
          <p:cNvCxnSpPr/>
          <p:nvPr/>
        </p:nvCxnSpPr>
        <p:spPr>
          <a:xfrm>
            <a:off x="3508650" y="3368825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9" name="Google Shape;279;p8"/>
          <p:cNvCxnSpPr/>
          <p:nvPr/>
        </p:nvCxnSpPr>
        <p:spPr>
          <a:xfrm>
            <a:off x="1848850" y="3292625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8"/>
          <p:cNvSpPr/>
          <p:nvPr/>
        </p:nvSpPr>
        <p:spPr>
          <a:xfrm rot="5402763">
            <a:off x="4286757" y="3401760"/>
            <a:ext cx="373200" cy="852900"/>
          </a:xfrm>
          <a:prstGeom prst="chevron">
            <a:avLst>
              <a:gd fmla="val 50000" name="adj"/>
            </a:avLst>
          </a:prstGeom>
          <a:solidFill>
            <a:srgbClr val="14BEB1"/>
          </a:solidFill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8"/>
          <p:cNvSpPr txBox="1"/>
          <p:nvPr/>
        </p:nvSpPr>
        <p:spPr>
          <a:xfrm>
            <a:off x="1270025" y="4012350"/>
            <a:ext cx="76311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Ahora comparamos  42       25               Por lo tanto:    7         5  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s" sz="22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                               60       60					       10        12</a:t>
            </a:r>
            <a:endParaRPr b="0" i="0" sz="22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282" name="Google Shape;282;p8"/>
          <p:cNvCxnSpPr/>
          <p:nvPr/>
        </p:nvCxnSpPr>
        <p:spPr>
          <a:xfrm>
            <a:off x="3304725" y="4439288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3" name="Google Shape;283;p8"/>
          <p:cNvCxnSpPr/>
          <p:nvPr/>
        </p:nvCxnSpPr>
        <p:spPr>
          <a:xfrm>
            <a:off x="4039700" y="4443288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4" name="Google Shape;284;p8"/>
          <p:cNvCxnSpPr/>
          <p:nvPr/>
        </p:nvCxnSpPr>
        <p:spPr>
          <a:xfrm>
            <a:off x="6691375" y="4439275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5" name="Google Shape;285;p8"/>
          <p:cNvCxnSpPr/>
          <p:nvPr/>
        </p:nvCxnSpPr>
        <p:spPr>
          <a:xfrm>
            <a:off x="7445475" y="4443288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6" name="Google Shape;286;p8"/>
          <p:cNvSpPr txBox="1"/>
          <p:nvPr/>
        </p:nvSpPr>
        <p:spPr>
          <a:xfrm flipH="1">
            <a:off x="3682900" y="4078525"/>
            <a:ext cx="65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009287"/>
                </a:solidFill>
                <a:latin typeface="Patrick Hand"/>
                <a:ea typeface="Patrick Hand"/>
                <a:cs typeface="Patrick Hand"/>
                <a:sym typeface="Patrick Hand"/>
              </a:rPr>
              <a:t>&gt;</a:t>
            </a:r>
            <a:endParaRPr b="1" i="0" sz="1600" u="none" cap="none" strike="noStrike">
              <a:solidFill>
                <a:srgbClr val="0092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 txBox="1"/>
          <p:nvPr/>
        </p:nvSpPr>
        <p:spPr>
          <a:xfrm flipH="1">
            <a:off x="7086775" y="4078525"/>
            <a:ext cx="656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s" sz="2400" u="none" cap="none" strike="noStrike">
                <a:solidFill>
                  <a:srgbClr val="009287"/>
                </a:solidFill>
                <a:latin typeface="Patrick Hand"/>
                <a:ea typeface="Patrick Hand"/>
                <a:cs typeface="Patrick Hand"/>
                <a:sym typeface="Patrick Hand"/>
              </a:rPr>
              <a:t>&gt;</a:t>
            </a:r>
            <a:endParaRPr b="1" i="0" sz="1600" u="none" cap="none" strike="noStrike">
              <a:solidFill>
                <a:srgbClr val="00928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5485149" y="2840350"/>
            <a:ext cx="1455903" cy="223674"/>
          </a:xfrm>
          <a:custGeom>
            <a:rect b="b" l="l" r="r" t="t"/>
            <a:pathLst>
              <a:path extrusionOk="0" h="8017" w="70890">
                <a:moveTo>
                  <a:pt x="0" y="7484"/>
                </a:moveTo>
                <a:cubicBezTo>
                  <a:pt x="5685" y="6240"/>
                  <a:pt x="22297" y="-67"/>
                  <a:pt x="34112" y="22"/>
                </a:cubicBezTo>
                <a:cubicBezTo>
                  <a:pt x="45927" y="111"/>
                  <a:pt x="64760" y="6685"/>
                  <a:pt x="70890" y="8017"/>
                </a:cubicBezTo>
              </a:path>
            </a:pathLst>
          </a:custGeom>
          <a:noFill/>
          <a:ln cap="flat" cmpd="sng" w="19050">
            <a:solidFill>
              <a:srgbClr val="00928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89" name="Google Shape;289;p8"/>
          <p:cNvCxnSpPr/>
          <p:nvPr/>
        </p:nvCxnSpPr>
        <p:spPr>
          <a:xfrm>
            <a:off x="3924375" y="900375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0" name="Google Shape;290;p8"/>
          <p:cNvCxnSpPr/>
          <p:nvPr/>
        </p:nvCxnSpPr>
        <p:spPr>
          <a:xfrm>
            <a:off x="4834675" y="900375"/>
            <a:ext cx="3597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91" name="Google Shape;291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92831" y="406875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298" name="Google Shape;298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9"/>
          <p:cNvSpPr txBox="1"/>
          <p:nvPr/>
        </p:nvSpPr>
        <p:spPr>
          <a:xfrm>
            <a:off x="59250" y="273850"/>
            <a:ext cx="8221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Ejercicios.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9"/>
          <p:cNvSpPr txBox="1"/>
          <p:nvPr/>
        </p:nvSpPr>
        <p:spPr>
          <a:xfrm>
            <a:off x="76200" y="767050"/>
            <a:ext cx="80352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Abre tu cuaderno  y ordena las siguientes fracciones de mayor a menor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.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3       5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12      8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6        8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14      10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01" name="Google Shape;301;p9"/>
          <p:cNvSpPr txBox="1"/>
          <p:nvPr/>
        </p:nvSpPr>
        <p:spPr>
          <a:xfrm>
            <a:off x="4976100" y="1268050"/>
            <a:ext cx="30000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12       9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15      10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10        7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16        20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2" name="Google Shape;302;p9"/>
          <p:cNvCxnSpPr/>
          <p:nvPr/>
        </p:nvCxnSpPr>
        <p:spPr>
          <a:xfrm>
            <a:off x="639600" y="1625675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9"/>
          <p:cNvCxnSpPr/>
          <p:nvPr/>
        </p:nvCxnSpPr>
        <p:spPr>
          <a:xfrm>
            <a:off x="1271725" y="1625675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9"/>
          <p:cNvCxnSpPr/>
          <p:nvPr/>
        </p:nvCxnSpPr>
        <p:spPr>
          <a:xfrm>
            <a:off x="531325" y="2836575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9"/>
          <p:cNvCxnSpPr/>
          <p:nvPr/>
        </p:nvCxnSpPr>
        <p:spPr>
          <a:xfrm>
            <a:off x="1271725" y="2836575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9"/>
          <p:cNvCxnSpPr/>
          <p:nvPr/>
        </p:nvCxnSpPr>
        <p:spPr>
          <a:xfrm>
            <a:off x="5499900" y="1768900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9"/>
          <p:cNvCxnSpPr/>
          <p:nvPr/>
        </p:nvCxnSpPr>
        <p:spPr>
          <a:xfrm>
            <a:off x="6302850" y="1768900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9"/>
          <p:cNvCxnSpPr/>
          <p:nvPr/>
        </p:nvCxnSpPr>
        <p:spPr>
          <a:xfrm>
            <a:off x="5499900" y="2926500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9"/>
          <p:cNvCxnSpPr/>
          <p:nvPr/>
        </p:nvCxnSpPr>
        <p:spPr>
          <a:xfrm>
            <a:off x="6356875" y="2926500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0" name="Google Shape;310;p9"/>
          <p:cNvSpPr txBox="1"/>
          <p:nvPr/>
        </p:nvSpPr>
        <p:spPr>
          <a:xfrm>
            <a:off x="2296963" y="1276300"/>
            <a:ext cx="2000400" cy="985200"/>
          </a:xfrm>
          <a:prstGeom prst="rect">
            <a:avLst/>
          </a:prstGeom>
          <a:solidFill>
            <a:srgbClr val="00928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6        15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24      24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11" name="Google Shape;311;p9"/>
          <p:cNvSpPr txBox="1"/>
          <p:nvPr/>
        </p:nvSpPr>
        <p:spPr>
          <a:xfrm>
            <a:off x="3073538" y="1333175"/>
            <a:ext cx="58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 txBox="1"/>
          <p:nvPr/>
        </p:nvSpPr>
        <p:spPr>
          <a:xfrm>
            <a:off x="2296950" y="2392500"/>
            <a:ext cx="2000400" cy="985200"/>
          </a:xfrm>
          <a:prstGeom prst="rect">
            <a:avLst/>
          </a:prstGeom>
          <a:solidFill>
            <a:srgbClr val="00928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30       56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70      70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13" name="Google Shape;313;p9"/>
          <p:cNvSpPr txBox="1"/>
          <p:nvPr/>
        </p:nvSpPr>
        <p:spPr>
          <a:xfrm>
            <a:off x="3212613" y="2471625"/>
            <a:ext cx="58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9"/>
          <p:cNvSpPr txBox="1"/>
          <p:nvPr/>
        </p:nvSpPr>
        <p:spPr>
          <a:xfrm>
            <a:off x="7048913" y="1333175"/>
            <a:ext cx="2000400" cy="985200"/>
          </a:xfrm>
          <a:prstGeom prst="rect">
            <a:avLst/>
          </a:prstGeom>
          <a:solidFill>
            <a:srgbClr val="00928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24       27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30      30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15" name="Google Shape;315;p9"/>
          <p:cNvSpPr txBox="1"/>
          <p:nvPr/>
        </p:nvSpPr>
        <p:spPr>
          <a:xfrm>
            <a:off x="7934838" y="1369225"/>
            <a:ext cx="58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7048938" y="2383500"/>
            <a:ext cx="2000400" cy="985200"/>
          </a:xfrm>
          <a:prstGeom prst="rect">
            <a:avLst/>
          </a:prstGeom>
          <a:solidFill>
            <a:srgbClr val="00928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50      28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80      80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17" name="Google Shape;317;p9"/>
          <p:cNvSpPr txBox="1"/>
          <p:nvPr/>
        </p:nvSpPr>
        <p:spPr>
          <a:xfrm>
            <a:off x="7934838" y="2544075"/>
            <a:ext cx="58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8" name="Google Shape;318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045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p10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pic>
        <p:nvPicPr>
          <p:cNvPr descr="Forma&#10;&#10;Descripción generada automáticamente con confianza media" id="325" name="Google Shape;325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10"/>
          <p:cNvSpPr txBox="1"/>
          <p:nvPr/>
        </p:nvSpPr>
        <p:spPr>
          <a:xfrm>
            <a:off x="59250" y="273850"/>
            <a:ext cx="8221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Ejercicios.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0"/>
          <p:cNvSpPr txBox="1"/>
          <p:nvPr/>
        </p:nvSpPr>
        <p:spPr>
          <a:xfrm>
            <a:off x="76200" y="767050"/>
            <a:ext cx="80352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" sz="23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Abre tu cuaderno  y ordena las siguientes fracciones de mayor a menor</a:t>
            </a: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.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 3       1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11      4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11       2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13      3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28" name="Google Shape;328;p10"/>
          <p:cNvSpPr txBox="1"/>
          <p:nvPr/>
        </p:nvSpPr>
        <p:spPr>
          <a:xfrm>
            <a:off x="4976100" y="1268050"/>
            <a:ext cx="3000000" cy="21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8         3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18      12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t/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1        11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2        17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9" name="Google Shape;329;p10"/>
          <p:cNvCxnSpPr/>
          <p:nvPr/>
        </p:nvCxnSpPr>
        <p:spPr>
          <a:xfrm>
            <a:off x="639600" y="1625675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10"/>
          <p:cNvCxnSpPr/>
          <p:nvPr/>
        </p:nvCxnSpPr>
        <p:spPr>
          <a:xfrm>
            <a:off x="1271725" y="1625675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10"/>
          <p:cNvCxnSpPr/>
          <p:nvPr/>
        </p:nvCxnSpPr>
        <p:spPr>
          <a:xfrm>
            <a:off x="531325" y="2836575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10"/>
          <p:cNvCxnSpPr/>
          <p:nvPr/>
        </p:nvCxnSpPr>
        <p:spPr>
          <a:xfrm>
            <a:off x="1271725" y="2836575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10"/>
          <p:cNvCxnSpPr/>
          <p:nvPr/>
        </p:nvCxnSpPr>
        <p:spPr>
          <a:xfrm>
            <a:off x="5499900" y="1768900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10"/>
          <p:cNvCxnSpPr/>
          <p:nvPr/>
        </p:nvCxnSpPr>
        <p:spPr>
          <a:xfrm>
            <a:off x="6302850" y="1768900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5" name="Google Shape;335;p10"/>
          <p:cNvCxnSpPr/>
          <p:nvPr/>
        </p:nvCxnSpPr>
        <p:spPr>
          <a:xfrm>
            <a:off x="5499900" y="2926500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6" name="Google Shape;336;p10"/>
          <p:cNvCxnSpPr/>
          <p:nvPr/>
        </p:nvCxnSpPr>
        <p:spPr>
          <a:xfrm>
            <a:off x="6356875" y="2926500"/>
            <a:ext cx="346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10"/>
          <p:cNvSpPr txBox="1"/>
          <p:nvPr/>
        </p:nvSpPr>
        <p:spPr>
          <a:xfrm>
            <a:off x="2296963" y="1276300"/>
            <a:ext cx="2000400" cy="985200"/>
          </a:xfrm>
          <a:prstGeom prst="rect">
            <a:avLst/>
          </a:prstGeom>
          <a:solidFill>
            <a:srgbClr val="00928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12     11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44     44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8" name="Google Shape;338;p10"/>
          <p:cNvSpPr txBox="1"/>
          <p:nvPr/>
        </p:nvSpPr>
        <p:spPr>
          <a:xfrm>
            <a:off x="2296950" y="2392500"/>
            <a:ext cx="2000400" cy="985200"/>
          </a:xfrm>
          <a:prstGeom prst="rect">
            <a:avLst/>
          </a:prstGeom>
          <a:solidFill>
            <a:srgbClr val="00928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33      26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39      39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39" name="Google Shape;339;p10"/>
          <p:cNvSpPr txBox="1"/>
          <p:nvPr/>
        </p:nvSpPr>
        <p:spPr>
          <a:xfrm>
            <a:off x="7048913" y="1333175"/>
            <a:ext cx="2000400" cy="985200"/>
          </a:xfrm>
          <a:prstGeom prst="rect">
            <a:avLst/>
          </a:prstGeom>
          <a:solidFill>
            <a:srgbClr val="00928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24       12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36      36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7048938" y="2383500"/>
            <a:ext cx="2000400" cy="985200"/>
          </a:xfrm>
          <a:prstGeom prst="rect">
            <a:avLst/>
          </a:prstGeom>
          <a:solidFill>
            <a:srgbClr val="009287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Patrick Hand"/>
              <a:buChar char="●"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17      22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34      34</a:t>
            </a:r>
            <a:endParaRPr b="0" i="0" sz="26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41" name="Google Shape;341;p10"/>
          <p:cNvSpPr txBox="1"/>
          <p:nvPr/>
        </p:nvSpPr>
        <p:spPr>
          <a:xfrm>
            <a:off x="7934838" y="2544075"/>
            <a:ext cx="58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&lt;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0"/>
          <p:cNvSpPr txBox="1"/>
          <p:nvPr/>
        </p:nvSpPr>
        <p:spPr>
          <a:xfrm>
            <a:off x="3153488" y="2450800"/>
            <a:ext cx="58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10"/>
          <p:cNvSpPr txBox="1"/>
          <p:nvPr/>
        </p:nvSpPr>
        <p:spPr>
          <a:xfrm>
            <a:off x="3079363" y="1476400"/>
            <a:ext cx="58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10"/>
          <p:cNvSpPr txBox="1"/>
          <p:nvPr/>
        </p:nvSpPr>
        <p:spPr>
          <a:xfrm>
            <a:off x="7934838" y="1408963"/>
            <a:ext cx="580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s" sz="26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&gt;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80756" y="39045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50" name="Google Shape;350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11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¡Resumen de hoy!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1844744" y="1220127"/>
            <a:ext cx="5454600" cy="2722500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division" id="353" name="Google Shape;353;p11" title="Resumen - Fracciones (4 a 5) - Comparar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13975" y="1044875"/>
            <a:ext cx="6516150" cy="366535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54" name="Google Shape;354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80756" y="39045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2"/>
          <p:cNvSpPr txBox="1"/>
          <p:nvPr/>
        </p:nvSpPr>
        <p:spPr>
          <a:xfrm>
            <a:off x="785234" y="366599"/>
            <a:ext cx="7573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¡Ahora es tu turno!</a:t>
            </a:r>
            <a:endParaRPr b="0" i="0" sz="32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2"/>
          <p:cNvSpPr txBox="1"/>
          <p:nvPr/>
        </p:nvSpPr>
        <p:spPr>
          <a:xfrm>
            <a:off x="876800" y="3440532"/>
            <a:ext cx="45720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RESPONDER ACÁ: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s" sz="14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https://forms.gle/iANwoeMjoFSUNMe96</a:t>
            </a:r>
            <a:r>
              <a:rPr b="1" i="0" lang="e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2"/>
          <p:cNvSpPr txBox="1"/>
          <p:nvPr/>
        </p:nvSpPr>
        <p:spPr>
          <a:xfrm>
            <a:off x="845750" y="1055950"/>
            <a:ext cx="745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1) ¿Cuál es el mcm entre 5, 9 y 15?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2"/>
          <p:cNvSpPr txBox="1"/>
          <p:nvPr/>
        </p:nvSpPr>
        <p:spPr>
          <a:xfrm>
            <a:off x="1397425" y="1622000"/>
            <a:ext cx="6349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2) ¿Qué fracción es más grande?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sp>
        <p:nvSpPr>
          <p:cNvPr id="363" name="Google Shape;363;p12"/>
          <p:cNvSpPr txBox="1"/>
          <p:nvPr/>
        </p:nvSpPr>
        <p:spPr>
          <a:xfrm>
            <a:off x="3992364" y="2110050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4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30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64" name="Google Shape;364;p12"/>
          <p:cNvCxnSpPr/>
          <p:nvPr/>
        </p:nvCxnSpPr>
        <p:spPr>
          <a:xfrm>
            <a:off x="4040963" y="2569050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5" name="Google Shape;365;p12"/>
          <p:cNvSpPr txBox="1"/>
          <p:nvPr/>
        </p:nvSpPr>
        <p:spPr>
          <a:xfrm>
            <a:off x="4571964" y="2110050"/>
            <a:ext cx="579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" sz="2400" u="none" cap="none" strike="noStrike">
                <a:solidFill>
                  <a:schemeClr val="dk1"/>
                </a:solidFill>
                <a:latin typeface="Patrick Hand"/>
                <a:ea typeface="Patrick Hand"/>
                <a:cs typeface="Patrick Hand"/>
                <a:sym typeface="Patrick Hand"/>
              </a:rPr>
              <a:t>10</a:t>
            </a:r>
            <a:endParaRPr b="0" i="0" sz="2400" u="none" cap="none" strike="noStrike">
              <a:solidFill>
                <a:schemeClr val="dk1"/>
              </a:solidFill>
              <a:latin typeface="Patrick Hand"/>
              <a:ea typeface="Patrick Hand"/>
              <a:cs typeface="Patrick Hand"/>
              <a:sym typeface="Patrick Hand"/>
            </a:endParaRPr>
          </a:p>
        </p:txBody>
      </p:sp>
      <p:cxnSp>
        <p:nvCxnSpPr>
          <p:cNvPr id="366" name="Google Shape;366;p12"/>
          <p:cNvCxnSpPr/>
          <p:nvPr/>
        </p:nvCxnSpPr>
        <p:spPr>
          <a:xfrm>
            <a:off x="4620563" y="2569050"/>
            <a:ext cx="482400" cy="540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367" name="Google Shape;367;p12"/>
          <p:cNvPicPr preferRelativeResize="0"/>
          <p:nvPr/>
        </p:nvPicPr>
        <p:blipFill rotWithShape="1">
          <a:blip r:embed="rId4">
            <a:alphaModFix/>
          </a:blip>
          <a:srcRect b="7926" l="7926" r="7926" t="7926"/>
          <a:stretch/>
        </p:blipFill>
        <p:spPr>
          <a:xfrm>
            <a:off x="5566900" y="2574450"/>
            <a:ext cx="2120650" cy="2120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80756" y="39045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rma&#10;&#10;Descripción generada automáticamente con confianza media" id="373" name="Google Shape;373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" y="9575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13"/>
          <p:cNvSpPr txBox="1"/>
          <p:nvPr/>
        </p:nvSpPr>
        <p:spPr>
          <a:xfrm>
            <a:off x="1393045" y="367771"/>
            <a:ext cx="63579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s" sz="3200" u="none" cap="none" strike="noStrike">
                <a:solidFill>
                  <a:schemeClr val="lt1"/>
                </a:solidFill>
                <a:highlight>
                  <a:srgbClr val="009287"/>
                </a:highlight>
                <a:latin typeface="Patrick Hand"/>
                <a:ea typeface="Patrick Hand"/>
                <a:cs typeface="Patrick Hand"/>
                <a:sym typeface="Patrick Hand"/>
              </a:rPr>
              <a:t>¡Reforcemos lo aprendido!</a:t>
            </a:r>
            <a:endParaRPr b="0" i="0" sz="1400" u="none" cap="none" strike="noStrike">
              <a:solidFill>
                <a:schemeClr val="lt1"/>
              </a:solidFill>
              <a:highlight>
                <a:srgbClr val="009287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3"/>
          <p:cNvSpPr/>
          <p:nvPr/>
        </p:nvSpPr>
        <p:spPr>
          <a:xfrm>
            <a:off x="1844744" y="1220127"/>
            <a:ext cx="5454600" cy="2722500"/>
          </a:xfrm>
          <a:prstGeom prst="rect">
            <a:avLst/>
          </a:prstGeom>
          <a:solidFill>
            <a:srgbClr val="F5C57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¿Te gustaría ser Tutor o inscribirte como Estudiante de Conectado Aprendo? &#10;¡Regístrate en nuestro sitio web! https://www.conectadoaprendo.cl/&#10;&#10;¡Síguenos en nuestras redes sociales!&#10;https://www.instagram.com/conectado_aprendo&#10;https://www.linkedin.com/in/fundacion-conectado-aprendo-535bb4241&#10;https://www.instagram.com/clubdegoceporlalectura_ca/&#10;&#10;Consultas generales (mail):&#10;contacto@conectadoaprendo.cl&#10;&#10;Profesor y producción:&#10;https://www.youtube.com/@psudiego&#10;&#10;#tutorias #mineduc #division" id="376" name="Google Shape;376;p13" title="Reforzamiento - Fracciones (4 a 5) - Comparar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95400" y="1044864"/>
            <a:ext cx="6553200" cy="3686175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77" name="Google Shape;37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280756" y="3904500"/>
            <a:ext cx="690319" cy="728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