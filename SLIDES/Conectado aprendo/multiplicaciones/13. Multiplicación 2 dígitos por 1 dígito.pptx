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embeddedFontLst>
    <p:embeddedFont>
      <p:font typeface="Patrick Hand"/>
      <p:regular r:id="rId23"/>
    </p:embeddedFont>
    <p:embeddedFont>
      <p:font typeface="Poppins"/>
      <p:regular r:id="rId24"/>
      <p:bold r:id="rId25"/>
      <p:italic r:id="rId26"/>
      <p:boldItalic r:id="rId27"/>
    </p:embeddedFont>
    <p:embeddedFont>
      <p:font typeface="Poppins Light"/>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ii4L4dQilyAnAIw3LBFpIcO6/l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oppins-regular.fntdata"/><Relationship Id="rId23" Type="http://schemas.openxmlformats.org/officeDocument/2006/relationships/font" Target="fonts/PatrickHand-regular.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italic.fntdata"/><Relationship Id="rId25" Type="http://schemas.openxmlformats.org/officeDocument/2006/relationships/font" Target="fonts/Poppins-bold.fntdata"/><Relationship Id="rId28" Type="http://schemas.openxmlformats.org/officeDocument/2006/relationships/font" Target="fonts/PoppinsLight-regular.fntdata"/><Relationship Id="rId27" Type="http://schemas.openxmlformats.org/officeDocument/2006/relationships/font" Target="fonts/Poppins-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Ligh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Light-boldItalic.fntdata"/><Relationship Id="rId30" Type="http://schemas.openxmlformats.org/officeDocument/2006/relationships/font" Target="fonts/PoppinsLight-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0cfa8ceb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0cfa8ce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30cfa8ceb4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30cfa8ceb4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30e82fe3c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30e82fe3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30e82fe3ce_0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30e82fe3ce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1a1c04b9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31a1c04b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37f15b63d7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237f15b63d7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5c689ae274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25c689ae274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5d269e0e38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g25d269e0e38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37f15b63d7_0_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g237f15b63d7_0_1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5d269e0e38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25d269e0e38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37f15b63d7_0_1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g237f15b63d7_0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37f1d0694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g237f1d0694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b52212cac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g2b52212cac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65bff4437b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es-ES"/>
              <a:t>Estimar y varias preugntas de si la descomposción está bien </a:t>
            </a:r>
            <a:endParaRPr/>
          </a:p>
        </p:txBody>
      </p:sp>
      <p:sp>
        <p:nvSpPr>
          <p:cNvPr id="362" name="Google Shape;362;g265bff4437b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b52212cacd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g2b52212cacd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65bff4437b_0_6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65bff4437b_0_6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65bff4437b_0_67"/>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65bff4437b_0_67"/>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65bff4437b_0_67"/>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65bff4437b_0_73"/>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65bff4437b_0_73"/>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65bff4437b_0_7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65bff4437b_0_77"/>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65bff4437b_0_7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65bff4437b_0_8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65bff4437b_0_80"/>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65bff4437b_0_80"/>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65bff4437b_0_8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65bff4437b_0_8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65bff4437b_0_8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65bff4437b_0_88"/>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65bff4437b_0_88"/>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65bff4437b_0_8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65bff4437b_0_92"/>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65bff4437b_0_9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65bff4437b_0_95"/>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65bff4437b_0_95"/>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65bff4437b_0_95"/>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65bff4437b_0_95"/>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65bff4437b_0_9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65bff4437b_0_101"/>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65bff4437b_0_10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65bff4437b_0_104"/>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65bff4437b_0_104"/>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65bff4437b_0_10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65bff4437b_0_10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2.xml"/><Relationship Id="rId12" Type="http://schemas.openxmlformats.org/officeDocument/2006/relationships/slideLayout" Target="../slideLayouts/slideLayout22.xml"/><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65bff4437b_0_6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65bff4437b_0_63"/>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65bff4437b_0_6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jp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jp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jp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jp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0.jpg"/><Relationship Id="rId4" Type="http://schemas.openxmlformats.org/officeDocument/2006/relationships/hyperlink" Target="http://www.youtube.com/watch?v=zs50XLGJcrg" TargetMode="External"/><Relationship Id="rId5" Type="http://schemas.openxmlformats.org/officeDocument/2006/relationships/image" Target="../media/image9.jpg"/><Relationship Id="rId6"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hyperlink" Target="https://forms.gle/WXVddX4ioz2dszsC7" TargetMode="External"/><Relationship Id="rId4" Type="http://schemas.openxmlformats.org/officeDocument/2006/relationships/image" Target="../media/image8.png"/><Relationship Id="rId5"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0.jpg"/><Relationship Id="rId4" Type="http://schemas.openxmlformats.org/officeDocument/2006/relationships/hyperlink" Target="http://www.youtube.com/watch?v=3C4BnRloxto" TargetMode="External"/><Relationship Id="rId5" Type="http://schemas.openxmlformats.org/officeDocument/2006/relationships/image" Target="../media/image7.jpg"/><Relationship Id="rId6"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132" name="Google Shape;132;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descr="Imagen que contiene Escala de tiempo&#10;&#10;Descripción generada automáticamente" id="133" name="Google Shape;133;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4" name="Google Shape;134;p1"/>
          <p:cNvPicPr preferRelativeResize="0"/>
          <p:nvPr/>
        </p:nvPicPr>
        <p:blipFill>
          <a:blip r:embed="rId4">
            <a:alphaModFix/>
          </a:blip>
          <a:stretch>
            <a:fillRect/>
          </a:stretch>
        </p:blipFill>
        <p:spPr>
          <a:xfrm>
            <a:off x="11081375" y="5625562"/>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40" name="Google Shape;140;p2"/>
          <p:cNvPicPr preferRelativeResize="0"/>
          <p:nvPr/>
        </p:nvPicPr>
        <p:blipFill>
          <a:blip r:embed="rId4">
            <a:alphaModFix/>
          </a:blip>
          <a:stretch>
            <a:fillRect/>
          </a:stretch>
        </p:blipFill>
        <p:spPr>
          <a:xfrm>
            <a:off x="11081375" y="528798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30cfa8ceb4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700">
                <a:solidFill>
                  <a:srgbClr val="3259A4"/>
                </a:solidFill>
                <a:latin typeface="Poppins"/>
                <a:ea typeface="Poppins"/>
                <a:cs typeface="Poppins"/>
                <a:sym typeface="Poppins"/>
              </a:rPr>
              <a:t>Sesión 13: Multiplicaci</a:t>
            </a:r>
            <a:r>
              <a:rPr b="1" lang="es-ES" sz="1700">
                <a:solidFill>
                  <a:srgbClr val="3259A4"/>
                </a:solidFill>
                <a:latin typeface="Poppins"/>
                <a:ea typeface="Poppins"/>
                <a:cs typeface="Poppins"/>
                <a:sym typeface="Poppins"/>
              </a:rPr>
              <a:t>ón 2 </a:t>
            </a:r>
            <a:r>
              <a:rPr b="1" lang="es-ES" sz="1700">
                <a:solidFill>
                  <a:srgbClr val="3259A4"/>
                </a:solidFill>
                <a:latin typeface="Poppins"/>
                <a:ea typeface="Poppins"/>
                <a:cs typeface="Poppins"/>
                <a:sym typeface="Poppins"/>
              </a:rPr>
              <a:t>dígitos</a:t>
            </a:r>
            <a:r>
              <a:rPr b="1" lang="es-ES" sz="1700">
                <a:solidFill>
                  <a:srgbClr val="3259A4"/>
                </a:solidFill>
                <a:latin typeface="Poppins"/>
                <a:ea typeface="Poppins"/>
                <a:cs typeface="Poppins"/>
                <a:sym typeface="Poppins"/>
              </a:rPr>
              <a:t> por 1 </a:t>
            </a:r>
            <a:r>
              <a:rPr b="1" lang="es-ES" sz="1700">
                <a:solidFill>
                  <a:srgbClr val="3259A4"/>
                </a:solidFill>
                <a:latin typeface="Poppins"/>
                <a:ea typeface="Poppins"/>
                <a:cs typeface="Poppins"/>
                <a:sym typeface="Poppins"/>
              </a:rPr>
              <a:t>dígito</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sz="1800">
                <a:solidFill>
                  <a:schemeClr val="dk1"/>
                </a:solidFill>
                <a:latin typeface="Poppins Light"/>
                <a:ea typeface="Poppins Light"/>
                <a:cs typeface="Poppins Light"/>
                <a:sym typeface="Poppins Light"/>
              </a:rPr>
              <a:t> </a:t>
            </a:r>
            <a:r>
              <a:rPr lang="es-ES" sz="1350">
                <a:solidFill>
                  <a:schemeClr val="dk1"/>
                </a:solidFill>
                <a:latin typeface="Poppins"/>
                <a:ea typeface="Poppins"/>
                <a:cs typeface="Poppins"/>
                <a:sym typeface="Poppins"/>
              </a:rPr>
              <a:t>Desarrollar la habilidad para multiplicar números de dos dígitos por uno de un dígito, comprendiendo el procedimiento tanto sin como con reagrupación.</a:t>
            </a:r>
            <a:endParaRPr sz="1350">
              <a:solidFill>
                <a:schemeClr val="dk1"/>
              </a:solidFill>
              <a:latin typeface="Poppins"/>
              <a:ea typeface="Poppins"/>
              <a:cs typeface="Poppins"/>
              <a:sym typeface="Poppins"/>
            </a:endParaRPr>
          </a:p>
          <a:p>
            <a:pPr indent="0" lvl="0" marL="0" rtl="0" algn="ctr">
              <a:spcBef>
                <a:spcPts val="0"/>
              </a:spcBef>
              <a:spcAft>
                <a:spcPts val="0"/>
              </a:spcAft>
              <a:buNone/>
            </a:pPr>
            <a:r>
              <a:t/>
            </a:r>
            <a:endParaRPr sz="145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6" name="Google Shape;146;g330cfa8ceb4_0_0"/>
          <p:cNvSpPr txBox="1"/>
          <p:nvPr/>
        </p:nvSpPr>
        <p:spPr>
          <a:xfrm>
            <a:off x="1148550" y="2902000"/>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650">
                <a:solidFill>
                  <a:schemeClr val="dk1"/>
                </a:solidFill>
                <a:latin typeface="Poppins"/>
                <a:ea typeface="Poppins"/>
                <a:cs typeface="Poppins"/>
                <a:sym typeface="Poppins"/>
              </a:rPr>
              <a:t>1. Multiplicar números de 2 dígitos por 1</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650">
                <a:solidFill>
                  <a:schemeClr val="dk1"/>
                </a:solidFill>
                <a:latin typeface="Poppins"/>
                <a:ea typeface="Poppins"/>
                <a:cs typeface="Poppins"/>
                <a:sym typeface="Poppins"/>
              </a:rPr>
              <a:t>dígito sin reagrupar.</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650">
                <a:solidFill>
                  <a:schemeClr val="dk1"/>
                </a:solidFill>
                <a:latin typeface="Poppins"/>
                <a:ea typeface="Poppins"/>
                <a:cs typeface="Poppins"/>
                <a:sym typeface="Poppins"/>
              </a:rPr>
              <a:t>2. Multiplicar números de 2 dígitos por 1</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650">
                <a:solidFill>
                  <a:schemeClr val="dk1"/>
                </a:solidFill>
                <a:latin typeface="Poppins"/>
                <a:ea typeface="Poppins"/>
                <a:cs typeface="Poppins"/>
                <a:sym typeface="Poppins"/>
              </a:rPr>
              <a:t>dígito con reagrupar.</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7" name="Google Shape;147;g330cfa8ceb4_0_0"/>
          <p:cNvSpPr txBox="1"/>
          <p:nvPr/>
        </p:nvSpPr>
        <p:spPr>
          <a:xfrm>
            <a:off x="6346950" y="2900925"/>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650">
                <a:solidFill>
                  <a:schemeClr val="dk1"/>
                </a:solidFill>
                <a:latin typeface="Poppins"/>
                <a:ea typeface="Poppins"/>
                <a:cs typeface="Poppins"/>
                <a:sym typeface="Poppins"/>
              </a:rPr>
              <a:t>1. Producto de dos dígitos por un dígito.</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650">
                <a:solidFill>
                  <a:schemeClr val="dk1"/>
                </a:solidFill>
                <a:latin typeface="Poppins"/>
                <a:ea typeface="Poppins"/>
                <a:cs typeface="Poppins"/>
                <a:sym typeface="Poppins"/>
              </a:rPr>
              <a:t>2. Reagrupación en la multiplicación.</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8" name="Google Shape;148;g330cfa8ceb4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49" name="Google Shape;149;g330cfa8ceb4_0_0"/>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0" name="Google Shape;150;g330cfa8ceb4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51" name="Google Shape;151;g330cfa8ceb4_0_0"/>
          <p:cNvPicPr preferRelativeResize="0"/>
          <p:nvPr/>
        </p:nvPicPr>
        <p:blipFill>
          <a:blip r:embed="rId3">
            <a:alphaModFix/>
          </a:blip>
          <a:stretch>
            <a:fillRect/>
          </a:stretch>
        </p:blipFill>
        <p:spPr>
          <a:xfrm>
            <a:off x="11045850" y="27773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30cfa8ceb4_0_85"/>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57" name="Google Shape;157;g330cfa8ceb4_0_85"/>
          <p:cNvSpPr txBox="1"/>
          <p:nvPr/>
        </p:nvSpPr>
        <p:spPr>
          <a:xfrm>
            <a:off x="786350" y="2131575"/>
            <a:ext cx="10764900" cy="4293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100"/>
              <a:buFont typeface="Arial"/>
              <a:buNone/>
            </a:pPr>
            <a:r>
              <a:rPr lang="es-ES" sz="1550">
                <a:solidFill>
                  <a:schemeClr val="dk1"/>
                </a:solidFill>
                <a:latin typeface="Poppins"/>
                <a:ea typeface="Poppins"/>
                <a:cs typeface="Poppins"/>
                <a:sym typeface="Poppins"/>
              </a:rPr>
              <a:t>En esta sesión guiarás a tu estudiante en la multiplicación de números de dos dígitos por uno</a:t>
            </a:r>
            <a:endParaRPr sz="1550">
              <a:solidFill>
                <a:schemeClr val="dk1"/>
              </a:solidFill>
              <a:latin typeface="Poppins"/>
              <a:ea typeface="Poppins"/>
              <a:cs typeface="Poppins"/>
              <a:sym typeface="Poppins"/>
            </a:endParaRPr>
          </a:p>
          <a:p>
            <a:pPr indent="0" lvl="0" marL="0" rtl="0" algn="just">
              <a:lnSpc>
                <a:spcPct val="115000"/>
              </a:lnSpc>
              <a:spcBef>
                <a:spcPts val="0"/>
              </a:spcBef>
              <a:spcAft>
                <a:spcPts val="0"/>
              </a:spcAft>
              <a:buClr>
                <a:schemeClr val="dk1"/>
              </a:buClr>
              <a:buSzPts val="1100"/>
              <a:buFont typeface="Arial"/>
              <a:buNone/>
            </a:pPr>
            <a:r>
              <a:rPr lang="es-ES" sz="1550">
                <a:solidFill>
                  <a:schemeClr val="dk1"/>
                </a:solidFill>
                <a:latin typeface="Poppins"/>
                <a:ea typeface="Poppins"/>
                <a:cs typeface="Poppins"/>
                <a:sym typeface="Poppins"/>
              </a:rPr>
              <a:t>de un dígito. Hoy aprenderá a realizar este cálculo tanto sin necesidad de reagrupación como</a:t>
            </a:r>
            <a:endParaRPr sz="1550">
              <a:solidFill>
                <a:schemeClr val="dk1"/>
              </a:solidFill>
              <a:latin typeface="Poppins"/>
              <a:ea typeface="Poppins"/>
              <a:cs typeface="Poppins"/>
              <a:sym typeface="Poppins"/>
            </a:endParaRPr>
          </a:p>
          <a:p>
            <a:pPr indent="0" lvl="0" marL="0" rtl="0" algn="just">
              <a:lnSpc>
                <a:spcPct val="115000"/>
              </a:lnSpc>
              <a:spcBef>
                <a:spcPts val="0"/>
              </a:spcBef>
              <a:spcAft>
                <a:spcPts val="0"/>
              </a:spcAft>
              <a:buClr>
                <a:schemeClr val="dk1"/>
              </a:buClr>
              <a:buSzPts val="1100"/>
              <a:buFont typeface="Arial"/>
              <a:buNone/>
            </a:pPr>
            <a:r>
              <a:rPr lang="es-ES" sz="1550">
                <a:solidFill>
                  <a:schemeClr val="dk1"/>
                </a:solidFill>
                <a:latin typeface="Poppins"/>
                <a:ea typeface="Poppins"/>
                <a:cs typeface="Poppins"/>
                <a:sym typeface="Poppins"/>
              </a:rPr>
              <a:t>cuando es necesario reagrupar. A través de ejemplos claros, podrás ayudarlo a aplicar el</a:t>
            </a:r>
            <a:endParaRPr sz="1550">
              <a:solidFill>
                <a:schemeClr val="dk1"/>
              </a:solidFill>
              <a:latin typeface="Poppins"/>
              <a:ea typeface="Poppins"/>
              <a:cs typeface="Poppins"/>
              <a:sym typeface="Poppins"/>
            </a:endParaRPr>
          </a:p>
          <a:p>
            <a:pPr indent="0" lvl="0" marL="0" rtl="0" algn="just">
              <a:lnSpc>
                <a:spcPct val="115000"/>
              </a:lnSpc>
              <a:spcBef>
                <a:spcPts val="0"/>
              </a:spcBef>
              <a:spcAft>
                <a:spcPts val="0"/>
              </a:spcAft>
              <a:buClr>
                <a:schemeClr val="dk1"/>
              </a:buClr>
              <a:buSzPts val="1100"/>
              <a:buFont typeface="Arial"/>
              <a:buNone/>
            </a:pPr>
            <a:r>
              <a:rPr lang="es-ES" sz="1550">
                <a:solidFill>
                  <a:schemeClr val="dk1"/>
                </a:solidFill>
                <a:latin typeface="Poppins"/>
                <a:ea typeface="Poppins"/>
                <a:cs typeface="Poppins"/>
                <a:sym typeface="Poppins"/>
              </a:rPr>
              <a:t>procedimiento en columnas y a entender la importancia de reubicar los valores cuando el</a:t>
            </a:r>
            <a:endParaRPr sz="1550">
              <a:solidFill>
                <a:schemeClr val="dk1"/>
              </a:solidFill>
              <a:latin typeface="Poppins"/>
              <a:ea typeface="Poppins"/>
              <a:cs typeface="Poppins"/>
              <a:sym typeface="Poppins"/>
            </a:endParaRPr>
          </a:p>
          <a:p>
            <a:pPr indent="0" lvl="0" marL="0" rtl="0" algn="just">
              <a:lnSpc>
                <a:spcPct val="115000"/>
              </a:lnSpc>
              <a:spcBef>
                <a:spcPts val="0"/>
              </a:spcBef>
              <a:spcAft>
                <a:spcPts val="0"/>
              </a:spcAft>
              <a:buNone/>
            </a:pPr>
            <a:r>
              <a:rPr lang="es-ES" sz="1550">
                <a:solidFill>
                  <a:schemeClr val="dk1"/>
                </a:solidFill>
                <a:latin typeface="Poppins"/>
                <a:ea typeface="Poppins"/>
                <a:cs typeface="Poppins"/>
                <a:sym typeface="Poppins"/>
              </a:rPr>
              <a:t>producto excede las unidades.</a:t>
            </a:r>
            <a:endParaRPr sz="1550">
              <a:solidFill>
                <a:schemeClr val="dk1"/>
              </a:solidFill>
              <a:latin typeface="Poppins"/>
              <a:ea typeface="Poppins"/>
              <a:cs typeface="Poppins"/>
              <a:sym typeface="Poppins"/>
            </a:endParaRPr>
          </a:p>
          <a:p>
            <a:pPr indent="0" lvl="0" marL="0" rtl="0" algn="just">
              <a:lnSpc>
                <a:spcPct val="115000"/>
              </a:lnSpc>
              <a:spcBef>
                <a:spcPts val="0"/>
              </a:spcBef>
              <a:spcAft>
                <a:spcPts val="0"/>
              </a:spcAft>
              <a:buClr>
                <a:schemeClr val="dk1"/>
              </a:buClr>
              <a:buSzPts val="1100"/>
              <a:buFont typeface="Arial"/>
              <a:buNone/>
            </a:pPr>
            <a:r>
              <a:t/>
            </a:r>
            <a:endParaRPr sz="1550">
              <a:solidFill>
                <a:schemeClr val="dk1"/>
              </a:solidFill>
              <a:latin typeface="Poppins"/>
              <a:ea typeface="Poppins"/>
              <a:cs typeface="Poppins"/>
              <a:sym typeface="Poppins"/>
            </a:endParaRPr>
          </a:p>
          <a:p>
            <a:pPr indent="0" lvl="0" marL="0" rtl="0" algn="just">
              <a:lnSpc>
                <a:spcPct val="115000"/>
              </a:lnSpc>
              <a:spcBef>
                <a:spcPts val="0"/>
              </a:spcBef>
              <a:spcAft>
                <a:spcPts val="0"/>
              </a:spcAft>
              <a:buClr>
                <a:schemeClr val="dk1"/>
              </a:buClr>
              <a:buSzPts val="1100"/>
              <a:buFont typeface="Arial"/>
              <a:buNone/>
            </a:pPr>
            <a:r>
              <a:rPr lang="es-ES" sz="1550">
                <a:solidFill>
                  <a:schemeClr val="dk1"/>
                </a:solidFill>
                <a:latin typeface="Poppins"/>
                <a:ea typeface="Poppins"/>
                <a:cs typeface="Poppins"/>
                <a:sym typeface="Poppins"/>
              </a:rPr>
              <a:t>Para el caso sin reagrupación, guíalo en el procedimiento de</a:t>
            </a:r>
            <a:r>
              <a:rPr b="1" lang="es-ES" sz="1550">
                <a:solidFill>
                  <a:schemeClr val="dk1"/>
                </a:solidFill>
                <a:latin typeface="Poppins"/>
                <a:ea typeface="Poppins"/>
                <a:cs typeface="Poppins"/>
                <a:sym typeface="Poppins"/>
              </a:rPr>
              <a:t> escribir los resultados</a:t>
            </a:r>
            <a:endParaRPr b="1" sz="1550">
              <a:solidFill>
                <a:schemeClr val="dk1"/>
              </a:solidFill>
              <a:latin typeface="Poppins"/>
              <a:ea typeface="Poppins"/>
              <a:cs typeface="Poppins"/>
              <a:sym typeface="Poppins"/>
            </a:endParaRPr>
          </a:p>
          <a:p>
            <a:pPr indent="0" lvl="0" marL="0" rtl="0" algn="just">
              <a:lnSpc>
                <a:spcPct val="115000"/>
              </a:lnSpc>
              <a:spcBef>
                <a:spcPts val="0"/>
              </a:spcBef>
              <a:spcAft>
                <a:spcPts val="0"/>
              </a:spcAft>
              <a:buNone/>
            </a:pPr>
            <a:r>
              <a:rPr b="1" lang="es-ES" sz="1550">
                <a:solidFill>
                  <a:schemeClr val="dk1"/>
                </a:solidFill>
                <a:latin typeface="Poppins"/>
                <a:ea typeface="Poppins"/>
                <a:cs typeface="Poppins"/>
                <a:sym typeface="Poppins"/>
              </a:rPr>
              <a:t>directamente debajo de cada columna</a:t>
            </a:r>
            <a:r>
              <a:rPr lang="es-ES" sz="1550">
                <a:solidFill>
                  <a:schemeClr val="dk1"/>
                </a:solidFill>
                <a:latin typeface="Poppins"/>
                <a:ea typeface="Poppins"/>
                <a:cs typeface="Poppins"/>
                <a:sym typeface="Poppins"/>
              </a:rPr>
              <a:t>, ya que es común que se comentan dos errores:</a:t>
            </a:r>
            <a:endParaRPr sz="1550">
              <a:solidFill>
                <a:schemeClr val="dk1"/>
              </a:solidFill>
              <a:latin typeface="Poppins"/>
              <a:ea typeface="Poppins"/>
              <a:cs typeface="Poppins"/>
              <a:sym typeface="Poppins"/>
            </a:endParaRPr>
          </a:p>
          <a:p>
            <a:pPr indent="0" lvl="0" marL="0" rtl="0" algn="just">
              <a:lnSpc>
                <a:spcPct val="115000"/>
              </a:lnSpc>
              <a:spcBef>
                <a:spcPts val="0"/>
              </a:spcBef>
              <a:spcAft>
                <a:spcPts val="0"/>
              </a:spcAft>
              <a:buClr>
                <a:schemeClr val="dk1"/>
              </a:buClr>
              <a:buSzPts val="1100"/>
              <a:buFont typeface="Arial"/>
              <a:buNone/>
            </a:pPr>
            <a:r>
              <a:t/>
            </a:r>
            <a:endParaRPr sz="1550">
              <a:solidFill>
                <a:schemeClr val="dk1"/>
              </a:solidFill>
              <a:latin typeface="Poppins"/>
              <a:ea typeface="Poppins"/>
              <a:cs typeface="Poppins"/>
              <a:sym typeface="Poppins"/>
            </a:endParaRPr>
          </a:p>
          <a:p>
            <a:pPr indent="0" lvl="0" marL="0" rtl="0" algn="just">
              <a:lnSpc>
                <a:spcPct val="115000"/>
              </a:lnSpc>
              <a:spcBef>
                <a:spcPts val="0"/>
              </a:spcBef>
              <a:spcAft>
                <a:spcPts val="0"/>
              </a:spcAft>
              <a:buClr>
                <a:schemeClr val="dk1"/>
              </a:buClr>
              <a:buSzPts val="1100"/>
              <a:buFont typeface="Arial"/>
              <a:buNone/>
            </a:pPr>
            <a:r>
              <a:rPr lang="es-ES" sz="1550">
                <a:solidFill>
                  <a:schemeClr val="dk1"/>
                </a:solidFill>
                <a:latin typeface="Poppins"/>
                <a:ea typeface="Poppins"/>
                <a:cs typeface="Poppins"/>
                <a:sym typeface="Poppins"/>
              </a:rPr>
              <a:t>• Colocar el producto en la</a:t>
            </a:r>
            <a:r>
              <a:rPr b="1" lang="es-ES" sz="1550">
                <a:solidFill>
                  <a:schemeClr val="dk1"/>
                </a:solidFill>
                <a:latin typeface="Poppins"/>
                <a:ea typeface="Poppins"/>
                <a:cs typeface="Poppins"/>
                <a:sym typeface="Poppins"/>
              </a:rPr>
              <a:t> columna incorrecta.</a:t>
            </a:r>
            <a:endParaRPr b="1" sz="1550">
              <a:solidFill>
                <a:schemeClr val="dk1"/>
              </a:solidFill>
              <a:latin typeface="Poppins"/>
              <a:ea typeface="Poppins"/>
              <a:cs typeface="Poppins"/>
              <a:sym typeface="Poppins"/>
            </a:endParaRPr>
          </a:p>
          <a:p>
            <a:pPr indent="0" lvl="0" marL="0" rtl="0" algn="just">
              <a:lnSpc>
                <a:spcPct val="115000"/>
              </a:lnSpc>
              <a:spcBef>
                <a:spcPts val="0"/>
              </a:spcBef>
              <a:spcAft>
                <a:spcPts val="0"/>
              </a:spcAft>
              <a:buClr>
                <a:schemeClr val="dk1"/>
              </a:buClr>
              <a:buSzPts val="1100"/>
              <a:buFont typeface="Arial"/>
              <a:buNone/>
            </a:pPr>
            <a:r>
              <a:rPr lang="es-ES" sz="1550">
                <a:solidFill>
                  <a:schemeClr val="dk1"/>
                </a:solidFill>
                <a:latin typeface="Poppins"/>
                <a:ea typeface="Poppins"/>
                <a:cs typeface="Poppins"/>
                <a:sym typeface="Poppins"/>
              </a:rPr>
              <a:t>• </a:t>
            </a:r>
            <a:r>
              <a:rPr b="1" lang="es-ES" sz="1550">
                <a:solidFill>
                  <a:schemeClr val="dk1"/>
                </a:solidFill>
                <a:latin typeface="Poppins"/>
                <a:ea typeface="Poppins"/>
                <a:cs typeface="Poppins"/>
                <a:sym typeface="Poppins"/>
              </a:rPr>
              <a:t>Multiplicar en el orden incorrecto</a:t>
            </a:r>
            <a:r>
              <a:rPr lang="es-ES" sz="1550">
                <a:solidFill>
                  <a:schemeClr val="dk1"/>
                </a:solidFill>
                <a:latin typeface="Poppins"/>
                <a:ea typeface="Poppins"/>
                <a:cs typeface="Poppins"/>
                <a:sym typeface="Poppins"/>
              </a:rPr>
              <a:t>, comenzando desde las decenas.</a:t>
            </a:r>
            <a:endParaRPr sz="15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p:txBody>
      </p:sp>
      <p:sp>
        <p:nvSpPr>
          <p:cNvPr id="158" name="Google Shape;158;g330cfa8ceb4_0_85"/>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0cfa8ceb4_0_85"/>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0" name="Google Shape;160;g330cfa8ceb4_0_85"/>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61" name="Google Shape;161;g330cfa8ceb4_0_85"/>
          <p:cNvPicPr preferRelativeResize="0"/>
          <p:nvPr/>
        </p:nvPicPr>
        <p:blipFill>
          <a:blip r:embed="rId3">
            <a:alphaModFix/>
          </a:blip>
          <a:stretch>
            <a:fillRect/>
          </a:stretch>
        </p:blipFill>
        <p:spPr>
          <a:xfrm>
            <a:off x="11045850" y="27773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30e82fe3ce_0_0"/>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67" name="Google Shape;167;g330e82fe3ce_0_0"/>
          <p:cNvSpPr txBox="1"/>
          <p:nvPr/>
        </p:nvSpPr>
        <p:spPr>
          <a:xfrm>
            <a:off x="786350" y="2283975"/>
            <a:ext cx="10500000" cy="396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ES" sz="1500">
                <a:solidFill>
                  <a:schemeClr val="dk1"/>
                </a:solidFill>
                <a:latin typeface="Poppins"/>
                <a:ea typeface="Poppins"/>
                <a:cs typeface="Poppins"/>
                <a:sym typeface="Poppins"/>
              </a:rPr>
              <a:t>Presta atención y asegúrate de que lo anterior no ocurra.</a:t>
            </a:r>
            <a:endParaRPr b="1" sz="1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5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ES" sz="1500">
                <a:solidFill>
                  <a:schemeClr val="dk1"/>
                </a:solidFill>
                <a:latin typeface="Poppins"/>
                <a:ea typeface="Poppins"/>
                <a:cs typeface="Poppins"/>
                <a:sym typeface="Poppins"/>
              </a:rPr>
              <a:t>Por otro lado, en el caso de haber reagrupación, explica que cuando el producto de las unidades es mayor a 9, es necesario reagrupar al igual que cuando suma. Oriéntalo para que explique en voz alta cada paso del procedimiento de reagrupación, de tal forma que recuerde cómo lo realizaba al sumar y evite olvidar sumar la reserva o colocarla en la columna equivocada.</a:t>
            </a:r>
            <a:endParaRPr sz="1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500">
                <a:solidFill>
                  <a:schemeClr val="dk1"/>
                </a:solidFill>
                <a:latin typeface="Poppins"/>
                <a:ea typeface="Poppins"/>
                <a:cs typeface="Poppins"/>
                <a:sym typeface="Poppins"/>
              </a:rPr>
              <a:t>Por otro lado, en el caso de haber reagrupación, explica que cuando el </a:t>
            </a:r>
            <a:r>
              <a:rPr b="1" lang="es-ES" sz="1500">
                <a:solidFill>
                  <a:schemeClr val="dk1"/>
                </a:solidFill>
                <a:latin typeface="Poppins"/>
                <a:ea typeface="Poppins"/>
                <a:cs typeface="Poppins"/>
                <a:sym typeface="Poppins"/>
              </a:rPr>
              <a:t>producto de las unidades es mayor a 9</a:t>
            </a:r>
            <a:r>
              <a:rPr lang="es-ES" sz="1500">
                <a:solidFill>
                  <a:schemeClr val="dk1"/>
                </a:solidFill>
                <a:latin typeface="Poppins"/>
                <a:ea typeface="Poppins"/>
                <a:cs typeface="Poppins"/>
                <a:sym typeface="Poppins"/>
              </a:rPr>
              <a:t>,</a:t>
            </a:r>
            <a:r>
              <a:rPr b="1" lang="es-ES" sz="1500">
                <a:solidFill>
                  <a:schemeClr val="dk1"/>
                </a:solidFill>
                <a:latin typeface="Poppins"/>
                <a:ea typeface="Poppins"/>
                <a:cs typeface="Poppins"/>
                <a:sym typeface="Poppins"/>
              </a:rPr>
              <a:t> es necesario reagrupar </a:t>
            </a:r>
            <a:r>
              <a:rPr lang="es-ES" sz="1500">
                <a:solidFill>
                  <a:schemeClr val="dk1"/>
                </a:solidFill>
                <a:latin typeface="Poppins"/>
                <a:ea typeface="Poppins"/>
                <a:cs typeface="Poppins"/>
                <a:sym typeface="Poppins"/>
              </a:rPr>
              <a:t>al igual que cuando suma. Oriéntalo para que </a:t>
            </a:r>
            <a:r>
              <a:rPr b="1" lang="es-ES" sz="1500">
                <a:solidFill>
                  <a:schemeClr val="dk1"/>
                </a:solidFill>
                <a:latin typeface="Poppins"/>
                <a:ea typeface="Poppins"/>
                <a:cs typeface="Poppins"/>
                <a:sym typeface="Poppins"/>
              </a:rPr>
              <a:t>explique en voz alta cada paso del procedimiento</a:t>
            </a:r>
            <a:r>
              <a:rPr lang="es-ES" sz="1500">
                <a:solidFill>
                  <a:schemeClr val="dk1"/>
                </a:solidFill>
                <a:latin typeface="Poppins"/>
                <a:ea typeface="Poppins"/>
                <a:cs typeface="Poppins"/>
                <a:sym typeface="Poppins"/>
              </a:rPr>
              <a:t> de reagrupación, de tal forma que recuerde cómo lo realizaba al sumar y </a:t>
            </a:r>
            <a:r>
              <a:rPr b="1" lang="es-ES" sz="1500">
                <a:solidFill>
                  <a:schemeClr val="dk1"/>
                </a:solidFill>
                <a:latin typeface="Poppins"/>
                <a:ea typeface="Poppins"/>
                <a:cs typeface="Poppins"/>
                <a:sym typeface="Poppins"/>
              </a:rPr>
              <a:t>evite olvidar sumar la reserva o colocarla en la columna equivocada.</a:t>
            </a:r>
            <a:endParaRPr b="1" sz="15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750">
              <a:solidFill>
                <a:schemeClr val="dk1"/>
              </a:solidFill>
            </a:endParaRPr>
          </a:p>
        </p:txBody>
      </p:sp>
      <p:sp>
        <p:nvSpPr>
          <p:cNvPr id="168" name="Google Shape;168;g330e82fe3ce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69" name="Google Shape;169;g330e82fe3ce_0_0"/>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0" name="Google Shape;170;g330e82fe3ce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71" name="Google Shape;171;g330e82fe3ce_0_0"/>
          <p:cNvPicPr preferRelativeResize="0"/>
          <p:nvPr/>
        </p:nvPicPr>
        <p:blipFill>
          <a:blip r:embed="rId3">
            <a:alphaModFix/>
          </a:blip>
          <a:stretch>
            <a:fillRect/>
          </a:stretch>
        </p:blipFill>
        <p:spPr>
          <a:xfrm>
            <a:off x="11045850" y="27773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30e82fe3ce_0_84"/>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77" name="Google Shape;177;g330e82fe3ce_0_84"/>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t/>
            </a:r>
            <a:endParaRPr b="1">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Pídele a tu estudiante que calcule cuánto dinero necesita para comprar colaciones para la semana si cada día quiere comprar un dulce que cuesta $10. Así practicará la multiplicación de dos dígitos por uno de un dígito y aprenderá a planificar un gasto semanal.</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b="1">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8" name="Google Shape;178;g330e82fe3ce_0_84"/>
          <p:cNvSpPr txBox="1"/>
          <p:nvPr/>
        </p:nvSpPr>
        <p:spPr>
          <a:xfrm>
            <a:off x="197050" y="362630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1. ¿Qué haces si el producto de las unidades es mayor a 9?</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2. ¿Cómo se coloca la reserva en una multiplicación con reagrupación?</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3. ¿Por qué es importante seguir el orden correcto en la multiplicación?</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9" name="Google Shape;179;g330e82fe3ce_0_84"/>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g330e82fe3ce_0_84"/>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81" name="Google Shape;181;g330e82fe3ce_0_84"/>
          <p:cNvPicPr preferRelativeResize="0"/>
          <p:nvPr/>
        </p:nvPicPr>
        <p:blipFill>
          <a:blip r:embed="rId3">
            <a:alphaModFix/>
          </a:blip>
          <a:stretch>
            <a:fillRect/>
          </a:stretch>
        </p:blipFill>
        <p:spPr>
          <a:xfrm>
            <a:off x="11045850" y="27773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31a1c04b9e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7" name="Google Shape;187;g331a1c04b9e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88" name="Google Shape;188;g331a1c04b9e_0_0"/>
          <p:cNvPicPr preferRelativeResize="0"/>
          <p:nvPr>
            <p:ph idx="1" type="body"/>
          </p:nvPr>
        </p:nvPicPr>
        <p:blipFill rotWithShape="1">
          <a:blip r:embed="rId3">
            <a:alphaModFix/>
          </a:blip>
          <a:srcRect b="0" l="0" r="0" t="0"/>
          <a:stretch/>
        </p:blipFill>
        <p:spPr>
          <a:xfrm>
            <a:off x="-150" y="0"/>
            <a:ext cx="12192000" cy="6966600"/>
          </a:xfrm>
          <a:prstGeom prst="rect">
            <a:avLst/>
          </a:prstGeom>
          <a:noFill/>
          <a:ln>
            <a:noFill/>
          </a:ln>
        </p:spPr>
      </p:pic>
      <p:sp>
        <p:nvSpPr>
          <p:cNvPr id="189" name="Google Shape;189;g331a1c04b9e_0_0"/>
          <p:cNvSpPr txBox="1"/>
          <p:nvPr/>
        </p:nvSpPr>
        <p:spPr>
          <a:xfrm>
            <a:off x="1308900" y="528175"/>
            <a:ext cx="9574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90" name="Google Shape;190;g331a1c04b9e_0_0"/>
          <p:cNvSpPr txBox="1"/>
          <p:nvPr/>
        </p:nvSpPr>
        <p:spPr>
          <a:xfrm>
            <a:off x="1025025" y="1205275"/>
            <a:ext cx="105156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Khan Academy : </a:t>
            </a:r>
            <a:r>
              <a:rPr lang="es-ES"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ES"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Matematicas libre: </a:t>
            </a:r>
            <a:r>
              <a:rPr lang="es-ES"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ES"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Cokitos:  </a:t>
            </a:r>
            <a:r>
              <a:rPr lang="es-ES"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ES"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Teachy: </a:t>
            </a:r>
            <a:r>
              <a:rPr lang="es-ES"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ES"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ES" sz="1300">
                <a:solidFill>
                  <a:schemeClr val="dk1"/>
                </a:solidFill>
                <a:latin typeface="Poppins"/>
                <a:ea typeface="Poppins"/>
                <a:cs typeface="Poppins"/>
                <a:sym typeface="Poppins"/>
              </a:rPr>
              <a:t>Importante: </a:t>
            </a:r>
            <a:r>
              <a:rPr lang="es-ES"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91" name="Google Shape;191;g331a1c04b9e_0_0"/>
          <p:cNvPicPr preferRelativeResize="0"/>
          <p:nvPr/>
        </p:nvPicPr>
        <p:blipFill>
          <a:blip r:embed="rId8">
            <a:alphaModFix/>
          </a:blip>
          <a:stretch>
            <a:fillRect/>
          </a:stretch>
        </p:blipFill>
        <p:spPr>
          <a:xfrm>
            <a:off x="11045850" y="5305737"/>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237f15b63d7_0_3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descr="Forma&#10;&#10;Descripción generada automáticamente con confianza media" id="197" name="Google Shape;197;g237f15b63d7_0_36"/>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198" name="Google Shape;198;g237f15b63d7_0_36"/>
          <p:cNvSpPr txBox="1"/>
          <p:nvPr/>
        </p:nvSpPr>
        <p:spPr>
          <a:xfrm>
            <a:off x="1032163" y="314614"/>
            <a:ext cx="9847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199" name="Google Shape;199;g237f15b63d7_0_36"/>
          <p:cNvSpPr txBox="1"/>
          <p:nvPr/>
        </p:nvSpPr>
        <p:spPr>
          <a:xfrm>
            <a:off x="12125" y="423925"/>
            <a:ext cx="12192000" cy="2632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lt1"/>
                </a:solidFill>
                <a:highlight>
                  <a:srgbClr val="009287"/>
                </a:highlight>
                <a:latin typeface="Patrick Hand"/>
                <a:ea typeface="Patrick Hand"/>
                <a:cs typeface="Patrick Hand"/>
                <a:sym typeface="Patrick Hand"/>
              </a:rPr>
              <a:t>3. Multiplicar números de 2 dígitos por n° de 1 dígito. </a:t>
            </a:r>
            <a:endParaRPr b="0" i="0" sz="4000" u="none" cap="none" strike="noStrike">
              <a:solidFill>
                <a:schemeClr val="lt1"/>
              </a:solidFill>
              <a:highlight>
                <a:srgbClr val="009287"/>
              </a:highlight>
              <a:latin typeface="Patrick Hand"/>
              <a:ea typeface="Patrick Hand"/>
              <a:cs typeface="Patrick Hand"/>
              <a:sym typeface="Patrick Hand"/>
            </a:endParaRPr>
          </a:p>
          <a:p>
            <a:pPr indent="-412750" lvl="0" marL="914400" marR="0" rtl="0" algn="l">
              <a:lnSpc>
                <a:spcPct val="100000"/>
              </a:lnSpc>
              <a:spcBef>
                <a:spcPts val="0"/>
              </a:spcBef>
              <a:spcAft>
                <a:spcPts val="0"/>
              </a:spcAft>
              <a:buClr>
                <a:schemeClr val="dk1"/>
              </a:buClr>
              <a:buSzPts val="2900"/>
              <a:buFont typeface="Patrick Hand"/>
              <a:buAutoNum type="alphaLcPeriod"/>
            </a:pPr>
            <a:r>
              <a:rPr b="0" i="0" lang="es-ES" sz="2900" u="none" cap="none" strike="noStrike">
                <a:solidFill>
                  <a:schemeClr val="dk1"/>
                </a:solidFill>
                <a:latin typeface="Patrick Hand"/>
                <a:ea typeface="Patrick Hand"/>
                <a:cs typeface="Patrick Hand"/>
                <a:sym typeface="Patrick Hand"/>
              </a:rPr>
              <a:t>Sin reagrupar</a:t>
            </a:r>
            <a:endParaRPr b="0" i="0" sz="2900" u="none" cap="none" strike="noStrike">
              <a:solidFill>
                <a:schemeClr val="dk1"/>
              </a:solidFill>
              <a:latin typeface="Patrick Hand"/>
              <a:ea typeface="Patrick Hand"/>
              <a:cs typeface="Patrick Hand"/>
              <a:sym typeface="Patrick Hand"/>
            </a:endParaRPr>
          </a:p>
          <a:p>
            <a:pPr indent="0" lvl="0" marL="45720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highlight>
                <a:srgbClr val="009287"/>
              </a:highlight>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2900"/>
              <a:buFont typeface="Arial"/>
              <a:buNone/>
            </a:pPr>
            <a:r>
              <a:rPr b="0" i="0" lang="es-ES" sz="2900" u="none" cap="none" strike="noStrike">
                <a:solidFill>
                  <a:srgbClr val="040C28"/>
                </a:solidFill>
                <a:latin typeface="Patrick Hand"/>
                <a:ea typeface="Patrick Hand"/>
                <a:cs typeface="Patrick Hand"/>
                <a:sym typeface="Patrick Hand"/>
              </a:rPr>
              <a:t>Para poder multiplicar, lo hacemos utilizando un algoritmo (conjunto de pasos para resolver la operación) de la siguiente manera:</a:t>
            </a:r>
            <a:endParaRPr b="0" i="1" sz="30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000"/>
              <a:buFont typeface="Arial"/>
              <a:buNone/>
            </a:pPr>
            <a:r>
              <a:rPr b="1" i="0" lang="es-ES" sz="3000" u="none" cap="none" strike="noStrike">
                <a:solidFill>
                  <a:schemeClr val="dk1"/>
                </a:solidFill>
                <a:latin typeface="Patrick Hand"/>
                <a:ea typeface="Patrick Hand"/>
                <a:cs typeface="Patrick Hand"/>
                <a:sym typeface="Patrick Hand"/>
              </a:rPr>
              <a:t>Ejemplo: </a:t>
            </a:r>
            <a:endParaRPr b="0" i="0" sz="4000" u="none" cap="none" strike="noStrike">
              <a:solidFill>
                <a:schemeClr val="dk1"/>
              </a:solidFill>
              <a:latin typeface="Patrick Hand"/>
              <a:ea typeface="Patrick Hand"/>
              <a:cs typeface="Patrick Hand"/>
              <a:sym typeface="Patrick Hand"/>
            </a:endParaRPr>
          </a:p>
        </p:txBody>
      </p:sp>
      <p:sp>
        <p:nvSpPr>
          <p:cNvPr id="200" name="Google Shape;200;g237f15b63d7_0_36"/>
          <p:cNvSpPr txBox="1"/>
          <p:nvPr/>
        </p:nvSpPr>
        <p:spPr>
          <a:xfrm>
            <a:off x="576125" y="3514600"/>
            <a:ext cx="2100600" cy="1372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4100"/>
              <a:buFont typeface="Arial"/>
              <a:buNone/>
            </a:pPr>
            <a:r>
              <a:rPr b="0" i="0" lang="es-ES" sz="4100" u="none" cap="none" strike="noStrike">
                <a:solidFill>
                  <a:schemeClr val="dk1"/>
                </a:solidFill>
                <a:latin typeface="Patrick Hand"/>
                <a:ea typeface="Patrick Hand"/>
                <a:cs typeface="Patrick Hand"/>
                <a:sym typeface="Patrick Hand"/>
              </a:rPr>
              <a:t>2 1  x  4 =</a:t>
            </a:r>
            <a:r>
              <a:rPr b="0" i="0" lang="es-ES" sz="3600" u="none" cap="none" strike="noStrike">
                <a:solidFill>
                  <a:schemeClr val="dk1"/>
                </a:solidFill>
                <a:latin typeface="Patrick Hand"/>
                <a:ea typeface="Patrick Hand"/>
                <a:cs typeface="Patrick Hand"/>
                <a:sym typeface="Patrick Hand"/>
              </a:rPr>
              <a:t>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t/>
            </a:r>
            <a:endParaRPr b="0" i="0" sz="3600" u="none" cap="none" strike="noStrike">
              <a:solidFill>
                <a:schemeClr val="dk1"/>
              </a:solidFill>
              <a:latin typeface="Patrick Hand"/>
              <a:ea typeface="Patrick Hand"/>
              <a:cs typeface="Patrick Hand"/>
              <a:sym typeface="Patrick Hand"/>
            </a:endParaRPr>
          </a:p>
        </p:txBody>
      </p:sp>
      <p:sp>
        <p:nvSpPr>
          <p:cNvPr id="201" name="Google Shape;201;g237f15b63d7_0_36"/>
          <p:cNvSpPr txBox="1"/>
          <p:nvPr/>
        </p:nvSpPr>
        <p:spPr>
          <a:xfrm>
            <a:off x="222425" y="3056125"/>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    D  U</a:t>
            </a:r>
            <a:endParaRPr b="0" i="0" sz="1200" u="none" cap="none" strike="noStrike">
              <a:solidFill>
                <a:srgbClr val="000000"/>
              </a:solidFill>
              <a:latin typeface="Arial"/>
              <a:ea typeface="Arial"/>
              <a:cs typeface="Arial"/>
              <a:sym typeface="Arial"/>
            </a:endParaRPr>
          </a:p>
        </p:txBody>
      </p:sp>
      <p:sp>
        <p:nvSpPr>
          <p:cNvPr id="202" name="Google Shape;202;g237f15b63d7_0_36"/>
          <p:cNvSpPr txBox="1"/>
          <p:nvPr/>
        </p:nvSpPr>
        <p:spPr>
          <a:xfrm>
            <a:off x="2393850" y="4738075"/>
            <a:ext cx="3387000" cy="16137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000000"/>
              </a:buClr>
              <a:buSzPts val="2200"/>
              <a:buFont typeface="Patrick Hand"/>
              <a:buAutoNum type="arabicPeriod"/>
            </a:pPr>
            <a:r>
              <a:rPr b="0" i="0" lang="es-ES" sz="2200" u="none" cap="none" strike="noStrike">
                <a:solidFill>
                  <a:srgbClr val="000000"/>
                </a:solidFill>
                <a:latin typeface="Patrick Hand"/>
                <a:ea typeface="Patrick Hand"/>
                <a:cs typeface="Patrick Hand"/>
                <a:sym typeface="Patrick Hand"/>
              </a:rPr>
              <a:t>Comienzo multiplicando el 4 por las unidades</a:t>
            </a:r>
            <a:endParaRPr b="0" i="0" sz="2200" u="none" cap="none" strike="noStrike">
              <a:solidFill>
                <a:srgbClr val="000000"/>
              </a:solidFill>
              <a:latin typeface="Patrick Hand"/>
              <a:ea typeface="Patrick Hand"/>
              <a:cs typeface="Patrick Hand"/>
              <a:sym typeface="Patrick Hand"/>
            </a:endParaRPr>
          </a:p>
          <a:p>
            <a:pPr indent="-368300" lvl="1" marL="914400" marR="0" rtl="0" algn="l">
              <a:lnSpc>
                <a:spcPct val="100000"/>
              </a:lnSpc>
              <a:spcBef>
                <a:spcPts val="0"/>
              </a:spcBef>
              <a:spcAft>
                <a:spcPts val="0"/>
              </a:spcAft>
              <a:buClr>
                <a:srgbClr val="000000"/>
              </a:buClr>
              <a:buSzPts val="2200"/>
              <a:buFont typeface="Patrick Hand"/>
              <a:buChar char="○"/>
            </a:pPr>
            <a:r>
              <a:rPr b="0" i="0" lang="es-ES" sz="2200" u="none" cap="none" strike="noStrike">
                <a:solidFill>
                  <a:srgbClr val="000000"/>
                </a:solidFill>
                <a:latin typeface="Patrick Hand"/>
                <a:ea typeface="Patrick Hand"/>
                <a:cs typeface="Patrick Hand"/>
                <a:sym typeface="Patrick Hand"/>
              </a:rPr>
              <a:t>4 x 1U = 4U lo escribo bajo las unidades</a:t>
            </a:r>
            <a:endParaRPr b="0" i="0" sz="2200" u="none" cap="none" strike="noStrike">
              <a:solidFill>
                <a:srgbClr val="000000"/>
              </a:solidFill>
              <a:latin typeface="Patrick Hand"/>
              <a:ea typeface="Patrick Hand"/>
              <a:cs typeface="Patrick Hand"/>
              <a:sym typeface="Patrick Hand"/>
            </a:endParaRPr>
          </a:p>
        </p:txBody>
      </p:sp>
      <p:sp>
        <p:nvSpPr>
          <p:cNvPr id="203" name="Google Shape;203;g237f15b63d7_0_36"/>
          <p:cNvSpPr txBox="1"/>
          <p:nvPr/>
        </p:nvSpPr>
        <p:spPr>
          <a:xfrm>
            <a:off x="3680200" y="3514600"/>
            <a:ext cx="2100600" cy="20094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4100"/>
              <a:buFont typeface="Arial"/>
              <a:buNone/>
            </a:pPr>
            <a:r>
              <a:rPr b="0" i="0" lang="es-ES" sz="4100" u="none" cap="none" strike="noStrike">
                <a:solidFill>
                  <a:schemeClr val="dk1"/>
                </a:solidFill>
                <a:latin typeface="Patrick Hand"/>
                <a:ea typeface="Patrick Hand"/>
                <a:cs typeface="Patrick Hand"/>
                <a:sym typeface="Patrick Hand"/>
              </a:rPr>
              <a:t>2 1  x  4 =</a:t>
            </a:r>
            <a:endParaRPr b="0" i="0" sz="41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    4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t/>
            </a:r>
            <a:endParaRPr b="0" i="0" sz="3600" u="none" cap="none" strike="noStrike">
              <a:solidFill>
                <a:schemeClr val="dk1"/>
              </a:solidFill>
              <a:latin typeface="Patrick Hand"/>
              <a:ea typeface="Patrick Hand"/>
              <a:cs typeface="Patrick Hand"/>
              <a:sym typeface="Patrick Hand"/>
            </a:endParaRPr>
          </a:p>
        </p:txBody>
      </p:sp>
      <p:sp>
        <p:nvSpPr>
          <p:cNvPr id="204" name="Google Shape;204;g237f15b63d7_0_36"/>
          <p:cNvSpPr txBox="1"/>
          <p:nvPr/>
        </p:nvSpPr>
        <p:spPr>
          <a:xfrm>
            <a:off x="3401713" y="2914300"/>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    D  U</a:t>
            </a:r>
            <a:endParaRPr b="0" i="0" sz="1200" u="none" cap="none" strike="noStrike">
              <a:solidFill>
                <a:srgbClr val="000000"/>
              </a:solidFill>
              <a:latin typeface="Arial"/>
              <a:ea typeface="Arial"/>
              <a:cs typeface="Arial"/>
              <a:sym typeface="Arial"/>
            </a:endParaRPr>
          </a:p>
        </p:txBody>
      </p:sp>
      <p:sp>
        <p:nvSpPr>
          <p:cNvPr id="205" name="Google Shape;205;g237f15b63d7_0_36"/>
          <p:cNvSpPr txBox="1"/>
          <p:nvPr/>
        </p:nvSpPr>
        <p:spPr>
          <a:xfrm>
            <a:off x="9481800" y="3539050"/>
            <a:ext cx="2710200" cy="1372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4100"/>
              <a:buFont typeface="Arial"/>
              <a:buNone/>
            </a:pPr>
            <a:r>
              <a:rPr b="0" i="0" lang="es-ES" sz="4100" u="none" cap="none" strike="noStrike">
                <a:solidFill>
                  <a:schemeClr val="dk1"/>
                </a:solidFill>
                <a:latin typeface="Patrick Hand"/>
                <a:ea typeface="Patrick Hand"/>
                <a:cs typeface="Patrick Hand"/>
                <a:sym typeface="Patrick Hand"/>
              </a:rPr>
              <a:t>2 1  x  4 = 84</a:t>
            </a:r>
            <a:r>
              <a:rPr b="0" i="0" lang="es-ES" sz="3600" u="none" cap="none" strike="noStrike">
                <a:solidFill>
                  <a:schemeClr val="dk1"/>
                </a:solidFill>
                <a:latin typeface="Patrick Hand"/>
                <a:ea typeface="Patrick Hand"/>
                <a:cs typeface="Patrick Hand"/>
                <a:sym typeface="Patrick Hand"/>
              </a:rPr>
              <a:t>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t/>
            </a:r>
            <a:endParaRPr b="0" i="0" sz="3600" u="none" cap="none" strike="noStrike">
              <a:solidFill>
                <a:schemeClr val="dk1"/>
              </a:solidFill>
              <a:latin typeface="Patrick Hand"/>
              <a:ea typeface="Patrick Hand"/>
              <a:cs typeface="Patrick Hand"/>
              <a:sym typeface="Patrick Hand"/>
            </a:endParaRPr>
          </a:p>
        </p:txBody>
      </p:sp>
      <p:sp>
        <p:nvSpPr>
          <p:cNvPr id="206" name="Google Shape;206;g237f15b63d7_0_36"/>
          <p:cNvSpPr txBox="1"/>
          <p:nvPr/>
        </p:nvSpPr>
        <p:spPr>
          <a:xfrm>
            <a:off x="9260700" y="2914300"/>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    D  U</a:t>
            </a:r>
            <a:endParaRPr b="0" i="0" sz="1200" u="none" cap="none" strike="noStrike">
              <a:solidFill>
                <a:srgbClr val="000000"/>
              </a:solidFill>
              <a:latin typeface="Arial"/>
              <a:ea typeface="Arial"/>
              <a:cs typeface="Arial"/>
              <a:sym typeface="Arial"/>
            </a:endParaRPr>
          </a:p>
        </p:txBody>
      </p:sp>
      <p:sp>
        <p:nvSpPr>
          <p:cNvPr id="207" name="Google Shape;207;g237f15b63d7_0_36"/>
          <p:cNvSpPr txBox="1"/>
          <p:nvPr/>
        </p:nvSpPr>
        <p:spPr>
          <a:xfrm>
            <a:off x="6540863" y="3514600"/>
            <a:ext cx="2100600" cy="20094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4100"/>
              <a:buFont typeface="Arial"/>
              <a:buNone/>
            </a:pPr>
            <a:r>
              <a:rPr b="0" i="0" lang="es-ES" sz="4100" u="none" cap="none" strike="noStrike">
                <a:solidFill>
                  <a:schemeClr val="dk1"/>
                </a:solidFill>
                <a:latin typeface="Patrick Hand"/>
                <a:ea typeface="Patrick Hand"/>
                <a:cs typeface="Patrick Hand"/>
                <a:sym typeface="Patrick Hand"/>
              </a:rPr>
              <a:t>2 1  x  4 =</a:t>
            </a:r>
            <a:endParaRPr b="0" i="0" sz="41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8  4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t/>
            </a:r>
            <a:endParaRPr b="0" i="0" sz="3600" u="none" cap="none" strike="noStrike">
              <a:solidFill>
                <a:schemeClr val="dk1"/>
              </a:solidFill>
              <a:latin typeface="Patrick Hand"/>
              <a:ea typeface="Patrick Hand"/>
              <a:cs typeface="Patrick Hand"/>
              <a:sym typeface="Patrick Hand"/>
            </a:endParaRPr>
          </a:p>
        </p:txBody>
      </p:sp>
      <p:sp>
        <p:nvSpPr>
          <p:cNvPr id="208" name="Google Shape;208;g237f15b63d7_0_36"/>
          <p:cNvSpPr txBox="1"/>
          <p:nvPr/>
        </p:nvSpPr>
        <p:spPr>
          <a:xfrm>
            <a:off x="6238575" y="2914300"/>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    D  U</a:t>
            </a:r>
            <a:endParaRPr b="0" i="0" sz="1200" u="none" cap="none" strike="noStrike">
              <a:solidFill>
                <a:srgbClr val="000000"/>
              </a:solidFill>
              <a:latin typeface="Arial"/>
              <a:ea typeface="Arial"/>
              <a:cs typeface="Arial"/>
              <a:sym typeface="Arial"/>
            </a:endParaRPr>
          </a:p>
        </p:txBody>
      </p:sp>
      <p:sp>
        <p:nvSpPr>
          <p:cNvPr id="209" name="Google Shape;209;g237f15b63d7_0_36"/>
          <p:cNvSpPr txBox="1"/>
          <p:nvPr/>
        </p:nvSpPr>
        <p:spPr>
          <a:xfrm>
            <a:off x="5836063" y="4783300"/>
            <a:ext cx="3387000" cy="1877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ES" sz="2200" u="none" cap="none" strike="noStrike">
                <a:solidFill>
                  <a:schemeClr val="dk1"/>
                </a:solidFill>
                <a:latin typeface="Patrick Hand"/>
                <a:ea typeface="Patrick Hand"/>
                <a:cs typeface="Patrick Hand"/>
                <a:sym typeface="Patrick Hand"/>
              </a:rPr>
              <a:t>2.   Luego, multiplic</a:t>
            </a:r>
            <a:r>
              <a:rPr lang="es-ES" sz="2200">
                <a:solidFill>
                  <a:schemeClr val="dk1"/>
                </a:solidFill>
                <a:latin typeface="Patrick Hand"/>
                <a:ea typeface="Patrick Hand"/>
                <a:cs typeface="Patrick Hand"/>
                <a:sym typeface="Patrick Hand"/>
              </a:rPr>
              <a:t>o</a:t>
            </a:r>
            <a:r>
              <a:rPr b="0" i="0" lang="es-ES" sz="2200" u="none" cap="none" strike="noStrike">
                <a:solidFill>
                  <a:schemeClr val="dk1"/>
                </a:solidFill>
                <a:latin typeface="Patrick Hand"/>
                <a:ea typeface="Patrick Hand"/>
                <a:cs typeface="Patrick Hand"/>
                <a:sym typeface="Patrick Hand"/>
              </a:rPr>
              <a:t> el 4 por   </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000"/>
              <a:buFont typeface="Arial"/>
              <a:buNone/>
            </a:pPr>
            <a:r>
              <a:rPr b="0" i="0" lang="es-ES" sz="2200" u="none" cap="none" strike="noStrike">
                <a:solidFill>
                  <a:schemeClr val="dk1"/>
                </a:solidFill>
                <a:latin typeface="Patrick Hand"/>
                <a:ea typeface="Patrick Hand"/>
                <a:cs typeface="Patrick Hand"/>
                <a:sym typeface="Patrick Hand"/>
              </a:rPr>
              <a:t>      las decenas </a:t>
            </a:r>
            <a:endParaRPr b="0" i="0" sz="2200" u="none" cap="none" strike="noStrike">
              <a:solidFill>
                <a:schemeClr val="dk1"/>
              </a:solidFill>
              <a:latin typeface="Patrick Hand"/>
              <a:ea typeface="Patrick Hand"/>
              <a:cs typeface="Patrick Hand"/>
              <a:sym typeface="Patrick Hand"/>
            </a:endParaRPr>
          </a:p>
          <a:p>
            <a:pPr indent="-368300" lvl="1" marL="914400" marR="0" rtl="0" algn="l">
              <a:lnSpc>
                <a:spcPct val="100000"/>
              </a:lnSpc>
              <a:spcBef>
                <a:spcPts val="0"/>
              </a:spcBef>
              <a:spcAft>
                <a:spcPts val="0"/>
              </a:spcAft>
              <a:buClr>
                <a:schemeClr val="dk1"/>
              </a:buClr>
              <a:buSzPts val="2200"/>
              <a:buFont typeface="Patrick Hand"/>
              <a:buChar char="○"/>
            </a:pPr>
            <a:r>
              <a:rPr b="0" i="0" lang="es-ES" sz="2200" u="none" cap="none" strike="noStrike">
                <a:solidFill>
                  <a:schemeClr val="dk1"/>
                </a:solidFill>
                <a:latin typeface="Patrick Hand"/>
                <a:ea typeface="Patrick Hand"/>
                <a:cs typeface="Patrick Hand"/>
                <a:sym typeface="Patrick Hand"/>
              </a:rPr>
              <a:t>4 x 2D = 8D lo escribo bajo las decenas.</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400"/>
              <a:buFont typeface="Arial"/>
              <a:buNone/>
            </a:pPr>
            <a:r>
              <a:t/>
            </a:r>
            <a:endParaRPr b="0" i="0" sz="2200" u="none" cap="none" strike="noStrike">
              <a:solidFill>
                <a:srgbClr val="000000"/>
              </a:solidFill>
              <a:latin typeface="Arial"/>
              <a:ea typeface="Arial"/>
              <a:cs typeface="Arial"/>
              <a:sym typeface="Arial"/>
            </a:endParaRPr>
          </a:p>
        </p:txBody>
      </p:sp>
      <p:sp>
        <p:nvSpPr>
          <p:cNvPr id="210" name="Google Shape;210;g237f15b63d7_0_36"/>
          <p:cNvSpPr txBox="1"/>
          <p:nvPr/>
        </p:nvSpPr>
        <p:spPr>
          <a:xfrm>
            <a:off x="9278325" y="4783300"/>
            <a:ext cx="3000000" cy="1200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ES" sz="2200" u="none" cap="none" strike="noStrike">
                <a:solidFill>
                  <a:schemeClr val="dk1"/>
                </a:solidFill>
                <a:latin typeface="Patrick Hand"/>
                <a:ea typeface="Patrick Hand"/>
                <a:cs typeface="Patrick Hand"/>
                <a:sym typeface="Patrick Hand"/>
              </a:rPr>
              <a:t>3.   Escribo el resultado</a:t>
            </a:r>
            <a:endParaRPr b="0" i="0" sz="2200" u="none" cap="none" strike="noStrike">
              <a:solidFill>
                <a:schemeClr val="dk1"/>
              </a:solidFill>
              <a:latin typeface="Patrick Hand"/>
              <a:ea typeface="Patrick Hand"/>
              <a:cs typeface="Patrick Hand"/>
              <a:sym typeface="Patrick Hand"/>
            </a:endParaRPr>
          </a:p>
          <a:p>
            <a:pPr indent="-368300" lvl="1" marL="914400" marR="0" rtl="0" algn="l">
              <a:lnSpc>
                <a:spcPct val="100000"/>
              </a:lnSpc>
              <a:spcBef>
                <a:spcPts val="0"/>
              </a:spcBef>
              <a:spcAft>
                <a:spcPts val="0"/>
              </a:spcAft>
              <a:buClr>
                <a:schemeClr val="dk1"/>
              </a:buClr>
              <a:buSzPts val="2200"/>
              <a:buFont typeface="Patrick Hand"/>
              <a:buChar char="○"/>
            </a:pPr>
            <a:r>
              <a:rPr b="0" i="0" lang="es-ES" sz="2200" u="none" cap="none" strike="noStrike">
                <a:solidFill>
                  <a:schemeClr val="dk1"/>
                </a:solidFill>
                <a:latin typeface="Patrick Hand"/>
                <a:ea typeface="Patrick Hand"/>
                <a:cs typeface="Patrick Hand"/>
                <a:sym typeface="Patrick Hand"/>
              </a:rPr>
              <a:t>84</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400"/>
              <a:buFont typeface="Arial"/>
              <a:buNone/>
            </a:pPr>
            <a:r>
              <a:t/>
            </a:r>
            <a:endParaRPr b="0" i="0" sz="2200" u="none" cap="none" strike="noStrike">
              <a:solidFill>
                <a:srgbClr val="000000"/>
              </a:solidFill>
              <a:latin typeface="Arial"/>
              <a:ea typeface="Arial"/>
              <a:cs typeface="Arial"/>
              <a:sym typeface="Arial"/>
            </a:endParaRPr>
          </a:p>
        </p:txBody>
      </p:sp>
      <p:cxnSp>
        <p:nvCxnSpPr>
          <p:cNvPr id="211" name="Google Shape;211;g237f15b63d7_0_36"/>
          <p:cNvCxnSpPr/>
          <p:nvPr/>
        </p:nvCxnSpPr>
        <p:spPr>
          <a:xfrm>
            <a:off x="2746700" y="3831375"/>
            <a:ext cx="804900" cy="0"/>
          </a:xfrm>
          <a:prstGeom prst="straightConnector1">
            <a:avLst/>
          </a:prstGeom>
          <a:noFill/>
          <a:ln cap="flat" cmpd="sng" w="28575">
            <a:solidFill>
              <a:srgbClr val="009287"/>
            </a:solidFill>
            <a:prstDash val="solid"/>
            <a:round/>
            <a:headEnd len="sm" w="sm" type="none"/>
            <a:tailEnd len="med" w="med" type="triangle"/>
          </a:ln>
        </p:spPr>
      </p:cxnSp>
      <p:cxnSp>
        <p:nvCxnSpPr>
          <p:cNvPr id="212" name="Google Shape;212;g237f15b63d7_0_36"/>
          <p:cNvCxnSpPr/>
          <p:nvPr/>
        </p:nvCxnSpPr>
        <p:spPr>
          <a:xfrm>
            <a:off x="5676800" y="3840075"/>
            <a:ext cx="804900" cy="0"/>
          </a:xfrm>
          <a:prstGeom prst="straightConnector1">
            <a:avLst/>
          </a:prstGeom>
          <a:noFill/>
          <a:ln cap="flat" cmpd="sng" w="28575">
            <a:solidFill>
              <a:srgbClr val="009287"/>
            </a:solidFill>
            <a:prstDash val="solid"/>
            <a:round/>
            <a:headEnd len="sm" w="sm" type="none"/>
            <a:tailEnd len="med" w="med" type="triangle"/>
          </a:ln>
        </p:spPr>
      </p:cxnSp>
      <p:cxnSp>
        <p:nvCxnSpPr>
          <p:cNvPr id="213" name="Google Shape;213;g237f15b63d7_0_36"/>
          <p:cNvCxnSpPr/>
          <p:nvPr/>
        </p:nvCxnSpPr>
        <p:spPr>
          <a:xfrm>
            <a:off x="8641475" y="3838775"/>
            <a:ext cx="804900" cy="0"/>
          </a:xfrm>
          <a:prstGeom prst="straightConnector1">
            <a:avLst/>
          </a:prstGeom>
          <a:noFill/>
          <a:ln cap="flat" cmpd="sng" w="28575">
            <a:solidFill>
              <a:srgbClr val="009287"/>
            </a:solidFill>
            <a:prstDash val="solid"/>
            <a:round/>
            <a:headEnd len="sm" w="sm" type="none"/>
            <a:tailEnd len="med" w="med" type="triangle"/>
          </a:ln>
        </p:spPr>
      </p:cxnSp>
      <p:pic>
        <p:nvPicPr>
          <p:cNvPr id="214" name="Google Shape;214;g237f15b63d7_0_36"/>
          <p:cNvPicPr preferRelativeResize="0"/>
          <p:nvPr/>
        </p:nvPicPr>
        <p:blipFill>
          <a:blip r:embed="rId4">
            <a:alphaModFix/>
          </a:blip>
          <a:stretch>
            <a:fillRect/>
          </a:stretch>
        </p:blipFill>
        <p:spPr>
          <a:xfrm>
            <a:off x="11081375" y="513387"/>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descr="Forma&#10;&#10;Descripción generada automáticamente con confianza media" id="219" name="Google Shape;219;g25c689ae274_0_1"/>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20" name="Google Shape;220;g25c689ae274_0_1"/>
          <p:cNvSpPr txBox="1"/>
          <p:nvPr/>
        </p:nvSpPr>
        <p:spPr>
          <a:xfrm>
            <a:off x="235250" y="212600"/>
            <a:ext cx="14275800" cy="13545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3300"/>
              <a:buFont typeface="Arial"/>
              <a:buNone/>
            </a:pPr>
            <a:r>
              <a:rPr b="1" i="0" lang="es-ES" sz="3300" u="none" cap="none" strike="noStrike">
                <a:solidFill>
                  <a:srgbClr val="040C28"/>
                </a:solidFill>
                <a:latin typeface="Patrick Hand"/>
                <a:ea typeface="Patrick Hand"/>
                <a:cs typeface="Patrick Hand"/>
                <a:sym typeface="Patrick Hand"/>
              </a:rPr>
              <a:t>Ejercicio</a:t>
            </a:r>
            <a:r>
              <a:rPr b="0" i="0" lang="es-ES" sz="2900" u="none" cap="none" strike="noStrike">
                <a:solidFill>
                  <a:srgbClr val="040C28"/>
                </a:solidFill>
                <a:latin typeface="Patrick Hand"/>
                <a:ea typeface="Patrick Hand"/>
                <a:cs typeface="Patrick Hand"/>
                <a:sym typeface="Patrick Hand"/>
              </a:rPr>
              <a:t>: </a:t>
            </a:r>
            <a:endParaRPr b="0" i="0" sz="2900" u="none" cap="none" strike="noStrike">
              <a:solidFill>
                <a:srgbClr val="040C28"/>
              </a:solidFill>
              <a:latin typeface="Patrick Hand"/>
              <a:ea typeface="Patrick Hand"/>
              <a:cs typeface="Patrick Hand"/>
              <a:sym typeface="Patrick Hand"/>
            </a:endParaRPr>
          </a:p>
          <a:p>
            <a:pPr indent="-412750" lvl="0" marL="457200" marR="0" rtl="0" algn="l">
              <a:lnSpc>
                <a:spcPct val="100000"/>
              </a:lnSpc>
              <a:spcBef>
                <a:spcPts val="0"/>
              </a:spcBef>
              <a:spcAft>
                <a:spcPts val="0"/>
              </a:spcAft>
              <a:buClr>
                <a:srgbClr val="040C28"/>
              </a:buClr>
              <a:buSzPts val="2900"/>
              <a:buFont typeface="Patrick Hand"/>
              <a:buChar char="-"/>
            </a:pPr>
            <a:r>
              <a:rPr b="0" i="0" lang="es-ES" sz="2900" u="none" cap="none" strike="noStrike">
                <a:solidFill>
                  <a:srgbClr val="040C28"/>
                </a:solidFill>
                <a:latin typeface="Patrick Hand"/>
                <a:ea typeface="Patrick Hand"/>
                <a:cs typeface="Patrick Hand"/>
                <a:sym typeface="Patrick Hand"/>
              </a:rPr>
              <a:t>Resolvamos los siguientes ejercicios juntos:</a:t>
            </a:r>
            <a:endParaRPr b="0" i="0" sz="2900" u="none" cap="none" strike="noStrike">
              <a:solidFill>
                <a:srgbClr val="040C28"/>
              </a:solidFill>
              <a:latin typeface="Patrick Hand"/>
              <a:ea typeface="Patrick Hand"/>
              <a:cs typeface="Patrick Hand"/>
              <a:sym typeface="Patrick Hand"/>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g25c689ae274_0_1"/>
          <p:cNvSpPr txBox="1"/>
          <p:nvPr/>
        </p:nvSpPr>
        <p:spPr>
          <a:xfrm>
            <a:off x="2461725" y="1868125"/>
            <a:ext cx="3993900" cy="12621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1 2    x    2   =</a:t>
            </a:r>
            <a:endParaRPr b="0" i="0" sz="3500" u="none" cap="none" strike="noStrike">
              <a:solidFill>
                <a:srgbClr val="040C28"/>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p:txBody>
      </p:sp>
      <p:sp>
        <p:nvSpPr>
          <p:cNvPr id="222" name="Google Shape;222;g25c689ae274_0_1"/>
          <p:cNvSpPr txBox="1"/>
          <p:nvPr/>
        </p:nvSpPr>
        <p:spPr>
          <a:xfrm>
            <a:off x="2753488" y="1582550"/>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40C28"/>
                </a:solidFill>
                <a:latin typeface="Patrick Hand"/>
                <a:ea typeface="Patrick Hand"/>
                <a:cs typeface="Patrick Hand"/>
                <a:sym typeface="Patrick Hand"/>
              </a:rPr>
              <a:t>    D  U</a:t>
            </a:r>
            <a:endParaRPr b="0" i="0" sz="700" u="none" cap="none" strike="noStrike">
              <a:solidFill>
                <a:srgbClr val="000000"/>
              </a:solidFill>
              <a:latin typeface="Arial"/>
              <a:ea typeface="Arial"/>
              <a:cs typeface="Arial"/>
              <a:sym typeface="Arial"/>
            </a:endParaRPr>
          </a:p>
        </p:txBody>
      </p:sp>
      <p:sp>
        <p:nvSpPr>
          <p:cNvPr id="223" name="Google Shape;223;g25c689ae274_0_1"/>
          <p:cNvSpPr txBox="1"/>
          <p:nvPr/>
        </p:nvSpPr>
        <p:spPr>
          <a:xfrm>
            <a:off x="7020800" y="1279250"/>
            <a:ext cx="4578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40C28"/>
                </a:solidFill>
                <a:latin typeface="Patrick Hand"/>
                <a:ea typeface="Patrick Hand"/>
                <a:cs typeface="Patrick Hand"/>
                <a:sym typeface="Patrick Hand"/>
              </a:rPr>
              <a:t>¿Cuál es el primer paso?</a:t>
            </a:r>
            <a:endParaRPr b="0" i="0" sz="2500" u="none" cap="none" strike="noStrike">
              <a:solidFill>
                <a:srgbClr val="000000"/>
              </a:solidFill>
              <a:latin typeface="Arial"/>
              <a:ea typeface="Arial"/>
              <a:cs typeface="Arial"/>
              <a:sym typeface="Arial"/>
            </a:endParaRPr>
          </a:p>
        </p:txBody>
      </p:sp>
      <p:sp>
        <p:nvSpPr>
          <p:cNvPr id="224" name="Google Shape;224;g25c689ae274_0_1"/>
          <p:cNvSpPr txBox="1"/>
          <p:nvPr/>
        </p:nvSpPr>
        <p:spPr>
          <a:xfrm>
            <a:off x="6983292" y="2252054"/>
            <a:ext cx="4578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s-ES" sz="2600" u="none" cap="none" strike="noStrike">
                <a:solidFill>
                  <a:srgbClr val="040C28"/>
                </a:solidFill>
                <a:latin typeface="Patrick Hand"/>
                <a:ea typeface="Patrick Hand"/>
                <a:cs typeface="Patrick Hand"/>
                <a:sym typeface="Patrick Hand"/>
              </a:rPr>
              <a:t>Multiplicas el 2 por las 2U </a:t>
            </a:r>
            <a:endParaRPr b="0" i="0" sz="2600" u="none" cap="none" strike="noStrike">
              <a:solidFill>
                <a:srgbClr val="040C28"/>
              </a:solidFill>
              <a:latin typeface="Patrick Hand"/>
              <a:ea typeface="Patrick Hand"/>
              <a:cs typeface="Patrick Hand"/>
              <a:sym typeface="Patrick Hand"/>
            </a:endParaRPr>
          </a:p>
        </p:txBody>
      </p:sp>
      <p:sp>
        <p:nvSpPr>
          <p:cNvPr id="225" name="Google Shape;225;g25c689ae274_0_1"/>
          <p:cNvSpPr txBox="1"/>
          <p:nvPr/>
        </p:nvSpPr>
        <p:spPr>
          <a:xfrm>
            <a:off x="6646975" y="2836075"/>
            <a:ext cx="5355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s-ES" sz="2600" u="none" cap="none" strike="noStrike">
                <a:solidFill>
                  <a:srgbClr val="040C28"/>
                </a:solidFill>
                <a:latin typeface="Patrick Hand"/>
                <a:ea typeface="Patrick Hand"/>
                <a:cs typeface="Patrick Hand"/>
                <a:sym typeface="Patrick Hand"/>
              </a:rPr>
              <a:t>2 x 2U = 4U → </a:t>
            </a:r>
            <a:r>
              <a:rPr lang="es-ES" sz="2600">
                <a:solidFill>
                  <a:srgbClr val="040C28"/>
                </a:solidFill>
                <a:latin typeface="Patrick Hand"/>
                <a:ea typeface="Patrick Hand"/>
                <a:cs typeface="Patrick Hand"/>
                <a:sym typeface="Patrick Hand"/>
              </a:rPr>
              <a:t>Se e</a:t>
            </a:r>
            <a:r>
              <a:rPr b="0" i="0" lang="es-ES" sz="2600" u="none" cap="none" strike="noStrike">
                <a:solidFill>
                  <a:srgbClr val="040C28"/>
                </a:solidFill>
                <a:latin typeface="Patrick Hand"/>
                <a:ea typeface="Patrick Hand"/>
                <a:cs typeface="Patrick Hand"/>
                <a:sym typeface="Patrick Hand"/>
              </a:rPr>
              <a:t>scriben debajo de las U</a:t>
            </a:r>
            <a:endParaRPr b="0" i="0" sz="2600" u="none" cap="none" strike="noStrike">
              <a:solidFill>
                <a:srgbClr val="040C28"/>
              </a:solidFill>
              <a:latin typeface="Patrick Hand"/>
              <a:ea typeface="Patrick Hand"/>
              <a:cs typeface="Patrick Hand"/>
              <a:sym typeface="Patrick Hand"/>
            </a:endParaRPr>
          </a:p>
        </p:txBody>
      </p:sp>
      <p:sp>
        <p:nvSpPr>
          <p:cNvPr id="226" name="Google Shape;226;g25c689ae274_0_1"/>
          <p:cNvSpPr txBox="1"/>
          <p:nvPr/>
        </p:nvSpPr>
        <p:spPr>
          <a:xfrm>
            <a:off x="6841400" y="4159738"/>
            <a:ext cx="48618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ES" sz="2600" u="none" cap="none" strike="noStrike">
                <a:solidFill>
                  <a:srgbClr val="040C28"/>
                </a:solidFill>
                <a:latin typeface="Patrick Hand"/>
                <a:ea typeface="Patrick Hand"/>
                <a:cs typeface="Patrick Hand"/>
                <a:sym typeface="Patrick Hand"/>
              </a:rPr>
              <a:t>Multiplicas el 2 por 1D</a:t>
            </a:r>
            <a:endParaRPr b="0" i="0" sz="2600" u="none" cap="none" strike="noStrike">
              <a:solidFill>
                <a:srgbClr val="040C28"/>
              </a:solidFill>
              <a:latin typeface="Patrick Hand"/>
              <a:ea typeface="Patrick Hand"/>
              <a:cs typeface="Patrick Hand"/>
              <a:sym typeface="Patrick Hand"/>
            </a:endParaRPr>
          </a:p>
        </p:txBody>
      </p:sp>
      <p:sp>
        <p:nvSpPr>
          <p:cNvPr id="227" name="Google Shape;227;g25c689ae274_0_1"/>
          <p:cNvSpPr txBox="1"/>
          <p:nvPr/>
        </p:nvSpPr>
        <p:spPr>
          <a:xfrm>
            <a:off x="6744425" y="4615075"/>
            <a:ext cx="5355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ES" sz="2600" u="none" cap="none" strike="noStrike">
                <a:solidFill>
                  <a:srgbClr val="040C28"/>
                </a:solidFill>
                <a:latin typeface="Patrick Hand"/>
                <a:ea typeface="Patrick Hand"/>
                <a:cs typeface="Patrick Hand"/>
                <a:sym typeface="Patrick Hand"/>
              </a:rPr>
              <a:t>2 x 1D = 2D → </a:t>
            </a:r>
            <a:r>
              <a:rPr lang="es-ES" sz="2600">
                <a:solidFill>
                  <a:srgbClr val="040C28"/>
                </a:solidFill>
                <a:latin typeface="Patrick Hand"/>
                <a:ea typeface="Patrick Hand"/>
                <a:cs typeface="Patrick Hand"/>
                <a:sym typeface="Patrick Hand"/>
              </a:rPr>
              <a:t>Se e</a:t>
            </a:r>
            <a:r>
              <a:rPr b="0" i="0" lang="es-ES" sz="2600" u="none" cap="none" strike="noStrike">
                <a:solidFill>
                  <a:srgbClr val="040C28"/>
                </a:solidFill>
                <a:latin typeface="Patrick Hand"/>
                <a:ea typeface="Patrick Hand"/>
                <a:cs typeface="Patrick Hand"/>
                <a:sym typeface="Patrick Hand"/>
              </a:rPr>
              <a:t>scriben debajo de las D. </a:t>
            </a:r>
            <a:endParaRPr b="0" i="0" sz="2600" u="none" cap="none" strike="noStrike">
              <a:solidFill>
                <a:srgbClr val="040C28"/>
              </a:solidFill>
              <a:latin typeface="Patrick Hand"/>
              <a:ea typeface="Patrick Hand"/>
              <a:cs typeface="Patrick Hand"/>
              <a:sym typeface="Patrick Hand"/>
            </a:endParaRPr>
          </a:p>
        </p:txBody>
      </p:sp>
      <p:cxnSp>
        <p:nvCxnSpPr>
          <p:cNvPr id="228" name="Google Shape;228;g25c689ae274_0_1"/>
          <p:cNvCxnSpPr/>
          <p:nvPr/>
        </p:nvCxnSpPr>
        <p:spPr>
          <a:xfrm>
            <a:off x="8396816" y="1833340"/>
            <a:ext cx="0" cy="405300"/>
          </a:xfrm>
          <a:prstGeom prst="straightConnector1">
            <a:avLst/>
          </a:prstGeom>
          <a:noFill/>
          <a:ln cap="flat" cmpd="sng" w="28575">
            <a:solidFill>
              <a:srgbClr val="009287"/>
            </a:solidFill>
            <a:prstDash val="solid"/>
            <a:round/>
            <a:headEnd len="sm" w="sm" type="none"/>
            <a:tailEnd len="med" w="med" type="triangle"/>
          </a:ln>
        </p:spPr>
      </p:cxnSp>
      <p:cxnSp>
        <p:nvCxnSpPr>
          <p:cNvPr id="229" name="Google Shape;229;g25c689ae274_0_1"/>
          <p:cNvCxnSpPr/>
          <p:nvPr/>
        </p:nvCxnSpPr>
        <p:spPr>
          <a:xfrm>
            <a:off x="8396819" y="3896083"/>
            <a:ext cx="0" cy="405300"/>
          </a:xfrm>
          <a:prstGeom prst="straightConnector1">
            <a:avLst/>
          </a:prstGeom>
          <a:noFill/>
          <a:ln cap="flat" cmpd="sng" w="28575">
            <a:solidFill>
              <a:srgbClr val="009287"/>
            </a:solidFill>
            <a:prstDash val="solid"/>
            <a:round/>
            <a:headEnd len="sm" w="sm" type="none"/>
            <a:tailEnd len="med" w="med" type="triangle"/>
          </a:ln>
        </p:spPr>
      </p:cxnSp>
      <p:sp>
        <p:nvSpPr>
          <p:cNvPr id="230" name="Google Shape;230;g25c689ae274_0_1"/>
          <p:cNvSpPr txBox="1"/>
          <p:nvPr/>
        </p:nvSpPr>
        <p:spPr>
          <a:xfrm>
            <a:off x="6983292" y="3409620"/>
            <a:ext cx="52086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s-ES" sz="2600" u="none" cap="none" strike="noStrike">
                <a:solidFill>
                  <a:srgbClr val="040C28"/>
                </a:solidFill>
                <a:latin typeface="Patrick Hand"/>
                <a:ea typeface="Patrick Hand"/>
                <a:cs typeface="Patrick Hand"/>
                <a:sym typeface="Patrick Hand"/>
              </a:rPr>
              <a:t>¿Cuál es el segundo paso?</a:t>
            </a:r>
            <a:endParaRPr b="0" i="0" sz="2600" u="none" cap="none" strike="noStrike">
              <a:solidFill>
                <a:srgbClr val="000000"/>
              </a:solidFill>
              <a:latin typeface="Arial"/>
              <a:ea typeface="Arial"/>
              <a:cs typeface="Arial"/>
              <a:sym typeface="Arial"/>
            </a:endParaRPr>
          </a:p>
        </p:txBody>
      </p:sp>
      <p:sp>
        <p:nvSpPr>
          <p:cNvPr id="231" name="Google Shape;231;g25c689ae274_0_1"/>
          <p:cNvSpPr txBox="1"/>
          <p:nvPr/>
        </p:nvSpPr>
        <p:spPr>
          <a:xfrm>
            <a:off x="3261600" y="2450800"/>
            <a:ext cx="540600" cy="815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100"/>
              <a:buFont typeface="Arial"/>
              <a:buNone/>
            </a:pPr>
            <a:r>
              <a:rPr b="0" i="0" lang="es-ES" sz="4100" u="none" cap="none" strike="noStrike">
                <a:solidFill>
                  <a:srgbClr val="000000"/>
                </a:solidFill>
                <a:latin typeface="Patrick Hand"/>
                <a:ea typeface="Patrick Hand"/>
                <a:cs typeface="Patrick Hand"/>
                <a:sym typeface="Patrick Hand"/>
              </a:rPr>
              <a:t>4</a:t>
            </a:r>
            <a:endParaRPr b="0" i="0" sz="4100" u="none" cap="none" strike="noStrike">
              <a:solidFill>
                <a:srgbClr val="000000"/>
              </a:solidFill>
              <a:latin typeface="Patrick Hand"/>
              <a:ea typeface="Patrick Hand"/>
              <a:cs typeface="Patrick Hand"/>
              <a:sym typeface="Patrick Hand"/>
            </a:endParaRPr>
          </a:p>
        </p:txBody>
      </p:sp>
      <p:sp>
        <p:nvSpPr>
          <p:cNvPr id="232" name="Google Shape;232;g25c689ae274_0_1"/>
          <p:cNvSpPr txBox="1"/>
          <p:nvPr/>
        </p:nvSpPr>
        <p:spPr>
          <a:xfrm>
            <a:off x="2863225" y="2450800"/>
            <a:ext cx="540600" cy="815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100"/>
              <a:buFont typeface="Arial"/>
              <a:buNone/>
            </a:pPr>
            <a:r>
              <a:rPr b="0" i="0" lang="es-ES" sz="4100" u="none" cap="none" strike="noStrike">
                <a:solidFill>
                  <a:srgbClr val="000000"/>
                </a:solidFill>
                <a:latin typeface="Patrick Hand"/>
                <a:ea typeface="Patrick Hand"/>
                <a:cs typeface="Patrick Hand"/>
                <a:sym typeface="Patrick Hand"/>
              </a:rPr>
              <a:t>2</a:t>
            </a:r>
            <a:endParaRPr b="0" i="0" sz="4100" u="none" cap="none" strike="noStrike">
              <a:solidFill>
                <a:srgbClr val="000000"/>
              </a:solidFill>
              <a:latin typeface="Patrick Hand"/>
              <a:ea typeface="Patrick Hand"/>
              <a:cs typeface="Patrick Hand"/>
              <a:sym typeface="Patrick Hand"/>
            </a:endParaRPr>
          </a:p>
        </p:txBody>
      </p:sp>
      <p:sp>
        <p:nvSpPr>
          <p:cNvPr id="233" name="Google Shape;233;g25c689ae274_0_1"/>
          <p:cNvSpPr txBox="1"/>
          <p:nvPr/>
        </p:nvSpPr>
        <p:spPr>
          <a:xfrm>
            <a:off x="5307550" y="1955150"/>
            <a:ext cx="750900" cy="815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100"/>
              <a:buFont typeface="Arial"/>
              <a:buNone/>
            </a:pPr>
            <a:r>
              <a:rPr b="0" i="0" lang="es-ES" sz="4100" u="none" cap="none" strike="noStrike">
                <a:solidFill>
                  <a:srgbClr val="000000"/>
                </a:solidFill>
                <a:latin typeface="Patrick Hand"/>
                <a:ea typeface="Patrick Hand"/>
                <a:cs typeface="Patrick Hand"/>
                <a:sym typeface="Patrick Hand"/>
              </a:rPr>
              <a:t>24</a:t>
            </a:r>
            <a:endParaRPr b="0" i="0" sz="4100" u="none" cap="none" strike="noStrike">
              <a:solidFill>
                <a:srgbClr val="000000"/>
              </a:solidFill>
              <a:latin typeface="Patrick Hand"/>
              <a:ea typeface="Patrick Hand"/>
              <a:cs typeface="Patrick Hand"/>
              <a:sym typeface="Patrick Hand"/>
            </a:endParaRPr>
          </a:p>
        </p:txBody>
      </p:sp>
      <p:sp>
        <p:nvSpPr>
          <p:cNvPr id="234" name="Google Shape;234;g25c689ae274_0_1"/>
          <p:cNvSpPr txBox="1"/>
          <p:nvPr/>
        </p:nvSpPr>
        <p:spPr>
          <a:xfrm>
            <a:off x="7117917" y="5178070"/>
            <a:ext cx="52086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40C28"/>
                </a:solidFill>
                <a:latin typeface="Patrick Hand"/>
                <a:ea typeface="Patrick Hand"/>
                <a:cs typeface="Patrick Hand"/>
                <a:sym typeface="Patrick Hand"/>
              </a:rPr>
              <a:t>¿Cuál es el último paso?</a:t>
            </a:r>
            <a:endParaRPr b="0" i="0" sz="2500" u="none" cap="none" strike="noStrike">
              <a:solidFill>
                <a:srgbClr val="000000"/>
              </a:solidFill>
              <a:latin typeface="Arial"/>
              <a:ea typeface="Arial"/>
              <a:cs typeface="Arial"/>
              <a:sym typeface="Arial"/>
            </a:endParaRPr>
          </a:p>
        </p:txBody>
      </p:sp>
      <p:cxnSp>
        <p:nvCxnSpPr>
          <p:cNvPr id="235" name="Google Shape;235;g25c689ae274_0_1"/>
          <p:cNvCxnSpPr/>
          <p:nvPr/>
        </p:nvCxnSpPr>
        <p:spPr>
          <a:xfrm>
            <a:off x="8473019" y="5648683"/>
            <a:ext cx="0" cy="405300"/>
          </a:xfrm>
          <a:prstGeom prst="straightConnector1">
            <a:avLst/>
          </a:prstGeom>
          <a:noFill/>
          <a:ln cap="flat" cmpd="sng" w="28575">
            <a:solidFill>
              <a:srgbClr val="009287"/>
            </a:solidFill>
            <a:prstDash val="solid"/>
            <a:round/>
            <a:headEnd len="sm" w="sm" type="none"/>
            <a:tailEnd len="med" w="med" type="triangle"/>
          </a:ln>
        </p:spPr>
      </p:cxnSp>
      <p:sp>
        <p:nvSpPr>
          <p:cNvPr id="236" name="Google Shape;236;g25c689ae274_0_1"/>
          <p:cNvSpPr txBox="1"/>
          <p:nvPr/>
        </p:nvSpPr>
        <p:spPr>
          <a:xfrm>
            <a:off x="7117925" y="5893475"/>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40C28"/>
                </a:solidFill>
                <a:latin typeface="Patrick Hand"/>
                <a:ea typeface="Patrick Hand"/>
                <a:cs typeface="Patrick Hand"/>
                <a:sym typeface="Patrick Hand"/>
              </a:rPr>
              <a:t>Escribir la respuesta: 24</a:t>
            </a:r>
            <a:endParaRPr b="0" i="0" sz="1500" u="none" cap="none" strike="noStrike">
              <a:solidFill>
                <a:srgbClr val="000000"/>
              </a:solidFill>
              <a:latin typeface="Arial"/>
              <a:ea typeface="Arial"/>
              <a:cs typeface="Arial"/>
              <a:sym typeface="Arial"/>
            </a:endParaRPr>
          </a:p>
        </p:txBody>
      </p:sp>
      <p:sp>
        <p:nvSpPr>
          <p:cNvPr id="237" name="Google Shape;237;g25c689ae274_0_1"/>
          <p:cNvSpPr/>
          <p:nvPr/>
        </p:nvSpPr>
        <p:spPr>
          <a:xfrm>
            <a:off x="1901050" y="1439125"/>
            <a:ext cx="4406100" cy="2457000"/>
          </a:xfrm>
          <a:prstGeom prst="roundRect">
            <a:avLst>
              <a:gd fmla="val 16667" name="adj"/>
            </a:avLst>
          </a:prstGeom>
          <a:noFill/>
          <a:ln cap="flat" cmpd="sng" w="38100">
            <a:solidFill>
              <a:srgbClr val="00928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8" name="Google Shape;238;g25c689ae274_0_1"/>
          <p:cNvPicPr preferRelativeResize="0"/>
          <p:nvPr/>
        </p:nvPicPr>
        <p:blipFill>
          <a:blip r:embed="rId4">
            <a:alphaModFix/>
          </a:blip>
          <a:stretch>
            <a:fillRect/>
          </a:stretch>
        </p:blipFill>
        <p:spPr>
          <a:xfrm>
            <a:off x="11081375" y="5133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descr="Forma&#10;&#10;Descripción generada automáticamente con confianza media" id="243" name="Google Shape;243;g25d269e0e38_0_5"/>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44" name="Google Shape;244;g25d269e0e38_0_5"/>
          <p:cNvSpPr txBox="1"/>
          <p:nvPr/>
        </p:nvSpPr>
        <p:spPr>
          <a:xfrm>
            <a:off x="235250" y="212600"/>
            <a:ext cx="14275800" cy="13545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3300"/>
              <a:buFont typeface="Arial"/>
              <a:buNone/>
            </a:pPr>
            <a:r>
              <a:rPr b="1" i="0" lang="es-ES" sz="3300" u="none" cap="none" strike="noStrike">
                <a:solidFill>
                  <a:srgbClr val="040C28"/>
                </a:solidFill>
                <a:latin typeface="Patrick Hand"/>
                <a:ea typeface="Patrick Hand"/>
                <a:cs typeface="Patrick Hand"/>
                <a:sym typeface="Patrick Hand"/>
              </a:rPr>
              <a:t>Ejercicio</a:t>
            </a:r>
            <a:r>
              <a:rPr b="0" i="0" lang="es-ES" sz="2900" u="none" cap="none" strike="noStrike">
                <a:solidFill>
                  <a:srgbClr val="040C28"/>
                </a:solidFill>
                <a:latin typeface="Patrick Hand"/>
                <a:ea typeface="Patrick Hand"/>
                <a:cs typeface="Patrick Hand"/>
                <a:sym typeface="Patrick Hand"/>
              </a:rPr>
              <a:t>: </a:t>
            </a:r>
            <a:endParaRPr b="0" i="0" sz="2900" u="none" cap="none" strike="noStrike">
              <a:solidFill>
                <a:srgbClr val="040C28"/>
              </a:solidFill>
              <a:latin typeface="Patrick Hand"/>
              <a:ea typeface="Patrick Hand"/>
              <a:cs typeface="Patrick Hand"/>
              <a:sym typeface="Patrick Hand"/>
            </a:endParaRPr>
          </a:p>
          <a:p>
            <a:pPr indent="-412750" lvl="0" marL="457200" marR="0" rtl="0" algn="l">
              <a:lnSpc>
                <a:spcPct val="100000"/>
              </a:lnSpc>
              <a:spcBef>
                <a:spcPts val="0"/>
              </a:spcBef>
              <a:spcAft>
                <a:spcPts val="0"/>
              </a:spcAft>
              <a:buClr>
                <a:srgbClr val="040C28"/>
              </a:buClr>
              <a:buSzPts val="2900"/>
              <a:buFont typeface="Patrick Hand"/>
              <a:buChar char="-"/>
            </a:pPr>
            <a:r>
              <a:rPr b="0" i="0" lang="es-ES" sz="2900" u="none" cap="none" strike="noStrike">
                <a:solidFill>
                  <a:srgbClr val="040C28"/>
                </a:solidFill>
                <a:latin typeface="Patrick Hand"/>
                <a:ea typeface="Patrick Hand"/>
                <a:cs typeface="Patrick Hand"/>
                <a:sym typeface="Patrick Hand"/>
              </a:rPr>
              <a:t>Abre tu cuaderno y resuelve los siguientes ejercicios utilizando el algoritmo. </a:t>
            </a:r>
            <a:endParaRPr b="0" i="0" sz="2900" u="none" cap="none" strike="noStrike">
              <a:solidFill>
                <a:srgbClr val="040C28"/>
              </a:solidFill>
              <a:latin typeface="Patrick Hand"/>
              <a:ea typeface="Patrick Hand"/>
              <a:cs typeface="Patrick Hand"/>
              <a:sym typeface="Patrick Hand"/>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g25d269e0e38_0_5"/>
          <p:cNvSpPr txBox="1"/>
          <p:nvPr/>
        </p:nvSpPr>
        <p:spPr>
          <a:xfrm>
            <a:off x="2461725" y="1459475"/>
            <a:ext cx="3993900" cy="50334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42    x    2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33    x    3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23    x    3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11     x    5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14     x    2   =</a:t>
            </a:r>
            <a:endParaRPr b="0" i="0" sz="3500" u="none" cap="none" strike="noStrike">
              <a:solidFill>
                <a:srgbClr val="040C28"/>
              </a:solidFill>
              <a:latin typeface="Patrick Hand"/>
              <a:ea typeface="Patrick Hand"/>
              <a:cs typeface="Patrick Hand"/>
              <a:sym typeface="Patrick Hand"/>
            </a:endParaRPr>
          </a:p>
        </p:txBody>
      </p:sp>
      <p:sp>
        <p:nvSpPr>
          <p:cNvPr id="246" name="Google Shape;246;g25d269e0e38_0_5"/>
          <p:cNvSpPr txBox="1"/>
          <p:nvPr/>
        </p:nvSpPr>
        <p:spPr>
          <a:xfrm>
            <a:off x="5575825" y="1459475"/>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84</a:t>
            </a:r>
            <a:endParaRPr b="0" i="0" sz="1400" u="none" cap="none" strike="noStrike">
              <a:solidFill>
                <a:srgbClr val="000000"/>
              </a:solidFill>
              <a:latin typeface="Arial"/>
              <a:ea typeface="Arial"/>
              <a:cs typeface="Arial"/>
              <a:sym typeface="Arial"/>
            </a:endParaRPr>
          </a:p>
        </p:txBody>
      </p:sp>
      <p:sp>
        <p:nvSpPr>
          <p:cNvPr id="247" name="Google Shape;247;g25d269e0e38_0_5"/>
          <p:cNvSpPr txBox="1"/>
          <p:nvPr/>
        </p:nvSpPr>
        <p:spPr>
          <a:xfrm>
            <a:off x="5575825" y="2574100"/>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99</a:t>
            </a:r>
            <a:endParaRPr b="0" i="0" sz="3500" u="none" cap="none" strike="noStrike">
              <a:solidFill>
                <a:srgbClr val="040C28"/>
              </a:solidFill>
              <a:latin typeface="Patrick Hand"/>
              <a:ea typeface="Patrick Hand"/>
              <a:cs typeface="Patrick Hand"/>
              <a:sym typeface="Patrick Hand"/>
            </a:endParaRPr>
          </a:p>
        </p:txBody>
      </p:sp>
      <p:sp>
        <p:nvSpPr>
          <p:cNvPr id="248" name="Google Shape;248;g25d269e0e38_0_5"/>
          <p:cNvSpPr txBox="1"/>
          <p:nvPr/>
        </p:nvSpPr>
        <p:spPr>
          <a:xfrm>
            <a:off x="5575825" y="3688725"/>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69</a:t>
            </a:r>
            <a:endParaRPr b="0" i="0" sz="1400" u="none" cap="none" strike="noStrike">
              <a:solidFill>
                <a:srgbClr val="000000"/>
              </a:solidFill>
              <a:latin typeface="Arial"/>
              <a:ea typeface="Arial"/>
              <a:cs typeface="Arial"/>
              <a:sym typeface="Arial"/>
            </a:endParaRPr>
          </a:p>
        </p:txBody>
      </p:sp>
      <p:sp>
        <p:nvSpPr>
          <p:cNvPr id="249" name="Google Shape;249;g25d269e0e38_0_5"/>
          <p:cNvSpPr txBox="1"/>
          <p:nvPr/>
        </p:nvSpPr>
        <p:spPr>
          <a:xfrm>
            <a:off x="5575825" y="4621950"/>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55</a:t>
            </a:r>
            <a:endParaRPr b="0" i="0" sz="1400" u="none" cap="none" strike="noStrike">
              <a:solidFill>
                <a:srgbClr val="000000"/>
              </a:solidFill>
              <a:latin typeface="Arial"/>
              <a:ea typeface="Arial"/>
              <a:cs typeface="Arial"/>
              <a:sym typeface="Arial"/>
            </a:endParaRPr>
          </a:p>
        </p:txBody>
      </p:sp>
      <p:sp>
        <p:nvSpPr>
          <p:cNvPr id="250" name="Google Shape;250;g25d269e0e38_0_5"/>
          <p:cNvSpPr txBox="1"/>
          <p:nvPr/>
        </p:nvSpPr>
        <p:spPr>
          <a:xfrm>
            <a:off x="5575825" y="5769575"/>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28</a:t>
            </a:r>
            <a:endParaRPr b="0" i="0" sz="1400" u="none" cap="none" strike="noStrike">
              <a:solidFill>
                <a:srgbClr val="000000"/>
              </a:solidFill>
              <a:latin typeface="Arial"/>
              <a:ea typeface="Arial"/>
              <a:cs typeface="Arial"/>
              <a:sym typeface="Arial"/>
            </a:endParaRPr>
          </a:p>
        </p:txBody>
      </p:sp>
      <p:sp>
        <p:nvSpPr>
          <p:cNvPr id="251" name="Google Shape;251;g25d269e0e38_0_5"/>
          <p:cNvSpPr txBox="1"/>
          <p:nvPr/>
        </p:nvSpPr>
        <p:spPr>
          <a:xfrm>
            <a:off x="2575813" y="1287275"/>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40C28"/>
                </a:solidFill>
                <a:latin typeface="Patrick Hand"/>
                <a:ea typeface="Patrick Hand"/>
                <a:cs typeface="Patrick Hand"/>
                <a:sym typeface="Patrick Hand"/>
              </a:rPr>
              <a:t>    D  U</a:t>
            </a:r>
            <a:endParaRPr b="0" i="0" sz="700" u="none" cap="none" strike="noStrike">
              <a:solidFill>
                <a:srgbClr val="000000"/>
              </a:solidFill>
              <a:latin typeface="Arial"/>
              <a:ea typeface="Arial"/>
              <a:cs typeface="Arial"/>
              <a:sym typeface="Arial"/>
            </a:endParaRPr>
          </a:p>
        </p:txBody>
      </p:sp>
      <p:sp>
        <p:nvSpPr>
          <p:cNvPr id="252" name="Google Shape;252;g25d269e0e38_0_5"/>
          <p:cNvSpPr txBox="1"/>
          <p:nvPr/>
        </p:nvSpPr>
        <p:spPr>
          <a:xfrm>
            <a:off x="2658238" y="2366313"/>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40C28"/>
                </a:solidFill>
                <a:latin typeface="Patrick Hand"/>
                <a:ea typeface="Patrick Hand"/>
                <a:cs typeface="Patrick Hand"/>
                <a:sym typeface="Patrick Hand"/>
              </a:rPr>
              <a:t>    D  U</a:t>
            </a:r>
            <a:endParaRPr b="0" i="0" sz="700" u="none" cap="none" strike="noStrike">
              <a:solidFill>
                <a:srgbClr val="000000"/>
              </a:solidFill>
              <a:latin typeface="Arial"/>
              <a:ea typeface="Arial"/>
              <a:cs typeface="Arial"/>
              <a:sym typeface="Arial"/>
            </a:endParaRPr>
          </a:p>
        </p:txBody>
      </p:sp>
      <p:sp>
        <p:nvSpPr>
          <p:cNvPr id="253" name="Google Shape;253;g25d269e0e38_0_5"/>
          <p:cNvSpPr txBox="1"/>
          <p:nvPr/>
        </p:nvSpPr>
        <p:spPr>
          <a:xfrm>
            <a:off x="2658238" y="3406725"/>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40C28"/>
                </a:solidFill>
                <a:latin typeface="Patrick Hand"/>
                <a:ea typeface="Patrick Hand"/>
                <a:cs typeface="Patrick Hand"/>
                <a:sym typeface="Patrick Hand"/>
              </a:rPr>
              <a:t>    D  U</a:t>
            </a:r>
            <a:endParaRPr b="0" i="0" sz="700" u="none" cap="none" strike="noStrike">
              <a:solidFill>
                <a:srgbClr val="000000"/>
              </a:solidFill>
              <a:latin typeface="Arial"/>
              <a:ea typeface="Arial"/>
              <a:cs typeface="Arial"/>
              <a:sym typeface="Arial"/>
            </a:endParaRPr>
          </a:p>
        </p:txBody>
      </p:sp>
      <p:sp>
        <p:nvSpPr>
          <p:cNvPr id="254" name="Google Shape;254;g25d269e0e38_0_5"/>
          <p:cNvSpPr txBox="1"/>
          <p:nvPr/>
        </p:nvSpPr>
        <p:spPr>
          <a:xfrm>
            <a:off x="2658238" y="4447125"/>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40C28"/>
                </a:solidFill>
                <a:latin typeface="Patrick Hand"/>
                <a:ea typeface="Patrick Hand"/>
                <a:cs typeface="Patrick Hand"/>
                <a:sym typeface="Patrick Hand"/>
              </a:rPr>
              <a:t>    D  U</a:t>
            </a:r>
            <a:endParaRPr b="0" i="0" sz="700" u="none" cap="none" strike="noStrike">
              <a:solidFill>
                <a:srgbClr val="000000"/>
              </a:solidFill>
              <a:latin typeface="Arial"/>
              <a:ea typeface="Arial"/>
              <a:cs typeface="Arial"/>
              <a:sym typeface="Arial"/>
            </a:endParaRPr>
          </a:p>
        </p:txBody>
      </p:sp>
      <p:sp>
        <p:nvSpPr>
          <p:cNvPr id="255" name="Google Shape;255;g25d269e0e38_0_5"/>
          <p:cNvSpPr txBox="1"/>
          <p:nvPr/>
        </p:nvSpPr>
        <p:spPr>
          <a:xfrm>
            <a:off x="2658238" y="5555175"/>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40C28"/>
                </a:solidFill>
                <a:latin typeface="Patrick Hand"/>
                <a:ea typeface="Patrick Hand"/>
                <a:cs typeface="Patrick Hand"/>
                <a:sym typeface="Patrick Hand"/>
              </a:rPr>
              <a:t>    D  U</a:t>
            </a:r>
            <a:endParaRPr b="0" i="0" sz="700" u="none" cap="none" strike="noStrike">
              <a:solidFill>
                <a:srgbClr val="000000"/>
              </a:solidFill>
              <a:latin typeface="Arial"/>
              <a:ea typeface="Arial"/>
              <a:cs typeface="Arial"/>
              <a:sym typeface="Arial"/>
            </a:endParaRPr>
          </a:p>
        </p:txBody>
      </p:sp>
      <p:pic>
        <p:nvPicPr>
          <p:cNvPr id="256" name="Google Shape;256;g25d269e0e38_0_5"/>
          <p:cNvPicPr preferRelativeResize="0"/>
          <p:nvPr/>
        </p:nvPicPr>
        <p:blipFill>
          <a:blip r:embed="rId4">
            <a:alphaModFix/>
          </a:blip>
          <a:stretch>
            <a:fillRect/>
          </a:stretch>
        </p:blipFill>
        <p:spPr>
          <a:xfrm>
            <a:off x="11081375" y="52215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237f15b63d7_0_11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descr="Forma&#10;&#10;Descripción generada automáticamente con confianza media" id="262" name="Google Shape;262;g237f15b63d7_0_118"/>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63" name="Google Shape;263;g237f15b63d7_0_118"/>
          <p:cNvSpPr txBox="1"/>
          <p:nvPr/>
        </p:nvSpPr>
        <p:spPr>
          <a:xfrm>
            <a:off x="1032163" y="314614"/>
            <a:ext cx="9847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64" name="Google Shape;264;g237f15b63d7_0_118"/>
          <p:cNvSpPr txBox="1"/>
          <p:nvPr/>
        </p:nvSpPr>
        <p:spPr>
          <a:xfrm>
            <a:off x="12125" y="423925"/>
            <a:ext cx="12192000" cy="161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lt1"/>
                </a:solidFill>
                <a:highlight>
                  <a:srgbClr val="009287"/>
                </a:highlight>
                <a:latin typeface="Patrick Hand"/>
                <a:ea typeface="Patrick Hand"/>
                <a:cs typeface="Patrick Hand"/>
                <a:sym typeface="Patrick Hand"/>
              </a:rPr>
              <a:t>3. Multiplicar números de 2 dígitos por n° de 1 dígito. </a:t>
            </a:r>
            <a:endParaRPr b="0" i="0" sz="4000" u="none" cap="none" strike="noStrike">
              <a:solidFill>
                <a:schemeClr val="lt1"/>
              </a:solidFill>
              <a:highlight>
                <a:srgbClr val="009287"/>
              </a:highlight>
              <a:latin typeface="Patrick Hand"/>
              <a:ea typeface="Patrick Hand"/>
              <a:cs typeface="Patrick Hand"/>
              <a:sym typeface="Patrick Hand"/>
            </a:endParaRPr>
          </a:p>
          <a:p>
            <a:pPr indent="0" lvl="0" marL="457200" marR="0" rtl="0" algn="l">
              <a:lnSpc>
                <a:spcPct val="100000"/>
              </a:lnSpc>
              <a:spcBef>
                <a:spcPts val="0"/>
              </a:spcBef>
              <a:spcAft>
                <a:spcPts val="0"/>
              </a:spcAft>
              <a:buNone/>
            </a:pPr>
            <a:r>
              <a:rPr lang="es-ES" sz="2900">
                <a:solidFill>
                  <a:schemeClr val="dk1"/>
                </a:solidFill>
                <a:latin typeface="Patrick Hand"/>
                <a:ea typeface="Patrick Hand"/>
                <a:cs typeface="Patrick Hand"/>
                <a:sym typeface="Patrick Hand"/>
              </a:rPr>
              <a:t>b. </a:t>
            </a:r>
            <a:r>
              <a:rPr b="0" i="0" lang="es-ES" sz="2900" u="none" cap="none" strike="noStrike">
                <a:solidFill>
                  <a:schemeClr val="dk1"/>
                </a:solidFill>
                <a:latin typeface="Patrick Hand"/>
                <a:ea typeface="Patrick Hand"/>
                <a:cs typeface="Patrick Hand"/>
                <a:sym typeface="Patrick Hand"/>
              </a:rPr>
              <a:t>Con reagrupar</a:t>
            </a:r>
            <a:endParaRPr b="0" i="1" sz="30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000"/>
              <a:buFont typeface="Arial"/>
              <a:buNone/>
            </a:pPr>
            <a:r>
              <a:rPr b="1" i="0" lang="es-ES" sz="3000" u="none" cap="none" strike="noStrike">
                <a:solidFill>
                  <a:schemeClr val="dk1"/>
                </a:solidFill>
                <a:latin typeface="Patrick Hand"/>
                <a:ea typeface="Patrick Hand"/>
                <a:cs typeface="Patrick Hand"/>
                <a:sym typeface="Patrick Hand"/>
              </a:rPr>
              <a:t>Ejemplo: </a:t>
            </a:r>
            <a:endParaRPr b="0" i="0" sz="4000" u="none" cap="none" strike="noStrike">
              <a:solidFill>
                <a:schemeClr val="dk1"/>
              </a:solidFill>
              <a:latin typeface="Patrick Hand"/>
              <a:ea typeface="Patrick Hand"/>
              <a:cs typeface="Patrick Hand"/>
              <a:sym typeface="Patrick Hand"/>
            </a:endParaRPr>
          </a:p>
        </p:txBody>
      </p:sp>
      <p:sp>
        <p:nvSpPr>
          <p:cNvPr id="265" name="Google Shape;265;g237f15b63d7_0_118"/>
          <p:cNvSpPr txBox="1"/>
          <p:nvPr/>
        </p:nvSpPr>
        <p:spPr>
          <a:xfrm>
            <a:off x="517500" y="2436338"/>
            <a:ext cx="2100600" cy="1283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28 x  4 =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t/>
            </a:r>
            <a:endParaRPr b="0" i="0" sz="3600" u="none" cap="none" strike="noStrike">
              <a:solidFill>
                <a:schemeClr val="dk1"/>
              </a:solidFill>
              <a:latin typeface="Patrick Hand"/>
              <a:ea typeface="Patrick Hand"/>
              <a:cs typeface="Patrick Hand"/>
              <a:sym typeface="Patrick Hand"/>
            </a:endParaRPr>
          </a:p>
        </p:txBody>
      </p:sp>
      <p:sp>
        <p:nvSpPr>
          <p:cNvPr id="266" name="Google Shape;266;g237f15b63d7_0_118"/>
          <p:cNvSpPr txBox="1"/>
          <p:nvPr/>
        </p:nvSpPr>
        <p:spPr>
          <a:xfrm>
            <a:off x="327400" y="1830763"/>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    D  U</a:t>
            </a:r>
            <a:endParaRPr b="0" i="0" sz="1200" u="none" cap="none" strike="noStrike">
              <a:solidFill>
                <a:srgbClr val="000000"/>
              </a:solidFill>
              <a:latin typeface="Arial"/>
              <a:ea typeface="Arial"/>
              <a:cs typeface="Arial"/>
              <a:sym typeface="Arial"/>
            </a:endParaRPr>
          </a:p>
        </p:txBody>
      </p:sp>
      <p:sp>
        <p:nvSpPr>
          <p:cNvPr id="267" name="Google Shape;267;g237f15b63d7_0_118"/>
          <p:cNvSpPr txBox="1"/>
          <p:nvPr/>
        </p:nvSpPr>
        <p:spPr>
          <a:xfrm>
            <a:off x="1660875" y="3881225"/>
            <a:ext cx="4219200" cy="16137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000000"/>
              </a:buClr>
              <a:buSzPts val="2400"/>
              <a:buFont typeface="Patrick Hand"/>
              <a:buAutoNum type="arabicPeriod"/>
            </a:pPr>
            <a:r>
              <a:rPr b="0" i="0" lang="es-ES" sz="2400" u="none" cap="none" strike="noStrike">
                <a:solidFill>
                  <a:srgbClr val="000000"/>
                </a:solidFill>
                <a:latin typeface="Patrick Hand"/>
                <a:ea typeface="Patrick Hand"/>
                <a:cs typeface="Patrick Hand"/>
                <a:sym typeface="Patrick Hand"/>
              </a:rPr>
              <a:t>Multiplico 4 x 8 U = 32U</a:t>
            </a:r>
            <a:endParaRPr b="0" i="0" sz="2400" u="none" cap="none" strike="noStrike">
              <a:solidFill>
                <a:srgbClr val="000000"/>
              </a:solidFill>
              <a:latin typeface="Patrick Hand"/>
              <a:ea typeface="Patrick Hand"/>
              <a:cs typeface="Patrick Hand"/>
              <a:sym typeface="Patrick Hand"/>
            </a:endParaRPr>
          </a:p>
          <a:p>
            <a:pPr indent="-381000" lvl="0" marL="457200" marR="0" rtl="0" algn="l">
              <a:lnSpc>
                <a:spcPct val="100000"/>
              </a:lnSpc>
              <a:spcBef>
                <a:spcPts val="0"/>
              </a:spcBef>
              <a:spcAft>
                <a:spcPts val="0"/>
              </a:spcAft>
              <a:buClr>
                <a:srgbClr val="000000"/>
              </a:buClr>
              <a:buSzPts val="2400"/>
              <a:buFont typeface="Patrick Hand"/>
              <a:buChar char="-"/>
            </a:pPr>
            <a:r>
              <a:rPr b="0" i="0" lang="es-ES" sz="2400" u="none" cap="none" strike="noStrike">
                <a:solidFill>
                  <a:srgbClr val="000000"/>
                </a:solidFill>
                <a:latin typeface="Patrick Hand"/>
                <a:ea typeface="Patrick Hand"/>
                <a:cs typeface="Patrick Hand"/>
                <a:sym typeface="Patrick Hand"/>
              </a:rPr>
              <a:t>Tengo que reagrupar las 32U</a:t>
            </a:r>
            <a:endParaRPr b="0" i="0" sz="2400" u="none" cap="none" strike="noStrike">
              <a:solidFill>
                <a:srgbClr val="000000"/>
              </a:solidFill>
              <a:latin typeface="Patrick Hand"/>
              <a:ea typeface="Patrick Hand"/>
              <a:cs typeface="Patrick Hand"/>
              <a:sym typeface="Patrick Hand"/>
            </a:endParaRPr>
          </a:p>
          <a:p>
            <a:pPr indent="-381000" lvl="0" marL="457200" marR="0" rtl="0" algn="l">
              <a:lnSpc>
                <a:spcPct val="100000"/>
              </a:lnSpc>
              <a:spcBef>
                <a:spcPts val="0"/>
              </a:spcBef>
              <a:spcAft>
                <a:spcPts val="0"/>
              </a:spcAft>
              <a:buClr>
                <a:srgbClr val="000000"/>
              </a:buClr>
              <a:buSzPts val="2400"/>
              <a:buFont typeface="Patrick Hand"/>
              <a:buChar char="-"/>
            </a:pPr>
            <a:r>
              <a:rPr b="0" i="0" lang="es-ES" sz="2400" u="none" cap="none" strike="noStrike">
                <a:solidFill>
                  <a:srgbClr val="000000"/>
                </a:solidFill>
                <a:latin typeface="Patrick Hand"/>
                <a:ea typeface="Patrick Hand"/>
                <a:cs typeface="Patrick Hand"/>
                <a:sym typeface="Patrick Hand"/>
              </a:rPr>
              <a:t>Me quedan 3 D y 2 U.</a:t>
            </a:r>
            <a:endParaRPr b="0" i="0" sz="2400" u="none" cap="none" strike="noStrike">
              <a:solidFill>
                <a:srgbClr val="000000"/>
              </a:solidFill>
              <a:latin typeface="Patrick Hand"/>
              <a:ea typeface="Patrick Hand"/>
              <a:cs typeface="Patrick Hand"/>
              <a:sym typeface="Patrick Hand"/>
            </a:endParaRPr>
          </a:p>
          <a:p>
            <a:pPr indent="-381000" lvl="0" marL="457200" marR="0" rtl="0" algn="l">
              <a:lnSpc>
                <a:spcPct val="100000"/>
              </a:lnSpc>
              <a:spcBef>
                <a:spcPts val="0"/>
              </a:spcBef>
              <a:spcAft>
                <a:spcPts val="0"/>
              </a:spcAft>
              <a:buClr>
                <a:srgbClr val="000000"/>
              </a:buClr>
              <a:buSzPts val="2400"/>
              <a:buFont typeface="Patrick Hand"/>
              <a:buChar char="-"/>
            </a:pPr>
            <a:r>
              <a:rPr b="0" i="0" lang="es-ES" sz="2400" u="none" cap="none" strike="noStrike">
                <a:solidFill>
                  <a:srgbClr val="000000"/>
                </a:solidFill>
                <a:latin typeface="Patrick Hand"/>
                <a:ea typeface="Patrick Hand"/>
                <a:cs typeface="Patrick Hand"/>
                <a:sym typeface="Patrick Hand"/>
              </a:rPr>
              <a:t>Escribo el 2 bajo las unidades y el 3 sobre las decenas. </a:t>
            </a:r>
            <a:endParaRPr b="0" i="0" sz="2400" u="none" cap="none" strike="noStrike">
              <a:solidFill>
                <a:srgbClr val="000000"/>
              </a:solidFill>
              <a:latin typeface="Patrick Hand"/>
              <a:ea typeface="Patrick Hand"/>
              <a:cs typeface="Patrick Hand"/>
              <a:sym typeface="Patrick Hand"/>
            </a:endParaRPr>
          </a:p>
        </p:txBody>
      </p:sp>
      <p:sp>
        <p:nvSpPr>
          <p:cNvPr id="268" name="Google Shape;268;g237f15b63d7_0_118"/>
          <p:cNvSpPr txBox="1"/>
          <p:nvPr/>
        </p:nvSpPr>
        <p:spPr>
          <a:xfrm>
            <a:off x="3390063" y="2470038"/>
            <a:ext cx="2100600" cy="1283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2 8 x  4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    2  </a:t>
            </a:r>
            <a:endParaRPr b="0" i="0" sz="3600" u="none" cap="none" strike="noStrike">
              <a:solidFill>
                <a:schemeClr val="dk1"/>
              </a:solidFill>
              <a:latin typeface="Patrick Hand"/>
              <a:ea typeface="Patrick Hand"/>
              <a:cs typeface="Patrick Hand"/>
              <a:sym typeface="Patrick Hand"/>
            </a:endParaRPr>
          </a:p>
        </p:txBody>
      </p:sp>
      <p:sp>
        <p:nvSpPr>
          <p:cNvPr id="269" name="Google Shape;269;g237f15b63d7_0_118"/>
          <p:cNvSpPr txBox="1"/>
          <p:nvPr/>
        </p:nvSpPr>
        <p:spPr>
          <a:xfrm>
            <a:off x="3230488" y="1830763"/>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    D  U</a:t>
            </a:r>
            <a:endParaRPr b="0" i="0" sz="1200" u="none" cap="none" strike="noStrike">
              <a:solidFill>
                <a:srgbClr val="000000"/>
              </a:solidFill>
              <a:latin typeface="Arial"/>
              <a:ea typeface="Arial"/>
              <a:cs typeface="Arial"/>
              <a:sym typeface="Arial"/>
            </a:endParaRPr>
          </a:p>
        </p:txBody>
      </p:sp>
      <p:sp>
        <p:nvSpPr>
          <p:cNvPr id="270" name="Google Shape;270;g237f15b63d7_0_118"/>
          <p:cNvSpPr txBox="1"/>
          <p:nvPr/>
        </p:nvSpPr>
        <p:spPr>
          <a:xfrm>
            <a:off x="9423225" y="2541400"/>
            <a:ext cx="2710200" cy="1283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2 8  x  4 = 112</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t/>
            </a:r>
            <a:endParaRPr b="0" i="0" sz="3600" u="none" cap="none" strike="noStrike">
              <a:solidFill>
                <a:schemeClr val="dk1"/>
              </a:solidFill>
              <a:latin typeface="Patrick Hand"/>
              <a:ea typeface="Patrick Hand"/>
              <a:cs typeface="Patrick Hand"/>
              <a:sym typeface="Patrick Hand"/>
            </a:endParaRPr>
          </a:p>
        </p:txBody>
      </p:sp>
      <p:sp>
        <p:nvSpPr>
          <p:cNvPr id="271" name="Google Shape;271;g237f15b63d7_0_118"/>
          <p:cNvSpPr txBox="1"/>
          <p:nvPr/>
        </p:nvSpPr>
        <p:spPr>
          <a:xfrm>
            <a:off x="9131300" y="1864900"/>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    D  U</a:t>
            </a:r>
            <a:endParaRPr b="0" i="0" sz="1200" u="none" cap="none" strike="noStrike">
              <a:solidFill>
                <a:srgbClr val="000000"/>
              </a:solidFill>
              <a:latin typeface="Arial"/>
              <a:ea typeface="Arial"/>
              <a:cs typeface="Arial"/>
              <a:sym typeface="Arial"/>
            </a:endParaRPr>
          </a:p>
        </p:txBody>
      </p:sp>
      <p:sp>
        <p:nvSpPr>
          <p:cNvPr id="272" name="Google Shape;272;g237f15b63d7_0_118"/>
          <p:cNvSpPr txBox="1"/>
          <p:nvPr/>
        </p:nvSpPr>
        <p:spPr>
          <a:xfrm>
            <a:off x="6131300" y="2424300"/>
            <a:ext cx="2728800" cy="1920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    2 8  x  4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 1 1 2</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t/>
            </a:r>
            <a:endParaRPr b="0" i="0" sz="3600" u="none" cap="none" strike="noStrike">
              <a:solidFill>
                <a:schemeClr val="dk1"/>
              </a:solidFill>
              <a:latin typeface="Patrick Hand"/>
              <a:ea typeface="Patrick Hand"/>
              <a:cs typeface="Patrick Hand"/>
              <a:sym typeface="Patrick Hand"/>
            </a:endParaRPr>
          </a:p>
        </p:txBody>
      </p:sp>
      <p:sp>
        <p:nvSpPr>
          <p:cNvPr id="273" name="Google Shape;273;g237f15b63d7_0_118"/>
          <p:cNvSpPr txBox="1"/>
          <p:nvPr/>
        </p:nvSpPr>
        <p:spPr>
          <a:xfrm>
            <a:off x="6230500" y="1864888"/>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    D  U</a:t>
            </a:r>
            <a:endParaRPr b="0" i="0" sz="1200" u="none" cap="none" strike="noStrike">
              <a:solidFill>
                <a:srgbClr val="000000"/>
              </a:solidFill>
              <a:latin typeface="Arial"/>
              <a:ea typeface="Arial"/>
              <a:cs typeface="Arial"/>
              <a:sym typeface="Arial"/>
            </a:endParaRPr>
          </a:p>
        </p:txBody>
      </p:sp>
      <p:sp>
        <p:nvSpPr>
          <p:cNvPr id="274" name="Google Shape;274;g237f15b63d7_0_118"/>
          <p:cNvSpPr txBox="1"/>
          <p:nvPr/>
        </p:nvSpPr>
        <p:spPr>
          <a:xfrm>
            <a:off x="5879976" y="3892525"/>
            <a:ext cx="3251400" cy="277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ES" sz="2400" u="none" cap="none" strike="noStrike">
                <a:solidFill>
                  <a:schemeClr val="dk1"/>
                </a:solidFill>
                <a:latin typeface="Patrick Hand"/>
                <a:ea typeface="Patrick Hand"/>
                <a:cs typeface="Patrick Hand"/>
                <a:sym typeface="Patrick Hand"/>
              </a:rPr>
              <a:t>2.   Multiplico 4 x 2 D = 8 D</a:t>
            </a:r>
            <a:endParaRPr b="0" i="0" sz="2400" u="none" cap="none" strike="noStrike">
              <a:solidFill>
                <a:schemeClr val="dk1"/>
              </a:solidFill>
              <a:latin typeface="Patrick Hand"/>
              <a:ea typeface="Patrick Hand"/>
              <a:cs typeface="Patrick Hand"/>
              <a:sym typeface="Patrick Hand"/>
            </a:endParaRPr>
          </a:p>
          <a:p>
            <a:pPr indent="-381000" lvl="0" marL="457200" marR="0" rtl="0" algn="l">
              <a:lnSpc>
                <a:spcPct val="100000"/>
              </a:lnSpc>
              <a:spcBef>
                <a:spcPts val="0"/>
              </a:spcBef>
              <a:spcAft>
                <a:spcPts val="0"/>
              </a:spcAft>
              <a:buClr>
                <a:schemeClr val="dk1"/>
              </a:buClr>
              <a:buSzPts val="2400"/>
              <a:buFont typeface="Patrick Hand"/>
              <a:buChar char="-"/>
            </a:pPr>
            <a:r>
              <a:rPr b="0" i="0" lang="es-ES" sz="2400" u="none" cap="none" strike="noStrike">
                <a:solidFill>
                  <a:schemeClr val="dk1"/>
                </a:solidFill>
                <a:latin typeface="Patrick Hand"/>
                <a:ea typeface="Patrick Hand"/>
                <a:cs typeface="Patrick Hand"/>
                <a:sym typeface="Patrick Hand"/>
              </a:rPr>
              <a:t>Le tengo que sumar las 3D que tengo de reserva</a:t>
            </a:r>
            <a:endParaRPr b="0" i="0" sz="2400" u="none" cap="none" strike="noStrike">
              <a:solidFill>
                <a:schemeClr val="dk1"/>
              </a:solidFill>
              <a:latin typeface="Patrick Hand"/>
              <a:ea typeface="Patrick Hand"/>
              <a:cs typeface="Patrick Hand"/>
              <a:sym typeface="Patrick Hand"/>
            </a:endParaRPr>
          </a:p>
          <a:p>
            <a:pPr indent="-381000" lvl="0" marL="457200" marR="0" rtl="0" algn="l">
              <a:lnSpc>
                <a:spcPct val="100000"/>
              </a:lnSpc>
              <a:spcBef>
                <a:spcPts val="0"/>
              </a:spcBef>
              <a:spcAft>
                <a:spcPts val="0"/>
              </a:spcAft>
              <a:buClr>
                <a:schemeClr val="dk1"/>
              </a:buClr>
              <a:buSzPts val="2400"/>
              <a:buFont typeface="Patrick Hand"/>
              <a:buChar char="-"/>
            </a:pPr>
            <a:r>
              <a:rPr b="0" i="0" lang="es-ES" sz="2400" u="none" cap="none" strike="noStrike">
                <a:solidFill>
                  <a:schemeClr val="dk1"/>
                </a:solidFill>
                <a:latin typeface="Patrick Hand"/>
                <a:ea typeface="Patrick Hand"/>
                <a:cs typeface="Patrick Hand"/>
                <a:sym typeface="Patrick Hand"/>
              </a:rPr>
              <a:t>8D + 3D = 11D </a:t>
            </a:r>
            <a:endParaRPr b="0" i="0" sz="2400" u="none" cap="none" strike="noStrike">
              <a:solidFill>
                <a:schemeClr val="dk1"/>
              </a:solidFill>
              <a:latin typeface="Patrick Hand"/>
              <a:ea typeface="Patrick Hand"/>
              <a:cs typeface="Patrick Hand"/>
              <a:sym typeface="Patrick Hand"/>
            </a:endParaRPr>
          </a:p>
          <a:p>
            <a:pPr indent="-381000" lvl="0" marL="457200" marR="0" rtl="0" algn="l">
              <a:lnSpc>
                <a:spcPct val="100000"/>
              </a:lnSpc>
              <a:spcBef>
                <a:spcPts val="0"/>
              </a:spcBef>
              <a:spcAft>
                <a:spcPts val="0"/>
              </a:spcAft>
              <a:buClr>
                <a:schemeClr val="dk1"/>
              </a:buClr>
              <a:buSzPts val="2400"/>
              <a:buFont typeface="Patrick Hand"/>
              <a:buChar char="-"/>
            </a:pPr>
            <a:r>
              <a:rPr b="0" i="0" lang="es-ES" sz="2400" u="none" cap="none" strike="noStrike">
                <a:solidFill>
                  <a:schemeClr val="dk1"/>
                </a:solidFill>
                <a:latin typeface="Patrick Hand"/>
                <a:ea typeface="Patrick Hand"/>
                <a:cs typeface="Patrick Hand"/>
                <a:sym typeface="Patrick Hand"/>
              </a:rPr>
              <a:t>Escribo el 11</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400"/>
              <a:buFont typeface="Arial"/>
              <a:buNone/>
            </a:pPr>
            <a:r>
              <a:t/>
            </a:r>
            <a:endParaRPr b="0" i="0" sz="2400" u="none" cap="none" strike="noStrike">
              <a:solidFill>
                <a:srgbClr val="000000"/>
              </a:solidFill>
              <a:latin typeface="Arial"/>
              <a:ea typeface="Arial"/>
              <a:cs typeface="Arial"/>
              <a:sym typeface="Arial"/>
            </a:endParaRPr>
          </a:p>
        </p:txBody>
      </p:sp>
      <p:sp>
        <p:nvSpPr>
          <p:cNvPr id="275" name="Google Shape;275;g237f15b63d7_0_118"/>
          <p:cNvSpPr txBox="1"/>
          <p:nvPr/>
        </p:nvSpPr>
        <p:spPr>
          <a:xfrm>
            <a:off x="9264900" y="3901300"/>
            <a:ext cx="30000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ES" sz="2400" u="none" cap="none" strike="noStrike">
                <a:solidFill>
                  <a:schemeClr val="dk1"/>
                </a:solidFill>
                <a:latin typeface="Patrick Hand"/>
                <a:ea typeface="Patrick Hand"/>
                <a:cs typeface="Patrick Hand"/>
                <a:sym typeface="Patrick Hand"/>
              </a:rPr>
              <a:t>3.   Escribo el resultado</a:t>
            </a:r>
            <a:endParaRPr b="0" i="0" sz="2400" u="none" cap="none" strike="noStrike">
              <a:solidFill>
                <a:schemeClr val="dk1"/>
              </a:solidFill>
              <a:latin typeface="Patrick Hand"/>
              <a:ea typeface="Patrick Hand"/>
              <a:cs typeface="Patrick Hand"/>
              <a:sym typeface="Patrick Hand"/>
            </a:endParaRPr>
          </a:p>
          <a:p>
            <a:pPr indent="-381000" lvl="0" marL="457200" marR="0" rtl="0" algn="l">
              <a:lnSpc>
                <a:spcPct val="100000"/>
              </a:lnSpc>
              <a:spcBef>
                <a:spcPts val="0"/>
              </a:spcBef>
              <a:spcAft>
                <a:spcPts val="0"/>
              </a:spcAft>
              <a:buClr>
                <a:schemeClr val="dk1"/>
              </a:buClr>
              <a:buSzPts val="2400"/>
              <a:buFont typeface="Patrick Hand"/>
              <a:buChar char="-"/>
            </a:pPr>
            <a:r>
              <a:rPr b="0" i="0" lang="es-ES" sz="2400" u="none" cap="none" strike="noStrike">
                <a:solidFill>
                  <a:schemeClr val="dk1"/>
                </a:solidFill>
                <a:latin typeface="Patrick Hand"/>
                <a:ea typeface="Patrick Hand"/>
                <a:cs typeface="Patrick Hand"/>
                <a:sym typeface="Patrick Hand"/>
              </a:rPr>
              <a:t>112</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400"/>
              <a:buFont typeface="Arial"/>
              <a:buNone/>
            </a:pPr>
            <a:r>
              <a:t/>
            </a:r>
            <a:endParaRPr b="0" i="0" sz="2400" u="none" cap="none" strike="noStrike">
              <a:solidFill>
                <a:srgbClr val="000000"/>
              </a:solidFill>
              <a:latin typeface="Arial"/>
              <a:ea typeface="Arial"/>
              <a:cs typeface="Arial"/>
              <a:sym typeface="Arial"/>
            </a:endParaRPr>
          </a:p>
        </p:txBody>
      </p:sp>
      <p:cxnSp>
        <p:nvCxnSpPr>
          <p:cNvPr id="276" name="Google Shape;276;g237f15b63d7_0_118"/>
          <p:cNvCxnSpPr/>
          <p:nvPr/>
        </p:nvCxnSpPr>
        <p:spPr>
          <a:xfrm>
            <a:off x="2522500" y="2764175"/>
            <a:ext cx="804900" cy="0"/>
          </a:xfrm>
          <a:prstGeom prst="straightConnector1">
            <a:avLst/>
          </a:prstGeom>
          <a:noFill/>
          <a:ln cap="flat" cmpd="sng" w="28575">
            <a:solidFill>
              <a:srgbClr val="009287"/>
            </a:solidFill>
            <a:prstDash val="solid"/>
            <a:round/>
            <a:headEnd len="sm" w="sm" type="none"/>
            <a:tailEnd len="med" w="med" type="triangle"/>
          </a:ln>
        </p:spPr>
      </p:cxnSp>
      <p:cxnSp>
        <p:nvCxnSpPr>
          <p:cNvPr id="277" name="Google Shape;277;g237f15b63d7_0_118"/>
          <p:cNvCxnSpPr/>
          <p:nvPr/>
        </p:nvCxnSpPr>
        <p:spPr>
          <a:xfrm>
            <a:off x="5553325" y="2786025"/>
            <a:ext cx="804900" cy="0"/>
          </a:xfrm>
          <a:prstGeom prst="straightConnector1">
            <a:avLst/>
          </a:prstGeom>
          <a:noFill/>
          <a:ln cap="flat" cmpd="sng" w="28575">
            <a:solidFill>
              <a:srgbClr val="009287"/>
            </a:solidFill>
            <a:prstDash val="solid"/>
            <a:round/>
            <a:headEnd len="sm" w="sm" type="none"/>
            <a:tailEnd len="med" w="med" type="triangle"/>
          </a:ln>
        </p:spPr>
      </p:cxnSp>
      <p:cxnSp>
        <p:nvCxnSpPr>
          <p:cNvPr id="278" name="Google Shape;278;g237f15b63d7_0_118"/>
          <p:cNvCxnSpPr/>
          <p:nvPr/>
        </p:nvCxnSpPr>
        <p:spPr>
          <a:xfrm>
            <a:off x="8456850" y="2791675"/>
            <a:ext cx="804900" cy="0"/>
          </a:xfrm>
          <a:prstGeom prst="straightConnector1">
            <a:avLst/>
          </a:prstGeom>
          <a:noFill/>
          <a:ln cap="flat" cmpd="sng" w="28575">
            <a:solidFill>
              <a:srgbClr val="009287"/>
            </a:solidFill>
            <a:prstDash val="solid"/>
            <a:round/>
            <a:headEnd len="sm" w="sm" type="none"/>
            <a:tailEnd len="med" w="med" type="triangle"/>
          </a:ln>
        </p:spPr>
      </p:cxnSp>
      <p:sp>
        <p:nvSpPr>
          <p:cNvPr id="279" name="Google Shape;279;g237f15b63d7_0_118"/>
          <p:cNvSpPr txBox="1"/>
          <p:nvPr/>
        </p:nvSpPr>
        <p:spPr>
          <a:xfrm>
            <a:off x="3451800" y="2083675"/>
            <a:ext cx="30000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400"/>
              <a:buFont typeface="Arial"/>
              <a:buNone/>
            </a:pPr>
            <a:r>
              <a:rPr b="0" i="0" lang="es-ES" sz="3400" u="none" cap="none" strike="noStrike">
                <a:solidFill>
                  <a:srgbClr val="FF0000"/>
                </a:solidFill>
                <a:latin typeface="Patrick Hand"/>
                <a:ea typeface="Patrick Hand"/>
                <a:cs typeface="Patrick Hand"/>
                <a:sym typeface="Patrick Hand"/>
              </a:rPr>
              <a:t>3</a:t>
            </a:r>
            <a:endParaRPr b="0" i="0" sz="1200" u="none" cap="none" strike="noStrike">
              <a:solidFill>
                <a:srgbClr val="FF0000"/>
              </a:solidFill>
              <a:latin typeface="Arial"/>
              <a:ea typeface="Arial"/>
              <a:cs typeface="Arial"/>
              <a:sym typeface="Arial"/>
            </a:endParaRPr>
          </a:p>
        </p:txBody>
      </p:sp>
      <p:sp>
        <p:nvSpPr>
          <p:cNvPr id="280" name="Google Shape;280;g237f15b63d7_0_118"/>
          <p:cNvSpPr txBox="1"/>
          <p:nvPr/>
        </p:nvSpPr>
        <p:spPr>
          <a:xfrm>
            <a:off x="6576188" y="2061850"/>
            <a:ext cx="30000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400"/>
              <a:buFont typeface="Arial"/>
              <a:buNone/>
            </a:pPr>
            <a:r>
              <a:rPr b="0" i="0" lang="es-ES" sz="3400" u="none" cap="none" strike="noStrike">
                <a:solidFill>
                  <a:srgbClr val="FF0000"/>
                </a:solidFill>
                <a:latin typeface="Patrick Hand"/>
                <a:ea typeface="Patrick Hand"/>
                <a:cs typeface="Patrick Hand"/>
                <a:sym typeface="Patrick Hand"/>
              </a:rPr>
              <a:t>3</a:t>
            </a:r>
            <a:endParaRPr b="0" i="0" sz="1200" u="none" cap="none" strike="noStrike">
              <a:solidFill>
                <a:srgbClr val="FF0000"/>
              </a:solidFill>
              <a:latin typeface="Arial"/>
              <a:ea typeface="Arial"/>
              <a:cs typeface="Arial"/>
              <a:sym typeface="Arial"/>
            </a:endParaRPr>
          </a:p>
        </p:txBody>
      </p:sp>
      <p:pic>
        <p:nvPicPr>
          <p:cNvPr id="281" name="Google Shape;281;g237f15b63d7_0_118"/>
          <p:cNvPicPr preferRelativeResize="0"/>
          <p:nvPr/>
        </p:nvPicPr>
        <p:blipFill>
          <a:blip r:embed="rId4">
            <a:alphaModFix/>
          </a:blip>
          <a:stretch>
            <a:fillRect/>
          </a:stretch>
        </p:blipFill>
        <p:spPr>
          <a:xfrm>
            <a:off x="11081375" y="5221587"/>
            <a:ext cx="975700" cy="1029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descr="Forma&#10;&#10;Descripción generada automáticamente con confianza media" id="286" name="Google Shape;286;g25d269e0e38_0_65"/>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87" name="Google Shape;287;g25d269e0e38_0_65"/>
          <p:cNvSpPr txBox="1"/>
          <p:nvPr/>
        </p:nvSpPr>
        <p:spPr>
          <a:xfrm>
            <a:off x="235250" y="212600"/>
            <a:ext cx="14275800" cy="13545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3300"/>
              <a:buFont typeface="Arial"/>
              <a:buNone/>
            </a:pPr>
            <a:r>
              <a:rPr b="1" i="0" lang="es-ES" sz="3300" u="none" cap="none" strike="noStrike">
                <a:solidFill>
                  <a:srgbClr val="040C28"/>
                </a:solidFill>
                <a:latin typeface="Patrick Hand"/>
                <a:ea typeface="Patrick Hand"/>
                <a:cs typeface="Patrick Hand"/>
                <a:sym typeface="Patrick Hand"/>
              </a:rPr>
              <a:t>Ejercicio</a:t>
            </a:r>
            <a:r>
              <a:rPr b="0" i="0" lang="es-ES" sz="2900" u="none" cap="none" strike="noStrike">
                <a:solidFill>
                  <a:srgbClr val="040C28"/>
                </a:solidFill>
                <a:latin typeface="Patrick Hand"/>
                <a:ea typeface="Patrick Hand"/>
                <a:cs typeface="Patrick Hand"/>
                <a:sym typeface="Patrick Hand"/>
              </a:rPr>
              <a:t>: </a:t>
            </a:r>
            <a:endParaRPr b="0" i="0" sz="2900" u="none" cap="none" strike="noStrike">
              <a:solidFill>
                <a:srgbClr val="040C28"/>
              </a:solidFill>
              <a:latin typeface="Patrick Hand"/>
              <a:ea typeface="Patrick Hand"/>
              <a:cs typeface="Patrick Hand"/>
              <a:sym typeface="Patrick Hand"/>
            </a:endParaRPr>
          </a:p>
          <a:p>
            <a:pPr indent="-412750" lvl="0" marL="457200" marR="0" rtl="0" algn="l">
              <a:lnSpc>
                <a:spcPct val="100000"/>
              </a:lnSpc>
              <a:spcBef>
                <a:spcPts val="0"/>
              </a:spcBef>
              <a:spcAft>
                <a:spcPts val="0"/>
              </a:spcAft>
              <a:buClr>
                <a:srgbClr val="040C28"/>
              </a:buClr>
              <a:buSzPts val="2900"/>
              <a:buFont typeface="Patrick Hand"/>
              <a:buChar char="-"/>
            </a:pPr>
            <a:r>
              <a:rPr b="0" i="0" lang="es-ES" sz="2900" u="none" cap="none" strike="noStrike">
                <a:solidFill>
                  <a:srgbClr val="040C28"/>
                </a:solidFill>
                <a:latin typeface="Patrick Hand"/>
                <a:ea typeface="Patrick Hand"/>
                <a:cs typeface="Patrick Hand"/>
                <a:sym typeface="Patrick Hand"/>
              </a:rPr>
              <a:t>Resolvamos el siguiente ejercicio juntos:</a:t>
            </a:r>
            <a:endParaRPr b="0" i="0" sz="2900" u="none" cap="none" strike="noStrike">
              <a:solidFill>
                <a:srgbClr val="040C28"/>
              </a:solidFill>
              <a:latin typeface="Patrick Hand"/>
              <a:ea typeface="Patrick Hand"/>
              <a:cs typeface="Patrick Hand"/>
              <a:sym typeface="Patrick Hand"/>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g25d269e0e38_0_65"/>
          <p:cNvSpPr txBox="1"/>
          <p:nvPr/>
        </p:nvSpPr>
        <p:spPr>
          <a:xfrm>
            <a:off x="2461725" y="2592000"/>
            <a:ext cx="3993900" cy="12621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3 4    x    3   =</a:t>
            </a:r>
            <a:endParaRPr b="0" i="0" sz="3500" u="none" cap="none" strike="noStrike">
              <a:solidFill>
                <a:srgbClr val="040C28"/>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p:txBody>
      </p:sp>
      <p:sp>
        <p:nvSpPr>
          <p:cNvPr id="289" name="Google Shape;289;g25d269e0e38_0_65"/>
          <p:cNvSpPr txBox="1"/>
          <p:nvPr/>
        </p:nvSpPr>
        <p:spPr>
          <a:xfrm>
            <a:off x="2771263" y="1955150"/>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40C28"/>
                </a:solidFill>
                <a:latin typeface="Patrick Hand"/>
                <a:ea typeface="Patrick Hand"/>
                <a:cs typeface="Patrick Hand"/>
                <a:sym typeface="Patrick Hand"/>
              </a:rPr>
              <a:t>    D  U</a:t>
            </a:r>
            <a:endParaRPr b="0" i="0" sz="700" u="none" cap="none" strike="noStrike">
              <a:solidFill>
                <a:srgbClr val="000000"/>
              </a:solidFill>
              <a:latin typeface="Arial"/>
              <a:ea typeface="Arial"/>
              <a:cs typeface="Arial"/>
              <a:sym typeface="Arial"/>
            </a:endParaRPr>
          </a:p>
        </p:txBody>
      </p:sp>
      <p:sp>
        <p:nvSpPr>
          <p:cNvPr id="290" name="Google Shape;290;g25d269e0e38_0_65"/>
          <p:cNvSpPr txBox="1"/>
          <p:nvPr/>
        </p:nvSpPr>
        <p:spPr>
          <a:xfrm>
            <a:off x="7614000" y="437925"/>
            <a:ext cx="4578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040C28"/>
                </a:solidFill>
                <a:latin typeface="Patrick Hand"/>
                <a:ea typeface="Patrick Hand"/>
                <a:cs typeface="Patrick Hand"/>
                <a:sym typeface="Patrick Hand"/>
              </a:rPr>
              <a:t>¿Cuál es el primer paso?</a:t>
            </a:r>
            <a:endParaRPr b="0" i="0" sz="2400" u="none" cap="none" strike="noStrike">
              <a:solidFill>
                <a:srgbClr val="000000"/>
              </a:solidFill>
              <a:latin typeface="Arial"/>
              <a:ea typeface="Arial"/>
              <a:cs typeface="Arial"/>
              <a:sym typeface="Arial"/>
            </a:endParaRPr>
          </a:p>
        </p:txBody>
      </p:sp>
      <p:sp>
        <p:nvSpPr>
          <p:cNvPr id="291" name="Google Shape;291;g25d269e0e38_0_65"/>
          <p:cNvSpPr txBox="1"/>
          <p:nvPr/>
        </p:nvSpPr>
        <p:spPr>
          <a:xfrm>
            <a:off x="7674600" y="1061725"/>
            <a:ext cx="45174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40C28"/>
                </a:solidFill>
                <a:latin typeface="Patrick Hand"/>
                <a:ea typeface="Patrick Hand"/>
                <a:cs typeface="Patrick Hand"/>
                <a:sym typeface="Patrick Hand"/>
              </a:rPr>
              <a:t>Multiplicar 3 x 4U = 12 U</a:t>
            </a:r>
            <a:endParaRPr b="0" i="0" sz="2500" u="none" cap="none" strike="noStrike">
              <a:solidFill>
                <a:srgbClr val="040C28"/>
              </a:solidFill>
              <a:latin typeface="Patrick Hand"/>
              <a:ea typeface="Patrick Hand"/>
              <a:cs typeface="Patrick Hand"/>
              <a:sym typeface="Patrick Hand"/>
            </a:endParaRPr>
          </a:p>
        </p:txBody>
      </p:sp>
      <p:sp>
        <p:nvSpPr>
          <p:cNvPr id="292" name="Google Shape;292;g25d269e0e38_0_65"/>
          <p:cNvSpPr txBox="1"/>
          <p:nvPr/>
        </p:nvSpPr>
        <p:spPr>
          <a:xfrm>
            <a:off x="7774650" y="1396600"/>
            <a:ext cx="43872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40C28"/>
                </a:solidFill>
                <a:latin typeface="Patrick Hand"/>
                <a:ea typeface="Patrick Hand"/>
                <a:cs typeface="Patrick Hand"/>
                <a:sym typeface="Patrick Hand"/>
              </a:rPr>
              <a:t>Tengo que reagrupar las U→ me quedan 1 D y 2 U</a:t>
            </a:r>
            <a:endParaRPr b="0" i="0" sz="2500" u="none" cap="none" strike="noStrike">
              <a:solidFill>
                <a:srgbClr val="040C28"/>
              </a:solidFill>
              <a:latin typeface="Patrick Hand"/>
              <a:ea typeface="Patrick Hand"/>
              <a:cs typeface="Patrick Hand"/>
              <a:sym typeface="Patrick Hand"/>
            </a:endParaRPr>
          </a:p>
        </p:txBody>
      </p:sp>
      <p:sp>
        <p:nvSpPr>
          <p:cNvPr id="293" name="Google Shape;293;g25d269e0e38_0_65"/>
          <p:cNvSpPr txBox="1"/>
          <p:nvPr/>
        </p:nvSpPr>
        <p:spPr>
          <a:xfrm>
            <a:off x="7774650" y="3721525"/>
            <a:ext cx="47013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40C28"/>
                </a:solidFill>
                <a:latin typeface="Patrick Hand"/>
                <a:ea typeface="Patrick Hand"/>
                <a:cs typeface="Patrick Hand"/>
                <a:sym typeface="Patrick Hand"/>
              </a:rPr>
              <a:t>Multiplicar el 3 x 3D= 9D</a:t>
            </a:r>
            <a:endParaRPr b="0" i="0" sz="2500" u="none" cap="none" strike="noStrike">
              <a:solidFill>
                <a:srgbClr val="040C28"/>
              </a:solidFill>
              <a:latin typeface="Patrick Hand"/>
              <a:ea typeface="Patrick Hand"/>
              <a:cs typeface="Patrick Hand"/>
              <a:sym typeface="Patrick Hand"/>
            </a:endParaRPr>
          </a:p>
        </p:txBody>
      </p:sp>
      <p:sp>
        <p:nvSpPr>
          <p:cNvPr id="294" name="Google Shape;294;g25d269e0e38_0_65"/>
          <p:cNvSpPr txBox="1"/>
          <p:nvPr/>
        </p:nvSpPr>
        <p:spPr>
          <a:xfrm>
            <a:off x="7715100" y="4031400"/>
            <a:ext cx="45174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40C28"/>
                </a:solidFill>
                <a:latin typeface="Patrick Hand"/>
                <a:ea typeface="Patrick Hand"/>
                <a:cs typeface="Patrick Hand"/>
                <a:sym typeface="Patrick Hand"/>
              </a:rPr>
              <a:t>Le tengo que sumar el 1D que tengo de reserva: 9D +1D = 10D</a:t>
            </a:r>
            <a:endParaRPr b="0" i="0" sz="2500" u="none" cap="none" strike="noStrike">
              <a:solidFill>
                <a:srgbClr val="040C28"/>
              </a:solidFill>
              <a:latin typeface="Patrick Hand"/>
              <a:ea typeface="Patrick Hand"/>
              <a:cs typeface="Patrick Hand"/>
              <a:sym typeface="Patrick Hand"/>
            </a:endParaRPr>
          </a:p>
        </p:txBody>
      </p:sp>
      <p:cxnSp>
        <p:nvCxnSpPr>
          <p:cNvPr id="295" name="Google Shape;295;g25d269e0e38_0_65"/>
          <p:cNvCxnSpPr/>
          <p:nvPr/>
        </p:nvCxnSpPr>
        <p:spPr>
          <a:xfrm>
            <a:off x="9107491" y="840990"/>
            <a:ext cx="0" cy="405300"/>
          </a:xfrm>
          <a:prstGeom prst="straightConnector1">
            <a:avLst/>
          </a:prstGeom>
          <a:noFill/>
          <a:ln cap="flat" cmpd="sng" w="28575">
            <a:solidFill>
              <a:srgbClr val="009287"/>
            </a:solidFill>
            <a:prstDash val="solid"/>
            <a:round/>
            <a:headEnd len="sm" w="sm" type="none"/>
            <a:tailEnd len="med" w="med" type="triangle"/>
          </a:ln>
        </p:spPr>
      </p:cxnSp>
      <p:cxnSp>
        <p:nvCxnSpPr>
          <p:cNvPr id="296" name="Google Shape;296;g25d269e0e38_0_65"/>
          <p:cNvCxnSpPr/>
          <p:nvPr/>
        </p:nvCxnSpPr>
        <p:spPr>
          <a:xfrm>
            <a:off x="9107494" y="3448808"/>
            <a:ext cx="0" cy="405300"/>
          </a:xfrm>
          <a:prstGeom prst="straightConnector1">
            <a:avLst/>
          </a:prstGeom>
          <a:noFill/>
          <a:ln cap="flat" cmpd="sng" w="28575">
            <a:solidFill>
              <a:srgbClr val="009287"/>
            </a:solidFill>
            <a:prstDash val="solid"/>
            <a:round/>
            <a:headEnd len="sm" w="sm" type="none"/>
            <a:tailEnd len="med" w="med" type="triangle"/>
          </a:ln>
        </p:spPr>
      </p:cxnSp>
      <p:sp>
        <p:nvSpPr>
          <p:cNvPr id="297" name="Google Shape;297;g25d269e0e38_0_65"/>
          <p:cNvSpPr txBox="1"/>
          <p:nvPr/>
        </p:nvSpPr>
        <p:spPr>
          <a:xfrm>
            <a:off x="7774650" y="3030675"/>
            <a:ext cx="50739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040C28"/>
                </a:solidFill>
                <a:latin typeface="Patrick Hand"/>
                <a:ea typeface="Patrick Hand"/>
                <a:cs typeface="Patrick Hand"/>
                <a:sym typeface="Patrick Hand"/>
              </a:rPr>
              <a:t>¿Cuál es el segundo paso?</a:t>
            </a:r>
            <a:endParaRPr b="0" i="0" sz="2400" u="none" cap="none" strike="noStrike">
              <a:solidFill>
                <a:srgbClr val="000000"/>
              </a:solidFill>
              <a:latin typeface="Arial"/>
              <a:ea typeface="Arial"/>
              <a:cs typeface="Arial"/>
              <a:sym typeface="Arial"/>
            </a:endParaRPr>
          </a:p>
        </p:txBody>
      </p:sp>
      <p:sp>
        <p:nvSpPr>
          <p:cNvPr id="298" name="Google Shape;298;g25d269e0e38_0_65"/>
          <p:cNvSpPr txBox="1"/>
          <p:nvPr/>
        </p:nvSpPr>
        <p:spPr>
          <a:xfrm>
            <a:off x="3261600" y="2984200"/>
            <a:ext cx="540600" cy="815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100"/>
              <a:buFont typeface="Arial"/>
              <a:buNone/>
            </a:pPr>
            <a:r>
              <a:rPr b="0" i="0" lang="es-ES" sz="4100" u="none" cap="none" strike="noStrike">
                <a:solidFill>
                  <a:srgbClr val="000000"/>
                </a:solidFill>
                <a:latin typeface="Patrick Hand"/>
                <a:ea typeface="Patrick Hand"/>
                <a:cs typeface="Patrick Hand"/>
                <a:sym typeface="Patrick Hand"/>
              </a:rPr>
              <a:t>2</a:t>
            </a:r>
            <a:endParaRPr b="0" i="0" sz="4100" u="none" cap="none" strike="noStrike">
              <a:solidFill>
                <a:srgbClr val="000000"/>
              </a:solidFill>
              <a:latin typeface="Patrick Hand"/>
              <a:ea typeface="Patrick Hand"/>
              <a:cs typeface="Patrick Hand"/>
              <a:sym typeface="Patrick Hand"/>
            </a:endParaRPr>
          </a:p>
        </p:txBody>
      </p:sp>
      <p:sp>
        <p:nvSpPr>
          <p:cNvPr id="299" name="Google Shape;299;g25d269e0e38_0_65"/>
          <p:cNvSpPr txBox="1"/>
          <p:nvPr/>
        </p:nvSpPr>
        <p:spPr>
          <a:xfrm>
            <a:off x="2951100" y="2187400"/>
            <a:ext cx="540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1</a:t>
            </a:r>
            <a:endParaRPr b="0" i="0" sz="2700" u="none" cap="none" strike="noStrike">
              <a:solidFill>
                <a:srgbClr val="FF0000"/>
              </a:solidFill>
              <a:latin typeface="Patrick Hand"/>
              <a:ea typeface="Patrick Hand"/>
              <a:cs typeface="Patrick Hand"/>
              <a:sym typeface="Patrick Hand"/>
            </a:endParaRPr>
          </a:p>
        </p:txBody>
      </p:sp>
      <p:sp>
        <p:nvSpPr>
          <p:cNvPr id="300" name="Google Shape;300;g25d269e0e38_0_65"/>
          <p:cNvSpPr txBox="1"/>
          <p:nvPr/>
        </p:nvSpPr>
        <p:spPr>
          <a:xfrm>
            <a:off x="5307550" y="2488550"/>
            <a:ext cx="1461600" cy="815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100"/>
              <a:buFont typeface="Arial"/>
              <a:buNone/>
            </a:pPr>
            <a:r>
              <a:rPr b="0" i="0" lang="es-ES" sz="4100" u="none" cap="none" strike="noStrike">
                <a:solidFill>
                  <a:srgbClr val="000000"/>
                </a:solidFill>
                <a:latin typeface="Patrick Hand"/>
                <a:ea typeface="Patrick Hand"/>
                <a:cs typeface="Patrick Hand"/>
                <a:sym typeface="Patrick Hand"/>
              </a:rPr>
              <a:t>102</a:t>
            </a:r>
            <a:endParaRPr b="0" i="0" sz="4100" u="none" cap="none" strike="noStrike">
              <a:solidFill>
                <a:srgbClr val="000000"/>
              </a:solidFill>
              <a:latin typeface="Patrick Hand"/>
              <a:ea typeface="Patrick Hand"/>
              <a:cs typeface="Patrick Hand"/>
              <a:sym typeface="Patrick Hand"/>
            </a:endParaRPr>
          </a:p>
        </p:txBody>
      </p:sp>
      <p:cxnSp>
        <p:nvCxnSpPr>
          <p:cNvPr id="301" name="Google Shape;301;g25d269e0e38_0_65"/>
          <p:cNvCxnSpPr/>
          <p:nvPr/>
        </p:nvCxnSpPr>
        <p:spPr>
          <a:xfrm>
            <a:off x="9107494" y="5677158"/>
            <a:ext cx="0" cy="405300"/>
          </a:xfrm>
          <a:prstGeom prst="straightConnector1">
            <a:avLst/>
          </a:prstGeom>
          <a:noFill/>
          <a:ln cap="flat" cmpd="sng" w="28575">
            <a:solidFill>
              <a:srgbClr val="009287"/>
            </a:solidFill>
            <a:prstDash val="solid"/>
            <a:round/>
            <a:headEnd len="sm" w="sm" type="none"/>
            <a:tailEnd len="med" w="med" type="triangle"/>
          </a:ln>
        </p:spPr>
      </p:cxnSp>
      <p:sp>
        <p:nvSpPr>
          <p:cNvPr id="302" name="Google Shape;302;g25d269e0e38_0_65"/>
          <p:cNvSpPr txBox="1"/>
          <p:nvPr/>
        </p:nvSpPr>
        <p:spPr>
          <a:xfrm>
            <a:off x="7851150" y="5931975"/>
            <a:ext cx="41643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40C28"/>
                </a:solidFill>
                <a:latin typeface="Patrick Hand"/>
                <a:ea typeface="Patrick Hand"/>
                <a:cs typeface="Patrick Hand"/>
                <a:sym typeface="Patrick Hand"/>
              </a:rPr>
              <a:t>Escribir la respuesta: 102</a:t>
            </a:r>
            <a:endParaRPr b="0" i="0" sz="1500" u="none" cap="none" strike="noStrike">
              <a:solidFill>
                <a:srgbClr val="000000"/>
              </a:solidFill>
              <a:latin typeface="Arial"/>
              <a:ea typeface="Arial"/>
              <a:cs typeface="Arial"/>
              <a:sym typeface="Arial"/>
            </a:endParaRPr>
          </a:p>
        </p:txBody>
      </p:sp>
      <p:sp>
        <p:nvSpPr>
          <p:cNvPr id="303" name="Google Shape;303;g25d269e0e38_0_65"/>
          <p:cNvSpPr txBox="1"/>
          <p:nvPr/>
        </p:nvSpPr>
        <p:spPr>
          <a:xfrm>
            <a:off x="7715100" y="2130825"/>
            <a:ext cx="45174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40C28"/>
                </a:solidFill>
                <a:latin typeface="Patrick Hand"/>
                <a:ea typeface="Patrick Hand"/>
                <a:cs typeface="Patrick Hand"/>
                <a:sym typeface="Patrick Hand"/>
              </a:rPr>
              <a:t>Escribo las 2U bajo las U y 1D sobre las decenas.</a:t>
            </a:r>
            <a:endParaRPr b="0" i="0" sz="2500" u="none" cap="none" strike="noStrike">
              <a:solidFill>
                <a:srgbClr val="040C28"/>
              </a:solidFill>
              <a:latin typeface="Patrick Hand"/>
              <a:ea typeface="Patrick Hand"/>
              <a:cs typeface="Patrick Hand"/>
              <a:sym typeface="Patrick Hand"/>
            </a:endParaRPr>
          </a:p>
        </p:txBody>
      </p:sp>
      <p:sp>
        <p:nvSpPr>
          <p:cNvPr id="304" name="Google Shape;304;g25d269e0e38_0_65"/>
          <p:cNvSpPr txBox="1"/>
          <p:nvPr/>
        </p:nvSpPr>
        <p:spPr>
          <a:xfrm>
            <a:off x="7774650" y="4791150"/>
            <a:ext cx="37452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40C28"/>
                </a:solidFill>
                <a:latin typeface="Patrick Hand"/>
                <a:ea typeface="Patrick Hand"/>
                <a:cs typeface="Patrick Hand"/>
                <a:sym typeface="Patrick Hand"/>
              </a:rPr>
              <a:t>Escribo el 10</a:t>
            </a:r>
            <a:endParaRPr b="0" i="0" sz="2500" u="none" cap="none" strike="noStrike">
              <a:solidFill>
                <a:srgbClr val="000000"/>
              </a:solidFill>
              <a:latin typeface="Arial"/>
              <a:ea typeface="Arial"/>
              <a:cs typeface="Arial"/>
              <a:sym typeface="Arial"/>
            </a:endParaRPr>
          </a:p>
        </p:txBody>
      </p:sp>
      <p:sp>
        <p:nvSpPr>
          <p:cNvPr id="305" name="Google Shape;305;g25d269e0e38_0_65"/>
          <p:cNvSpPr txBox="1"/>
          <p:nvPr/>
        </p:nvSpPr>
        <p:spPr>
          <a:xfrm>
            <a:off x="7774642" y="5261807"/>
            <a:ext cx="5208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040C28"/>
                </a:solidFill>
                <a:latin typeface="Patrick Hand"/>
                <a:ea typeface="Patrick Hand"/>
                <a:cs typeface="Patrick Hand"/>
                <a:sym typeface="Patrick Hand"/>
              </a:rPr>
              <a:t>¿Cuál es el último paso?</a:t>
            </a:r>
            <a:endParaRPr b="0" i="0" sz="2400" u="none" cap="none" strike="noStrike">
              <a:solidFill>
                <a:srgbClr val="000000"/>
              </a:solidFill>
              <a:latin typeface="Arial"/>
              <a:ea typeface="Arial"/>
              <a:cs typeface="Arial"/>
              <a:sym typeface="Arial"/>
            </a:endParaRPr>
          </a:p>
        </p:txBody>
      </p:sp>
      <p:sp>
        <p:nvSpPr>
          <p:cNvPr id="306" name="Google Shape;306;g25d269e0e38_0_65"/>
          <p:cNvSpPr txBox="1"/>
          <p:nvPr/>
        </p:nvSpPr>
        <p:spPr>
          <a:xfrm>
            <a:off x="2664675" y="2984200"/>
            <a:ext cx="750900" cy="815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100"/>
              <a:buFont typeface="Arial"/>
              <a:buNone/>
            </a:pPr>
            <a:r>
              <a:rPr b="0" i="0" lang="es-ES" sz="4100" u="none" cap="none" strike="noStrike">
                <a:solidFill>
                  <a:srgbClr val="000000"/>
                </a:solidFill>
                <a:latin typeface="Patrick Hand"/>
                <a:ea typeface="Patrick Hand"/>
                <a:cs typeface="Patrick Hand"/>
                <a:sym typeface="Patrick Hand"/>
              </a:rPr>
              <a:t>1 0</a:t>
            </a:r>
            <a:endParaRPr b="0" i="0" sz="4100" u="none" cap="none" strike="noStrike">
              <a:solidFill>
                <a:srgbClr val="000000"/>
              </a:solidFill>
              <a:latin typeface="Patrick Hand"/>
              <a:ea typeface="Patrick Hand"/>
              <a:cs typeface="Patrick Hand"/>
              <a:sym typeface="Patrick Hand"/>
            </a:endParaRPr>
          </a:p>
        </p:txBody>
      </p:sp>
      <p:sp>
        <p:nvSpPr>
          <p:cNvPr id="307" name="Google Shape;307;g25d269e0e38_0_65"/>
          <p:cNvSpPr/>
          <p:nvPr/>
        </p:nvSpPr>
        <p:spPr>
          <a:xfrm>
            <a:off x="1812225" y="1741150"/>
            <a:ext cx="4701300" cy="2789400"/>
          </a:xfrm>
          <a:prstGeom prst="roundRect">
            <a:avLst>
              <a:gd fmla="val 16667" name="adj"/>
            </a:avLst>
          </a:prstGeom>
          <a:noFill/>
          <a:ln cap="flat" cmpd="sng" w="28575">
            <a:solidFill>
              <a:srgbClr val="00928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descr="Forma&#10;&#10;Descripción generada automáticamente con confianza media" id="312" name="Google Shape;312;g237f15b63d7_0_142"/>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313" name="Google Shape;313;g237f15b63d7_0_142"/>
          <p:cNvSpPr txBox="1"/>
          <p:nvPr/>
        </p:nvSpPr>
        <p:spPr>
          <a:xfrm>
            <a:off x="235250" y="212600"/>
            <a:ext cx="14275800" cy="13545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3300"/>
              <a:buFont typeface="Arial"/>
              <a:buNone/>
            </a:pPr>
            <a:r>
              <a:rPr b="1" i="0" lang="es-ES" sz="3300" u="none" cap="none" strike="noStrike">
                <a:solidFill>
                  <a:srgbClr val="040C28"/>
                </a:solidFill>
                <a:latin typeface="Patrick Hand"/>
                <a:ea typeface="Patrick Hand"/>
                <a:cs typeface="Patrick Hand"/>
                <a:sym typeface="Patrick Hand"/>
              </a:rPr>
              <a:t>Ejercicio</a:t>
            </a:r>
            <a:r>
              <a:rPr b="0" i="0" lang="es-ES" sz="2900" u="none" cap="none" strike="noStrike">
                <a:solidFill>
                  <a:srgbClr val="040C28"/>
                </a:solidFill>
                <a:latin typeface="Patrick Hand"/>
                <a:ea typeface="Patrick Hand"/>
                <a:cs typeface="Patrick Hand"/>
                <a:sym typeface="Patrick Hand"/>
              </a:rPr>
              <a:t>: </a:t>
            </a:r>
            <a:endParaRPr b="0" i="0" sz="2900" u="none" cap="none" strike="noStrike">
              <a:solidFill>
                <a:srgbClr val="040C28"/>
              </a:solidFill>
              <a:latin typeface="Patrick Hand"/>
              <a:ea typeface="Patrick Hand"/>
              <a:cs typeface="Patrick Hand"/>
              <a:sym typeface="Patrick Hand"/>
            </a:endParaRPr>
          </a:p>
          <a:p>
            <a:pPr indent="-412750" lvl="0" marL="457200" marR="0" rtl="0" algn="l">
              <a:lnSpc>
                <a:spcPct val="100000"/>
              </a:lnSpc>
              <a:spcBef>
                <a:spcPts val="0"/>
              </a:spcBef>
              <a:spcAft>
                <a:spcPts val="0"/>
              </a:spcAft>
              <a:buClr>
                <a:srgbClr val="040C28"/>
              </a:buClr>
              <a:buSzPts val="2900"/>
              <a:buFont typeface="Patrick Hand"/>
              <a:buChar char="-"/>
            </a:pPr>
            <a:r>
              <a:rPr b="0" i="0" lang="es-ES" sz="2900" u="none" cap="none" strike="noStrike">
                <a:solidFill>
                  <a:srgbClr val="040C28"/>
                </a:solidFill>
                <a:latin typeface="Patrick Hand"/>
                <a:ea typeface="Patrick Hand"/>
                <a:cs typeface="Patrick Hand"/>
                <a:sym typeface="Patrick Hand"/>
              </a:rPr>
              <a:t>Abre tu cuaderno y resuelve los siguientes ejercicios utilizando el algoritmo. </a:t>
            </a:r>
            <a:endParaRPr b="0" i="0" sz="2900" u="none" cap="none" strike="noStrike">
              <a:solidFill>
                <a:srgbClr val="040C28"/>
              </a:solidFill>
              <a:latin typeface="Patrick Hand"/>
              <a:ea typeface="Patrick Hand"/>
              <a:cs typeface="Patrick Hand"/>
              <a:sym typeface="Patrick Hand"/>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g237f15b63d7_0_142"/>
          <p:cNvSpPr txBox="1"/>
          <p:nvPr/>
        </p:nvSpPr>
        <p:spPr>
          <a:xfrm>
            <a:off x="2461725" y="1459475"/>
            <a:ext cx="3993900" cy="50334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56   x    4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43    x    7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75   x    2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16    x    5   =</a:t>
            </a:r>
            <a:endParaRPr b="0" i="0" sz="35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29    x    2   =</a:t>
            </a:r>
            <a:endParaRPr b="0" i="0" sz="3500" u="none" cap="none" strike="noStrike">
              <a:solidFill>
                <a:srgbClr val="040C28"/>
              </a:solidFill>
              <a:latin typeface="Patrick Hand"/>
              <a:ea typeface="Patrick Hand"/>
              <a:cs typeface="Patrick Hand"/>
              <a:sym typeface="Patrick Hand"/>
            </a:endParaRPr>
          </a:p>
        </p:txBody>
      </p:sp>
      <p:sp>
        <p:nvSpPr>
          <p:cNvPr id="315" name="Google Shape;315;g237f15b63d7_0_142"/>
          <p:cNvSpPr txBox="1"/>
          <p:nvPr/>
        </p:nvSpPr>
        <p:spPr>
          <a:xfrm>
            <a:off x="5575825" y="1459475"/>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224</a:t>
            </a:r>
            <a:endParaRPr b="0" i="0" sz="1400" u="none" cap="none" strike="noStrike">
              <a:solidFill>
                <a:srgbClr val="000000"/>
              </a:solidFill>
              <a:latin typeface="Arial"/>
              <a:ea typeface="Arial"/>
              <a:cs typeface="Arial"/>
              <a:sym typeface="Arial"/>
            </a:endParaRPr>
          </a:p>
        </p:txBody>
      </p:sp>
      <p:sp>
        <p:nvSpPr>
          <p:cNvPr id="316" name="Google Shape;316;g237f15b63d7_0_142"/>
          <p:cNvSpPr txBox="1"/>
          <p:nvPr/>
        </p:nvSpPr>
        <p:spPr>
          <a:xfrm>
            <a:off x="5575825" y="2574100"/>
            <a:ext cx="8097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301</a:t>
            </a:r>
            <a:endParaRPr b="0" i="0" sz="3500" u="none" cap="none" strike="noStrike">
              <a:solidFill>
                <a:srgbClr val="040C28"/>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p:txBody>
      </p:sp>
      <p:sp>
        <p:nvSpPr>
          <p:cNvPr id="317" name="Google Shape;317;g237f15b63d7_0_142"/>
          <p:cNvSpPr txBox="1"/>
          <p:nvPr/>
        </p:nvSpPr>
        <p:spPr>
          <a:xfrm>
            <a:off x="5575825" y="3688725"/>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150</a:t>
            </a:r>
            <a:endParaRPr b="0" i="0" sz="1400" u="none" cap="none" strike="noStrike">
              <a:solidFill>
                <a:srgbClr val="000000"/>
              </a:solidFill>
              <a:latin typeface="Arial"/>
              <a:ea typeface="Arial"/>
              <a:cs typeface="Arial"/>
              <a:sym typeface="Arial"/>
            </a:endParaRPr>
          </a:p>
        </p:txBody>
      </p:sp>
      <p:sp>
        <p:nvSpPr>
          <p:cNvPr id="318" name="Google Shape;318;g237f15b63d7_0_142"/>
          <p:cNvSpPr txBox="1"/>
          <p:nvPr/>
        </p:nvSpPr>
        <p:spPr>
          <a:xfrm>
            <a:off x="5575825" y="4621950"/>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80</a:t>
            </a:r>
            <a:endParaRPr b="0" i="0" sz="1400" u="none" cap="none" strike="noStrike">
              <a:solidFill>
                <a:srgbClr val="000000"/>
              </a:solidFill>
              <a:latin typeface="Arial"/>
              <a:ea typeface="Arial"/>
              <a:cs typeface="Arial"/>
              <a:sym typeface="Arial"/>
            </a:endParaRPr>
          </a:p>
        </p:txBody>
      </p:sp>
      <p:sp>
        <p:nvSpPr>
          <p:cNvPr id="319" name="Google Shape;319;g237f15b63d7_0_142"/>
          <p:cNvSpPr txBox="1"/>
          <p:nvPr/>
        </p:nvSpPr>
        <p:spPr>
          <a:xfrm>
            <a:off x="5575825" y="5769575"/>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58</a:t>
            </a:r>
            <a:endParaRPr b="0" i="0" sz="1400" u="none" cap="none" strike="noStrike">
              <a:solidFill>
                <a:srgbClr val="000000"/>
              </a:solidFill>
              <a:latin typeface="Arial"/>
              <a:ea typeface="Arial"/>
              <a:cs typeface="Arial"/>
              <a:sym typeface="Arial"/>
            </a:endParaRPr>
          </a:p>
        </p:txBody>
      </p:sp>
      <p:sp>
        <p:nvSpPr>
          <p:cNvPr id="320" name="Google Shape;320;g237f15b63d7_0_142"/>
          <p:cNvSpPr txBox="1"/>
          <p:nvPr/>
        </p:nvSpPr>
        <p:spPr>
          <a:xfrm>
            <a:off x="2658238" y="1168275"/>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40C28"/>
                </a:solidFill>
                <a:latin typeface="Patrick Hand"/>
                <a:ea typeface="Patrick Hand"/>
                <a:cs typeface="Patrick Hand"/>
                <a:sym typeface="Patrick Hand"/>
              </a:rPr>
              <a:t>    D  U</a:t>
            </a:r>
            <a:endParaRPr b="0" i="0" sz="700" u="none" cap="none" strike="noStrike">
              <a:solidFill>
                <a:srgbClr val="000000"/>
              </a:solidFill>
              <a:latin typeface="Arial"/>
              <a:ea typeface="Arial"/>
              <a:cs typeface="Arial"/>
              <a:sym typeface="Arial"/>
            </a:endParaRPr>
          </a:p>
        </p:txBody>
      </p:sp>
      <p:sp>
        <p:nvSpPr>
          <p:cNvPr id="321" name="Google Shape;321;g237f15b63d7_0_142"/>
          <p:cNvSpPr txBox="1"/>
          <p:nvPr/>
        </p:nvSpPr>
        <p:spPr>
          <a:xfrm>
            <a:off x="2658238" y="2214013"/>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40C28"/>
                </a:solidFill>
                <a:latin typeface="Patrick Hand"/>
                <a:ea typeface="Patrick Hand"/>
                <a:cs typeface="Patrick Hand"/>
                <a:sym typeface="Patrick Hand"/>
              </a:rPr>
              <a:t>    D  U</a:t>
            </a:r>
            <a:endParaRPr b="0" i="0" sz="700" u="none" cap="none" strike="noStrike">
              <a:solidFill>
                <a:srgbClr val="000000"/>
              </a:solidFill>
              <a:latin typeface="Arial"/>
              <a:ea typeface="Arial"/>
              <a:cs typeface="Arial"/>
              <a:sym typeface="Arial"/>
            </a:endParaRPr>
          </a:p>
        </p:txBody>
      </p:sp>
      <p:sp>
        <p:nvSpPr>
          <p:cNvPr id="322" name="Google Shape;322;g237f15b63d7_0_142"/>
          <p:cNvSpPr txBox="1"/>
          <p:nvPr/>
        </p:nvSpPr>
        <p:spPr>
          <a:xfrm>
            <a:off x="2658238" y="3140763"/>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40C28"/>
                </a:solidFill>
                <a:latin typeface="Patrick Hand"/>
                <a:ea typeface="Patrick Hand"/>
                <a:cs typeface="Patrick Hand"/>
                <a:sym typeface="Patrick Hand"/>
              </a:rPr>
              <a:t>    D  U</a:t>
            </a:r>
            <a:endParaRPr b="0" i="0" sz="700" u="none" cap="none" strike="noStrike">
              <a:solidFill>
                <a:srgbClr val="000000"/>
              </a:solidFill>
              <a:latin typeface="Arial"/>
              <a:ea typeface="Arial"/>
              <a:cs typeface="Arial"/>
              <a:sym typeface="Arial"/>
            </a:endParaRPr>
          </a:p>
        </p:txBody>
      </p:sp>
      <p:sp>
        <p:nvSpPr>
          <p:cNvPr id="323" name="Google Shape;323;g237f15b63d7_0_142"/>
          <p:cNvSpPr txBox="1"/>
          <p:nvPr/>
        </p:nvSpPr>
        <p:spPr>
          <a:xfrm>
            <a:off x="2658238" y="4227525"/>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40C28"/>
                </a:solidFill>
                <a:latin typeface="Patrick Hand"/>
                <a:ea typeface="Patrick Hand"/>
                <a:cs typeface="Patrick Hand"/>
                <a:sym typeface="Patrick Hand"/>
              </a:rPr>
              <a:t>    D  U</a:t>
            </a:r>
            <a:endParaRPr b="0" i="0" sz="700" u="none" cap="none" strike="noStrike">
              <a:solidFill>
                <a:srgbClr val="000000"/>
              </a:solidFill>
              <a:latin typeface="Arial"/>
              <a:ea typeface="Arial"/>
              <a:cs typeface="Arial"/>
              <a:sym typeface="Arial"/>
            </a:endParaRPr>
          </a:p>
        </p:txBody>
      </p:sp>
      <p:sp>
        <p:nvSpPr>
          <p:cNvPr id="324" name="Google Shape;324;g237f15b63d7_0_142"/>
          <p:cNvSpPr txBox="1"/>
          <p:nvPr/>
        </p:nvSpPr>
        <p:spPr>
          <a:xfrm>
            <a:off x="2658238" y="5555175"/>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40C28"/>
                </a:solidFill>
                <a:latin typeface="Patrick Hand"/>
                <a:ea typeface="Patrick Hand"/>
                <a:cs typeface="Patrick Hand"/>
                <a:sym typeface="Patrick Hand"/>
              </a:rPr>
              <a:t>    D  U</a:t>
            </a:r>
            <a:endParaRPr b="0" i="0" sz="700" u="none" cap="none" strike="noStrike">
              <a:solidFill>
                <a:srgbClr val="000000"/>
              </a:solidFill>
              <a:latin typeface="Arial"/>
              <a:ea typeface="Arial"/>
              <a:cs typeface="Arial"/>
              <a:sym typeface="Arial"/>
            </a:endParaRPr>
          </a:p>
        </p:txBody>
      </p:sp>
      <p:pic>
        <p:nvPicPr>
          <p:cNvPr id="325" name="Google Shape;325;g237f15b63d7_0_142"/>
          <p:cNvPicPr preferRelativeResize="0"/>
          <p:nvPr/>
        </p:nvPicPr>
        <p:blipFill>
          <a:blip r:embed="rId4">
            <a:alphaModFix/>
          </a:blip>
          <a:stretch>
            <a:fillRect/>
          </a:stretch>
        </p:blipFill>
        <p:spPr>
          <a:xfrm>
            <a:off x="11081375" y="52215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237f1d06943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31" name="Google Shape;331;g237f1d06943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332" name="Google Shape;332;g237f1d06943_0_0"/>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333" name="Google Shape;333;g237f1d06943_0_0"/>
          <p:cNvSpPr txBox="1"/>
          <p:nvPr/>
        </p:nvSpPr>
        <p:spPr>
          <a:xfrm>
            <a:off x="212275" y="457200"/>
            <a:ext cx="3000000" cy="2632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900"/>
              <a:buFont typeface="Arial"/>
              <a:buNone/>
            </a:pPr>
            <a:r>
              <a:rPr b="1" i="0" lang="es-ES" sz="3900" u="none" cap="none" strike="noStrike">
                <a:solidFill>
                  <a:schemeClr val="dk1"/>
                </a:solidFill>
                <a:latin typeface="Patrick Hand"/>
                <a:ea typeface="Patrick Hand"/>
                <a:cs typeface="Patrick Hand"/>
                <a:sym typeface="Patrick Hand"/>
              </a:rPr>
              <a:t>¡Tarea!</a:t>
            </a:r>
            <a:endParaRPr b="1" i="0" sz="39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Recuerda seguir aprendiendo las tablas de multiplicar.</a:t>
            </a:r>
            <a:endParaRPr b="0" i="0" sz="1200" u="none" cap="none" strike="noStrike">
              <a:solidFill>
                <a:srgbClr val="000000"/>
              </a:solidFill>
              <a:latin typeface="Arial"/>
              <a:ea typeface="Arial"/>
              <a:cs typeface="Arial"/>
              <a:sym typeface="Arial"/>
            </a:endParaRPr>
          </a:p>
        </p:txBody>
      </p:sp>
      <p:sp>
        <p:nvSpPr>
          <p:cNvPr id="334" name="Google Shape;334;g237f1d06943_0_0"/>
          <p:cNvSpPr txBox="1"/>
          <p:nvPr/>
        </p:nvSpPr>
        <p:spPr>
          <a:xfrm>
            <a:off x="5068450"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1 = 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2 = 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3 = 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4 = 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5 = 10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6 = 12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7 = 14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8 = 16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9 = 18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10 = 20</a:t>
            </a:r>
            <a:endParaRPr b="1" i="0" sz="1900" u="none" cap="none" strike="noStrike">
              <a:solidFill>
                <a:srgbClr val="000000"/>
              </a:solidFill>
              <a:latin typeface="Patrick Hand"/>
              <a:ea typeface="Patrick Hand"/>
              <a:cs typeface="Patrick Hand"/>
              <a:sym typeface="Patrick Hand"/>
            </a:endParaRPr>
          </a:p>
        </p:txBody>
      </p:sp>
      <p:sp>
        <p:nvSpPr>
          <p:cNvPr id="335" name="Google Shape;335;g237f1d06943_0_0"/>
          <p:cNvSpPr txBox="1"/>
          <p:nvPr/>
        </p:nvSpPr>
        <p:spPr>
          <a:xfrm>
            <a:off x="3856225"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1 = 1</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2 = 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3 = 3</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4 = 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5 = 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6 = 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7 = 7</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8 = 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9 = 9</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10 = 10</a:t>
            </a:r>
            <a:endParaRPr b="1" i="0" sz="1900" u="none" cap="none" strike="noStrike">
              <a:solidFill>
                <a:srgbClr val="000000"/>
              </a:solidFill>
              <a:latin typeface="Patrick Hand"/>
              <a:ea typeface="Patrick Hand"/>
              <a:cs typeface="Patrick Hand"/>
              <a:sym typeface="Patrick Hand"/>
            </a:endParaRPr>
          </a:p>
        </p:txBody>
      </p:sp>
      <p:sp>
        <p:nvSpPr>
          <p:cNvPr id="336" name="Google Shape;336;g237f1d06943_0_0"/>
          <p:cNvSpPr txBox="1"/>
          <p:nvPr/>
        </p:nvSpPr>
        <p:spPr>
          <a:xfrm>
            <a:off x="6345600"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1 = 3</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2 = 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3 = 9</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4 = 12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5 = 15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6 = 18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7 = 21</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8 = 24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9 = 27</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10 = 30</a:t>
            </a:r>
            <a:endParaRPr b="1" i="0" sz="1900" u="none" cap="none" strike="noStrike">
              <a:solidFill>
                <a:srgbClr val="000000"/>
              </a:solidFill>
              <a:latin typeface="Patrick Hand"/>
              <a:ea typeface="Patrick Hand"/>
              <a:cs typeface="Patrick Hand"/>
              <a:sym typeface="Patrick Hand"/>
            </a:endParaRPr>
          </a:p>
        </p:txBody>
      </p:sp>
      <p:sp>
        <p:nvSpPr>
          <p:cNvPr id="337" name="Google Shape;337;g237f1d06943_0_0"/>
          <p:cNvSpPr txBox="1"/>
          <p:nvPr/>
        </p:nvSpPr>
        <p:spPr>
          <a:xfrm>
            <a:off x="7570225"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1 = 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2 = 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3 = 12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4 = 16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5 = 20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6 = 24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7 = 28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8 = 32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9 = 36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10 = 40</a:t>
            </a:r>
            <a:endParaRPr b="1" i="0" sz="1900" u="none" cap="none" strike="noStrike">
              <a:solidFill>
                <a:srgbClr val="000000"/>
              </a:solidFill>
              <a:latin typeface="Patrick Hand"/>
              <a:ea typeface="Patrick Hand"/>
              <a:cs typeface="Patrick Hand"/>
              <a:sym typeface="Patrick Hand"/>
            </a:endParaRPr>
          </a:p>
        </p:txBody>
      </p:sp>
      <p:sp>
        <p:nvSpPr>
          <p:cNvPr id="338" name="Google Shape;338;g237f1d06943_0_0"/>
          <p:cNvSpPr txBox="1"/>
          <p:nvPr/>
        </p:nvSpPr>
        <p:spPr>
          <a:xfrm>
            <a:off x="8782450"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1 = 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2 = 10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3 = 15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4 = 20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5 = 25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6 = 30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7 = 35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8 = 40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9 = 45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10 = 50</a:t>
            </a:r>
            <a:endParaRPr b="1" i="0" sz="1900" u="none" cap="none" strike="noStrike">
              <a:solidFill>
                <a:srgbClr val="000000"/>
              </a:solidFill>
              <a:latin typeface="Patrick Hand"/>
              <a:ea typeface="Patrick Hand"/>
              <a:cs typeface="Patrick Hand"/>
              <a:sym typeface="Patrick Hand"/>
            </a:endParaRPr>
          </a:p>
        </p:txBody>
      </p:sp>
      <p:sp>
        <p:nvSpPr>
          <p:cNvPr id="339" name="Google Shape;339;g237f1d06943_0_0"/>
          <p:cNvSpPr txBox="1"/>
          <p:nvPr/>
        </p:nvSpPr>
        <p:spPr>
          <a:xfrm>
            <a:off x="3839950" y="3398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1 = 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2 = 12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3 = 18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4 = 24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5 = 30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6 = 36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7 = 42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8 = 48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9 = 54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10 = 60</a:t>
            </a:r>
            <a:endParaRPr b="1" i="0" sz="1900" u="none" cap="none" strike="noStrike">
              <a:solidFill>
                <a:srgbClr val="000000"/>
              </a:solidFill>
              <a:latin typeface="Patrick Hand"/>
              <a:ea typeface="Patrick Hand"/>
              <a:cs typeface="Patrick Hand"/>
              <a:sym typeface="Patrick Hand"/>
            </a:endParaRPr>
          </a:p>
        </p:txBody>
      </p:sp>
      <p:sp>
        <p:nvSpPr>
          <p:cNvPr id="340" name="Google Shape;340;g237f1d06943_0_0"/>
          <p:cNvSpPr txBox="1"/>
          <p:nvPr/>
        </p:nvSpPr>
        <p:spPr>
          <a:xfrm>
            <a:off x="5068450" y="3398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1 = 7</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2 = 14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3 = 21</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4 = 28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5 = 35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6 = 42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7 = 49</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8 = 56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9 = 63</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10 = 70</a:t>
            </a:r>
            <a:endParaRPr b="1" i="0" sz="1900" u="none" cap="none" strike="noStrike">
              <a:solidFill>
                <a:srgbClr val="000000"/>
              </a:solidFill>
              <a:latin typeface="Patrick Hand"/>
              <a:ea typeface="Patrick Hand"/>
              <a:cs typeface="Patrick Hand"/>
              <a:sym typeface="Patrick Hand"/>
            </a:endParaRPr>
          </a:p>
        </p:txBody>
      </p:sp>
      <p:sp>
        <p:nvSpPr>
          <p:cNvPr id="341" name="Google Shape;341;g237f1d06943_0_0"/>
          <p:cNvSpPr txBox="1"/>
          <p:nvPr/>
        </p:nvSpPr>
        <p:spPr>
          <a:xfrm>
            <a:off x="6421800" y="3363350"/>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1 = 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2 = 16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3 = 24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4 = 32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5 = 40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6 = 48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7 = 56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8 = 64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9 = 72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10 = 80</a:t>
            </a:r>
            <a:endParaRPr b="1" i="0" sz="1900" u="none" cap="none" strike="noStrike">
              <a:solidFill>
                <a:srgbClr val="000000"/>
              </a:solidFill>
              <a:latin typeface="Patrick Hand"/>
              <a:ea typeface="Patrick Hand"/>
              <a:cs typeface="Patrick Hand"/>
              <a:sym typeface="Patrick Hand"/>
            </a:endParaRPr>
          </a:p>
        </p:txBody>
      </p:sp>
      <p:sp>
        <p:nvSpPr>
          <p:cNvPr id="342" name="Google Shape;342;g237f1d06943_0_0"/>
          <p:cNvSpPr txBox="1"/>
          <p:nvPr/>
        </p:nvSpPr>
        <p:spPr>
          <a:xfrm>
            <a:off x="7646425" y="3398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1 = 9</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2 = 18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3 = 27</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4 = 36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5 = 45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6 = 54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7 = 63</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8 = 72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9 = 81</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10 = 90</a:t>
            </a:r>
            <a:endParaRPr b="1" i="0" sz="1900" u="none" cap="none" strike="noStrike">
              <a:solidFill>
                <a:srgbClr val="000000"/>
              </a:solidFill>
              <a:latin typeface="Patrick Hand"/>
              <a:ea typeface="Patrick Hand"/>
              <a:cs typeface="Patrick Hand"/>
              <a:sym typeface="Patrick Hand"/>
            </a:endParaRPr>
          </a:p>
        </p:txBody>
      </p:sp>
      <p:sp>
        <p:nvSpPr>
          <p:cNvPr id="343" name="Google Shape;343;g237f1d06943_0_0"/>
          <p:cNvSpPr txBox="1"/>
          <p:nvPr/>
        </p:nvSpPr>
        <p:spPr>
          <a:xfrm>
            <a:off x="8782450" y="3363350"/>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1 = 10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2= 20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3 = 30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4 = 40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5 = 50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6= 60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7 = 70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8 = 80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9 = 90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10 = 100</a:t>
            </a:r>
            <a:endParaRPr b="1" i="0" sz="1900" u="none" cap="none" strike="noStrike">
              <a:solidFill>
                <a:srgbClr val="000000"/>
              </a:solidFill>
              <a:latin typeface="Patrick Hand"/>
              <a:ea typeface="Patrick Hand"/>
              <a:cs typeface="Patrick Hand"/>
              <a:sym typeface="Patrick Hand"/>
            </a:endParaRPr>
          </a:p>
        </p:txBody>
      </p:sp>
      <p:sp>
        <p:nvSpPr>
          <p:cNvPr id="344" name="Google Shape;344;g237f1d06943_0_0"/>
          <p:cNvSpPr/>
          <p:nvPr/>
        </p:nvSpPr>
        <p:spPr>
          <a:xfrm>
            <a:off x="3638950" y="457200"/>
            <a:ext cx="6595500" cy="5939400"/>
          </a:xfrm>
          <a:prstGeom prst="roundRect">
            <a:avLst>
              <a:gd fmla="val 4913" name="adj"/>
            </a:avLst>
          </a:prstGeom>
          <a:noFill/>
          <a:ln cap="flat" cmpd="sng" w="3810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45" name="Google Shape;345;g237f1d06943_0_0"/>
          <p:cNvCxnSpPr/>
          <p:nvPr/>
        </p:nvCxnSpPr>
        <p:spPr>
          <a:xfrm>
            <a:off x="5003550" y="489850"/>
            <a:ext cx="35100" cy="5930700"/>
          </a:xfrm>
          <a:prstGeom prst="straightConnector1">
            <a:avLst/>
          </a:prstGeom>
          <a:noFill/>
          <a:ln cap="flat" cmpd="sng" w="9525">
            <a:solidFill>
              <a:srgbClr val="009287"/>
            </a:solidFill>
            <a:prstDash val="solid"/>
            <a:round/>
            <a:headEnd len="sm" w="sm" type="none"/>
            <a:tailEnd len="sm" w="sm" type="none"/>
          </a:ln>
        </p:spPr>
      </p:cxnSp>
      <p:cxnSp>
        <p:nvCxnSpPr>
          <p:cNvPr id="346" name="Google Shape;346;g237f1d06943_0_0"/>
          <p:cNvCxnSpPr/>
          <p:nvPr/>
        </p:nvCxnSpPr>
        <p:spPr>
          <a:xfrm>
            <a:off x="6286888" y="489850"/>
            <a:ext cx="35100" cy="5930700"/>
          </a:xfrm>
          <a:prstGeom prst="straightConnector1">
            <a:avLst/>
          </a:prstGeom>
          <a:noFill/>
          <a:ln cap="flat" cmpd="sng" w="9525">
            <a:solidFill>
              <a:srgbClr val="009287"/>
            </a:solidFill>
            <a:prstDash val="solid"/>
            <a:round/>
            <a:headEnd len="sm" w="sm" type="none"/>
            <a:tailEnd len="sm" w="sm" type="none"/>
          </a:ln>
        </p:spPr>
      </p:cxnSp>
      <p:cxnSp>
        <p:nvCxnSpPr>
          <p:cNvPr id="347" name="Google Shape;347;g237f1d06943_0_0"/>
          <p:cNvCxnSpPr/>
          <p:nvPr/>
        </p:nvCxnSpPr>
        <p:spPr>
          <a:xfrm>
            <a:off x="7534675" y="461550"/>
            <a:ext cx="35100" cy="5930700"/>
          </a:xfrm>
          <a:prstGeom prst="straightConnector1">
            <a:avLst/>
          </a:prstGeom>
          <a:noFill/>
          <a:ln cap="flat" cmpd="sng" w="9525">
            <a:solidFill>
              <a:srgbClr val="009287"/>
            </a:solidFill>
            <a:prstDash val="solid"/>
            <a:round/>
            <a:headEnd len="sm" w="sm" type="none"/>
            <a:tailEnd len="sm" w="sm" type="none"/>
          </a:ln>
        </p:spPr>
      </p:cxnSp>
      <p:cxnSp>
        <p:nvCxnSpPr>
          <p:cNvPr id="348" name="Google Shape;348;g237f1d06943_0_0"/>
          <p:cNvCxnSpPr/>
          <p:nvPr/>
        </p:nvCxnSpPr>
        <p:spPr>
          <a:xfrm>
            <a:off x="8747350" y="461550"/>
            <a:ext cx="35100" cy="5930700"/>
          </a:xfrm>
          <a:prstGeom prst="straightConnector1">
            <a:avLst/>
          </a:prstGeom>
          <a:noFill/>
          <a:ln cap="flat" cmpd="sng" w="9525">
            <a:solidFill>
              <a:srgbClr val="009287"/>
            </a:solidFill>
            <a:prstDash val="solid"/>
            <a:round/>
            <a:headEnd len="sm" w="sm" type="none"/>
            <a:tailEnd len="sm" w="sm" type="none"/>
          </a:ln>
        </p:spPr>
      </p:cxnSp>
      <p:cxnSp>
        <p:nvCxnSpPr>
          <p:cNvPr id="349" name="Google Shape;349;g237f1d06943_0_0"/>
          <p:cNvCxnSpPr>
            <a:stCxn id="344" idx="1"/>
            <a:endCxn id="344" idx="3"/>
          </p:cNvCxnSpPr>
          <p:nvPr/>
        </p:nvCxnSpPr>
        <p:spPr>
          <a:xfrm>
            <a:off x="3638950" y="3426900"/>
            <a:ext cx="6595500" cy="0"/>
          </a:xfrm>
          <a:prstGeom prst="straightConnector1">
            <a:avLst/>
          </a:prstGeom>
          <a:noFill/>
          <a:ln cap="flat" cmpd="sng" w="9525">
            <a:solidFill>
              <a:srgbClr val="009287"/>
            </a:solidFill>
            <a:prstDash val="solid"/>
            <a:round/>
            <a:headEnd len="sm" w="sm" type="none"/>
            <a:tailEnd len="sm" w="sm" type="none"/>
          </a:ln>
        </p:spPr>
      </p:cxnSp>
      <p:pic>
        <p:nvPicPr>
          <p:cNvPr id="350" name="Google Shape;350;g237f1d06943_0_0"/>
          <p:cNvPicPr preferRelativeResize="0"/>
          <p:nvPr/>
        </p:nvPicPr>
        <p:blipFill>
          <a:blip r:embed="rId4">
            <a:alphaModFix/>
          </a:blip>
          <a:stretch>
            <a:fillRect/>
          </a:stretch>
        </p:blipFill>
        <p:spPr>
          <a:xfrm>
            <a:off x="11081375" y="5221587"/>
            <a:ext cx="975700" cy="1029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descr="Forma&#10;&#10;Descripción generada automáticamente con confianza media" id="355" name="Google Shape;355;g2b52212cacd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56" name="Google Shape;356;g2b52212cacd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¡Resumen de hoy!</a:t>
            </a:r>
            <a:endParaRPr b="0" i="0" sz="1900" u="none" cap="none" strike="noStrike">
              <a:solidFill>
                <a:schemeClr val="lt1"/>
              </a:solidFill>
              <a:highlight>
                <a:srgbClr val="009287"/>
              </a:highlight>
              <a:latin typeface="Arial"/>
              <a:ea typeface="Arial"/>
              <a:cs typeface="Arial"/>
              <a:sym typeface="Arial"/>
            </a:endParaRPr>
          </a:p>
        </p:txBody>
      </p:sp>
      <p:sp>
        <p:nvSpPr>
          <p:cNvPr id="357" name="Google Shape;357;g2b52212cacd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multiplicacion" id="358" name="Google Shape;358;g2b52212cacd_0_0" title="Resumen - Multiplicación (13 a 14) - 2 dígitos">
            <a:hlinkClick r:id="rId4"/>
          </p:cNvPr>
          <p:cNvPicPr preferRelativeResize="0"/>
          <p:nvPr/>
        </p:nvPicPr>
        <p:blipFill>
          <a:blip r:embed="rId5">
            <a:alphaModFix/>
          </a:blip>
          <a:stretch>
            <a:fillRect/>
          </a:stretch>
        </p:blipFill>
        <p:spPr>
          <a:xfrm>
            <a:off x="1702575" y="1398450"/>
            <a:ext cx="8787050" cy="4942700"/>
          </a:xfrm>
          <a:prstGeom prst="rect">
            <a:avLst/>
          </a:prstGeom>
          <a:noFill/>
          <a:ln cap="flat" cmpd="sng" w="28575">
            <a:solidFill>
              <a:schemeClr val="dk2"/>
            </a:solidFill>
            <a:prstDash val="solid"/>
            <a:round/>
            <a:headEnd len="sm" w="sm" type="none"/>
            <a:tailEnd len="sm" w="sm" type="none"/>
          </a:ln>
        </p:spPr>
      </p:pic>
      <p:pic>
        <p:nvPicPr>
          <p:cNvPr id="359" name="Google Shape;359;g2b52212cacd_0_0"/>
          <p:cNvPicPr preferRelativeResize="0"/>
          <p:nvPr/>
        </p:nvPicPr>
        <p:blipFill>
          <a:blip r:embed="rId6">
            <a:alphaModFix/>
          </a:blip>
          <a:stretch>
            <a:fillRect/>
          </a:stretch>
        </p:blipFill>
        <p:spPr>
          <a:xfrm>
            <a:off x="11081375" y="52215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1000"/>
                                        <p:tgtEl>
                                          <p:spTgt spid="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265bff4437b_0_55"/>
          <p:cNvSpPr txBox="1"/>
          <p:nvPr/>
        </p:nvSpPr>
        <p:spPr>
          <a:xfrm>
            <a:off x="2842767" y="1268500"/>
            <a:ext cx="6506400" cy="40635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1) ¿Cuál es el resultado?</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34 x 2</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2) ¿Cuál es el resultado?</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11 x 6</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3) ¿Cuál es el resultado?</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18 x 5</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4) ¿Cuál es el resultado?</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55 x 3</a:t>
            </a:r>
            <a:endParaRPr sz="3200">
              <a:solidFill>
                <a:schemeClr val="dk1"/>
              </a:solidFill>
              <a:latin typeface="Patrick Hand"/>
              <a:ea typeface="Patrick Hand"/>
              <a:cs typeface="Patrick Hand"/>
              <a:sym typeface="Patrick Hand"/>
            </a:endParaRPr>
          </a:p>
        </p:txBody>
      </p:sp>
      <p:sp>
        <p:nvSpPr>
          <p:cNvPr id="365" name="Google Shape;365;g265bff4437b_0_55"/>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66" name="Google Shape;366;g265bff4437b_0_55"/>
          <p:cNvSpPr txBox="1"/>
          <p:nvPr/>
        </p:nvSpPr>
        <p:spPr>
          <a:xfrm>
            <a:off x="3047983" y="5320759"/>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ES"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ES" sz="1900" u="sng">
                <a:solidFill>
                  <a:schemeClr val="hlink"/>
                </a:solidFill>
                <a:latin typeface="Calibri"/>
                <a:ea typeface="Calibri"/>
                <a:cs typeface="Calibri"/>
                <a:sym typeface="Calibri"/>
                <a:hlinkClick r:id="rId3"/>
              </a:rPr>
              <a:t>https://forms.gle/WXVddX4ioz2dszsC7</a:t>
            </a:r>
            <a:endParaRPr sz="1900"/>
          </a:p>
        </p:txBody>
      </p:sp>
      <p:pic>
        <p:nvPicPr>
          <p:cNvPr id="367" name="Google Shape;367;g265bff4437b_0_55"/>
          <p:cNvPicPr preferRelativeResize="0"/>
          <p:nvPr/>
        </p:nvPicPr>
        <p:blipFill rotWithShape="1">
          <a:blip r:embed="rId4">
            <a:alphaModFix/>
          </a:blip>
          <a:srcRect b="9322" l="9330" r="9322" t="9330"/>
          <a:stretch/>
        </p:blipFill>
        <p:spPr>
          <a:xfrm>
            <a:off x="8941100" y="2251833"/>
            <a:ext cx="2608599" cy="2608599"/>
          </a:xfrm>
          <a:prstGeom prst="rect">
            <a:avLst/>
          </a:prstGeom>
          <a:noFill/>
          <a:ln>
            <a:noFill/>
          </a:ln>
        </p:spPr>
      </p:pic>
      <p:pic>
        <p:nvPicPr>
          <p:cNvPr id="368" name="Google Shape;368;g265bff4437b_0_55"/>
          <p:cNvPicPr preferRelativeResize="0"/>
          <p:nvPr/>
        </p:nvPicPr>
        <p:blipFill>
          <a:blip r:embed="rId5">
            <a:alphaModFix/>
          </a:blip>
          <a:stretch>
            <a:fillRect/>
          </a:stretch>
        </p:blipFill>
        <p:spPr>
          <a:xfrm>
            <a:off x="11081375" y="52215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pic>
        <p:nvPicPr>
          <p:cNvPr descr="Forma&#10;&#10;Descripción generada automáticamente con confianza media" id="373" name="Google Shape;373;g2b52212cacd_0_7"/>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74" name="Google Shape;374;g2b52212cacd_0_7"/>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375" name="Google Shape;375;g2b52212cacd_0_7"/>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multiplicacion" id="376" name="Google Shape;376;g2b52212cacd_0_7" title="Reforzamiento - Multiplicación (13 a 14) - 2 dígitos">
            <a:hlinkClick r:id="rId4"/>
          </p:cNvPr>
          <p:cNvPicPr preferRelativeResize="0"/>
          <p:nvPr/>
        </p:nvPicPr>
        <p:blipFill>
          <a:blip r:embed="rId5">
            <a:alphaModFix/>
          </a:blip>
          <a:stretch>
            <a:fillRect/>
          </a:stretch>
        </p:blipFill>
        <p:spPr>
          <a:xfrm>
            <a:off x="1700225" y="1398450"/>
            <a:ext cx="8791450" cy="4945200"/>
          </a:xfrm>
          <a:prstGeom prst="rect">
            <a:avLst/>
          </a:prstGeom>
          <a:noFill/>
          <a:ln cap="flat" cmpd="sng" w="28575">
            <a:solidFill>
              <a:schemeClr val="dk2"/>
            </a:solidFill>
            <a:prstDash val="solid"/>
            <a:round/>
            <a:headEnd len="sm" w="sm" type="none"/>
            <a:tailEnd len="sm" w="sm" type="none"/>
          </a:ln>
        </p:spPr>
      </p:pic>
      <p:pic>
        <p:nvPicPr>
          <p:cNvPr id="377" name="Google Shape;377;g2b52212cacd_0_7"/>
          <p:cNvPicPr preferRelativeResize="0"/>
          <p:nvPr/>
        </p:nvPicPr>
        <p:blipFill>
          <a:blip r:embed="rId6">
            <a:alphaModFix/>
          </a:blip>
          <a:stretch>
            <a:fillRect/>
          </a:stretch>
        </p:blipFill>
        <p:spPr>
          <a:xfrm>
            <a:off x="11081375" y="52215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1000"/>
                                        <p:tgtEl>
                                          <p:spTgt spid="3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