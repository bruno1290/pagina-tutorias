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Patrick Hand"/>
      <p:regular r:id="rId23"/>
    </p:embeddedFont>
    <p:embeddedFont>
      <p:font typeface="Poppins"/>
      <p:regular r:id="rId24"/>
      <p:bold r:id="rId25"/>
      <p:italic r:id="rId26"/>
      <p:boldItalic r:id="rId27"/>
    </p:embeddedFont>
    <p:embeddedFont>
      <p:font typeface="Poppins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eeFg9jkhVBbA/Ks2QelnFQnpS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111AD8-4DC3-4770-AE09-89CDE8A26586}">
  <a:tblStyle styleId="{A7111AD8-4DC3-4770-AE09-89CDE8A2658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regular.fntdata"/><Relationship Id="rId23" Type="http://schemas.openxmlformats.org/officeDocument/2006/relationships/font" Target="fonts/PatrickHan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945943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94594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9459437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945943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9459437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945943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9459437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945943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43511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4351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5bcd879e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5bcd879e0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8d68822c6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28d68822c6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c689ae27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25c689ae27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5c689ae27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25c689ae27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5d83601fe9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25d83601fe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5d83601fe9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25d83601fe9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b52275c76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2b52275c7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af0561bb2e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305" name="Google Shape;305;g2af0561bb2e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b52275c760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b52275c76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561bb2e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561bb2e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561bb2e_0_6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561bb2e_0_6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561bb2e_0_6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561bb2e_0_7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561bb2e_0_7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561bb2e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561bb2e_0_7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561bb2e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561bb2e_0_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561bb2e_0_8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561bb2e_0_8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561bb2e_0_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561bb2e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561bb2e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561bb2e_0_8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561bb2e_0_8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561bb2e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561bb2e_0_9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561bb2e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561bb2e_0_9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561bb2e_0_9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561bb2e_0_9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561bb2e_0_9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561bb2e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561bb2e_0_10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561bb2e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561bb2e_0_10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561bb2e_0_10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561bb2e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561bb2e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3.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561bb2e_0_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561bb2e_0_6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561bb2e_0_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hyperlink" Target="http://www.youtube.com/watch?v=325DOHJTcZE" TargetMode="External"/><Relationship Id="rId5" Type="http://schemas.openxmlformats.org/officeDocument/2006/relationships/image" Target="../media/image12.jpg"/><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DRfT9bN5pd9cAstJ6" TargetMode="External"/><Relationship Id="rId4" Type="http://schemas.openxmlformats.org/officeDocument/2006/relationships/image" Target="../media/image8.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hyperlink" Target="http://www.youtube.com/watch?v=wvwFykk5GJc" TargetMode="External"/><Relationship Id="rId5" Type="http://schemas.openxmlformats.org/officeDocument/2006/relationships/image" Target="../media/image11.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66375" y="5617975"/>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3" y="0"/>
            <a:ext cx="12192000" cy="6857997"/>
          </a:xfrm>
          <a:prstGeom prst="rect">
            <a:avLst/>
          </a:prstGeom>
          <a:noFill/>
          <a:ln>
            <a:noFill/>
          </a:ln>
        </p:spPr>
      </p:pic>
      <p:pic>
        <p:nvPicPr>
          <p:cNvPr id="140" name="Google Shape;140;p2"/>
          <p:cNvPicPr preferRelativeResize="0"/>
          <p:nvPr/>
        </p:nvPicPr>
        <p:blipFill>
          <a:blip r:embed="rId4">
            <a:alphaModFix/>
          </a:blip>
          <a:stretch>
            <a:fillRect/>
          </a:stretch>
        </p:blipFill>
        <p:spPr>
          <a:xfrm>
            <a:off x="11066375" y="526265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9459437_0_0"/>
          <p:cNvSpPr txBox="1"/>
          <p:nvPr/>
        </p:nvSpPr>
        <p:spPr>
          <a:xfrm>
            <a:off x="776650" y="14332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Sesión</a:t>
            </a:r>
            <a:r>
              <a:rPr b="1" lang="es-ES" sz="1600">
                <a:solidFill>
                  <a:srgbClr val="3259A4"/>
                </a:solidFill>
                <a:latin typeface="Poppins"/>
                <a:ea typeface="Poppins"/>
                <a:cs typeface="Poppins"/>
                <a:sym typeface="Poppins"/>
              </a:rPr>
              <a:t> 2: </a:t>
            </a:r>
            <a:r>
              <a:rPr b="1" lang="es-ES" sz="1600">
                <a:solidFill>
                  <a:srgbClr val="3259A4"/>
                </a:solidFill>
                <a:latin typeface="Poppins"/>
                <a:ea typeface="Poppins"/>
                <a:cs typeface="Poppins"/>
                <a:sym typeface="Poppins"/>
              </a:rPr>
              <a:t>Multiplicación</a:t>
            </a:r>
            <a:r>
              <a:rPr b="1" lang="es-ES" sz="1600">
                <a:solidFill>
                  <a:srgbClr val="3259A4"/>
                </a:solidFill>
                <a:latin typeface="Poppins"/>
                <a:ea typeface="Poppins"/>
                <a:cs typeface="Poppins"/>
                <a:sym typeface="Poppins"/>
              </a:rPr>
              <a:t>: suma iterada y propiedades</a:t>
            </a:r>
            <a:endParaRPr b="1" sz="16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600">
              <a:solidFill>
                <a:srgbClr val="3259A4"/>
              </a:solidFill>
              <a:latin typeface="Poppins"/>
              <a:ea typeface="Poppins"/>
              <a:cs typeface="Poppins"/>
              <a:sym typeface="Poppins"/>
            </a:endParaRPr>
          </a:p>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800">
                <a:solidFill>
                  <a:schemeClr val="dk1"/>
                </a:solidFill>
                <a:latin typeface="Poppins Light"/>
                <a:ea typeface="Poppins Light"/>
                <a:cs typeface="Poppins Light"/>
                <a:sym typeface="Poppins Light"/>
              </a:rPr>
              <a:t> </a:t>
            </a:r>
            <a:r>
              <a:rPr lang="es-ES" sz="1600">
                <a:solidFill>
                  <a:schemeClr val="dk1"/>
                </a:solidFill>
                <a:latin typeface="Poppins"/>
                <a:ea typeface="Poppins"/>
                <a:cs typeface="Poppins"/>
                <a:sym typeface="Poppins"/>
              </a:rPr>
              <a:t>Afianzar el concepto de multiplicación como suma iterada y presentar las propiedades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00">
                <a:solidFill>
                  <a:schemeClr val="dk1"/>
                </a:solidFill>
                <a:latin typeface="Poppins"/>
                <a:ea typeface="Poppins"/>
                <a:cs typeface="Poppins"/>
                <a:sym typeface="Poppins"/>
              </a:rPr>
              <a:t>       fundamentales de la multiplicación.</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9459437_0_0"/>
          <p:cNvSpPr txBox="1"/>
          <p:nvPr/>
        </p:nvSpPr>
        <p:spPr>
          <a:xfrm>
            <a:off x="1158250" y="26401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Profundizar en la multiplicación como</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suma iterada.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Presentar cinco de las propiedades de la multiplicación.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9459437_0_0"/>
          <p:cNvSpPr txBox="1"/>
          <p:nvPr/>
        </p:nvSpPr>
        <p:spPr>
          <a:xfrm>
            <a:off x="6376050" y="263997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Multiplicación como suma iterada.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Propiedades de la multiplicación.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9459437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9459437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9459437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9459437_0_0"/>
          <p:cNvPicPr preferRelativeResize="0"/>
          <p:nvPr/>
        </p:nvPicPr>
        <p:blipFill>
          <a:blip r:embed="rId3">
            <a:alphaModFix/>
          </a:blip>
          <a:stretch>
            <a:fillRect/>
          </a:stretch>
        </p:blipFill>
        <p:spPr>
          <a:xfrm>
            <a:off x="10977550" y="2317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9459437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9459437_0_85"/>
          <p:cNvSpPr txBox="1"/>
          <p:nvPr/>
        </p:nvSpPr>
        <p:spPr>
          <a:xfrm>
            <a:off x="786350" y="2131575"/>
            <a:ext cx="10500000" cy="5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En esta sesión profundizarás en la multiplicación abordándola como una suma repetida e introduciendo varias propiedades clave que facilitarán su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De esta manera, al inicio repasa el concepto de multiplicación como suma iterada, asegurándote de que tu estudiante lo recuerde. Así, según su nivel, motívalo a que resuelva los ejemplos de las diapositivas 4 a 6 por su cuenta, mientras tú solo le das consejos para abordarlos adecuadamente.</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Posteriormente revisarán cinco propiedades de la multiplicación: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1. </a:t>
            </a:r>
            <a:r>
              <a:rPr b="1" i="1" lang="es-ES" u="sng">
                <a:solidFill>
                  <a:schemeClr val="dk1"/>
                </a:solidFill>
                <a:latin typeface="Poppins"/>
                <a:ea typeface="Poppins"/>
                <a:cs typeface="Poppins"/>
                <a:sym typeface="Poppins"/>
              </a:rPr>
              <a:t>Elemento neutro:</a:t>
            </a:r>
            <a:r>
              <a:rPr lang="es-ES">
                <a:solidFill>
                  <a:schemeClr val="dk1"/>
                </a:solidFill>
                <a:latin typeface="Poppins"/>
                <a:ea typeface="Poppins"/>
                <a:cs typeface="Poppins"/>
                <a:sym typeface="Poppins"/>
              </a:rPr>
              <a:t> Usa ejemplos visuales con fichas o dibujos para mostrar cómo 1 por cualquier número sigue siendo ese número, reforzando la idea de que el 1 indica de que hay solo un grupo.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2. </a:t>
            </a:r>
            <a:r>
              <a:rPr b="1" i="1" lang="es-ES" u="sng">
                <a:solidFill>
                  <a:schemeClr val="dk1"/>
                </a:solidFill>
                <a:latin typeface="Poppins"/>
                <a:ea typeface="Poppins"/>
                <a:cs typeface="Poppins"/>
                <a:sym typeface="Poppins"/>
              </a:rPr>
              <a:t>Absorbente o del 0</a:t>
            </a:r>
            <a:r>
              <a:rPr lang="es-ES">
                <a:solidFill>
                  <a:schemeClr val="dk1"/>
                </a:solidFill>
                <a:latin typeface="Poppins"/>
                <a:ea typeface="Poppins"/>
                <a:cs typeface="Poppins"/>
                <a:sym typeface="Poppins"/>
              </a:rPr>
              <a:t>: De forma similar al anterior, muéstrale a tu estudiante de que el 0 indica que no hay grupos, y por eso el resultado se anula.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3. </a:t>
            </a:r>
            <a:r>
              <a:rPr b="1" i="1" lang="es-ES" u="sng">
                <a:solidFill>
                  <a:schemeClr val="dk1"/>
                </a:solidFill>
                <a:latin typeface="Poppins"/>
                <a:ea typeface="Poppins"/>
                <a:cs typeface="Poppins"/>
                <a:sym typeface="Poppins"/>
              </a:rPr>
              <a:t>Conmutativa:</a:t>
            </a:r>
            <a:r>
              <a:rPr lang="es-ES">
                <a:solidFill>
                  <a:schemeClr val="dk1"/>
                </a:solidFill>
                <a:latin typeface="Poppins"/>
                <a:ea typeface="Poppins"/>
                <a:cs typeface="Poppins"/>
                <a:sym typeface="Poppins"/>
              </a:rPr>
              <a:t> Introduce la propiedad con que “el orden de los factores no altera el producto”. Para ello utiliza ejemplos visuales para mostrar que cambiar los grupos por los elementos y viceversa no altera el resultado.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9459437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9459437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9459437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9459437_0_85"/>
          <p:cNvPicPr preferRelativeResize="0"/>
          <p:nvPr/>
        </p:nvPicPr>
        <p:blipFill>
          <a:blip r:embed="rId3">
            <a:alphaModFix/>
          </a:blip>
          <a:stretch>
            <a:fillRect/>
          </a:stretch>
        </p:blipFill>
        <p:spPr>
          <a:xfrm>
            <a:off x="10977550"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9459437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9459437_0_169"/>
          <p:cNvSpPr txBox="1"/>
          <p:nvPr/>
        </p:nvSpPr>
        <p:spPr>
          <a:xfrm>
            <a:off x="786350" y="2283975"/>
            <a:ext cx="10500000" cy="277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4. </a:t>
            </a:r>
            <a:r>
              <a:rPr b="1" i="1" lang="es-ES" u="sng">
                <a:solidFill>
                  <a:schemeClr val="dk1"/>
                </a:solidFill>
                <a:latin typeface="Poppins"/>
                <a:ea typeface="Poppins"/>
                <a:cs typeface="Poppins"/>
                <a:sym typeface="Poppins"/>
              </a:rPr>
              <a:t>Distributiva: </a:t>
            </a:r>
            <a:r>
              <a:rPr lang="es-ES">
                <a:solidFill>
                  <a:schemeClr val="dk1"/>
                </a:solidFill>
                <a:latin typeface="Poppins"/>
                <a:ea typeface="Poppins"/>
                <a:cs typeface="Poppins"/>
                <a:sym typeface="Poppins"/>
              </a:rPr>
              <a:t>Usando el ejemplo de la diapositiva, sé enfático en la equivalencia del resultado aplicando o no la propiedad. Para reforzar aquello, utiliza bloques o dibujos para mostrar aquello.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5. </a:t>
            </a:r>
            <a:r>
              <a:rPr b="1" i="1" lang="es-ES" u="sng">
                <a:solidFill>
                  <a:schemeClr val="dk1"/>
                </a:solidFill>
                <a:latin typeface="Poppins"/>
                <a:ea typeface="Poppins"/>
                <a:cs typeface="Poppins"/>
                <a:sym typeface="Poppins"/>
              </a:rPr>
              <a:t>Asociativa:</a:t>
            </a:r>
            <a:r>
              <a:rPr lang="es-ES">
                <a:solidFill>
                  <a:schemeClr val="dk1"/>
                </a:solidFill>
                <a:latin typeface="Poppins"/>
                <a:ea typeface="Poppins"/>
                <a:cs typeface="Poppins"/>
                <a:sym typeface="Poppins"/>
              </a:rPr>
              <a:t> Usando elementos visuales, vincula la propiedad con la noción de</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elementos y grupos para que note que el resultado no se altera.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a:solidFill>
                  <a:schemeClr val="dk1"/>
                </a:solidFill>
                <a:latin typeface="Poppins"/>
                <a:ea typeface="Poppins"/>
                <a:cs typeface="Poppins"/>
                <a:sym typeface="Poppins"/>
              </a:rPr>
              <a:t>Presta mucha atención a la hora de enseñar cada una de estas propiedades, porque es común que los estudiantes confundan la multiplicación por 1 y por 0, o que no comprendan cómo la propiedad asociativa no afecta el número de grupos por elementos.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750">
              <a:solidFill>
                <a:schemeClr val="dk1"/>
              </a:solidFill>
            </a:endParaRPr>
          </a:p>
        </p:txBody>
      </p:sp>
      <p:sp>
        <p:nvSpPr>
          <p:cNvPr id="168" name="Google Shape;168;g330c9459437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9459437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9459437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9459437_0_169"/>
          <p:cNvPicPr preferRelativeResize="0"/>
          <p:nvPr/>
        </p:nvPicPr>
        <p:blipFill>
          <a:blip r:embed="rId3">
            <a:alphaModFix/>
          </a:blip>
          <a:stretch>
            <a:fillRect/>
          </a:stretch>
        </p:blipFill>
        <p:spPr>
          <a:xfrm>
            <a:off x="10977550"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9459437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9459437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Para cada una de las propiedades revisadas, pídele a tu estudiante que describa una situación donde las haya tenido que aplicar en su día a día y explicando por qué es así</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9459437_0_253"/>
          <p:cNvSpPr txBox="1"/>
          <p:nvPr/>
        </p:nvSpPr>
        <p:spPr>
          <a:xfrm>
            <a:off x="331775"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significa multiplicar usando suma iterada?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pasa cuando multiplicas un número por 1 o por 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¿Cómo afecta el orden de los factores en la multiplicación?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9459437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9459437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9459437_0_253"/>
          <p:cNvPicPr preferRelativeResize="0"/>
          <p:nvPr/>
        </p:nvPicPr>
        <p:blipFill>
          <a:blip r:embed="rId3">
            <a:alphaModFix/>
          </a:blip>
          <a:stretch>
            <a:fillRect/>
          </a:stretch>
        </p:blipFill>
        <p:spPr>
          <a:xfrm>
            <a:off x="10977550"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435111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435111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435111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89" name="Google Shape;189;g331a1435111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435111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435111_0_0"/>
          <p:cNvPicPr preferRelativeResize="0"/>
          <p:nvPr/>
        </p:nvPicPr>
        <p:blipFill>
          <a:blip r:embed="rId8">
            <a:alphaModFix/>
          </a:blip>
          <a:stretch>
            <a:fillRect/>
          </a:stretch>
        </p:blipFill>
        <p:spPr>
          <a:xfrm>
            <a:off x="11048600" y="5369250"/>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5bcd879e01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7" name="Google Shape;197;g25bcd879e01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98" name="Google Shape;198;g25bcd879e01_0_0"/>
          <p:cNvSpPr txBox="1"/>
          <p:nvPr/>
        </p:nvSpPr>
        <p:spPr>
          <a:xfrm>
            <a:off x="660226" y="439125"/>
            <a:ext cx="10864500" cy="298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200"/>
              <a:buFont typeface="Arial"/>
              <a:buNone/>
            </a:pPr>
            <a:r>
              <a:t/>
            </a:r>
            <a:endParaRPr b="0" i="0" sz="42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4200"/>
              <a:buFont typeface="Arial"/>
              <a:buNone/>
            </a:pPr>
            <a:r>
              <a:rPr b="0" i="0" lang="es-ES" sz="4200" u="none" cap="none" strike="noStrike">
                <a:solidFill>
                  <a:schemeClr val="lt1"/>
                </a:solidFill>
                <a:highlight>
                  <a:srgbClr val="009287"/>
                </a:highlight>
                <a:latin typeface="Patrick Hand"/>
                <a:ea typeface="Patrick Hand"/>
                <a:cs typeface="Patrick Hand"/>
                <a:sym typeface="Patrick Hand"/>
              </a:rPr>
              <a:t>RECORDEMOS</a:t>
            </a:r>
            <a:endParaRPr b="0" i="0" sz="2000" u="none" cap="none" strike="noStrike">
              <a:solidFill>
                <a:schemeClr val="lt1"/>
              </a:solidFill>
              <a:highlight>
                <a:srgbClr val="009287"/>
              </a:highlight>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7  x  4  = 28</a:t>
            </a:r>
            <a:endParaRPr b="1" i="0" sz="6800" u="none" cap="none" strike="noStrike">
              <a:solidFill>
                <a:schemeClr val="dk1"/>
              </a:solidFill>
              <a:latin typeface="Patrick Hand"/>
              <a:ea typeface="Patrick Hand"/>
              <a:cs typeface="Patrick Hand"/>
              <a:sym typeface="Patrick Hand"/>
            </a:endParaRPr>
          </a:p>
        </p:txBody>
      </p:sp>
      <p:sp>
        <p:nvSpPr>
          <p:cNvPr id="199" name="Google Shape;199;g25bcd879e01_0_0"/>
          <p:cNvSpPr txBox="1"/>
          <p:nvPr/>
        </p:nvSpPr>
        <p:spPr>
          <a:xfrm>
            <a:off x="8082647" y="4795450"/>
            <a:ext cx="26544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Resultado de la multiplicación</a:t>
            </a:r>
            <a:endParaRPr b="0" i="0" sz="2600" u="none" cap="none" strike="noStrike">
              <a:solidFill>
                <a:schemeClr val="dk1"/>
              </a:solidFill>
              <a:latin typeface="Patrick Hand"/>
              <a:ea typeface="Patrick Hand"/>
              <a:cs typeface="Patrick Hand"/>
              <a:sym typeface="Patrick Hand"/>
            </a:endParaRPr>
          </a:p>
        </p:txBody>
      </p:sp>
      <p:sp>
        <p:nvSpPr>
          <p:cNvPr id="200" name="Google Shape;200;g25bcd879e01_0_0"/>
          <p:cNvSpPr txBox="1"/>
          <p:nvPr/>
        </p:nvSpPr>
        <p:spPr>
          <a:xfrm>
            <a:off x="1941368" y="4865374"/>
            <a:ext cx="20625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Número de grupos </a:t>
            </a:r>
            <a:endParaRPr b="0" i="0" sz="2600" u="none" cap="none" strike="noStrike">
              <a:solidFill>
                <a:schemeClr val="dk1"/>
              </a:solidFill>
              <a:latin typeface="Patrick Hand"/>
              <a:ea typeface="Patrick Hand"/>
              <a:cs typeface="Patrick Hand"/>
              <a:sym typeface="Patrick Hand"/>
            </a:endParaRPr>
          </a:p>
        </p:txBody>
      </p:sp>
      <p:sp>
        <p:nvSpPr>
          <p:cNvPr id="201" name="Google Shape;201;g25bcd879e01_0_0"/>
          <p:cNvSpPr txBox="1"/>
          <p:nvPr/>
        </p:nvSpPr>
        <p:spPr>
          <a:xfrm>
            <a:off x="4429923" y="5465537"/>
            <a:ext cx="66087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Número de elementos </a:t>
            </a:r>
            <a:endParaRPr b="0" i="0" sz="2600" u="none" cap="none" strike="noStrike">
              <a:solidFill>
                <a:schemeClr val="dk1"/>
              </a:solidFill>
              <a:latin typeface="Patrick Hand"/>
              <a:ea typeface="Patrick Hand"/>
              <a:cs typeface="Patrick Hand"/>
              <a:sym typeface="Patrick Hand"/>
            </a:endParaRPr>
          </a:p>
        </p:txBody>
      </p:sp>
      <p:sp>
        <p:nvSpPr>
          <p:cNvPr id="202" name="Google Shape;202;g25bcd879e01_0_0"/>
          <p:cNvSpPr/>
          <p:nvPr/>
        </p:nvSpPr>
        <p:spPr>
          <a:xfrm>
            <a:off x="2036243" y="4865372"/>
            <a:ext cx="19206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atrick Hand"/>
              <a:ea typeface="Patrick Hand"/>
              <a:cs typeface="Patrick Hand"/>
              <a:sym typeface="Patrick Hand"/>
            </a:endParaRPr>
          </a:p>
        </p:txBody>
      </p:sp>
      <p:sp>
        <p:nvSpPr>
          <p:cNvPr id="203" name="Google Shape;203;g25bcd879e01_0_0"/>
          <p:cNvSpPr/>
          <p:nvPr/>
        </p:nvSpPr>
        <p:spPr>
          <a:xfrm>
            <a:off x="4308763" y="5033832"/>
            <a:ext cx="29823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atrick Hand"/>
              <a:ea typeface="Patrick Hand"/>
              <a:cs typeface="Patrick Hand"/>
              <a:sym typeface="Patrick Hand"/>
            </a:endParaRPr>
          </a:p>
        </p:txBody>
      </p:sp>
      <p:sp>
        <p:nvSpPr>
          <p:cNvPr id="204" name="Google Shape;204;g25bcd879e01_0_0"/>
          <p:cNvSpPr/>
          <p:nvPr/>
        </p:nvSpPr>
        <p:spPr>
          <a:xfrm>
            <a:off x="8257262" y="4707124"/>
            <a:ext cx="23052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05" name="Google Shape;205;g25bcd879e01_0_0"/>
          <p:cNvCxnSpPr/>
          <p:nvPr/>
        </p:nvCxnSpPr>
        <p:spPr>
          <a:xfrm flipH="1">
            <a:off x="3444675" y="3498975"/>
            <a:ext cx="1104000" cy="1237500"/>
          </a:xfrm>
          <a:prstGeom prst="straightConnector1">
            <a:avLst/>
          </a:prstGeom>
          <a:noFill/>
          <a:ln cap="flat" cmpd="sng" w="28575">
            <a:solidFill>
              <a:srgbClr val="009287"/>
            </a:solidFill>
            <a:prstDash val="solid"/>
            <a:miter lim="800000"/>
            <a:headEnd len="sm" w="sm" type="none"/>
            <a:tailEnd len="med" w="med" type="triangle"/>
          </a:ln>
        </p:spPr>
      </p:cxnSp>
      <p:cxnSp>
        <p:nvCxnSpPr>
          <p:cNvPr id="206" name="Google Shape;206;g25bcd879e01_0_0"/>
          <p:cNvCxnSpPr/>
          <p:nvPr/>
        </p:nvCxnSpPr>
        <p:spPr>
          <a:xfrm>
            <a:off x="5913275" y="3586450"/>
            <a:ext cx="42300" cy="1447200"/>
          </a:xfrm>
          <a:prstGeom prst="straightConnector1">
            <a:avLst/>
          </a:prstGeom>
          <a:noFill/>
          <a:ln cap="flat" cmpd="sng" w="28575">
            <a:solidFill>
              <a:srgbClr val="009287"/>
            </a:solidFill>
            <a:prstDash val="solid"/>
            <a:miter lim="800000"/>
            <a:headEnd len="sm" w="sm" type="none"/>
            <a:tailEnd len="med" w="med" type="triangle"/>
          </a:ln>
        </p:spPr>
      </p:cxnSp>
      <p:cxnSp>
        <p:nvCxnSpPr>
          <p:cNvPr id="207" name="Google Shape;207;g25bcd879e01_0_0"/>
          <p:cNvCxnSpPr/>
          <p:nvPr/>
        </p:nvCxnSpPr>
        <p:spPr>
          <a:xfrm>
            <a:off x="7872700" y="3498975"/>
            <a:ext cx="1081800" cy="1142400"/>
          </a:xfrm>
          <a:prstGeom prst="straightConnector1">
            <a:avLst/>
          </a:prstGeom>
          <a:noFill/>
          <a:ln cap="flat" cmpd="sng" w="28575">
            <a:solidFill>
              <a:srgbClr val="009287"/>
            </a:solidFill>
            <a:prstDash val="solid"/>
            <a:miter lim="800000"/>
            <a:headEnd len="sm" w="sm" type="none"/>
            <a:tailEnd len="med" w="med" type="triangle"/>
          </a:ln>
        </p:spPr>
      </p:cxnSp>
      <p:pic>
        <p:nvPicPr>
          <p:cNvPr id="208" name="Google Shape;208;g25bcd879e01_0_0"/>
          <p:cNvPicPr preferRelativeResize="0"/>
          <p:nvPr/>
        </p:nvPicPr>
        <p:blipFill>
          <a:blip r:embed="rId4">
            <a:alphaModFix/>
          </a:blip>
          <a:stretch>
            <a:fillRect/>
          </a:stretch>
        </p:blipFill>
        <p:spPr>
          <a:xfrm>
            <a:off x="11038625" y="5133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8d68822c6a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14" name="Google Shape;214;g28d68822c6a_0_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15" name="Google Shape;215;g28d68822c6a_0_6"/>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16" name="Google Shape;216;g28d68822c6a_0_6"/>
          <p:cNvSpPr txBox="1"/>
          <p:nvPr/>
        </p:nvSpPr>
        <p:spPr>
          <a:xfrm>
            <a:off x="12125" y="423925"/>
            <a:ext cx="12192000" cy="1754700"/>
          </a:xfrm>
          <a:prstGeom prst="rect">
            <a:avLst/>
          </a:prstGeom>
          <a:noFill/>
          <a:ln>
            <a:noFill/>
          </a:ln>
        </p:spPr>
        <p:txBody>
          <a:bodyPr anchorCtr="0" anchor="t" bIns="45700" lIns="91425" spcFirstLastPara="1" rIns="91425" wrap="square" tIns="45700">
            <a:spAutoFit/>
          </a:bodyPr>
          <a:lstStyle/>
          <a:p>
            <a:pPr indent="-514350" lvl="0" marL="514350" marR="0" rtl="0" algn="ctr">
              <a:lnSpc>
                <a:spcPct val="100000"/>
              </a:lnSpc>
              <a:spcBef>
                <a:spcPts val="0"/>
              </a:spcBef>
              <a:spcAft>
                <a:spcPts val="0"/>
              </a:spcAft>
              <a:buClr>
                <a:schemeClr val="lt1"/>
              </a:buClr>
              <a:buSzPts val="4000"/>
              <a:buFont typeface="Patrick Hand"/>
              <a:buAutoNum type="arabicPeriod"/>
            </a:pPr>
            <a:r>
              <a:rPr b="0" i="0" lang="es-ES" sz="4000" u="none" cap="none" strike="noStrike">
                <a:solidFill>
                  <a:schemeClr val="lt1"/>
                </a:solidFill>
                <a:highlight>
                  <a:srgbClr val="009287"/>
                </a:highlight>
                <a:latin typeface="Patrick Hand"/>
                <a:ea typeface="Patrick Hand"/>
                <a:cs typeface="Patrick Hand"/>
                <a:sym typeface="Patrick Hand"/>
              </a:rPr>
              <a:t>Resolver una suma iterada con multiplicación</a:t>
            </a:r>
            <a:endParaRPr b="0" i="0" sz="4000" u="none" cap="none" strike="noStrike">
              <a:solidFill>
                <a:schemeClr val="lt1"/>
              </a:solidFill>
              <a:highlight>
                <a:srgbClr val="009287"/>
              </a:highlight>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Una suma iterada puede resolverse de forma más rápida por medio de la multiplicación. </a:t>
            </a:r>
            <a:r>
              <a:rPr b="0" i="1" lang="es-ES" sz="3000" u="none" cap="none" strike="noStrike">
                <a:solidFill>
                  <a:schemeClr val="dk1"/>
                </a:solidFill>
                <a:latin typeface="Patrick Hand"/>
                <a:ea typeface="Patrick Hand"/>
                <a:cs typeface="Patrick Hand"/>
                <a:sym typeface="Patrick Hand"/>
              </a:rPr>
              <a:t>  </a:t>
            </a:r>
            <a:endParaRPr b="0" i="1" sz="3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Ejemplos: </a:t>
            </a:r>
            <a:endParaRPr b="0" i="0" sz="4000" u="none" cap="none" strike="noStrike">
              <a:solidFill>
                <a:schemeClr val="dk1"/>
              </a:solidFill>
              <a:latin typeface="Patrick Hand"/>
              <a:ea typeface="Patrick Hand"/>
              <a:cs typeface="Patrick Hand"/>
              <a:sym typeface="Patrick Hand"/>
            </a:endParaRPr>
          </a:p>
        </p:txBody>
      </p:sp>
      <p:sp>
        <p:nvSpPr>
          <p:cNvPr id="217" name="Google Shape;217;g28d68822c6a_0_6"/>
          <p:cNvSpPr txBox="1"/>
          <p:nvPr/>
        </p:nvSpPr>
        <p:spPr>
          <a:xfrm>
            <a:off x="3655225" y="2468550"/>
            <a:ext cx="4601100" cy="1920900"/>
          </a:xfrm>
          <a:prstGeom prst="rect">
            <a:avLst/>
          </a:prstGeom>
          <a:noFill/>
          <a:ln>
            <a:noFill/>
          </a:ln>
        </p:spPr>
        <p:txBody>
          <a:bodyPr anchorCtr="0" anchor="t" bIns="45700" lIns="91425" spcFirstLastPara="1" rIns="91425" wrap="square" tIns="45700">
            <a:spAutoFit/>
          </a:bodyPr>
          <a:lstStyle/>
          <a:p>
            <a:pPr indent="-438150" lvl="0" marL="457200" marR="0" rtl="0" algn="l">
              <a:lnSpc>
                <a:spcPct val="115000"/>
              </a:lnSpc>
              <a:spcBef>
                <a:spcPts val="0"/>
              </a:spcBef>
              <a:spcAft>
                <a:spcPts val="0"/>
              </a:spcAft>
              <a:buClr>
                <a:schemeClr val="dk1"/>
              </a:buClr>
              <a:buSzPts val="3300"/>
              <a:buFont typeface="Patrick Hand"/>
              <a:buChar char="●"/>
            </a:pPr>
            <a:r>
              <a:rPr b="0" i="0" lang="es-ES" sz="3600" u="none" cap="none" strike="noStrike">
                <a:solidFill>
                  <a:schemeClr val="dk1"/>
                </a:solidFill>
                <a:latin typeface="Patrick Hand"/>
                <a:ea typeface="Patrick Hand"/>
                <a:cs typeface="Patrick Hand"/>
                <a:sym typeface="Patrick Hand"/>
              </a:rPr>
              <a:t>2 + 2 + 2 + 2 + 2 = 10     </a:t>
            </a:r>
            <a:endParaRPr b="0" i="0" sz="3600" u="none" cap="none" strike="noStrike">
              <a:solidFill>
                <a:schemeClr val="dk1"/>
              </a:solidFill>
              <a:latin typeface="Patrick Hand"/>
              <a:ea typeface="Patrick Hand"/>
              <a:cs typeface="Patrick Hand"/>
              <a:sym typeface="Patrick Hand"/>
            </a:endParaRPr>
          </a:p>
          <a:p>
            <a:pPr indent="-457200" lvl="1" marL="1371600" marR="0" rtl="0" algn="l">
              <a:lnSpc>
                <a:spcPct val="115000"/>
              </a:lnSpc>
              <a:spcBef>
                <a:spcPts val="0"/>
              </a:spcBef>
              <a:spcAft>
                <a:spcPts val="0"/>
              </a:spcAft>
              <a:buClr>
                <a:schemeClr val="dk1"/>
              </a:buClr>
              <a:buSzPts val="3600"/>
              <a:buFont typeface="Patrick Hand"/>
              <a:buChar char="○"/>
            </a:pPr>
            <a:r>
              <a:rPr b="0" i="0" lang="es-ES" sz="3600" u="none" cap="none" strike="noStrike">
                <a:solidFill>
                  <a:schemeClr val="dk1"/>
                </a:solidFill>
                <a:latin typeface="Patrick Hand"/>
                <a:ea typeface="Patrick Hand"/>
                <a:cs typeface="Patrick Hand"/>
                <a:sym typeface="Patrick Hand"/>
              </a:rPr>
              <a:t>5 veces 2 = 10</a:t>
            </a:r>
            <a:endParaRPr b="0" i="0" sz="3600" u="none" cap="none" strike="noStrike">
              <a:solidFill>
                <a:schemeClr val="dk1"/>
              </a:solidFill>
              <a:latin typeface="Patrick Hand"/>
              <a:ea typeface="Patrick Hand"/>
              <a:cs typeface="Patrick Hand"/>
              <a:sym typeface="Patrick Hand"/>
            </a:endParaRPr>
          </a:p>
          <a:p>
            <a:pPr indent="-457200" lvl="1" marL="1371600" marR="0" rtl="0" algn="l">
              <a:lnSpc>
                <a:spcPct val="115000"/>
              </a:lnSpc>
              <a:spcBef>
                <a:spcPts val="0"/>
              </a:spcBef>
              <a:spcAft>
                <a:spcPts val="0"/>
              </a:spcAft>
              <a:buClr>
                <a:schemeClr val="dk1"/>
              </a:buClr>
              <a:buSzPts val="3600"/>
              <a:buFont typeface="Patrick Hand"/>
              <a:buChar char="○"/>
            </a:pPr>
            <a:r>
              <a:rPr b="0" i="0" lang="es-ES" sz="3600" u="none" cap="none" strike="noStrike">
                <a:solidFill>
                  <a:schemeClr val="dk1"/>
                </a:solidFill>
                <a:latin typeface="Patrick Hand"/>
                <a:ea typeface="Patrick Hand"/>
                <a:cs typeface="Patrick Hand"/>
                <a:sym typeface="Patrick Hand"/>
              </a:rPr>
              <a:t>5    x     2 = 10</a:t>
            </a:r>
            <a:endParaRPr b="0" i="0" sz="3600" u="none" cap="none" strike="noStrike">
              <a:solidFill>
                <a:schemeClr val="dk1"/>
              </a:solidFill>
              <a:latin typeface="Patrick Hand"/>
              <a:ea typeface="Patrick Hand"/>
              <a:cs typeface="Patrick Hand"/>
              <a:sym typeface="Patrick Hand"/>
            </a:endParaRPr>
          </a:p>
        </p:txBody>
      </p:sp>
      <p:sp>
        <p:nvSpPr>
          <p:cNvPr id="218" name="Google Shape;218;g28d68822c6a_0_6"/>
          <p:cNvSpPr txBox="1"/>
          <p:nvPr/>
        </p:nvSpPr>
        <p:spPr>
          <a:xfrm>
            <a:off x="3614525" y="4467000"/>
            <a:ext cx="4987200" cy="1920900"/>
          </a:xfrm>
          <a:prstGeom prst="rect">
            <a:avLst/>
          </a:prstGeom>
          <a:noFill/>
          <a:ln>
            <a:noFill/>
          </a:ln>
        </p:spPr>
        <p:txBody>
          <a:bodyPr anchorCtr="0" anchor="t" bIns="45700" lIns="91425" spcFirstLastPara="1" rIns="91425" wrap="square" tIns="45700">
            <a:spAutoFit/>
          </a:bodyPr>
          <a:lstStyle/>
          <a:p>
            <a:pPr indent="-438150" lvl="0" marL="457200" marR="0" rtl="0" algn="l">
              <a:lnSpc>
                <a:spcPct val="115000"/>
              </a:lnSpc>
              <a:spcBef>
                <a:spcPts val="0"/>
              </a:spcBef>
              <a:spcAft>
                <a:spcPts val="0"/>
              </a:spcAft>
              <a:buClr>
                <a:schemeClr val="dk1"/>
              </a:buClr>
              <a:buSzPts val="3300"/>
              <a:buFont typeface="Patrick Hand"/>
              <a:buChar char="●"/>
            </a:pPr>
            <a:r>
              <a:rPr b="0" i="0" lang="es-ES" sz="3600" u="none" cap="none" strike="noStrike">
                <a:solidFill>
                  <a:schemeClr val="dk1"/>
                </a:solidFill>
                <a:latin typeface="Patrick Hand"/>
                <a:ea typeface="Patrick Hand"/>
                <a:cs typeface="Patrick Hand"/>
                <a:sym typeface="Patrick Hand"/>
              </a:rPr>
              <a:t>4 + 4 + 4 + 4 + 4 + 4 = 24 </a:t>
            </a:r>
            <a:endParaRPr b="0" i="0" sz="3600" u="none" cap="none" strike="noStrike">
              <a:solidFill>
                <a:schemeClr val="dk1"/>
              </a:solidFill>
              <a:latin typeface="Patrick Hand"/>
              <a:ea typeface="Patrick Hand"/>
              <a:cs typeface="Patrick Hand"/>
              <a:sym typeface="Patrick Hand"/>
            </a:endParaRPr>
          </a:p>
          <a:p>
            <a:pPr indent="-457200" lvl="1" marL="1371600" marR="0" rtl="0" algn="l">
              <a:lnSpc>
                <a:spcPct val="115000"/>
              </a:lnSpc>
              <a:spcBef>
                <a:spcPts val="0"/>
              </a:spcBef>
              <a:spcAft>
                <a:spcPts val="0"/>
              </a:spcAft>
              <a:buClr>
                <a:schemeClr val="dk1"/>
              </a:buClr>
              <a:buSzPts val="3600"/>
              <a:buFont typeface="Patrick Hand"/>
              <a:buChar char="○"/>
            </a:pPr>
            <a:r>
              <a:rPr b="0" i="0" lang="es-ES" sz="3600" u="none" cap="none" strike="noStrike">
                <a:solidFill>
                  <a:schemeClr val="dk1"/>
                </a:solidFill>
                <a:latin typeface="Patrick Hand"/>
                <a:ea typeface="Patrick Hand"/>
                <a:cs typeface="Patrick Hand"/>
                <a:sym typeface="Patrick Hand"/>
              </a:rPr>
              <a:t>6 veces 4 = 24</a:t>
            </a:r>
            <a:endParaRPr b="0" i="0" sz="3600" u="none" cap="none" strike="noStrike">
              <a:solidFill>
                <a:schemeClr val="dk1"/>
              </a:solidFill>
              <a:latin typeface="Patrick Hand"/>
              <a:ea typeface="Patrick Hand"/>
              <a:cs typeface="Patrick Hand"/>
              <a:sym typeface="Patrick Hand"/>
            </a:endParaRPr>
          </a:p>
          <a:p>
            <a:pPr indent="-457200" lvl="1" marL="1371600" marR="0" rtl="0" algn="l">
              <a:lnSpc>
                <a:spcPct val="115000"/>
              </a:lnSpc>
              <a:spcBef>
                <a:spcPts val="0"/>
              </a:spcBef>
              <a:spcAft>
                <a:spcPts val="0"/>
              </a:spcAft>
              <a:buClr>
                <a:schemeClr val="dk1"/>
              </a:buClr>
              <a:buSzPts val="3600"/>
              <a:buFont typeface="Patrick Hand"/>
              <a:buChar char="○"/>
            </a:pPr>
            <a:r>
              <a:rPr b="0" i="0" lang="es-ES" sz="3600" u="none" cap="none" strike="noStrike">
                <a:solidFill>
                  <a:schemeClr val="dk1"/>
                </a:solidFill>
                <a:latin typeface="Patrick Hand"/>
                <a:ea typeface="Patrick Hand"/>
                <a:cs typeface="Patrick Hand"/>
                <a:sym typeface="Patrick Hand"/>
              </a:rPr>
              <a:t>6    x     4 = 24</a:t>
            </a:r>
            <a:endParaRPr b="0" i="0" sz="3600" u="none" cap="none" strike="noStrike">
              <a:solidFill>
                <a:schemeClr val="dk1"/>
              </a:solidFill>
              <a:latin typeface="Patrick Hand"/>
              <a:ea typeface="Patrick Hand"/>
              <a:cs typeface="Patrick Hand"/>
              <a:sym typeface="Patrick Hand"/>
            </a:endParaRPr>
          </a:p>
        </p:txBody>
      </p:sp>
      <p:pic>
        <p:nvPicPr>
          <p:cNvPr id="219" name="Google Shape;219;g28d68822c6a_0_6"/>
          <p:cNvPicPr preferRelativeResize="0"/>
          <p:nvPr/>
        </p:nvPicPr>
        <p:blipFill>
          <a:blip r:embed="rId4">
            <a:alphaModFix/>
          </a:blip>
          <a:stretch>
            <a:fillRect/>
          </a:stretch>
        </p:blipFill>
        <p:spPr>
          <a:xfrm>
            <a:off x="11048600" y="5244875"/>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25c689ae274_0_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25" name="Google Shape;225;g25c689ae274_0_2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26" name="Google Shape;226;g25c689ae274_0_23"/>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27" name="Google Shape;227;g25c689ae274_0_23"/>
          <p:cNvSpPr txBox="1"/>
          <p:nvPr/>
        </p:nvSpPr>
        <p:spPr>
          <a:xfrm>
            <a:off x="12125" y="423925"/>
            <a:ext cx="121920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s-ES" sz="3900" u="none" cap="none" strike="noStrike">
                <a:solidFill>
                  <a:srgbClr val="040C28"/>
                </a:solidFill>
                <a:latin typeface="Patrick Hand"/>
                <a:ea typeface="Patrick Hand"/>
                <a:cs typeface="Patrick Hand"/>
                <a:sym typeface="Patrick Hand"/>
              </a:rPr>
              <a:t>Ejercicios:</a:t>
            </a:r>
            <a:endParaRPr b="1" i="0" sz="5000" u="none" cap="none" strike="noStrike">
              <a:solidFill>
                <a:schemeClr val="dk1"/>
              </a:solidFill>
              <a:latin typeface="Patrick Hand"/>
              <a:ea typeface="Patrick Hand"/>
              <a:cs typeface="Patrick Hand"/>
              <a:sym typeface="Patrick Hand"/>
            </a:endParaRPr>
          </a:p>
        </p:txBody>
      </p:sp>
      <p:sp>
        <p:nvSpPr>
          <p:cNvPr id="228" name="Google Shape;228;g25c689ae274_0_23"/>
          <p:cNvSpPr txBox="1"/>
          <p:nvPr/>
        </p:nvSpPr>
        <p:spPr>
          <a:xfrm>
            <a:off x="3655225" y="1000550"/>
            <a:ext cx="4601100" cy="1920900"/>
          </a:xfrm>
          <a:prstGeom prst="rect">
            <a:avLst/>
          </a:prstGeom>
          <a:noFill/>
          <a:ln>
            <a:noFill/>
          </a:ln>
        </p:spPr>
        <p:txBody>
          <a:bodyPr anchorCtr="0" anchor="t" bIns="45700" lIns="91425" spcFirstLastPara="1" rIns="91425" wrap="square" tIns="45700">
            <a:spAutoFit/>
          </a:bodyPr>
          <a:lstStyle/>
          <a:p>
            <a:pPr indent="-438150" lvl="0" marL="457200" marR="0" rtl="0" algn="l">
              <a:lnSpc>
                <a:spcPct val="115000"/>
              </a:lnSpc>
              <a:spcBef>
                <a:spcPts val="0"/>
              </a:spcBef>
              <a:spcAft>
                <a:spcPts val="0"/>
              </a:spcAft>
              <a:buClr>
                <a:schemeClr val="dk1"/>
              </a:buClr>
              <a:buSzPts val="3300"/>
              <a:buFont typeface="Patrick Hand"/>
              <a:buChar char="●"/>
            </a:pPr>
            <a:r>
              <a:rPr b="0" i="0" lang="es-ES" sz="3600" u="none" cap="none" strike="noStrike">
                <a:solidFill>
                  <a:schemeClr val="dk1"/>
                </a:solidFill>
                <a:latin typeface="Patrick Hand"/>
                <a:ea typeface="Patrick Hand"/>
                <a:cs typeface="Patrick Hand"/>
                <a:sym typeface="Patrick Hand"/>
              </a:rPr>
              <a:t>2 + 2 + 2         = 6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___ veces ____=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___     x    ____ = </a:t>
            </a:r>
            <a:endParaRPr b="0" i="0" sz="3600" u="none" cap="none" strike="noStrike">
              <a:solidFill>
                <a:schemeClr val="dk1"/>
              </a:solidFill>
              <a:latin typeface="Patrick Hand"/>
              <a:ea typeface="Patrick Hand"/>
              <a:cs typeface="Patrick Hand"/>
              <a:sym typeface="Patrick Hand"/>
            </a:endParaRPr>
          </a:p>
        </p:txBody>
      </p:sp>
      <p:sp>
        <p:nvSpPr>
          <p:cNvPr id="229" name="Google Shape;229;g25c689ae274_0_23"/>
          <p:cNvSpPr txBox="1"/>
          <p:nvPr/>
        </p:nvSpPr>
        <p:spPr>
          <a:xfrm>
            <a:off x="3655225" y="3662250"/>
            <a:ext cx="4987200" cy="1920900"/>
          </a:xfrm>
          <a:prstGeom prst="rect">
            <a:avLst/>
          </a:prstGeom>
          <a:noFill/>
          <a:ln>
            <a:noFill/>
          </a:ln>
        </p:spPr>
        <p:txBody>
          <a:bodyPr anchorCtr="0" anchor="t" bIns="45700" lIns="91425" spcFirstLastPara="1" rIns="91425" wrap="square" tIns="45700">
            <a:spAutoFit/>
          </a:bodyPr>
          <a:lstStyle/>
          <a:p>
            <a:pPr indent="-438150" lvl="0" marL="457200" marR="0" rtl="0" algn="l">
              <a:lnSpc>
                <a:spcPct val="115000"/>
              </a:lnSpc>
              <a:spcBef>
                <a:spcPts val="0"/>
              </a:spcBef>
              <a:spcAft>
                <a:spcPts val="0"/>
              </a:spcAft>
              <a:buClr>
                <a:schemeClr val="dk1"/>
              </a:buClr>
              <a:buSzPts val="3300"/>
              <a:buFont typeface="Patrick Hand"/>
              <a:buChar char="●"/>
            </a:pPr>
            <a:r>
              <a:rPr b="0" i="0" lang="es-ES" sz="3600" u="none" cap="none" strike="noStrike">
                <a:solidFill>
                  <a:schemeClr val="dk1"/>
                </a:solidFill>
                <a:latin typeface="Patrick Hand"/>
                <a:ea typeface="Patrick Hand"/>
                <a:cs typeface="Patrick Hand"/>
                <a:sym typeface="Patrick Hand"/>
              </a:rPr>
              <a:t>3+ 3 + 3 + 3     =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___ veces ___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___     x    ___   = </a:t>
            </a:r>
            <a:endParaRPr b="0" i="0" sz="3600" u="none" cap="none" strike="noStrike">
              <a:solidFill>
                <a:schemeClr val="dk1"/>
              </a:solidFill>
              <a:latin typeface="Patrick Hand"/>
              <a:ea typeface="Patrick Hand"/>
              <a:cs typeface="Patrick Hand"/>
              <a:sym typeface="Patrick Hand"/>
            </a:endParaRPr>
          </a:p>
        </p:txBody>
      </p:sp>
      <p:sp>
        <p:nvSpPr>
          <p:cNvPr id="230" name="Google Shape;230;g25c689ae274_0_23"/>
          <p:cNvSpPr txBox="1"/>
          <p:nvPr/>
        </p:nvSpPr>
        <p:spPr>
          <a:xfrm>
            <a:off x="12125" y="1422350"/>
            <a:ext cx="4233600" cy="10773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¿Cuántas veces está repetido el dos?</a:t>
            </a:r>
            <a:endParaRPr b="0" i="0" sz="1400" u="none" cap="none" strike="noStrike">
              <a:solidFill>
                <a:srgbClr val="000000"/>
              </a:solidFill>
              <a:latin typeface="Arial"/>
              <a:ea typeface="Arial"/>
              <a:cs typeface="Arial"/>
              <a:sym typeface="Arial"/>
            </a:endParaRPr>
          </a:p>
        </p:txBody>
      </p:sp>
      <p:sp>
        <p:nvSpPr>
          <p:cNvPr id="231" name="Google Shape;231;g25c689ae274_0_23"/>
          <p:cNvSpPr/>
          <p:nvPr/>
        </p:nvSpPr>
        <p:spPr>
          <a:xfrm>
            <a:off x="221225" y="1429925"/>
            <a:ext cx="3317100" cy="993600"/>
          </a:xfrm>
          <a:prstGeom prst="wedgeRoundRectCallout">
            <a:avLst>
              <a:gd fmla="val 55472" name="adj1"/>
              <a:gd fmla="val 17495" name="adj2"/>
              <a:gd fmla="val 0" name="adj3"/>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25c689ae274_0_23"/>
          <p:cNvSpPr txBox="1"/>
          <p:nvPr/>
        </p:nvSpPr>
        <p:spPr>
          <a:xfrm>
            <a:off x="5831700" y="15915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233" name="Google Shape;233;g25c689ae274_0_23"/>
          <p:cNvSpPr txBox="1"/>
          <p:nvPr/>
        </p:nvSpPr>
        <p:spPr>
          <a:xfrm>
            <a:off x="5831688" y="21825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234" name="Google Shape;234;g25c689ae274_0_23"/>
          <p:cNvSpPr txBox="1"/>
          <p:nvPr/>
        </p:nvSpPr>
        <p:spPr>
          <a:xfrm>
            <a:off x="3798700" y="21825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35" name="Google Shape;235;g25c689ae274_0_23"/>
          <p:cNvSpPr txBox="1"/>
          <p:nvPr/>
        </p:nvSpPr>
        <p:spPr>
          <a:xfrm>
            <a:off x="3798700" y="1557275"/>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36" name="Google Shape;236;g25c689ae274_0_23"/>
          <p:cNvSpPr txBox="1"/>
          <p:nvPr/>
        </p:nvSpPr>
        <p:spPr>
          <a:xfrm>
            <a:off x="6990175" y="15915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37" name="Google Shape;237;g25c689ae274_0_23"/>
          <p:cNvSpPr txBox="1"/>
          <p:nvPr/>
        </p:nvSpPr>
        <p:spPr>
          <a:xfrm>
            <a:off x="6990175" y="2423525"/>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38" name="Google Shape;238;g25c689ae274_0_23"/>
          <p:cNvSpPr txBox="1"/>
          <p:nvPr/>
        </p:nvSpPr>
        <p:spPr>
          <a:xfrm>
            <a:off x="5726100" y="42532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39" name="Google Shape;239;g25c689ae274_0_23"/>
          <p:cNvSpPr txBox="1"/>
          <p:nvPr/>
        </p:nvSpPr>
        <p:spPr>
          <a:xfrm>
            <a:off x="5726100" y="49921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40" name="Google Shape;240;g25c689ae274_0_23"/>
          <p:cNvSpPr txBox="1"/>
          <p:nvPr/>
        </p:nvSpPr>
        <p:spPr>
          <a:xfrm>
            <a:off x="3798700" y="42532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241" name="Google Shape;241;g25c689ae274_0_23"/>
          <p:cNvSpPr txBox="1"/>
          <p:nvPr/>
        </p:nvSpPr>
        <p:spPr>
          <a:xfrm>
            <a:off x="3798700" y="49921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242" name="Google Shape;242;g25c689ae274_0_23"/>
          <p:cNvSpPr txBox="1"/>
          <p:nvPr/>
        </p:nvSpPr>
        <p:spPr>
          <a:xfrm>
            <a:off x="6990175" y="36622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243" name="Google Shape;243;g25c689ae274_0_23"/>
          <p:cNvSpPr txBox="1"/>
          <p:nvPr/>
        </p:nvSpPr>
        <p:spPr>
          <a:xfrm>
            <a:off x="6990175" y="44011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244" name="Google Shape;244;g25c689ae274_0_23"/>
          <p:cNvSpPr txBox="1"/>
          <p:nvPr/>
        </p:nvSpPr>
        <p:spPr>
          <a:xfrm>
            <a:off x="6990175" y="5141950"/>
            <a:ext cx="739800" cy="738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pic>
        <p:nvPicPr>
          <p:cNvPr id="245" name="Google Shape;245;g25c689ae274_0_23"/>
          <p:cNvPicPr preferRelativeResize="0"/>
          <p:nvPr/>
        </p:nvPicPr>
        <p:blipFill>
          <a:blip r:embed="rId4">
            <a:alphaModFix/>
          </a:blip>
          <a:stretch>
            <a:fillRect/>
          </a:stretch>
        </p:blipFill>
        <p:spPr>
          <a:xfrm>
            <a:off x="11048600" y="524487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5c689ae274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1" name="Google Shape;251;g25c689ae274_0_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52" name="Google Shape;252;g25c689ae274_0_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253" name="Google Shape;253;g25c689ae274_0_1"/>
          <p:cNvGraphicFramePr/>
          <p:nvPr/>
        </p:nvGraphicFramePr>
        <p:xfrm>
          <a:off x="452425" y="1882463"/>
          <a:ext cx="3000000" cy="3000000"/>
        </p:xfrm>
        <a:graphic>
          <a:graphicData uri="http://schemas.openxmlformats.org/drawingml/2006/table">
            <a:tbl>
              <a:tblPr>
                <a:noFill/>
                <a:tableStyleId>{A7111AD8-4DC3-4770-AE09-89CDE8A26586}</a:tableStyleId>
              </a:tblPr>
              <a:tblGrid>
                <a:gridCol w="2849850"/>
                <a:gridCol w="2849850"/>
                <a:gridCol w="2849850"/>
                <a:gridCol w="2849850"/>
              </a:tblGrid>
              <a:tr h="573550">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Adición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N° de veces</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Multiplicación</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Producto</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573550">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2 + 2 + 2 + 2</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4 x 2</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573550">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5 + 5</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2 veces 5</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758850">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1 + 1 + 1 + 1 + 1 + 1</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6</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983250">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3 veces 4</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0"/>
                        <a:buFont typeface="Arial"/>
                        <a:buNone/>
                      </a:pPr>
                      <a:r>
                        <a:rPr lang="es-ES" sz="3000" u="none" cap="none" strike="noStrike">
                          <a:latin typeface="Patrick Hand"/>
                          <a:ea typeface="Patrick Hand"/>
                          <a:cs typeface="Patrick Hand"/>
                          <a:sym typeface="Patrick Hand"/>
                        </a:rPr>
                        <a:t>12</a:t>
                      </a:r>
                      <a:endParaRPr sz="3000" u="none" cap="none" strike="noStrike">
                        <a:latin typeface="Patrick Hand"/>
                        <a:ea typeface="Patrick Hand"/>
                        <a:cs typeface="Patrick Hand"/>
                        <a:sym typeface="Patrick Hand"/>
                      </a:endParaRPr>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sp>
        <p:nvSpPr>
          <p:cNvPr id="254" name="Google Shape;254;g25c689ae274_0_1"/>
          <p:cNvSpPr txBox="1"/>
          <p:nvPr/>
        </p:nvSpPr>
        <p:spPr>
          <a:xfrm>
            <a:off x="23025" y="397350"/>
            <a:ext cx="14275800" cy="1139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Completemos la siguiente tabla y pongamos en práctica lo aprendido.</a:t>
            </a:r>
            <a:endParaRPr b="0" i="0" sz="1400" u="none" cap="none" strike="noStrike">
              <a:solidFill>
                <a:srgbClr val="000000"/>
              </a:solidFill>
              <a:latin typeface="Arial"/>
              <a:ea typeface="Arial"/>
              <a:cs typeface="Arial"/>
              <a:sym typeface="Arial"/>
            </a:endParaRPr>
          </a:p>
        </p:txBody>
      </p:sp>
      <p:sp>
        <p:nvSpPr>
          <p:cNvPr id="255" name="Google Shape;255;g25c689ae274_0_1"/>
          <p:cNvSpPr txBox="1"/>
          <p:nvPr/>
        </p:nvSpPr>
        <p:spPr>
          <a:xfrm>
            <a:off x="3651375" y="2576350"/>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4 veces 2</a:t>
            </a:r>
            <a:endParaRPr b="0" i="0" sz="1400" u="none" cap="none" strike="noStrike">
              <a:solidFill>
                <a:srgbClr val="000000"/>
              </a:solidFill>
              <a:latin typeface="Arial"/>
              <a:ea typeface="Arial"/>
              <a:cs typeface="Arial"/>
              <a:sym typeface="Arial"/>
            </a:endParaRPr>
          </a:p>
        </p:txBody>
      </p:sp>
      <p:sp>
        <p:nvSpPr>
          <p:cNvPr id="256" name="Google Shape;256;g25c689ae274_0_1"/>
          <p:cNvSpPr txBox="1"/>
          <p:nvPr/>
        </p:nvSpPr>
        <p:spPr>
          <a:xfrm>
            <a:off x="3651375" y="3802625"/>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6 veces 1</a:t>
            </a:r>
            <a:endParaRPr b="0" i="0" sz="1400" u="none" cap="none" strike="noStrike">
              <a:solidFill>
                <a:srgbClr val="000000"/>
              </a:solidFill>
              <a:latin typeface="Arial"/>
              <a:ea typeface="Arial"/>
              <a:cs typeface="Arial"/>
              <a:sym typeface="Arial"/>
            </a:endParaRPr>
          </a:p>
        </p:txBody>
      </p:sp>
      <p:sp>
        <p:nvSpPr>
          <p:cNvPr id="257" name="Google Shape;257;g25c689ae274_0_1"/>
          <p:cNvSpPr txBox="1"/>
          <p:nvPr/>
        </p:nvSpPr>
        <p:spPr>
          <a:xfrm>
            <a:off x="9834450" y="2576350"/>
            <a:ext cx="7674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58" name="Google Shape;258;g25c689ae274_0_1"/>
          <p:cNvSpPr txBox="1"/>
          <p:nvPr/>
        </p:nvSpPr>
        <p:spPr>
          <a:xfrm>
            <a:off x="6344925" y="3105750"/>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2 x 5</a:t>
            </a:r>
            <a:endParaRPr b="0" i="0" sz="1400" u="none" cap="none" strike="noStrike">
              <a:solidFill>
                <a:srgbClr val="000000"/>
              </a:solidFill>
              <a:latin typeface="Arial"/>
              <a:ea typeface="Arial"/>
              <a:cs typeface="Arial"/>
              <a:sym typeface="Arial"/>
            </a:endParaRPr>
          </a:p>
        </p:txBody>
      </p:sp>
      <p:sp>
        <p:nvSpPr>
          <p:cNvPr id="259" name="Google Shape;259;g25c689ae274_0_1"/>
          <p:cNvSpPr txBox="1"/>
          <p:nvPr/>
        </p:nvSpPr>
        <p:spPr>
          <a:xfrm>
            <a:off x="6344925" y="3802625"/>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6 x 1</a:t>
            </a:r>
            <a:endParaRPr b="0" i="0" sz="1400" u="none" cap="none" strike="noStrike">
              <a:solidFill>
                <a:srgbClr val="000000"/>
              </a:solidFill>
              <a:latin typeface="Arial"/>
              <a:ea typeface="Arial"/>
              <a:cs typeface="Arial"/>
              <a:sym typeface="Arial"/>
            </a:endParaRPr>
          </a:p>
        </p:txBody>
      </p:sp>
      <p:sp>
        <p:nvSpPr>
          <p:cNvPr id="260" name="Google Shape;260;g25c689ae274_0_1"/>
          <p:cNvSpPr txBox="1"/>
          <p:nvPr/>
        </p:nvSpPr>
        <p:spPr>
          <a:xfrm>
            <a:off x="9834450" y="3270225"/>
            <a:ext cx="7674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10</a:t>
            </a:r>
            <a:endParaRPr b="0" i="0" sz="1400" u="none" cap="none" strike="noStrike">
              <a:solidFill>
                <a:srgbClr val="000000"/>
              </a:solidFill>
              <a:latin typeface="Arial"/>
              <a:ea typeface="Arial"/>
              <a:cs typeface="Arial"/>
              <a:sym typeface="Arial"/>
            </a:endParaRPr>
          </a:p>
        </p:txBody>
      </p:sp>
      <p:sp>
        <p:nvSpPr>
          <p:cNvPr id="261" name="Google Shape;261;g25c689ae274_0_1"/>
          <p:cNvSpPr txBox="1"/>
          <p:nvPr/>
        </p:nvSpPr>
        <p:spPr>
          <a:xfrm>
            <a:off x="570225" y="4698750"/>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4 + 4 + 4</a:t>
            </a:r>
            <a:endParaRPr b="0" i="0" sz="1400" u="none" cap="none" strike="noStrike">
              <a:solidFill>
                <a:srgbClr val="000000"/>
              </a:solidFill>
              <a:latin typeface="Arial"/>
              <a:ea typeface="Arial"/>
              <a:cs typeface="Arial"/>
              <a:sym typeface="Arial"/>
            </a:endParaRPr>
          </a:p>
        </p:txBody>
      </p:sp>
      <p:sp>
        <p:nvSpPr>
          <p:cNvPr id="262" name="Google Shape;262;g25c689ae274_0_1"/>
          <p:cNvSpPr txBox="1"/>
          <p:nvPr/>
        </p:nvSpPr>
        <p:spPr>
          <a:xfrm>
            <a:off x="6344925" y="4698750"/>
            <a:ext cx="1632000" cy="64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3 x 4</a:t>
            </a:r>
            <a:endParaRPr b="0" i="0" sz="1400" u="none" cap="none" strike="noStrike">
              <a:solidFill>
                <a:srgbClr val="000000"/>
              </a:solidFill>
              <a:latin typeface="Arial"/>
              <a:ea typeface="Arial"/>
              <a:cs typeface="Arial"/>
              <a:sym typeface="Arial"/>
            </a:endParaRPr>
          </a:p>
        </p:txBody>
      </p:sp>
      <p:pic>
        <p:nvPicPr>
          <p:cNvPr id="263" name="Google Shape;263;g25c689ae274_0_1"/>
          <p:cNvPicPr preferRelativeResize="0"/>
          <p:nvPr/>
        </p:nvPicPr>
        <p:blipFill>
          <a:blip r:embed="rId4">
            <a:alphaModFix/>
          </a:blip>
          <a:stretch>
            <a:fillRect/>
          </a:stretch>
        </p:blipFill>
        <p:spPr>
          <a:xfrm>
            <a:off x="11066350" y="513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5d83601fe9_0_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69" name="Google Shape;269;g25d83601fe9_0_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70" name="Google Shape;270;g25d83601fe9_0_4"/>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71" name="Google Shape;271;g25d83601fe9_0_4"/>
          <p:cNvSpPr txBox="1"/>
          <p:nvPr/>
        </p:nvSpPr>
        <p:spPr>
          <a:xfrm>
            <a:off x="152400" y="288925"/>
            <a:ext cx="599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900"/>
              </a:spcBef>
              <a:spcAft>
                <a:spcPts val="3900"/>
              </a:spcAft>
              <a:buClr>
                <a:srgbClr val="000000"/>
              </a:buClr>
              <a:buSzPts val="3600"/>
              <a:buFont typeface="Arial"/>
              <a:buNone/>
            </a:pPr>
            <a:r>
              <a:rPr b="1" i="0" lang="es-ES" sz="3600" u="none" cap="none" strike="noStrike">
                <a:solidFill>
                  <a:schemeClr val="dk1"/>
                </a:solidFill>
                <a:latin typeface="Patrick Hand"/>
                <a:ea typeface="Patrick Hand"/>
                <a:cs typeface="Patrick Hand"/>
                <a:sym typeface="Patrick Hand"/>
              </a:rPr>
              <a:t>Propiedades de la multiplicación:</a:t>
            </a:r>
            <a:endParaRPr b="1" i="0" sz="3600" u="none" cap="none" strike="noStrike">
              <a:solidFill>
                <a:srgbClr val="000000"/>
              </a:solidFill>
              <a:latin typeface="Patrick Hand"/>
              <a:ea typeface="Patrick Hand"/>
              <a:cs typeface="Patrick Hand"/>
              <a:sym typeface="Patrick Hand"/>
            </a:endParaRPr>
          </a:p>
        </p:txBody>
      </p:sp>
      <p:sp>
        <p:nvSpPr>
          <p:cNvPr id="272" name="Google Shape;272;g25d83601fe9_0_4"/>
          <p:cNvSpPr txBox="1"/>
          <p:nvPr/>
        </p:nvSpPr>
        <p:spPr>
          <a:xfrm>
            <a:off x="1246850" y="950200"/>
            <a:ext cx="10018800" cy="621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ES" sz="2800">
                <a:solidFill>
                  <a:schemeClr val="lt1"/>
                </a:solidFill>
                <a:highlight>
                  <a:srgbClr val="009287"/>
                </a:highlight>
                <a:latin typeface="Patrick Hand"/>
                <a:ea typeface="Patrick Hand"/>
                <a:cs typeface="Patrick Hand"/>
                <a:sym typeface="Patrick Hand"/>
              </a:rPr>
              <a:t>1. </a:t>
            </a:r>
            <a:r>
              <a:rPr b="0" i="0" lang="es-ES" sz="2800" u="none" cap="none" strike="noStrike">
                <a:solidFill>
                  <a:schemeClr val="lt1"/>
                </a:solidFill>
                <a:highlight>
                  <a:srgbClr val="009287"/>
                </a:highlight>
                <a:latin typeface="Patrick Hand"/>
                <a:ea typeface="Patrick Hand"/>
                <a:cs typeface="Patrick Hand"/>
                <a:sym typeface="Patrick Hand"/>
              </a:rPr>
              <a:t>Propiedad elemento neutro:</a:t>
            </a:r>
            <a:r>
              <a:rPr b="0" i="0" lang="es-ES" sz="2800" u="none" cap="none" strike="noStrike">
                <a:solidFill>
                  <a:schemeClr val="dk1"/>
                </a:solidFill>
                <a:latin typeface="Patrick Hand"/>
                <a:ea typeface="Patrick Hand"/>
                <a:cs typeface="Patrick Hand"/>
                <a:sym typeface="Patrick Hand"/>
              </a:rPr>
              <a:t> El producto de cualquier número multiplicado por 1 es el mismo número. </a:t>
            </a:r>
            <a:endParaRPr b="0" i="0" sz="2800" u="none" cap="none" strike="noStrike">
              <a:solidFill>
                <a:schemeClr val="dk1"/>
              </a:solidFill>
              <a:latin typeface="Patrick Hand"/>
              <a:ea typeface="Patrick Hand"/>
              <a:cs typeface="Patrick Hand"/>
              <a:sym typeface="Patrick Hand"/>
            </a:endParaRPr>
          </a:p>
          <a:p>
            <a:pPr indent="-406400" lvl="1" marL="914400" marR="0" rtl="0" algn="l">
              <a:lnSpc>
                <a:spcPct val="100000"/>
              </a:lnSpc>
              <a:spcBef>
                <a:spcPts val="0"/>
              </a:spcBef>
              <a:spcAft>
                <a:spcPts val="0"/>
              </a:spcAft>
              <a:buClr>
                <a:schemeClr val="dk1"/>
              </a:buClr>
              <a:buSzPts val="2800"/>
              <a:buFont typeface="Patrick Hand"/>
              <a:buChar char="○"/>
            </a:pPr>
            <a:r>
              <a:rPr b="0" i="0" lang="es-ES" sz="2800" u="none" cap="none" strike="noStrike">
                <a:solidFill>
                  <a:schemeClr val="dk1"/>
                </a:solidFill>
                <a:latin typeface="Patrick Hand"/>
                <a:ea typeface="Patrick Hand"/>
                <a:cs typeface="Patrick Hand"/>
                <a:sym typeface="Patrick Hand"/>
              </a:rPr>
              <a:t>Por ejemplo 5 x1 = 5.</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None/>
            </a:pPr>
            <a:r>
              <a:rPr lang="es-ES" sz="2800">
                <a:solidFill>
                  <a:schemeClr val="lt1"/>
                </a:solidFill>
                <a:highlight>
                  <a:srgbClr val="009287"/>
                </a:highlight>
                <a:latin typeface="Patrick Hand"/>
                <a:ea typeface="Patrick Hand"/>
                <a:cs typeface="Patrick Hand"/>
                <a:sym typeface="Patrick Hand"/>
              </a:rPr>
              <a:t>2. </a:t>
            </a:r>
            <a:r>
              <a:rPr b="0" i="0" lang="es-ES" sz="2800" u="none" cap="none" strike="noStrike">
                <a:solidFill>
                  <a:schemeClr val="lt1"/>
                </a:solidFill>
                <a:highlight>
                  <a:srgbClr val="009287"/>
                </a:highlight>
                <a:latin typeface="Patrick Hand"/>
                <a:ea typeface="Patrick Hand"/>
                <a:cs typeface="Patrick Hand"/>
                <a:sym typeface="Patrick Hand"/>
              </a:rPr>
              <a:t>Propiedad absorbente o del 0:</a:t>
            </a:r>
            <a:r>
              <a:rPr b="0" i="0" lang="es-ES" sz="2800" u="none" cap="none" strike="noStrike">
                <a:solidFill>
                  <a:schemeClr val="dk1"/>
                </a:solidFill>
                <a:latin typeface="Patrick Hand"/>
                <a:ea typeface="Patrick Hand"/>
                <a:cs typeface="Patrick Hand"/>
                <a:sym typeface="Patrick Hand"/>
              </a:rPr>
              <a:t> El producto de cualquier número multiplicado por 0  es 0. </a:t>
            </a:r>
            <a:endParaRPr b="0" i="0" sz="2800" u="none" cap="none" strike="noStrike">
              <a:solidFill>
                <a:schemeClr val="dk1"/>
              </a:solidFill>
              <a:latin typeface="Patrick Hand"/>
              <a:ea typeface="Patrick Hand"/>
              <a:cs typeface="Patrick Hand"/>
              <a:sym typeface="Patrick Hand"/>
            </a:endParaRPr>
          </a:p>
          <a:p>
            <a:pPr indent="-406400" lvl="1" marL="914400" marR="0" rtl="0" algn="l">
              <a:lnSpc>
                <a:spcPct val="100000"/>
              </a:lnSpc>
              <a:spcBef>
                <a:spcPts val="0"/>
              </a:spcBef>
              <a:spcAft>
                <a:spcPts val="0"/>
              </a:spcAft>
              <a:buClr>
                <a:schemeClr val="dk1"/>
              </a:buClr>
              <a:buSzPts val="2800"/>
              <a:buFont typeface="Patrick Hand"/>
              <a:buChar char="○"/>
            </a:pPr>
            <a:r>
              <a:rPr b="0" i="0" lang="es-ES" sz="2800" u="none" cap="none" strike="noStrike">
                <a:solidFill>
                  <a:schemeClr val="dk1"/>
                </a:solidFill>
                <a:latin typeface="Patrick Hand"/>
                <a:ea typeface="Patrick Hand"/>
                <a:cs typeface="Patrick Hand"/>
                <a:sym typeface="Patrick Hand"/>
              </a:rPr>
              <a:t>Por ejemplo:    8 x0 = 0.</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						14 x 0 = O</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None/>
            </a:pPr>
            <a:r>
              <a:rPr lang="es-ES" sz="2800">
                <a:solidFill>
                  <a:schemeClr val="lt1"/>
                </a:solidFill>
                <a:highlight>
                  <a:srgbClr val="009287"/>
                </a:highlight>
                <a:latin typeface="Patrick Hand"/>
                <a:ea typeface="Patrick Hand"/>
                <a:cs typeface="Patrick Hand"/>
                <a:sym typeface="Patrick Hand"/>
              </a:rPr>
              <a:t>3. </a:t>
            </a:r>
            <a:r>
              <a:rPr b="0" i="0" lang="es-ES" sz="2800" u="none" cap="none" strike="noStrike">
                <a:solidFill>
                  <a:schemeClr val="lt1"/>
                </a:solidFill>
                <a:highlight>
                  <a:srgbClr val="009287"/>
                </a:highlight>
                <a:latin typeface="Patrick Hand"/>
                <a:ea typeface="Patrick Hand"/>
                <a:cs typeface="Patrick Hand"/>
                <a:sym typeface="Patrick Hand"/>
              </a:rPr>
              <a:t>Propiedad conmutativa:</a:t>
            </a:r>
            <a:r>
              <a:rPr b="0" i="0" lang="es-ES" sz="2800" u="none" cap="none" strike="noStrike">
                <a:solidFill>
                  <a:schemeClr val="dk1"/>
                </a:solidFill>
                <a:latin typeface="Patrick Hand"/>
                <a:ea typeface="Patrick Hand"/>
                <a:cs typeface="Patrick Hand"/>
                <a:sym typeface="Patrick Hand"/>
              </a:rPr>
              <a:t> No importa el orden de los factores, el resultado o producto es el mismo. </a:t>
            </a:r>
            <a:endParaRPr b="0" i="0" sz="2800" u="none" cap="none" strike="noStrike">
              <a:solidFill>
                <a:schemeClr val="dk1"/>
              </a:solidFill>
              <a:latin typeface="Patrick Hand"/>
              <a:ea typeface="Patrick Hand"/>
              <a:cs typeface="Patrick Hand"/>
              <a:sym typeface="Patrick Hand"/>
            </a:endParaRPr>
          </a:p>
          <a:p>
            <a:pPr indent="-406400" lvl="1" marL="914400" marR="0" rtl="0" algn="l">
              <a:lnSpc>
                <a:spcPct val="100000"/>
              </a:lnSpc>
              <a:spcBef>
                <a:spcPts val="0"/>
              </a:spcBef>
              <a:spcAft>
                <a:spcPts val="0"/>
              </a:spcAft>
              <a:buClr>
                <a:schemeClr val="dk1"/>
              </a:buClr>
              <a:buSzPts val="2800"/>
              <a:buFont typeface="Patrick Hand"/>
              <a:buChar char="○"/>
            </a:pPr>
            <a:r>
              <a:rPr b="0" i="0" lang="es-ES" sz="2800" u="none" cap="none" strike="noStrike">
                <a:solidFill>
                  <a:schemeClr val="dk1"/>
                </a:solidFill>
                <a:latin typeface="Patrick Hand"/>
                <a:ea typeface="Patrick Hand"/>
                <a:cs typeface="Patrick Hand"/>
                <a:sym typeface="Patrick Hand"/>
              </a:rPr>
              <a:t>Por ejemplo: 2 x 3 = 6 y 3 x 2 = 6</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p:txBody>
      </p:sp>
      <p:pic>
        <p:nvPicPr>
          <p:cNvPr id="273" name="Google Shape;273;g25d83601fe9_0_4"/>
          <p:cNvPicPr preferRelativeResize="0"/>
          <p:nvPr/>
        </p:nvPicPr>
        <p:blipFill>
          <a:blip r:embed="rId4">
            <a:alphaModFix/>
          </a:blip>
          <a:stretch>
            <a:fillRect/>
          </a:stretch>
        </p:blipFill>
        <p:spPr>
          <a:xfrm>
            <a:off x="11048600" y="5244875"/>
            <a:ext cx="975700" cy="102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5d83601fe9_0_8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79" name="Google Shape;279;g25d83601fe9_0_8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80" name="Google Shape;280;g25d83601fe9_0_8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81" name="Google Shape;281;g25d83601fe9_0_88"/>
          <p:cNvSpPr txBox="1"/>
          <p:nvPr/>
        </p:nvSpPr>
        <p:spPr>
          <a:xfrm>
            <a:off x="152400" y="288925"/>
            <a:ext cx="599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900"/>
              </a:spcBef>
              <a:spcAft>
                <a:spcPts val="390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Propiedades de la multiplicación:</a:t>
            </a:r>
            <a:endParaRPr b="0" i="0" sz="3600" u="none" cap="none" strike="noStrike">
              <a:solidFill>
                <a:srgbClr val="000000"/>
              </a:solidFill>
              <a:latin typeface="Patrick Hand"/>
              <a:ea typeface="Patrick Hand"/>
              <a:cs typeface="Patrick Hand"/>
              <a:sym typeface="Patrick Hand"/>
            </a:endParaRPr>
          </a:p>
        </p:txBody>
      </p:sp>
      <p:sp>
        <p:nvSpPr>
          <p:cNvPr id="282" name="Google Shape;282;g25d83601fe9_0_88"/>
          <p:cNvSpPr txBox="1"/>
          <p:nvPr/>
        </p:nvSpPr>
        <p:spPr>
          <a:xfrm>
            <a:off x="713825" y="522150"/>
            <a:ext cx="10945200" cy="492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4.    </a:t>
            </a:r>
            <a:r>
              <a:rPr b="0" i="0" lang="es-ES" sz="2800" u="none" cap="none" strike="noStrike">
                <a:solidFill>
                  <a:schemeClr val="lt1"/>
                </a:solidFill>
                <a:highlight>
                  <a:srgbClr val="009287"/>
                </a:highlight>
                <a:latin typeface="Patrick Hand"/>
                <a:ea typeface="Patrick Hand"/>
                <a:cs typeface="Patrick Hand"/>
                <a:sym typeface="Patrick Hand"/>
              </a:rPr>
              <a:t>Propiedad Distributiva:</a:t>
            </a:r>
            <a:r>
              <a:rPr b="0" i="0" lang="es-ES" sz="2800" u="none" cap="none" strike="noStrike">
                <a:solidFill>
                  <a:schemeClr val="dk1"/>
                </a:solidFill>
                <a:latin typeface="Patrick Hand"/>
                <a:ea typeface="Patrick Hand"/>
                <a:cs typeface="Patrick Hand"/>
                <a:sym typeface="Patrick Hand"/>
              </a:rPr>
              <a:t> Cuando se multiplica un n° por una suma, se puede: </a:t>
            </a:r>
            <a:endParaRPr b="0" i="0" sz="2800" u="none" cap="none" strike="noStrike">
              <a:solidFill>
                <a:schemeClr val="dk1"/>
              </a:solidFill>
              <a:latin typeface="Patrick Hand"/>
              <a:ea typeface="Patrick Hand"/>
              <a:cs typeface="Patrick Hand"/>
              <a:sym typeface="Patrick Hand"/>
            </a:endParaRPr>
          </a:p>
          <a:p>
            <a:pPr indent="-406400" lvl="0" marL="914400" marR="0" rtl="0" algn="l">
              <a:lnSpc>
                <a:spcPct val="100000"/>
              </a:lnSpc>
              <a:spcBef>
                <a:spcPts val="0"/>
              </a:spcBef>
              <a:spcAft>
                <a:spcPts val="0"/>
              </a:spcAft>
              <a:buClr>
                <a:schemeClr val="dk1"/>
              </a:buClr>
              <a:buSzPts val="2800"/>
              <a:buFont typeface="Patrick Hand"/>
              <a:buChar char="-"/>
            </a:pPr>
            <a:r>
              <a:rPr b="0" i="0" lang="es-ES" sz="2800" u="none" cap="none" strike="noStrike">
                <a:solidFill>
                  <a:schemeClr val="dk1"/>
                </a:solidFill>
                <a:latin typeface="Patrick Hand"/>
                <a:ea typeface="Patrick Hand"/>
                <a:cs typeface="Patrick Hand"/>
                <a:sym typeface="Patrick Hand"/>
              </a:rPr>
              <a:t>Resolver la suma y luego multiplicar,</a:t>
            </a:r>
            <a:r>
              <a:rPr lang="es-ES" sz="2800">
                <a:solidFill>
                  <a:schemeClr val="dk1"/>
                </a:solidFill>
                <a:latin typeface="Patrick Hand"/>
                <a:ea typeface="Patrick Hand"/>
                <a:cs typeface="Patrick Hand"/>
                <a:sym typeface="Patrick Hand"/>
              </a:rPr>
              <a:t> </a:t>
            </a:r>
            <a:r>
              <a:rPr b="0" i="0" lang="es-ES" sz="2800" u="none" cap="none" strike="noStrike">
                <a:solidFill>
                  <a:schemeClr val="dk1"/>
                </a:solidFill>
                <a:latin typeface="Patrick Hand"/>
                <a:ea typeface="Patrick Hand"/>
                <a:cs typeface="Patrick Hand"/>
                <a:sym typeface="Patrick Hand"/>
              </a:rPr>
              <a:t>o </a:t>
            </a:r>
            <a:r>
              <a:rPr lang="es-ES" sz="2800">
                <a:solidFill>
                  <a:schemeClr val="dk1"/>
                </a:solidFill>
                <a:latin typeface="Patrick Hand"/>
                <a:ea typeface="Patrick Hand"/>
                <a:cs typeface="Patrick Hand"/>
                <a:sym typeface="Patrick Hand"/>
              </a:rPr>
              <a:t>bien</a:t>
            </a:r>
            <a:endParaRPr sz="2800">
              <a:solidFill>
                <a:schemeClr val="dk1"/>
              </a:solidFill>
              <a:latin typeface="Patrick Hand"/>
              <a:ea typeface="Patrick Hand"/>
              <a:cs typeface="Patrick Hand"/>
              <a:sym typeface="Patrick Hand"/>
            </a:endParaRPr>
          </a:p>
          <a:p>
            <a:pPr indent="-406400" lvl="0" marL="914400" marR="0" rtl="0" algn="l">
              <a:lnSpc>
                <a:spcPct val="100000"/>
              </a:lnSpc>
              <a:spcBef>
                <a:spcPts val="0"/>
              </a:spcBef>
              <a:spcAft>
                <a:spcPts val="0"/>
              </a:spcAft>
              <a:buClr>
                <a:schemeClr val="dk1"/>
              </a:buClr>
              <a:buSzPts val="2800"/>
              <a:buFont typeface="Patrick Hand"/>
              <a:buChar char="-"/>
            </a:pPr>
            <a:r>
              <a:rPr lang="es-ES" sz="2800">
                <a:solidFill>
                  <a:schemeClr val="dk1"/>
                </a:solidFill>
                <a:latin typeface="Patrick Hand"/>
                <a:ea typeface="Patrick Hand"/>
                <a:cs typeface="Patrick Hand"/>
                <a:sym typeface="Patrick Hand"/>
              </a:rPr>
              <a:t>M</a:t>
            </a:r>
            <a:r>
              <a:rPr b="0" i="0" lang="es-ES" sz="2800" u="none" cap="none" strike="noStrike">
                <a:solidFill>
                  <a:schemeClr val="dk1"/>
                </a:solidFill>
                <a:latin typeface="Patrick Hand"/>
                <a:ea typeface="Patrick Hand"/>
                <a:cs typeface="Patrick Hand"/>
                <a:sym typeface="Patrick Hand"/>
              </a:rPr>
              <a:t>ultiplicar cada sumando por el factor y luego sumar ambos resultados. </a:t>
            </a:r>
            <a:endParaRPr b="0" i="0" sz="2800" u="none" cap="none" strike="noStrike">
              <a:solidFill>
                <a:schemeClr val="dk1"/>
              </a:solidFill>
              <a:latin typeface="Patrick Hand"/>
              <a:ea typeface="Patrick Hand"/>
              <a:cs typeface="Patrick Hand"/>
              <a:sym typeface="Patrick Hand"/>
            </a:endParaRPr>
          </a:p>
          <a:p>
            <a:pPr indent="0" lvl="0" marL="182880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5 x (4 + 3) = 5 x 4 + 5x3</a:t>
            </a:r>
            <a:endParaRPr b="0" i="0" sz="2800" u="none" cap="none" strike="noStrike">
              <a:solidFill>
                <a:schemeClr val="dk1"/>
              </a:solidFill>
              <a:latin typeface="Patrick Hand"/>
              <a:ea typeface="Patrick Hand"/>
              <a:cs typeface="Patrick Hand"/>
              <a:sym typeface="Patrick Hand"/>
            </a:endParaRPr>
          </a:p>
          <a:p>
            <a:pPr indent="0" lvl="0" marL="182880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5 x     7       = 20 + 15</a:t>
            </a:r>
            <a:endParaRPr b="0" i="0" sz="2800" u="none" cap="none" strike="noStrike">
              <a:solidFill>
                <a:schemeClr val="dk1"/>
              </a:solidFill>
              <a:latin typeface="Patrick Hand"/>
              <a:ea typeface="Patrick Hand"/>
              <a:cs typeface="Patrick Hand"/>
              <a:sym typeface="Patrick Hand"/>
            </a:endParaRPr>
          </a:p>
          <a:p>
            <a:pPr indent="0" lvl="0" marL="182880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35              =  35</a:t>
            </a:r>
            <a:endParaRPr b="0" i="0" sz="2800" u="none" cap="none" strike="noStrike">
              <a:solidFill>
                <a:schemeClr val="dk1"/>
              </a:solidFill>
              <a:latin typeface="Patrick Hand"/>
              <a:ea typeface="Patrick Hand"/>
              <a:cs typeface="Patrick Hand"/>
              <a:sym typeface="Patrick Hand"/>
            </a:endParaRPr>
          </a:p>
          <a:p>
            <a:pPr indent="0" lvl="0" marL="13716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5.    </a:t>
            </a:r>
            <a:r>
              <a:rPr b="0" i="0" lang="es-ES" sz="2800" u="none" cap="none" strike="noStrike">
                <a:solidFill>
                  <a:schemeClr val="lt1"/>
                </a:solidFill>
                <a:highlight>
                  <a:srgbClr val="009287"/>
                </a:highlight>
                <a:latin typeface="Patrick Hand"/>
                <a:ea typeface="Patrick Hand"/>
                <a:cs typeface="Patrick Hand"/>
                <a:sym typeface="Patrick Hand"/>
              </a:rPr>
              <a:t>Propiedad asociativa:</a:t>
            </a:r>
            <a:r>
              <a:rPr b="0" i="0" lang="es-ES" sz="2800" u="none" cap="none" strike="noStrike">
                <a:solidFill>
                  <a:schemeClr val="dk1"/>
                </a:solidFill>
                <a:latin typeface="Patrick Hand"/>
                <a:ea typeface="Patrick Hand"/>
                <a:cs typeface="Patrick Hand"/>
                <a:sym typeface="Patrick Hand"/>
              </a:rPr>
              <a:t> Podemos agrupar los factores de distintas formas y </a:t>
            </a:r>
            <a:endParaRPr b="0" i="0" sz="28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 siempre obtendremos el mismo resultado</a:t>
            </a:r>
            <a:endParaRPr b="0" i="0" sz="2800" u="none" cap="none" strike="noStrike">
              <a:solidFill>
                <a:schemeClr val="dk1"/>
              </a:solidFill>
              <a:latin typeface="Patrick Hand"/>
              <a:ea typeface="Patrick Hand"/>
              <a:cs typeface="Patrick Hand"/>
              <a:sym typeface="Patrick Hand"/>
            </a:endParaRPr>
          </a:p>
          <a:p>
            <a:pPr indent="457200" lvl="0" marL="91440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Ejemplo : ( 2 x 3 ) x 5 = 2 x ( 3 x 5)</a:t>
            </a:r>
            <a:endParaRPr b="0" i="0" sz="2800" u="none" cap="none" strike="noStrike">
              <a:solidFill>
                <a:schemeClr val="dk1"/>
              </a:solidFill>
              <a:latin typeface="Patrick Hand"/>
              <a:ea typeface="Patrick Hand"/>
              <a:cs typeface="Patrick Hand"/>
              <a:sym typeface="Patrick Hand"/>
            </a:endParaRPr>
          </a:p>
        </p:txBody>
      </p:sp>
      <p:cxnSp>
        <p:nvCxnSpPr>
          <p:cNvPr id="283" name="Google Shape;283;g25d83601fe9_0_88"/>
          <p:cNvCxnSpPr/>
          <p:nvPr/>
        </p:nvCxnSpPr>
        <p:spPr>
          <a:xfrm>
            <a:off x="3357950" y="2700450"/>
            <a:ext cx="124500" cy="124500"/>
          </a:xfrm>
          <a:prstGeom prst="straightConnector1">
            <a:avLst/>
          </a:prstGeom>
          <a:noFill/>
          <a:ln cap="flat" cmpd="sng" w="28575">
            <a:solidFill>
              <a:srgbClr val="009287"/>
            </a:solidFill>
            <a:prstDash val="solid"/>
            <a:round/>
            <a:headEnd len="sm" w="sm" type="none"/>
            <a:tailEnd len="sm" w="sm" type="none"/>
          </a:ln>
        </p:spPr>
      </p:cxnSp>
      <p:cxnSp>
        <p:nvCxnSpPr>
          <p:cNvPr id="284" name="Google Shape;284;g25d83601fe9_0_88"/>
          <p:cNvCxnSpPr/>
          <p:nvPr/>
        </p:nvCxnSpPr>
        <p:spPr>
          <a:xfrm flipH="1" rot="10800000">
            <a:off x="3659975" y="2700550"/>
            <a:ext cx="124200" cy="159900"/>
          </a:xfrm>
          <a:prstGeom prst="straightConnector1">
            <a:avLst/>
          </a:prstGeom>
          <a:noFill/>
          <a:ln cap="flat" cmpd="sng" w="28575">
            <a:solidFill>
              <a:srgbClr val="009287"/>
            </a:solidFill>
            <a:prstDash val="solid"/>
            <a:round/>
            <a:headEnd len="sm" w="sm" type="none"/>
            <a:tailEnd len="sm" w="sm" type="none"/>
          </a:ln>
        </p:spPr>
      </p:cxnSp>
      <p:cxnSp>
        <p:nvCxnSpPr>
          <p:cNvPr id="285" name="Google Shape;285;g25d83601fe9_0_88"/>
          <p:cNvCxnSpPr/>
          <p:nvPr/>
        </p:nvCxnSpPr>
        <p:spPr>
          <a:xfrm>
            <a:off x="3855400" y="5296875"/>
            <a:ext cx="106500" cy="231000"/>
          </a:xfrm>
          <a:prstGeom prst="straightConnector1">
            <a:avLst/>
          </a:prstGeom>
          <a:noFill/>
          <a:ln cap="flat" cmpd="sng" w="28575">
            <a:solidFill>
              <a:srgbClr val="009287"/>
            </a:solidFill>
            <a:prstDash val="solid"/>
            <a:round/>
            <a:headEnd len="sm" w="sm" type="none"/>
            <a:tailEnd len="sm" w="sm" type="none"/>
          </a:ln>
        </p:spPr>
      </p:cxnSp>
      <p:cxnSp>
        <p:nvCxnSpPr>
          <p:cNvPr id="286" name="Google Shape;286;g25d83601fe9_0_88"/>
          <p:cNvCxnSpPr/>
          <p:nvPr/>
        </p:nvCxnSpPr>
        <p:spPr>
          <a:xfrm flipH="1">
            <a:off x="4157550" y="5279125"/>
            <a:ext cx="106500" cy="213300"/>
          </a:xfrm>
          <a:prstGeom prst="straightConnector1">
            <a:avLst/>
          </a:prstGeom>
          <a:noFill/>
          <a:ln cap="flat" cmpd="sng" w="28575">
            <a:solidFill>
              <a:srgbClr val="009287"/>
            </a:solidFill>
            <a:prstDash val="solid"/>
            <a:round/>
            <a:headEnd len="sm" w="sm" type="none"/>
            <a:tailEnd len="sm" w="sm" type="none"/>
          </a:ln>
        </p:spPr>
      </p:cxnSp>
      <p:cxnSp>
        <p:nvCxnSpPr>
          <p:cNvPr id="287" name="Google Shape;287;g25d83601fe9_0_88"/>
          <p:cNvCxnSpPr/>
          <p:nvPr/>
        </p:nvCxnSpPr>
        <p:spPr>
          <a:xfrm>
            <a:off x="6133175" y="5270275"/>
            <a:ext cx="106500" cy="231000"/>
          </a:xfrm>
          <a:prstGeom prst="straightConnector1">
            <a:avLst/>
          </a:prstGeom>
          <a:noFill/>
          <a:ln cap="flat" cmpd="sng" w="28575">
            <a:solidFill>
              <a:srgbClr val="009287"/>
            </a:solidFill>
            <a:prstDash val="solid"/>
            <a:round/>
            <a:headEnd len="sm" w="sm" type="none"/>
            <a:tailEnd len="sm" w="sm" type="none"/>
          </a:ln>
        </p:spPr>
      </p:cxnSp>
      <p:cxnSp>
        <p:nvCxnSpPr>
          <p:cNvPr id="288" name="Google Shape;288;g25d83601fe9_0_88"/>
          <p:cNvCxnSpPr/>
          <p:nvPr/>
        </p:nvCxnSpPr>
        <p:spPr>
          <a:xfrm flipH="1">
            <a:off x="6441975" y="5279125"/>
            <a:ext cx="106500" cy="213300"/>
          </a:xfrm>
          <a:prstGeom prst="straightConnector1">
            <a:avLst/>
          </a:prstGeom>
          <a:noFill/>
          <a:ln cap="flat" cmpd="sng" w="28575">
            <a:solidFill>
              <a:srgbClr val="009287"/>
            </a:solidFill>
            <a:prstDash val="solid"/>
            <a:round/>
            <a:headEnd len="sm" w="sm" type="none"/>
            <a:tailEnd len="sm" w="sm" type="none"/>
          </a:ln>
        </p:spPr>
      </p:cxnSp>
      <p:sp>
        <p:nvSpPr>
          <p:cNvPr id="289" name="Google Shape;289;g25d83601fe9_0_88"/>
          <p:cNvSpPr txBox="1"/>
          <p:nvPr/>
        </p:nvSpPr>
        <p:spPr>
          <a:xfrm>
            <a:off x="3855400" y="5306475"/>
            <a:ext cx="1147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6    x  5</a:t>
            </a:r>
            <a:endParaRPr b="0" i="0" sz="1400" u="none" cap="none" strike="noStrike">
              <a:solidFill>
                <a:srgbClr val="000000"/>
              </a:solidFill>
              <a:latin typeface="Arial"/>
              <a:ea typeface="Arial"/>
              <a:cs typeface="Arial"/>
              <a:sym typeface="Arial"/>
            </a:endParaRPr>
          </a:p>
        </p:txBody>
      </p:sp>
      <p:sp>
        <p:nvSpPr>
          <p:cNvPr id="290" name="Google Shape;290;g25d83601fe9_0_88"/>
          <p:cNvSpPr txBox="1"/>
          <p:nvPr/>
        </p:nvSpPr>
        <p:spPr>
          <a:xfrm>
            <a:off x="5365575" y="5306475"/>
            <a:ext cx="169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2 x    15</a:t>
            </a:r>
            <a:endParaRPr b="0" i="0" sz="1400" u="none" cap="none" strike="noStrike">
              <a:solidFill>
                <a:srgbClr val="000000"/>
              </a:solidFill>
              <a:latin typeface="Arial"/>
              <a:ea typeface="Arial"/>
              <a:cs typeface="Arial"/>
              <a:sym typeface="Arial"/>
            </a:endParaRPr>
          </a:p>
        </p:txBody>
      </p:sp>
      <p:sp>
        <p:nvSpPr>
          <p:cNvPr id="291" name="Google Shape;291;g25d83601fe9_0_88"/>
          <p:cNvSpPr txBox="1"/>
          <p:nvPr/>
        </p:nvSpPr>
        <p:spPr>
          <a:xfrm>
            <a:off x="3855400" y="58022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     30     =      30 </a:t>
            </a:r>
            <a:endParaRPr b="0" i="0" sz="1400" u="none" cap="none" strike="noStrike">
              <a:solidFill>
                <a:srgbClr val="000000"/>
              </a:solidFill>
              <a:latin typeface="Arial"/>
              <a:ea typeface="Arial"/>
              <a:cs typeface="Arial"/>
              <a:sym typeface="Arial"/>
            </a:endParaRPr>
          </a:p>
        </p:txBody>
      </p:sp>
      <p:sp>
        <p:nvSpPr>
          <p:cNvPr id="292" name="Google Shape;292;g25d83601fe9_0_88"/>
          <p:cNvSpPr txBox="1"/>
          <p:nvPr/>
        </p:nvSpPr>
        <p:spPr>
          <a:xfrm>
            <a:off x="4995225" y="53064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pic>
        <p:nvPicPr>
          <p:cNvPr id="293" name="Google Shape;293;g25d83601fe9_0_88"/>
          <p:cNvPicPr preferRelativeResize="0"/>
          <p:nvPr/>
        </p:nvPicPr>
        <p:blipFill>
          <a:blip r:embed="rId4">
            <a:alphaModFix/>
          </a:blip>
          <a:stretch>
            <a:fillRect/>
          </a:stretch>
        </p:blipFill>
        <p:spPr>
          <a:xfrm>
            <a:off x="11048600" y="5244875"/>
            <a:ext cx="975700" cy="102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descr="Forma&#10;&#10;Descripción generada automáticamente con confianza media" id="298" name="Google Shape;298;g2b52275c760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299" name="Google Shape;299;g2b52275c760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00" name="Google Shape;300;g2b52275c760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01" name="Google Shape;301;g2b52275c760_0_0" title="Resumen - Multiplicación (2) - Suma iterada y Propiedades">
            <a:hlinkClick r:id="rId4"/>
          </p:cNvPr>
          <p:cNvPicPr preferRelativeResize="0"/>
          <p:nvPr/>
        </p:nvPicPr>
        <p:blipFill>
          <a:blip r:embed="rId5">
            <a:alphaModFix/>
          </a:blip>
          <a:stretch>
            <a:fillRect/>
          </a:stretch>
        </p:blipFill>
        <p:spPr>
          <a:xfrm>
            <a:off x="1702425" y="1398450"/>
            <a:ext cx="8787050" cy="4942700"/>
          </a:xfrm>
          <a:prstGeom prst="rect">
            <a:avLst/>
          </a:prstGeom>
          <a:noFill/>
          <a:ln cap="flat" cmpd="sng" w="28575">
            <a:solidFill>
              <a:schemeClr val="dk2"/>
            </a:solidFill>
            <a:prstDash val="solid"/>
            <a:round/>
            <a:headEnd len="sm" w="sm" type="none"/>
            <a:tailEnd len="sm" w="sm" type="none"/>
          </a:ln>
        </p:spPr>
      </p:pic>
      <p:pic>
        <p:nvPicPr>
          <p:cNvPr id="302" name="Google Shape;302;g2b52275c760_0_0"/>
          <p:cNvPicPr preferRelativeResize="0"/>
          <p:nvPr/>
        </p:nvPicPr>
        <p:blipFill>
          <a:blip r:embed="rId6">
            <a:alphaModFix/>
          </a:blip>
          <a:stretch>
            <a:fillRect/>
          </a:stretch>
        </p:blipFill>
        <p:spPr>
          <a:xfrm>
            <a:off x="11048600" y="5244875"/>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2af0561bb2e_0_55"/>
          <p:cNvSpPr txBox="1"/>
          <p:nvPr/>
        </p:nvSpPr>
        <p:spPr>
          <a:xfrm>
            <a:off x="357901" y="1219767"/>
            <a:ext cx="6506400" cy="50487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propiedad se representa?</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None/>
            </a:pPr>
            <a:r>
              <a:rPr lang="es-ES" sz="3200">
                <a:solidFill>
                  <a:schemeClr val="dk1"/>
                </a:solidFill>
                <a:latin typeface="Patrick Hand"/>
                <a:ea typeface="Patrick Hand"/>
                <a:cs typeface="Patrick Hand"/>
                <a:sym typeface="Patrick Hand"/>
              </a:rPr>
              <a:t>9 x 7 = 7 x 9</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2) ¿Qué propiedad se representa?</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1 x 9 = 9</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3) ¿Qué propiedad se representa?</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7 x (1 + 9) = 7 x 1 + 7 x 9</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4) ¿Qué propiedad se representa?</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10.569 x 0 = 0</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5) ¿Qué propiedad se representa?</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(9 x 156) x 27 = 9 x (156 x 27)</a:t>
            </a:r>
            <a:endParaRPr sz="3200">
              <a:solidFill>
                <a:schemeClr val="dk1"/>
              </a:solidFill>
              <a:latin typeface="Patrick Hand"/>
              <a:ea typeface="Patrick Hand"/>
              <a:cs typeface="Patrick Hand"/>
              <a:sym typeface="Patrick Hand"/>
            </a:endParaRPr>
          </a:p>
        </p:txBody>
      </p:sp>
      <p:sp>
        <p:nvSpPr>
          <p:cNvPr id="308" name="Google Shape;308;g2af0561bb2e_0_55"/>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09" name="Google Shape;309;g2af0561bb2e_0_55"/>
          <p:cNvSpPr txBox="1"/>
          <p:nvPr/>
        </p:nvSpPr>
        <p:spPr>
          <a:xfrm>
            <a:off x="6334916" y="19788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https://forms.gle/DRfT9bN5pd9cAstJ6</a:t>
            </a:r>
            <a:r>
              <a:rPr b="1" lang="es-ES" sz="1900">
                <a:latin typeface="Calibri"/>
                <a:ea typeface="Calibri"/>
                <a:cs typeface="Calibri"/>
                <a:sym typeface="Calibri"/>
              </a:rPr>
              <a:t> </a:t>
            </a:r>
            <a:endParaRPr sz="1900"/>
          </a:p>
        </p:txBody>
      </p:sp>
      <p:pic>
        <p:nvPicPr>
          <p:cNvPr id="310" name="Google Shape;310;g2af0561bb2e_0_55"/>
          <p:cNvPicPr preferRelativeResize="0"/>
          <p:nvPr/>
        </p:nvPicPr>
        <p:blipFill rotWithShape="1">
          <a:blip r:embed="rId4">
            <a:alphaModFix/>
          </a:blip>
          <a:srcRect b="8186" l="8186" r="8186" t="8186"/>
          <a:stretch/>
        </p:blipFill>
        <p:spPr>
          <a:xfrm>
            <a:off x="7947300" y="2638267"/>
            <a:ext cx="2871200" cy="2871200"/>
          </a:xfrm>
          <a:prstGeom prst="rect">
            <a:avLst/>
          </a:prstGeom>
          <a:noFill/>
          <a:ln>
            <a:noFill/>
          </a:ln>
        </p:spPr>
      </p:pic>
      <p:pic>
        <p:nvPicPr>
          <p:cNvPr id="311" name="Google Shape;311;g2af0561bb2e_0_55"/>
          <p:cNvPicPr preferRelativeResize="0"/>
          <p:nvPr/>
        </p:nvPicPr>
        <p:blipFill>
          <a:blip r:embed="rId5">
            <a:alphaModFix/>
          </a:blip>
          <a:stretch>
            <a:fillRect/>
          </a:stretch>
        </p:blipFill>
        <p:spPr>
          <a:xfrm>
            <a:off x="11048600" y="5244875"/>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Forma&#10;&#10;Descripción generada automáticamente con confianza media" id="316" name="Google Shape;316;g2b52275c760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17" name="Google Shape;317;g2b52275c760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18" name="Google Shape;318;g2b52275c760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19" name="Google Shape;319;g2b52275c760_0_7" title="Reforzamiento - Multiplicación (2) - Suma iterada y Propiedades">
            <a:hlinkClick r:id="rId4"/>
          </p:cNvPr>
          <p:cNvPicPr preferRelativeResize="0"/>
          <p:nvPr/>
        </p:nvPicPr>
        <p:blipFill>
          <a:blip r:embed="rId5">
            <a:alphaModFix/>
          </a:blip>
          <a:stretch>
            <a:fillRect/>
          </a:stretch>
        </p:blipFill>
        <p:spPr>
          <a:xfrm>
            <a:off x="1700225" y="1398450"/>
            <a:ext cx="8791450" cy="4945200"/>
          </a:xfrm>
          <a:prstGeom prst="rect">
            <a:avLst/>
          </a:prstGeom>
          <a:noFill/>
          <a:ln cap="flat" cmpd="sng" w="28575">
            <a:solidFill>
              <a:schemeClr val="dk2"/>
            </a:solidFill>
            <a:prstDash val="solid"/>
            <a:round/>
            <a:headEnd len="sm" w="sm" type="none"/>
            <a:tailEnd len="sm" w="sm" type="none"/>
          </a:ln>
        </p:spPr>
      </p:pic>
      <p:pic>
        <p:nvPicPr>
          <p:cNvPr id="320" name="Google Shape;320;g2b52275c760_0_7"/>
          <p:cNvPicPr preferRelativeResize="0"/>
          <p:nvPr/>
        </p:nvPicPr>
        <p:blipFill>
          <a:blip r:embed="rId6">
            <a:alphaModFix/>
          </a:blip>
          <a:stretch>
            <a:fillRect/>
          </a:stretch>
        </p:blipFill>
        <p:spPr>
          <a:xfrm>
            <a:off x="11048600" y="5244875"/>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