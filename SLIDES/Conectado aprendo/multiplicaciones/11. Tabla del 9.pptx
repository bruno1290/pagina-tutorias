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Patrick Hand"/>
      <p:regular r:id="rId24"/>
    </p:embeddedFont>
    <p:embeddedFont>
      <p:font typeface="Poppins"/>
      <p:regular r:id="rId25"/>
      <p:bold r:id="rId26"/>
      <p:italic r:id="rId27"/>
      <p:boldItalic r:id="rId28"/>
    </p:embeddedFont>
    <p:embeddedFont>
      <p:font typeface="Poppins Light"/>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gSK6ZFCnNvmOGQIfp94oMjWI7l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atrickHand-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oppins-bold.fntdata"/><Relationship Id="rId25" Type="http://schemas.openxmlformats.org/officeDocument/2006/relationships/font" Target="fonts/Poppins-regular.fntdata"/><Relationship Id="rId28" Type="http://schemas.openxmlformats.org/officeDocument/2006/relationships/font" Target="fonts/Poppins-boldItalic.fntdata"/><Relationship Id="rId27" Type="http://schemas.openxmlformats.org/officeDocument/2006/relationships/font" Target="fonts/Poppins-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Ligh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Light-italic.fntdata"/><Relationship Id="rId30" Type="http://schemas.openxmlformats.org/officeDocument/2006/relationships/font" Target="fonts/PoppinsLight-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PoppinsLight-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0cd70ca6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0cd70ca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30cd70ca6c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30cd70ca6c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30cd70ca6c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30cd70ca6c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30cd70ca6c_0_2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30cd70ca6c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31a1d1a58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31a1d1a5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37be27922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237be27922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37be279222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g237be279222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37be279222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g237be279222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37be279222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237be279222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5bf903a7d5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g25bf903a7d5_1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37be279222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g237be279222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37be279222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4" name="Google Shape;314;g237be279222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37be279222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g237be279222_0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af0f5b907b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CL"/>
              <a:t>&lt;a href="https://www.flaticon.es/iconos-gratis/hoja" title="hoja iconos"&gt;Hoja iconos creados por Vitaly Gorbachev - Flaticon&lt;/a&gt;</a:t>
            </a:r>
            <a:endParaRPr/>
          </a:p>
        </p:txBody>
      </p:sp>
      <p:sp>
        <p:nvSpPr>
          <p:cNvPr id="334" name="Google Shape;334;g2af0f5b907b_0_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b520fb702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g2b520fb702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p:nvPr>
            <p:ph idx="2" type="pic"/>
          </p:nvPr>
        </p:nvSpPr>
        <p:spPr>
          <a:xfrm>
            <a:off x="5183188" y="987425"/>
            <a:ext cx="6172200" cy="4873625"/>
          </a:xfrm>
          <a:prstGeom prst="rect">
            <a:avLst/>
          </a:prstGeom>
          <a:noFill/>
          <a:ln>
            <a:noFill/>
          </a:ln>
        </p:spPr>
      </p:sp>
      <p:sp>
        <p:nvSpPr>
          <p:cNvPr id="64" name="Google Shape;6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1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af0f5b907b_0_7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af0f5b907b_0_7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af0f5b907b_0_79"/>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af0f5b907b_0_79"/>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af0f5b907b_0_79"/>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af0f5b907b_0_85"/>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af0f5b907b_0_85"/>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af0f5b907b_0_8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af0f5b907b_0_89"/>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af0f5b907b_0_8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af0f5b907b_0_92"/>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af0f5b907b_0_92"/>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af0f5b907b_0_92"/>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af0f5b907b_0_9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af0f5b907b_0_9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af0f5b907b_0_9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af0f5b907b_0_100"/>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af0f5b907b_0_100"/>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af0f5b907b_0_10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af0f5b907b_0_104"/>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af0f5b907b_0_10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af0f5b907b_0_107"/>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af0f5b907b_0_107"/>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af0f5b907b_0_107"/>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af0f5b907b_0_107"/>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af0f5b907b_0_10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af0f5b907b_0_113"/>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af0f5b907b_0_11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af0f5b907b_0_116"/>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af0f5b907b_0_116"/>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af0f5b907b_0_11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af0f5b907b_0_12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1.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af0f5b907b_0_7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af0f5b907b_0_75"/>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af0f5b907b_0_7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n9.cl/tablasmultiplicar" TargetMode="External"/><Relationship Id="rId4" Type="http://schemas.openxmlformats.org/officeDocument/2006/relationships/hyperlink" Target="http://n9.cl/visualizartablas" TargetMode="External"/><Relationship Id="rId5" Type="http://schemas.openxmlformats.org/officeDocument/2006/relationships/hyperlink" Target="http://n9.cl/dbu4p" TargetMode="External"/><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3.jpg"/><Relationship Id="rId4" Type="http://schemas.openxmlformats.org/officeDocument/2006/relationships/image" Target="../media/image9.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jpg"/><Relationship Id="rId4" Type="http://schemas.openxmlformats.org/officeDocument/2006/relationships/image" Target="../media/image11.png"/><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jpg"/><Relationship Id="rId4" Type="http://schemas.openxmlformats.org/officeDocument/2006/relationships/image" Target="../media/image12.png"/><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jp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2.jp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jpg"/><Relationship Id="rId4" Type="http://schemas.openxmlformats.org/officeDocument/2006/relationships/hyperlink" Target="http://www.youtube.com/watch?v=Q83Wh2bdnZE" TargetMode="External"/><Relationship Id="rId5" Type="http://schemas.openxmlformats.org/officeDocument/2006/relationships/image" Target="../media/image20.jpg"/><Relationship Id="rId6" Type="http://schemas.openxmlformats.org/officeDocument/2006/relationships/hyperlink" Target="http://www.youtube.com/watch?v=3abc23EI55Y" TargetMode="External"/><Relationship Id="rId7" Type="http://schemas.openxmlformats.org/officeDocument/2006/relationships/image" Target="../media/image24.jpg"/><Relationship Id="rId8"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jp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hyperlink" Target="https://forms.gle/VXttSytvX7Sa4kh97" TargetMode="External"/><Relationship Id="rId4" Type="http://schemas.openxmlformats.org/officeDocument/2006/relationships/image" Target="../media/image17.png"/><Relationship Id="rId5" Type="http://schemas.openxmlformats.org/officeDocument/2006/relationships/image" Target="../media/image13.png"/><Relationship Id="rId6"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4.jpg"/><Relationship Id="rId4" Type="http://schemas.openxmlformats.org/officeDocument/2006/relationships/hyperlink" Target="http://www.youtube.com/watch?v=LydRpJKVGfI" TargetMode="External"/><Relationship Id="rId5" Type="http://schemas.openxmlformats.org/officeDocument/2006/relationships/image" Target="../media/image21.jpg"/><Relationship Id="rId6"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132" name="Google Shape;132;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pic>
        <p:nvPicPr>
          <p:cNvPr descr="Imagen que contiene Escala de tiempo&#10;&#10;Descripción generada automáticamente" id="133" name="Google Shape;133;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4" name="Google Shape;134;p1"/>
          <p:cNvPicPr preferRelativeResize="0"/>
          <p:nvPr/>
        </p:nvPicPr>
        <p:blipFill>
          <a:blip r:embed="rId4">
            <a:alphaModFix/>
          </a:blip>
          <a:stretch>
            <a:fillRect/>
          </a:stretch>
        </p:blipFill>
        <p:spPr>
          <a:xfrm>
            <a:off x="11101350" y="5621712"/>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
          <p:cNvPicPr preferRelativeResize="0"/>
          <p:nvPr/>
        </p:nvPicPr>
        <p:blipFill rotWithShape="1">
          <a:blip r:embed="rId3">
            <a:alphaModFix/>
          </a:blip>
          <a:srcRect b="0" l="0" r="0" t="0"/>
          <a:stretch/>
        </p:blipFill>
        <p:spPr>
          <a:xfrm>
            <a:off x="1" y="0"/>
            <a:ext cx="12192000" cy="6858003"/>
          </a:xfrm>
          <a:prstGeom prst="rect">
            <a:avLst/>
          </a:prstGeom>
          <a:noFill/>
          <a:ln>
            <a:noFill/>
          </a:ln>
        </p:spPr>
      </p:pic>
      <p:pic>
        <p:nvPicPr>
          <p:cNvPr id="140" name="Google Shape;140;p2"/>
          <p:cNvPicPr preferRelativeResize="0"/>
          <p:nvPr/>
        </p:nvPicPr>
        <p:blipFill>
          <a:blip r:embed="rId4">
            <a:alphaModFix/>
          </a:blip>
          <a:stretch>
            <a:fillRect/>
          </a:stretch>
        </p:blipFill>
        <p:spPr>
          <a:xfrm>
            <a:off x="11083575" y="5213087"/>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30cd70ca6c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700">
                <a:solidFill>
                  <a:srgbClr val="3259A4"/>
                </a:solidFill>
                <a:latin typeface="Poppins"/>
                <a:ea typeface="Poppins"/>
                <a:cs typeface="Poppins"/>
                <a:sym typeface="Poppins"/>
              </a:rPr>
              <a:t>Sesión 3 a 11: Tablas del 2 al 10</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rPr b="1" lang="es-CL" sz="1600">
                <a:solidFill>
                  <a:srgbClr val="3259A4"/>
                </a:solidFill>
                <a:latin typeface="Poppins"/>
                <a:ea typeface="Poppins"/>
                <a:cs typeface="Poppins"/>
                <a:sym typeface="Poppins"/>
              </a:rPr>
              <a:t>Propósito</a:t>
            </a:r>
            <a:r>
              <a:rPr b="1" lang="es-CL" sz="1600">
                <a:solidFill>
                  <a:schemeClr val="dk1"/>
                </a:solidFill>
                <a:latin typeface="Poppins"/>
                <a:ea typeface="Poppins"/>
                <a:cs typeface="Poppins"/>
                <a:sym typeface="Poppins"/>
              </a:rPr>
              <a:t>:</a:t>
            </a:r>
            <a:r>
              <a:rPr lang="es-CL" sz="1800">
                <a:solidFill>
                  <a:schemeClr val="dk1"/>
                </a:solidFill>
                <a:latin typeface="Poppins Light"/>
                <a:ea typeface="Poppins Light"/>
                <a:cs typeface="Poppins Light"/>
                <a:sym typeface="Poppins Light"/>
              </a:rPr>
              <a:t> </a:t>
            </a:r>
            <a:r>
              <a:rPr lang="es-CL" sz="1450">
                <a:solidFill>
                  <a:schemeClr val="dk1"/>
                </a:solidFill>
                <a:latin typeface="Poppins"/>
                <a:ea typeface="Poppins"/>
                <a:cs typeface="Poppins"/>
                <a:sym typeface="Poppins"/>
              </a:rPr>
              <a:t>Enseñar las tablas de multiplicar del 2 al 10 de manera progresiva, utilizando estrategias de</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sz="1450">
                <a:solidFill>
                  <a:schemeClr val="dk1"/>
                </a:solidFill>
                <a:latin typeface="Poppins"/>
                <a:ea typeface="Poppins"/>
                <a:cs typeface="Poppins"/>
                <a:sym typeface="Poppins"/>
              </a:rPr>
              <a:t>comprensión y memorización que permitan a tu estudiante adquirir fluidez en la multiplicación.</a:t>
            </a:r>
            <a:endParaRPr sz="145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6" name="Google Shape;146;g330cd70ca6c_0_0"/>
          <p:cNvSpPr txBox="1"/>
          <p:nvPr/>
        </p:nvSpPr>
        <p:spPr>
          <a:xfrm>
            <a:off x="1148550" y="2902000"/>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CL"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1. Enseñar las tablas del 2 al 10.</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7" name="Google Shape;147;g330cd70ca6c_0_0"/>
          <p:cNvSpPr txBox="1"/>
          <p:nvPr/>
        </p:nvSpPr>
        <p:spPr>
          <a:xfrm>
            <a:off x="6346950" y="2900925"/>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CL"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1. Patrones específicos de cada tabla.</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2. Estrategias de memorización.</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8" name="Google Shape;148;g330cd70ca6c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49" name="Google Shape;149;g330cd70ca6c_0_0"/>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0" name="Google Shape;150;g330cd70ca6c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51" name="Google Shape;151;g330cd70ca6c_0_0"/>
          <p:cNvPicPr preferRelativeResize="0"/>
          <p:nvPr/>
        </p:nvPicPr>
        <p:blipFill>
          <a:blip r:embed="rId3">
            <a:alphaModFix/>
          </a:blip>
          <a:stretch>
            <a:fillRect/>
          </a:stretch>
        </p:blipFill>
        <p:spPr>
          <a:xfrm>
            <a:off x="10939250" y="23168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30cd70ca6c_0_85"/>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57" name="Google Shape;157;g330cd70ca6c_0_85"/>
          <p:cNvSpPr txBox="1"/>
          <p:nvPr/>
        </p:nvSpPr>
        <p:spPr>
          <a:xfrm>
            <a:off x="786350" y="2131575"/>
            <a:ext cx="10500000" cy="524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CL">
                <a:solidFill>
                  <a:schemeClr val="dk1"/>
                </a:solidFill>
                <a:latin typeface="Poppins"/>
                <a:ea typeface="Poppins"/>
                <a:cs typeface="Poppins"/>
                <a:sym typeface="Poppins"/>
              </a:rPr>
              <a:t>A lo largo de las siguientes sesiones, explorarás una tabla de multiplicar específica, enfocándote en enseñar patrones y estrategias que faciliten la memorización y comprensión.</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a:solidFill>
                  <a:schemeClr val="dk1"/>
                </a:solidFill>
                <a:latin typeface="Poppins"/>
                <a:ea typeface="Poppins"/>
                <a:cs typeface="Poppins"/>
                <a:sym typeface="Poppins"/>
              </a:rPr>
              <a:t>Esta guía te ofrece recomendaciones generales para cada tabla, así como técnicas para superar las dificultades comunes y reforzar la aplicación de las tablas en distintos contextos. Utiliza esta guía para mantener una estructura coherente y progresiva a lo largo de las sesiones.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De ese modo, cada sesión se estructura de la siguiente manera la cual te recomendamos </a:t>
            </a:r>
            <a:r>
              <a:rPr b="1" lang="es-CL">
                <a:solidFill>
                  <a:schemeClr val="dk1"/>
                </a:solidFill>
                <a:latin typeface="Poppins"/>
                <a:ea typeface="Poppins"/>
                <a:cs typeface="Poppins"/>
                <a:sym typeface="Poppins"/>
              </a:rPr>
              <a:t>revisar de antemano</a:t>
            </a:r>
            <a:r>
              <a:rPr lang="es-CL">
                <a:solidFill>
                  <a:schemeClr val="dk1"/>
                </a:solidFill>
                <a:latin typeface="Poppins"/>
                <a:ea typeface="Poppins"/>
                <a:cs typeface="Poppins"/>
                <a:sym typeface="Poppins"/>
              </a:rPr>
              <a:t> para saber cómo explicar cada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1. </a:t>
            </a:r>
            <a:r>
              <a:rPr b="1" lang="es-CL">
                <a:solidFill>
                  <a:schemeClr val="dk1"/>
                </a:solidFill>
                <a:latin typeface="Poppins"/>
                <a:ea typeface="Poppins"/>
                <a:cs typeface="Poppins"/>
                <a:sym typeface="Poppins"/>
              </a:rPr>
              <a:t>Presentarás la tabla de multiplicación </a:t>
            </a:r>
            <a:r>
              <a:rPr lang="es-CL">
                <a:solidFill>
                  <a:schemeClr val="dk1"/>
                </a:solidFill>
                <a:latin typeface="Poppins"/>
                <a:ea typeface="Poppins"/>
                <a:cs typeface="Poppins"/>
                <a:sym typeface="Poppins"/>
              </a:rPr>
              <a:t>y cómo hay que contar para representarla como </a:t>
            </a:r>
            <a:r>
              <a:rPr b="1" lang="es-CL">
                <a:solidFill>
                  <a:schemeClr val="dk1"/>
                </a:solidFill>
                <a:latin typeface="Poppins"/>
                <a:ea typeface="Poppins"/>
                <a:cs typeface="Poppins"/>
                <a:sym typeface="Poppins"/>
              </a:rPr>
              <a:t>suma iterada.</a:t>
            </a:r>
            <a:endParaRPr b="1">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2. Vincularán la</a:t>
            </a:r>
            <a:r>
              <a:rPr b="1" lang="es-CL">
                <a:solidFill>
                  <a:schemeClr val="dk1"/>
                </a:solidFill>
                <a:latin typeface="Poppins"/>
                <a:ea typeface="Poppins"/>
                <a:cs typeface="Poppins"/>
                <a:sym typeface="Poppins"/>
              </a:rPr>
              <a:t> noción de “grupo x elementos”</a:t>
            </a:r>
            <a:r>
              <a:rPr lang="es-CL">
                <a:solidFill>
                  <a:schemeClr val="dk1"/>
                </a:solidFill>
                <a:latin typeface="Poppins"/>
                <a:ea typeface="Poppins"/>
                <a:cs typeface="Poppins"/>
                <a:sym typeface="Poppins"/>
              </a:rPr>
              <a:t>, donde los “elementos” serán los de la tabla que estén revisando.</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3. </a:t>
            </a:r>
            <a:r>
              <a:rPr b="1" lang="es-CL">
                <a:solidFill>
                  <a:schemeClr val="dk1"/>
                </a:solidFill>
                <a:latin typeface="Poppins"/>
                <a:ea typeface="Poppins"/>
                <a:cs typeface="Poppins"/>
                <a:sym typeface="Poppins"/>
              </a:rPr>
              <a:t>Ordenarán en matrices </a:t>
            </a:r>
            <a:r>
              <a:rPr lang="es-CL">
                <a:solidFill>
                  <a:schemeClr val="dk1"/>
                </a:solidFill>
                <a:latin typeface="Poppins"/>
                <a:ea typeface="Poppins"/>
                <a:cs typeface="Poppins"/>
                <a:sym typeface="Poppins"/>
              </a:rPr>
              <a:t>ejemplos de la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4. Finalizarán con un </a:t>
            </a:r>
            <a:r>
              <a:rPr b="1" lang="es-CL">
                <a:solidFill>
                  <a:schemeClr val="dk1"/>
                </a:solidFill>
                <a:latin typeface="Poppins"/>
                <a:ea typeface="Poppins"/>
                <a:cs typeface="Poppins"/>
                <a:sym typeface="Poppins"/>
              </a:rPr>
              <a:t>problema aplicado </a:t>
            </a:r>
            <a:r>
              <a:rPr lang="es-CL">
                <a:solidFill>
                  <a:schemeClr val="dk1"/>
                </a:solidFill>
                <a:latin typeface="Poppins"/>
                <a:ea typeface="Poppins"/>
                <a:cs typeface="Poppins"/>
                <a:sym typeface="Poppins"/>
              </a:rPr>
              <a:t>que involucre la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p:txBody>
      </p:sp>
      <p:sp>
        <p:nvSpPr>
          <p:cNvPr id="158" name="Google Shape;158;g330cd70ca6c_0_85"/>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0cd70ca6c_0_85"/>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0" name="Google Shape;160;g330cd70ca6c_0_85"/>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61" name="Google Shape;161;g330cd70ca6c_0_85"/>
          <p:cNvPicPr preferRelativeResize="0"/>
          <p:nvPr/>
        </p:nvPicPr>
        <p:blipFill>
          <a:blip r:embed="rId3">
            <a:alphaModFix/>
          </a:blip>
          <a:stretch>
            <a:fillRect/>
          </a:stretch>
        </p:blipFill>
        <p:spPr>
          <a:xfrm>
            <a:off x="10939250" y="23168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30cd70ca6c_0_169"/>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67" name="Google Shape;167;g330cd70ca6c_0_169"/>
          <p:cNvSpPr txBox="1"/>
          <p:nvPr/>
        </p:nvSpPr>
        <p:spPr>
          <a:xfrm>
            <a:off x="786350" y="2283975"/>
            <a:ext cx="10500000" cy="426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Al término de cada sesión, es fundamental pedirle a tu estudiante que </a:t>
            </a:r>
            <a:r>
              <a:rPr b="1" lang="es-CL">
                <a:solidFill>
                  <a:schemeClr val="dk1"/>
                </a:solidFill>
                <a:latin typeface="Poppins"/>
                <a:ea typeface="Poppins"/>
                <a:cs typeface="Poppins"/>
                <a:sym typeface="Poppins"/>
              </a:rPr>
              <a:t>construya su propia tabla </a:t>
            </a:r>
            <a:r>
              <a:rPr lang="es-CL">
                <a:solidFill>
                  <a:schemeClr val="dk1"/>
                </a:solidFill>
                <a:latin typeface="Poppins"/>
                <a:ea typeface="Poppins"/>
                <a:cs typeface="Poppins"/>
                <a:sym typeface="Poppins"/>
              </a:rPr>
              <a:t>para que progresivamente las vaya interiorizando. Es por eso que, al comienzo de la siguiente sesión, </a:t>
            </a:r>
            <a:r>
              <a:rPr b="1" lang="es-CL">
                <a:solidFill>
                  <a:schemeClr val="dk1"/>
                </a:solidFill>
                <a:latin typeface="Poppins"/>
                <a:ea typeface="Poppins"/>
                <a:cs typeface="Poppins"/>
                <a:sym typeface="Poppins"/>
              </a:rPr>
              <a:t>deben hacer un repaso de las tablas que han revisado hasta ese momento mediante preguntas del tipo: “Cuánto es___ por ___”</a:t>
            </a:r>
            <a:r>
              <a:rPr lang="es-CL">
                <a:solidFill>
                  <a:schemeClr val="dk1"/>
                </a:solidFill>
                <a:latin typeface="Poppins"/>
                <a:ea typeface="Poppins"/>
                <a:cs typeface="Poppins"/>
                <a:sym typeface="Poppins"/>
              </a:rPr>
              <a:t>. Te recomendamos </a:t>
            </a:r>
            <a:r>
              <a:rPr b="1" lang="es-CL">
                <a:solidFill>
                  <a:schemeClr val="dk1"/>
                </a:solidFill>
                <a:latin typeface="Poppins"/>
                <a:ea typeface="Poppins"/>
                <a:cs typeface="Poppins"/>
                <a:sym typeface="Poppins"/>
              </a:rPr>
              <a:t>preguntar de forma desordenada </a:t>
            </a:r>
            <a:r>
              <a:rPr lang="es-CL">
                <a:solidFill>
                  <a:schemeClr val="dk1"/>
                </a:solidFill>
                <a:latin typeface="Poppins"/>
                <a:ea typeface="Poppins"/>
                <a:cs typeface="Poppins"/>
                <a:sym typeface="Poppins"/>
              </a:rPr>
              <a:t>distintos ejemplos, ya que es común que los estudiantes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b="1" lang="es-CL">
                <a:solidFill>
                  <a:schemeClr val="dk1"/>
                </a:solidFill>
                <a:latin typeface="Poppins"/>
                <a:ea typeface="Poppins"/>
                <a:cs typeface="Poppins"/>
                <a:sym typeface="Poppins"/>
              </a:rPr>
              <a:t>memoricen los resultados de forma creciente </a:t>
            </a:r>
            <a:r>
              <a:rPr lang="es-CL">
                <a:solidFill>
                  <a:schemeClr val="dk1"/>
                </a:solidFill>
                <a:latin typeface="Poppins"/>
                <a:ea typeface="Poppins"/>
                <a:cs typeface="Poppins"/>
                <a:sym typeface="Poppins"/>
              </a:rPr>
              <a:t>en una misma tabla, pero al cambiar el orden, cometan más errores.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Otro error común en la memorización de las tablas es que los estudiantes </a:t>
            </a:r>
            <a:r>
              <a:rPr b="1" lang="es-CL">
                <a:solidFill>
                  <a:schemeClr val="dk1"/>
                </a:solidFill>
                <a:latin typeface="Poppins"/>
                <a:ea typeface="Poppins"/>
                <a:cs typeface="Poppins"/>
                <a:sym typeface="Poppins"/>
              </a:rPr>
              <a:t>confundan el patrón de multiplicación entre ellas</a:t>
            </a:r>
            <a:r>
              <a:rPr lang="es-CL">
                <a:solidFill>
                  <a:schemeClr val="dk1"/>
                </a:solidFill>
                <a:latin typeface="Poppins"/>
                <a:ea typeface="Poppins"/>
                <a:cs typeface="Poppins"/>
                <a:sym typeface="Poppins"/>
              </a:rPr>
              <a:t>. Por eso es fundamental repasar todas las tablas vistas al comienzo de cada sesión, haciendo todas las preguntas necesarias para asegurarse de que el estudiante vaya interiorizando los conocimientos.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Existen</a:t>
            </a:r>
            <a:r>
              <a:rPr b="1" lang="es-CL">
                <a:solidFill>
                  <a:schemeClr val="dk1"/>
                </a:solidFill>
                <a:latin typeface="Poppins"/>
                <a:ea typeface="Poppins"/>
                <a:cs typeface="Poppins"/>
                <a:sym typeface="Poppins"/>
              </a:rPr>
              <a:t> recursos en interne</a:t>
            </a:r>
            <a:r>
              <a:rPr lang="es-CL">
                <a:solidFill>
                  <a:schemeClr val="dk1"/>
                </a:solidFill>
                <a:latin typeface="Poppins"/>
                <a:ea typeface="Poppins"/>
                <a:cs typeface="Poppins"/>
                <a:sym typeface="Poppins"/>
              </a:rPr>
              <a:t>t que pueden ser de gran utilidad: lista de </a:t>
            </a:r>
            <a:r>
              <a:rPr b="1" lang="es-CL">
                <a:solidFill>
                  <a:schemeClr val="dk1"/>
                </a:solidFill>
                <a:latin typeface="Poppins"/>
                <a:ea typeface="Poppins"/>
                <a:cs typeface="Poppins"/>
                <a:sym typeface="Poppins"/>
              </a:rPr>
              <a:t>videos con trucos </a:t>
            </a:r>
            <a:r>
              <a:rPr lang="es-CL">
                <a:solidFill>
                  <a:schemeClr val="dk1"/>
                </a:solidFill>
                <a:latin typeface="Poppins"/>
                <a:ea typeface="Poppins"/>
                <a:cs typeface="Poppins"/>
                <a:sym typeface="Poppins"/>
              </a:rPr>
              <a:t>para facilitar la memorización [</a:t>
            </a:r>
            <a:r>
              <a:rPr lang="es-CL" u="sng">
                <a:solidFill>
                  <a:schemeClr val="hlink"/>
                </a:solidFill>
                <a:latin typeface="Poppins"/>
                <a:ea typeface="Poppins"/>
                <a:cs typeface="Poppins"/>
                <a:sym typeface="Poppins"/>
                <a:hlinkClick r:id="rId3"/>
              </a:rPr>
              <a:t>n9.cl/tablasmultiplicar] </a:t>
            </a:r>
            <a:r>
              <a:rPr lang="es-CL">
                <a:solidFill>
                  <a:schemeClr val="dk1"/>
                </a:solidFill>
                <a:latin typeface="Poppins"/>
                <a:ea typeface="Poppins"/>
                <a:cs typeface="Poppins"/>
                <a:sym typeface="Poppins"/>
              </a:rPr>
              <a:t>, interactivo para</a:t>
            </a:r>
            <a:r>
              <a:rPr b="1" lang="es-CL">
                <a:solidFill>
                  <a:schemeClr val="dk1"/>
                </a:solidFill>
                <a:latin typeface="Poppins"/>
                <a:ea typeface="Poppins"/>
                <a:cs typeface="Poppins"/>
                <a:sym typeface="Poppins"/>
              </a:rPr>
              <a:t> visualizar multiplicaciones</a:t>
            </a:r>
            <a:r>
              <a:rPr lang="es-CL">
                <a:solidFill>
                  <a:schemeClr val="dk1"/>
                </a:solidFill>
                <a:latin typeface="Poppins"/>
                <a:ea typeface="Poppins"/>
                <a:cs typeface="Poppins"/>
                <a:sym typeface="Poppins"/>
              </a:rPr>
              <a:t> [</a:t>
            </a:r>
            <a:r>
              <a:rPr lang="es-CL" u="sng">
                <a:solidFill>
                  <a:schemeClr val="hlink"/>
                </a:solidFill>
                <a:latin typeface="Poppins"/>
                <a:ea typeface="Poppins"/>
                <a:cs typeface="Poppins"/>
                <a:sym typeface="Poppins"/>
                <a:hlinkClick r:id="rId4"/>
              </a:rPr>
              <a:t>n9.cl/visualizartablas] </a:t>
            </a:r>
            <a:r>
              <a:rPr lang="es-CL">
                <a:solidFill>
                  <a:schemeClr val="dk1"/>
                </a:solidFill>
                <a:latin typeface="Poppins"/>
                <a:ea typeface="Poppins"/>
                <a:cs typeface="Poppins"/>
                <a:sym typeface="Poppins"/>
              </a:rPr>
              <a:t>y un “repasador” de cada tabla </a:t>
            </a:r>
            <a:r>
              <a:rPr lang="es-CL" u="sng">
                <a:solidFill>
                  <a:schemeClr val="hlink"/>
                </a:solidFill>
                <a:latin typeface="Poppins"/>
                <a:ea typeface="Poppins"/>
                <a:cs typeface="Poppins"/>
                <a:sym typeface="Poppins"/>
                <a:hlinkClick r:id="rId5"/>
              </a:rPr>
              <a:t>[n9.cl/dbu4p]</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750">
              <a:solidFill>
                <a:schemeClr val="dk1"/>
              </a:solidFill>
            </a:endParaRPr>
          </a:p>
        </p:txBody>
      </p:sp>
      <p:sp>
        <p:nvSpPr>
          <p:cNvPr id="168" name="Google Shape;168;g330cd70ca6c_0_16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69" name="Google Shape;169;g330cd70ca6c_0_169"/>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0" name="Google Shape;170;g330cd70ca6c_0_16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71" name="Google Shape;171;g330cd70ca6c_0_169"/>
          <p:cNvPicPr preferRelativeResize="0"/>
          <p:nvPr/>
        </p:nvPicPr>
        <p:blipFill>
          <a:blip r:embed="rId6">
            <a:alphaModFix/>
          </a:blip>
          <a:stretch>
            <a:fillRect/>
          </a:stretch>
        </p:blipFill>
        <p:spPr>
          <a:xfrm>
            <a:off x="10939250" y="231687"/>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30cd70ca6c_0_253"/>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77" name="Google Shape;177;g330cd70ca6c_0_253"/>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t/>
            </a:r>
            <a:endParaRPr b="1">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rPr lang="es-CL" sz="1600">
                <a:solidFill>
                  <a:schemeClr val="dk1"/>
                </a:solidFill>
                <a:latin typeface="Poppins"/>
                <a:ea typeface="Poppins"/>
                <a:cs typeface="Poppins"/>
                <a:sym typeface="Poppins"/>
              </a:rPr>
              <a:t>Pídele a tu estudiante que practique en casa recitando cada tabla y haciendo ejercicios en los que identifique patrones, como los múltiplos que terminan en un mismo número.</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8" name="Google Shape;178;g330cd70ca6c_0_253"/>
          <p:cNvSpPr txBox="1"/>
          <p:nvPr/>
        </p:nvSpPr>
        <p:spPr>
          <a:xfrm>
            <a:off x="197050" y="362630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16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1. ¿Cómo puedes representar la multiplicación como suma repetida?</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2. ¿Qué patrones ves en las tablas?</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3. ¿Cuántos elementos tenemos por grupo?</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9" name="Google Shape;179;g330cd70ca6c_0_253"/>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g330cd70ca6c_0_253"/>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81" name="Google Shape;181;g330cd70ca6c_0_253"/>
          <p:cNvPicPr preferRelativeResize="0"/>
          <p:nvPr/>
        </p:nvPicPr>
        <p:blipFill>
          <a:blip r:embed="rId3">
            <a:alphaModFix/>
          </a:blip>
          <a:stretch>
            <a:fillRect/>
          </a:stretch>
        </p:blipFill>
        <p:spPr>
          <a:xfrm>
            <a:off x="10939250" y="231687"/>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31a1d1a585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87" name="Google Shape;187;g331a1d1a585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88" name="Google Shape;188;g331a1d1a585_0_0"/>
          <p:cNvPicPr preferRelativeResize="0"/>
          <p:nvPr>
            <p:ph idx="1" type="body"/>
          </p:nvPr>
        </p:nvPicPr>
        <p:blipFill rotWithShape="1">
          <a:blip r:embed="rId3">
            <a:alphaModFix/>
          </a:blip>
          <a:srcRect b="0" l="0" r="0" t="0"/>
          <a:stretch/>
        </p:blipFill>
        <p:spPr>
          <a:xfrm>
            <a:off x="78750" y="0"/>
            <a:ext cx="12113100" cy="6966600"/>
          </a:xfrm>
          <a:prstGeom prst="rect">
            <a:avLst/>
          </a:prstGeom>
          <a:noFill/>
          <a:ln>
            <a:noFill/>
          </a:ln>
        </p:spPr>
      </p:pic>
      <p:sp>
        <p:nvSpPr>
          <p:cNvPr id="189" name="Google Shape;189;g331a1d1a585_0_0"/>
          <p:cNvSpPr txBox="1"/>
          <p:nvPr/>
        </p:nvSpPr>
        <p:spPr>
          <a:xfrm>
            <a:off x="1308900" y="528175"/>
            <a:ext cx="9574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CL"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90" name="Google Shape;190;g331a1d1a585_0_0"/>
          <p:cNvSpPr txBox="1"/>
          <p:nvPr/>
        </p:nvSpPr>
        <p:spPr>
          <a:xfrm>
            <a:off x="1025025" y="1205275"/>
            <a:ext cx="105156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Khan Academy : </a:t>
            </a:r>
            <a:r>
              <a:rPr lang="es-CL"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CL"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CL" sz="1300">
                <a:solidFill>
                  <a:schemeClr val="dk1"/>
                </a:solidFill>
                <a:latin typeface="Poppins"/>
                <a:ea typeface="Poppins"/>
                <a:cs typeface="Poppins"/>
                <a:sym typeface="Poppins"/>
              </a:rPr>
              <a:t>Matematicas libre: </a:t>
            </a:r>
            <a:r>
              <a:rPr lang="es-CL"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CL"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CL" sz="1300">
                <a:solidFill>
                  <a:schemeClr val="dk1"/>
                </a:solidFill>
                <a:latin typeface="Poppins"/>
                <a:ea typeface="Poppins"/>
                <a:cs typeface="Poppins"/>
                <a:sym typeface="Poppins"/>
              </a:rPr>
              <a:t>Cokitos:  </a:t>
            </a:r>
            <a:r>
              <a:rPr lang="es-CL"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CL"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Teachy: </a:t>
            </a:r>
            <a:r>
              <a:rPr lang="es-CL"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CL"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CL" sz="1300">
                <a:solidFill>
                  <a:schemeClr val="dk1"/>
                </a:solidFill>
                <a:latin typeface="Poppins"/>
                <a:ea typeface="Poppins"/>
                <a:cs typeface="Poppins"/>
                <a:sym typeface="Poppins"/>
              </a:rPr>
              <a:t>Importante: </a:t>
            </a:r>
            <a:r>
              <a:rPr lang="es-CL"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91" name="Google Shape;191;g331a1d1a585_0_0"/>
          <p:cNvPicPr preferRelativeResize="0"/>
          <p:nvPr/>
        </p:nvPicPr>
        <p:blipFill>
          <a:blip r:embed="rId8">
            <a:alphaModFix/>
          </a:blip>
          <a:stretch>
            <a:fillRect/>
          </a:stretch>
        </p:blipFill>
        <p:spPr>
          <a:xfrm>
            <a:off x="11083575" y="5355237"/>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g237be279222_0_0"/>
          <p:cNvPicPr preferRelativeResize="0"/>
          <p:nvPr/>
        </p:nvPicPr>
        <p:blipFill rotWithShape="1">
          <a:blip r:embed="rId3">
            <a:alphaModFix/>
          </a:blip>
          <a:srcRect b="0" l="0" r="0" t="0"/>
          <a:stretch/>
        </p:blipFill>
        <p:spPr>
          <a:xfrm>
            <a:off x="0" y="0"/>
            <a:ext cx="12192000" cy="6858000"/>
          </a:xfrm>
          <a:prstGeom prst="rect">
            <a:avLst/>
          </a:prstGeom>
          <a:noFill/>
          <a:ln cap="flat" cmpd="sng" w="19050">
            <a:solidFill>
              <a:srgbClr val="009287"/>
            </a:solidFill>
            <a:prstDash val="solid"/>
            <a:round/>
            <a:headEnd len="sm" w="sm" type="none"/>
            <a:tailEnd len="sm" w="sm" type="none"/>
          </a:ln>
        </p:spPr>
      </p:pic>
      <p:sp>
        <p:nvSpPr>
          <p:cNvPr id="197" name="Google Shape;197;g237be279222_0_0"/>
          <p:cNvSpPr txBox="1"/>
          <p:nvPr/>
        </p:nvSpPr>
        <p:spPr>
          <a:xfrm>
            <a:off x="49949" y="395576"/>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9</a:t>
            </a:r>
            <a:endParaRPr b="1" i="0" sz="4400" u="none" cap="none" strike="noStrike">
              <a:solidFill>
                <a:schemeClr val="dk1"/>
              </a:solidFill>
              <a:latin typeface="Patrick Hand"/>
              <a:ea typeface="Patrick Hand"/>
              <a:cs typeface="Patrick Hand"/>
              <a:sym typeface="Patrick Hand"/>
            </a:endParaRPr>
          </a:p>
        </p:txBody>
      </p:sp>
      <p:sp>
        <p:nvSpPr>
          <p:cNvPr id="198" name="Google Shape;198;g237be279222_0_0"/>
          <p:cNvSpPr txBox="1"/>
          <p:nvPr/>
        </p:nvSpPr>
        <p:spPr>
          <a:xfrm>
            <a:off x="1197575" y="5488775"/>
            <a:ext cx="50655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3 grupos de 9             cada uno</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p:txBody>
      </p:sp>
      <p:sp>
        <p:nvSpPr>
          <p:cNvPr id="199" name="Google Shape;199;g237be279222_0_0"/>
          <p:cNvSpPr txBox="1"/>
          <p:nvPr/>
        </p:nvSpPr>
        <p:spPr>
          <a:xfrm>
            <a:off x="8258500" y="5494663"/>
            <a:ext cx="4444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27               en total.</a:t>
            </a:r>
            <a:endParaRPr b="1" i="0" sz="2800" u="none" cap="none" strike="noStrike">
              <a:solidFill>
                <a:schemeClr val="dk1"/>
              </a:solidFill>
              <a:latin typeface="Patrick Hand"/>
              <a:ea typeface="Patrick Hand"/>
              <a:cs typeface="Patrick Hand"/>
              <a:sym typeface="Patrick Hand"/>
            </a:endParaRPr>
          </a:p>
        </p:txBody>
      </p:sp>
      <p:sp>
        <p:nvSpPr>
          <p:cNvPr id="200" name="Google Shape;200;g237be279222_0_0"/>
          <p:cNvSpPr txBox="1"/>
          <p:nvPr/>
        </p:nvSpPr>
        <p:spPr>
          <a:xfrm>
            <a:off x="1640950" y="4879075"/>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s-CL" sz="2800" u="none" cap="none" strike="noStrike">
                <a:solidFill>
                  <a:schemeClr val="dk1"/>
                </a:solidFill>
                <a:latin typeface="Patrick Hand"/>
                <a:ea typeface="Patrick Hand"/>
                <a:cs typeface="Patrick Hand"/>
                <a:sym typeface="Patrick Hand"/>
              </a:rPr>
              <a:t>9</a:t>
            </a:r>
            <a:endParaRPr b="0" i="0" sz="1400" u="none" cap="none" strike="noStrike">
              <a:solidFill>
                <a:srgbClr val="000000"/>
              </a:solidFill>
              <a:latin typeface="Arial"/>
              <a:ea typeface="Arial"/>
              <a:cs typeface="Arial"/>
              <a:sym typeface="Arial"/>
            </a:endParaRPr>
          </a:p>
        </p:txBody>
      </p:sp>
      <p:sp>
        <p:nvSpPr>
          <p:cNvPr id="201" name="Google Shape;201;g237be279222_0_0"/>
          <p:cNvSpPr txBox="1"/>
          <p:nvPr/>
        </p:nvSpPr>
        <p:spPr>
          <a:xfrm>
            <a:off x="5840863" y="4879063"/>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18</a:t>
            </a:r>
            <a:endParaRPr b="1" i="0" sz="2800" u="none" cap="none" strike="noStrike">
              <a:solidFill>
                <a:schemeClr val="dk1"/>
              </a:solidFill>
              <a:latin typeface="Patrick Hand"/>
              <a:ea typeface="Patrick Hand"/>
              <a:cs typeface="Patrick Hand"/>
              <a:sym typeface="Patrick Hand"/>
            </a:endParaRPr>
          </a:p>
        </p:txBody>
      </p:sp>
      <p:cxnSp>
        <p:nvCxnSpPr>
          <p:cNvPr id="202" name="Google Shape;202;g237be279222_0_0"/>
          <p:cNvCxnSpPr/>
          <p:nvPr/>
        </p:nvCxnSpPr>
        <p:spPr>
          <a:xfrm flipH="1" rot="10800000">
            <a:off x="6222200" y="5796613"/>
            <a:ext cx="2038500" cy="11700"/>
          </a:xfrm>
          <a:prstGeom prst="straightConnector1">
            <a:avLst/>
          </a:prstGeom>
          <a:noFill/>
          <a:ln cap="flat" cmpd="sng" w="38100">
            <a:solidFill>
              <a:srgbClr val="009287"/>
            </a:solidFill>
            <a:prstDash val="solid"/>
            <a:round/>
            <a:headEnd len="sm" w="sm" type="none"/>
            <a:tailEnd len="med" w="med" type="triangle"/>
          </a:ln>
        </p:spPr>
      </p:cxnSp>
      <p:sp>
        <p:nvSpPr>
          <p:cNvPr id="203" name="Google Shape;203;g237be279222_0_0"/>
          <p:cNvSpPr txBox="1"/>
          <p:nvPr/>
        </p:nvSpPr>
        <p:spPr>
          <a:xfrm>
            <a:off x="159925" y="1057600"/>
            <a:ext cx="1108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Para multiplicar por 9, hay que contar de 9 en 9 cada grupo de elementos.</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Ejemplo: </a:t>
            </a:r>
            <a:endParaRPr b="1" i="0" sz="2800" u="none" cap="none" strike="noStrike">
              <a:solidFill>
                <a:schemeClr val="dk1"/>
              </a:solidFill>
              <a:latin typeface="Patrick Hand"/>
              <a:ea typeface="Patrick Hand"/>
              <a:cs typeface="Patrick Hand"/>
              <a:sym typeface="Patrick Hand"/>
            </a:endParaRPr>
          </a:p>
        </p:txBody>
      </p:sp>
      <p:sp>
        <p:nvSpPr>
          <p:cNvPr id="204" name="Google Shape;204;g237be279222_0_0"/>
          <p:cNvSpPr/>
          <p:nvPr/>
        </p:nvSpPr>
        <p:spPr>
          <a:xfrm>
            <a:off x="349900" y="1968825"/>
            <a:ext cx="3393900" cy="30987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g237be279222_0_0"/>
          <p:cNvSpPr txBox="1"/>
          <p:nvPr/>
        </p:nvSpPr>
        <p:spPr>
          <a:xfrm>
            <a:off x="9818475" y="4879075"/>
            <a:ext cx="5475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27</a:t>
            </a:r>
            <a:endParaRPr b="0" i="0" sz="1400" u="none" cap="none" strike="noStrike">
              <a:solidFill>
                <a:srgbClr val="000000"/>
              </a:solidFill>
              <a:latin typeface="Arial"/>
              <a:ea typeface="Arial"/>
              <a:cs typeface="Arial"/>
              <a:sym typeface="Arial"/>
            </a:endParaRPr>
          </a:p>
        </p:txBody>
      </p:sp>
      <p:sp>
        <p:nvSpPr>
          <p:cNvPr id="206" name="Google Shape;206;g237be279222_0_0"/>
          <p:cNvSpPr/>
          <p:nvPr/>
        </p:nvSpPr>
        <p:spPr>
          <a:xfrm>
            <a:off x="4361263" y="1931500"/>
            <a:ext cx="3393900" cy="30987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g237be279222_0_0"/>
          <p:cNvSpPr/>
          <p:nvPr/>
        </p:nvSpPr>
        <p:spPr>
          <a:xfrm>
            <a:off x="8258500" y="1931500"/>
            <a:ext cx="3393900" cy="30987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8" name="Google Shape;208;g237be279222_0_0"/>
          <p:cNvPicPr preferRelativeResize="0"/>
          <p:nvPr/>
        </p:nvPicPr>
        <p:blipFill rotWithShape="1">
          <a:blip r:embed="rId4">
            <a:alphaModFix/>
          </a:blip>
          <a:srcRect b="0" l="0" r="0" t="0"/>
          <a:stretch/>
        </p:blipFill>
        <p:spPr>
          <a:xfrm>
            <a:off x="3702650" y="5325330"/>
            <a:ext cx="733525" cy="954295"/>
          </a:xfrm>
          <a:prstGeom prst="rect">
            <a:avLst/>
          </a:prstGeom>
          <a:noFill/>
          <a:ln>
            <a:noFill/>
          </a:ln>
        </p:spPr>
      </p:pic>
      <p:pic>
        <p:nvPicPr>
          <p:cNvPr id="209" name="Google Shape;209;g237be279222_0_0"/>
          <p:cNvPicPr preferRelativeResize="0"/>
          <p:nvPr/>
        </p:nvPicPr>
        <p:blipFill rotWithShape="1">
          <a:blip r:embed="rId4">
            <a:alphaModFix/>
          </a:blip>
          <a:srcRect b="0" l="0" r="0" t="0"/>
          <a:stretch/>
        </p:blipFill>
        <p:spPr>
          <a:xfrm>
            <a:off x="9431238" y="5325325"/>
            <a:ext cx="733529" cy="954300"/>
          </a:xfrm>
          <a:prstGeom prst="rect">
            <a:avLst/>
          </a:prstGeom>
          <a:noFill/>
          <a:ln>
            <a:noFill/>
          </a:ln>
        </p:spPr>
      </p:pic>
      <p:pic>
        <p:nvPicPr>
          <p:cNvPr id="210" name="Google Shape;210;g237be279222_0_0"/>
          <p:cNvPicPr preferRelativeResize="0"/>
          <p:nvPr/>
        </p:nvPicPr>
        <p:blipFill>
          <a:blip r:embed="rId5">
            <a:alphaModFix/>
          </a:blip>
          <a:stretch>
            <a:fillRect/>
          </a:stretch>
        </p:blipFill>
        <p:spPr>
          <a:xfrm>
            <a:off x="11048025" y="718112"/>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6" name="Google Shape;216;p3"/>
          <p:cNvSpPr txBox="1"/>
          <p:nvPr/>
        </p:nvSpPr>
        <p:spPr>
          <a:xfrm>
            <a:off x="99224" y="62675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9</a:t>
            </a:r>
            <a:endParaRPr b="1" i="0" sz="4400" u="none" cap="none" strike="noStrike">
              <a:solidFill>
                <a:schemeClr val="dk1"/>
              </a:solidFill>
              <a:latin typeface="Patrick Hand"/>
              <a:ea typeface="Patrick Hand"/>
              <a:cs typeface="Patrick Hand"/>
              <a:sym typeface="Patrick Hand"/>
            </a:endParaRPr>
          </a:p>
        </p:txBody>
      </p:sp>
      <p:sp>
        <p:nvSpPr>
          <p:cNvPr id="217" name="Google Shape;217;p3"/>
          <p:cNvSpPr txBox="1"/>
          <p:nvPr/>
        </p:nvSpPr>
        <p:spPr>
          <a:xfrm>
            <a:off x="1521900" y="5788350"/>
            <a:ext cx="10670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___ grupos de 9 						Hay ___              en total.</a:t>
            </a:r>
            <a:endParaRPr b="1" i="0" sz="2800" u="none" cap="none" strike="noStrike">
              <a:solidFill>
                <a:schemeClr val="dk1"/>
              </a:solidFill>
              <a:latin typeface="Patrick Hand"/>
              <a:ea typeface="Patrick Hand"/>
              <a:cs typeface="Patrick Hand"/>
              <a:sym typeface="Patrick Hand"/>
            </a:endParaRPr>
          </a:p>
        </p:txBody>
      </p:sp>
      <p:sp>
        <p:nvSpPr>
          <p:cNvPr id="218" name="Google Shape;218;p3"/>
          <p:cNvSpPr txBox="1"/>
          <p:nvPr/>
        </p:nvSpPr>
        <p:spPr>
          <a:xfrm>
            <a:off x="805700" y="1243850"/>
            <a:ext cx="1108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Ejercicio: Cuente de nueve en nueve para obtener el resultado</a:t>
            </a:r>
            <a:endParaRPr b="1" i="0" sz="2800" u="none" cap="none" strike="noStrike">
              <a:solidFill>
                <a:schemeClr val="dk1"/>
              </a:solidFill>
              <a:latin typeface="Patrick Hand"/>
              <a:ea typeface="Patrick Hand"/>
              <a:cs typeface="Patrick Hand"/>
              <a:sym typeface="Patrick Hand"/>
            </a:endParaRPr>
          </a:p>
        </p:txBody>
      </p:sp>
      <p:sp>
        <p:nvSpPr>
          <p:cNvPr id="219" name="Google Shape;219;p3"/>
          <p:cNvSpPr txBox="1"/>
          <p:nvPr/>
        </p:nvSpPr>
        <p:spPr>
          <a:xfrm>
            <a:off x="3212875" y="4960200"/>
            <a:ext cx="27126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9</a:t>
            </a:r>
            <a:endParaRPr b="1" i="0" sz="2700" u="none" cap="none" strike="noStrike">
              <a:solidFill>
                <a:srgbClr val="000000"/>
              </a:solidFill>
              <a:latin typeface="Patrick Hand"/>
              <a:ea typeface="Patrick Hand"/>
              <a:cs typeface="Patrick Hand"/>
              <a:sym typeface="Patrick Hand"/>
            </a:endParaRPr>
          </a:p>
        </p:txBody>
      </p:sp>
      <p:sp>
        <p:nvSpPr>
          <p:cNvPr id="220" name="Google Shape;220;p3"/>
          <p:cNvSpPr txBox="1"/>
          <p:nvPr/>
        </p:nvSpPr>
        <p:spPr>
          <a:xfrm>
            <a:off x="2253350" y="563462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a:t>
            </a:r>
            <a:endParaRPr b="1" i="0" sz="2700" u="none" cap="none" strike="noStrike">
              <a:solidFill>
                <a:srgbClr val="000000"/>
              </a:solidFill>
              <a:latin typeface="Patrick Hand"/>
              <a:ea typeface="Patrick Hand"/>
              <a:cs typeface="Patrick Hand"/>
              <a:sym typeface="Patrick Hand"/>
            </a:endParaRPr>
          </a:p>
        </p:txBody>
      </p:sp>
      <p:sp>
        <p:nvSpPr>
          <p:cNvPr id="221" name="Google Shape;221;p3"/>
          <p:cNvSpPr txBox="1"/>
          <p:nvPr/>
        </p:nvSpPr>
        <p:spPr>
          <a:xfrm>
            <a:off x="7649975" y="563462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18</a:t>
            </a:r>
            <a:endParaRPr b="1" i="0" sz="2700" u="none" cap="none" strike="noStrike">
              <a:solidFill>
                <a:srgbClr val="000000"/>
              </a:solidFill>
              <a:latin typeface="Patrick Hand"/>
              <a:ea typeface="Patrick Hand"/>
              <a:cs typeface="Patrick Hand"/>
              <a:sym typeface="Patrick Hand"/>
            </a:endParaRPr>
          </a:p>
        </p:txBody>
      </p:sp>
      <p:cxnSp>
        <p:nvCxnSpPr>
          <p:cNvPr id="222" name="Google Shape;222;p3"/>
          <p:cNvCxnSpPr/>
          <p:nvPr/>
        </p:nvCxnSpPr>
        <p:spPr>
          <a:xfrm flipH="1" rot="10800000">
            <a:off x="4732800" y="5936563"/>
            <a:ext cx="2038500" cy="11700"/>
          </a:xfrm>
          <a:prstGeom prst="straightConnector1">
            <a:avLst/>
          </a:prstGeom>
          <a:noFill/>
          <a:ln cap="flat" cmpd="sng" w="38100">
            <a:solidFill>
              <a:srgbClr val="009287"/>
            </a:solidFill>
            <a:prstDash val="solid"/>
            <a:round/>
            <a:headEnd len="sm" w="sm" type="none"/>
            <a:tailEnd len="med" w="med" type="triangle"/>
          </a:ln>
        </p:spPr>
      </p:cxnSp>
      <p:sp>
        <p:nvSpPr>
          <p:cNvPr id="223" name="Google Shape;223;p3"/>
          <p:cNvSpPr/>
          <p:nvPr/>
        </p:nvSpPr>
        <p:spPr>
          <a:xfrm>
            <a:off x="1249675" y="1767050"/>
            <a:ext cx="4496100" cy="3345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
          <p:cNvSpPr txBox="1"/>
          <p:nvPr/>
        </p:nvSpPr>
        <p:spPr>
          <a:xfrm flipH="1">
            <a:off x="8410375" y="4960200"/>
            <a:ext cx="7524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18</a:t>
            </a:r>
            <a:endParaRPr b="1" i="0" sz="2700" u="none" cap="none" strike="noStrike">
              <a:solidFill>
                <a:srgbClr val="000000"/>
              </a:solidFill>
              <a:latin typeface="Patrick Hand"/>
              <a:ea typeface="Patrick Hand"/>
              <a:cs typeface="Patrick Hand"/>
              <a:sym typeface="Patrick Hand"/>
            </a:endParaRPr>
          </a:p>
        </p:txBody>
      </p:sp>
      <p:sp>
        <p:nvSpPr>
          <p:cNvPr id="225" name="Google Shape;225;p3"/>
          <p:cNvSpPr/>
          <p:nvPr/>
        </p:nvSpPr>
        <p:spPr>
          <a:xfrm>
            <a:off x="6630550" y="1843250"/>
            <a:ext cx="4496100" cy="3269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6" name="Google Shape;226;p3"/>
          <p:cNvPicPr preferRelativeResize="0"/>
          <p:nvPr/>
        </p:nvPicPr>
        <p:blipFill rotWithShape="1">
          <a:blip r:embed="rId4">
            <a:alphaModFix/>
          </a:blip>
          <a:srcRect b="0" l="0" r="0" t="0"/>
          <a:stretch/>
        </p:blipFill>
        <p:spPr>
          <a:xfrm>
            <a:off x="8244875" y="5442241"/>
            <a:ext cx="1147625" cy="884934"/>
          </a:xfrm>
          <a:prstGeom prst="rect">
            <a:avLst/>
          </a:prstGeom>
          <a:noFill/>
          <a:ln>
            <a:noFill/>
          </a:ln>
        </p:spPr>
      </p:pic>
      <p:pic>
        <p:nvPicPr>
          <p:cNvPr id="227" name="Google Shape;227;p3"/>
          <p:cNvPicPr preferRelativeResize="0"/>
          <p:nvPr/>
        </p:nvPicPr>
        <p:blipFill>
          <a:blip r:embed="rId5">
            <a:alphaModFix/>
          </a:blip>
          <a:stretch>
            <a:fillRect/>
          </a:stretch>
        </p:blipFill>
        <p:spPr>
          <a:xfrm>
            <a:off x="11048025" y="71811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g237be279222_0_7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3" name="Google Shape;233;g237be279222_0_77"/>
          <p:cNvSpPr txBox="1"/>
          <p:nvPr/>
        </p:nvSpPr>
        <p:spPr>
          <a:xfrm>
            <a:off x="-1" y="47435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8 </a:t>
            </a:r>
            <a:endParaRPr b="1" i="0" sz="4400" u="none" cap="none" strike="noStrike">
              <a:solidFill>
                <a:schemeClr val="dk1"/>
              </a:solidFill>
              <a:latin typeface="Patrick Hand"/>
              <a:ea typeface="Patrick Hand"/>
              <a:cs typeface="Patrick Hand"/>
              <a:sym typeface="Patrick Hand"/>
            </a:endParaRPr>
          </a:p>
        </p:txBody>
      </p:sp>
      <p:sp>
        <p:nvSpPr>
          <p:cNvPr id="234" name="Google Shape;234;g237be279222_0_77"/>
          <p:cNvSpPr txBox="1"/>
          <p:nvPr/>
        </p:nvSpPr>
        <p:spPr>
          <a:xfrm>
            <a:off x="1521900" y="5659700"/>
            <a:ext cx="10670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___ grupos de 9							Hay ___                     en total.</a:t>
            </a:r>
            <a:endParaRPr b="1" i="0" sz="2800" u="none" cap="none" strike="noStrike">
              <a:solidFill>
                <a:schemeClr val="dk1"/>
              </a:solidFill>
              <a:latin typeface="Patrick Hand"/>
              <a:ea typeface="Patrick Hand"/>
              <a:cs typeface="Patrick Hand"/>
              <a:sym typeface="Patrick Hand"/>
            </a:endParaRPr>
          </a:p>
        </p:txBody>
      </p:sp>
      <p:sp>
        <p:nvSpPr>
          <p:cNvPr id="235" name="Google Shape;235;g237be279222_0_77"/>
          <p:cNvSpPr txBox="1"/>
          <p:nvPr/>
        </p:nvSpPr>
        <p:spPr>
          <a:xfrm>
            <a:off x="355475" y="1243850"/>
            <a:ext cx="1108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Ejercicio: Contemos de nueve en nueve para obtener el resultado.</a:t>
            </a:r>
            <a:endParaRPr b="1" i="0" sz="2800" u="none" cap="none" strike="noStrike">
              <a:solidFill>
                <a:schemeClr val="dk1"/>
              </a:solidFill>
              <a:latin typeface="Patrick Hand"/>
              <a:ea typeface="Patrick Hand"/>
              <a:cs typeface="Patrick Hand"/>
              <a:sym typeface="Patrick Hand"/>
            </a:endParaRPr>
          </a:p>
        </p:txBody>
      </p:sp>
      <p:sp>
        <p:nvSpPr>
          <p:cNvPr id="236" name="Google Shape;236;g237be279222_0_77"/>
          <p:cNvSpPr txBox="1"/>
          <p:nvPr/>
        </p:nvSpPr>
        <p:spPr>
          <a:xfrm>
            <a:off x="1147613" y="4491113"/>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9</a:t>
            </a:r>
            <a:endParaRPr b="1" i="0" sz="2700" u="none" cap="none" strike="noStrike">
              <a:solidFill>
                <a:srgbClr val="000000"/>
              </a:solidFill>
              <a:latin typeface="Patrick Hand"/>
              <a:ea typeface="Patrick Hand"/>
              <a:cs typeface="Patrick Hand"/>
              <a:sym typeface="Patrick Hand"/>
            </a:endParaRPr>
          </a:p>
        </p:txBody>
      </p:sp>
      <p:sp>
        <p:nvSpPr>
          <p:cNvPr id="237" name="Google Shape;237;g237be279222_0_77"/>
          <p:cNvSpPr txBox="1"/>
          <p:nvPr/>
        </p:nvSpPr>
        <p:spPr>
          <a:xfrm>
            <a:off x="4281213" y="4491126"/>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18</a:t>
            </a:r>
            <a:endParaRPr b="1" i="0" sz="2700" u="none" cap="none" strike="noStrike">
              <a:solidFill>
                <a:srgbClr val="000000"/>
              </a:solidFill>
              <a:latin typeface="Patrick Hand"/>
              <a:ea typeface="Patrick Hand"/>
              <a:cs typeface="Patrick Hand"/>
              <a:sym typeface="Patrick Hand"/>
            </a:endParaRPr>
          </a:p>
        </p:txBody>
      </p:sp>
      <p:sp>
        <p:nvSpPr>
          <p:cNvPr id="238" name="Google Shape;238;g237be279222_0_77"/>
          <p:cNvSpPr txBox="1"/>
          <p:nvPr/>
        </p:nvSpPr>
        <p:spPr>
          <a:xfrm>
            <a:off x="7116475" y="4414175"/>
            <a:ext cx="594900" cy="76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27</a:t>
            </a:r>
            <a:endParaRPr b="1" i="0" sz="2700" u="none" cap="none" strike="noStrike">
              <a:solidFill>
                <a:srgbClr val="000000"/>
              </a:solidFill>
              <a:latin typeface="Patrick Hand"/>
              <a:ea typeface="Patrick Hand"/>
              <a:cs typeface="Patrick Hand"/>
              <a:sym typeface="Patrick Hand"/>
            </a:endParaRPr>
          </a:p>
        </p:txBody>
      </p:sp>
      <p:sp>
        <p:nvSpPr>
          <p:cNvPr id="239" name="Google Shape;239;g237be279222_0_77"/>
          <p:cNvSpPr txBox="1"/>
          <p:nvPr/>
        </p:nvSpPr>
        <p:spPr>
          <a:xfrm>
            <a:off x="2203975" y="55043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4</a:t>
            </a:r>
            <a:endParaRPr b="1" i="0" sz="2700" u="none" cap="none" strike="noStrike">
              <a:solidFill>
                <a:srgbClr val="000000"/>
              </a:solidFill>
              <a:latin typeface="Patrick Hand"/>
              <a:ea typeface="Patrick Hand"/>
              <a:cs typeface="Patrick Hand"/>
              <a:sym typeface="Patrick Hand"/>
            </a:endParaRPr>
          </a:p>
        </p:txBody>
      </p:sp>
      <p:sp>
        <p:nvSpPr>
          <p:cNvPr id="240" name="Google Shape;240;g237be279222_0_77"/>
          <p:cNvSpPr/>
          <p:nvPr/>
        </p:nvSpPr>
        <p:spPr>
          <a:xfrm>
            <a:off x="279925" y="2326101"/>
            <a:ext cx="2624400" cy="20718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g237be279222_0_77"/>
          <p:cNvSpPr txBox="1"/>
          <p:nvPr/>
        </p:nvSpPr>
        <p:spPr>
          <a:xfrm>
            <a:off x="7711375" y="558350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36</a:t>
            </a:r>
            <a:endParaRPr b="1" i="0" sz="2700" u="none" cap="none" strike="noStrike">
              <a:solidFill>
                <a:srgbClr val="000000"/>
              </a:solidFill>
              <a:latin typeface="Patrick Hand"/>
              <a:ea typeface="Patrick Hand"/>
              <a:cs typeface="Patrick Hand"/>
              <a:sym typeface="Patrick Hand"/>
            </a:endParaRPr>
          </a:p>
        </p:txBody>
      </p:sp>
      <p:cxnSp>
        <p:nvCxnSpPr>
          <p:cNvPr id="242" name="Google Shape;242;g237be279222_0_77"/>
          <p:cNvCxnSpPr/>
          <p:nvPr/>
        </p:nvCxnSpPr>
        <p:spPr>
          <a:xfrm flipH="1" rot="10800000">
            <a:off x="4880675" y="5961638"/>
            <a:ext cx="2038500" cy="11700"/>
          </a:xfrm>
          <a:prstGeom prst="straightConnector1">
            <a:avLst/>
          </a:prstGeom>
          <a:noFill/>
          <a:ln cap="flat" cmpd="sng" w="38100">
            <a:solidFill>
              <a:srgbClr val="009287"/>
            </a:solidFill>
            <a:prstDash val="solid"/>
            <a:round/>
            <a:headEnd len="sm" w="sm" type="none"/>
            <a:tailEnd len="med" w="med" type="triangle"/>
          </a:ln>
        </p:spPr>
      </p:cxnSp>
      <p:sp>
        <p:nvSpPr>
          <p:cNvPr id="243" name="Google Shape;243;g237be279222_0_77"/>
          <p:cNvSpPr/>
          <p:nvPr/>
        </p:nvSpPr>
        <p:spPr>
          <a:xfrm>
            <a:off x="3266475" y="2326101"/>
            <a:ext cx="2624400" cy="20718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g237be279222_0_77"/>
          <p:cNvSpPr/>
          <p:nvPr/>
        </p:nvSpPr>
        <p:spPr>
          <a:xfrm>
            <a:off x="6253025" y="2315001"/>
            <a:ext cx="2624400" cy="20718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g237be279222_0_77"/>
          <p:cNvSpPr/>
          <p:nvPr/>
        </p:nvSpPr>
        <p:spPr>
          <a:xfrm>
            <a:off x="9239575" y="2315001"/>
            <a:ext cx="2624400" cy="20718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g237be279222_0_77"/>
          <p:cNvSpPr txBox="1"/>
          <p:nvPr/>
        </p:nvSpPr>
        <p:spPr>
          <a:xfrm>
            <a:off x="10347975" y="4414175"/>
            <a:ext cx="594900" cy="76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36</a:t>
            </a:r>
            <a:endParaRPr b="1" i="0" sz="2700" u="none" cap="none" strike="noStrike">
              <a:solidFill>
                <a:srgbClr val="000000"/>
              </a:solidFill>
              <a:latin typeface="Patrick Hand"/>
              <a:ea typeface="Patrick Hand"/>
              <a:cs typeface="Patrick Hand"/>
              <a:sym typeface="Patrick Hand"/>
            </a:endParaRPr>
          </a:p>
        </p:txBody>
      </p:sp>
      <p:pic>
        <p:nvPicPr>
          <p:cNvPr id="247" name="Google Shape;247;g237be279222_0_77"/>
          <p:cNvPicPr preferRelativeResize="0"/>
          <p:nvPr/>
        </p:nvPicPr>
        <p:blipFill rotWithShape="1">
          <a:blip r:embed="rId4">
            <a:alphaModFix/>
          </a:blip>
          <a:srcRect b="0" l="0" r="0" t="0"/>
          <a:stretch/>
        </p:blipFill>
        <p:spPr>
          <a:xfrm>
            <a:off x="8411225" y="5325238"/>
            <a:ext cx="1460813" cy="973875"/>
          </a:xfrm>
          <a:prstGeom prst="rect">
            <a:avLst/>
          </a:prstGeom>
          <a:noFill/>
          <a:ln>
            <a:noFill/>
          </a:ln>
        </p:spPr>
      </p:pic>
      <p:pic>
        <p:nvPicPr>
          <p:cNvPr id="248" name="Google Shape;248;g237be279222_0_77"/>
          <p:cNvPicPr preferRelativeResize="0"/>
          <p:nvPr/>
        </p:nvPicPr>
        <p:blipFill>
          <a:blip r:embed="rId5">
            <a:alphaModFix/>
          </a:blip>
          <a:stretch>
            <a:fillRect/>
          </a:stretch>
        </p:blipFill>
        <p:spPr>
          <a:xfrm>
            <a:off x="11048025" y="71811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g237be279222_0_6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4" name="Google Shape;254;g237be279222_0_60"/>
          <p:cNvSpPr txBox="1"/>
          <p:nvPr/>
        </p:nvSpPr>
        <p:spPr>
          <a:xfrm>
            <a:off x="-1" y="609251"/>
            <a:ext cx="6098400" cy="6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3700" u="none" cap="none" strike="noStrike">
                <a:solidFill>
                  <a:schemeClr val="dk1"/>
                </a:solidFill>
                <a:latin typeface="Patrick Hand"/>
                <a:ea typeface="Patrick Hand"/>
                <a:cs typeface="Patrick Hand"/>
                <a:sym typeface="Patrick Hand"/>
              </a:rPr>
              <a:t>Tabla del 9</a:t>
            </a:r>
            <a:endParaRPr b="1" i="0" sz="3700" u="none" cap="none" strike="noStrike">
              <a:solidFill>
                <a:schemeClr val="dk1"/>
              </a:solidFill>
              <a:latin typeface="Patrick Hand"/>
              <a:ea typeface="Patrick Hand"/>
              <a:cs typeface="Patrick Hand"/>
              <a:sym typeface="Patrick Hand"/>
            </a:endParaRPr>
          </a:p>
        </p:txBody>
      </p:sp>
      <p:sp>
        <p:nvSpPr>
          <p:cNvPr id="255" name="Google Shape;255;g237be279222_0_60"/>
          <p:cNvSpPr txBox="1"/>
          <p:nvPr/>
        </p:nvSpPr>
        <p:spPr>
          <a:xfrm>
            <a:off x="7151350" y="1677725"/>
            <a:ext cx="4018500" cy="72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s-CL" sz="4100" u="none" cap="none" strike="noStrike">
                <a:solidFill>
                  <a:schemeClr val="dk1"/>
                </a:solidFill>
                <a:latin typeface="Patrick Hand"/>
                <a:ea typeface="Patrick Hand"/>
                <a:cs typeface="Patrick Hand"/>
                <a:sym typeface="Patrick Hand"/>
              </a:rPr>
              <a:t>1      x       9    =	 9</a:t>
            </a:r>
            <a:endParaRPr b="0" i="0" sz="4100" u="none" cap="none" strike="noStrike">
              <a:solidFill>
                <a:schemeClr val="dk1"/>
              </a:solidFill>
              <a:latin typeface="Patrick Hand"/>
              <a:ea typeface="Patrick Hand"/>
              <a:cs typeface="Patrick Hand"/>
              <a:sym typeface="Patrick Hand"/>
            </a:endParaRPr>
          </a:p>
        </p:txBody>
      </p:sp>
      <p:sp>
        <p:nvSpPr>
          <p:cNvPr id="256" name="Google Shape;256;g237be279222_0_60"/>
          <p:cNvSpPr txBox="1"/>
          <p:nvPr/>
        </p:nvSpPr>
        <p:spPr>
          <a:xfrm>
            <a:off x="7279050" y="5301988"/>
            <a:ext cx="4018500" cy="72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s-CL" sz="4100" u="none" cap="none" strike="noStrike">
                <a:solidFill>
                  <a:schemeClr val="dk1"/>
                </a:solidFill>
                <a:latin typeface="Patrick Hand"/>
                <a:ea typeface="Patrick Hand"/>
                <a:cs typeface="Patrick Hand"/>
                <a:sym typeface="Patrick Hand"/>
              </a:rPr>
              <a:t>2      x      9  =   18</a:t>
            </a:r>
            <a:endParaRPr b="0" i="0" sz="4100" u="none" cap="none" strike="noStrike">
              <a:solidFill>
                <a:schemeClr val="dk1"/>
              </a:solidFill>
              <a:latin typeface="Patrick Hand"/>
              <a:ea typeface="Patrick Hand"/>
              <a:cs typeface="Patrick Hand"/>
              <a:sym typeface="Patrick Hand"/>
            </a:endParaRPr>
          </a:p>
        </p:txBody>
      </p:sp>
      <p:sp>
        <p:nvSpPr>
          <p:cNvPr id="257" name="Google Shape;257;g237be279222_0_60"/>
          <p:cNvSpPr txBox="1"/>
          <p:nvPr/>
        </p:nvSpPr>
        <p:spPr>
          <a:xfrm>
            <a:off x="7126650" y="240102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     grupo		        	elementos</a:t>
            </a:r>
            <a:endParaRPr b="0" i="0" sz="1600" u="none" cap="none" strike="noStrike">
              <a:solidFill>
                <a:srgbClr val="000000"/>
              </a:solidFill>
              <a:latin typeface="Patrick Hand"/>
              <a:ea typeface="Patrick Hand"/>
              <a:cs typeface="Patrick Hand"/>
              <a:sym typeface="Patrick Hand"/>
            </a:endParaRPr>
          </a:p>
        </p:txBody>
      </p:sp>
      <p:sp>
        <p:nvSpPr>
          <p:cNvPr id="258" name="Google Shape;258;g237be279222_0_60"/>
          <p:cNvSpPr/>
          <p:nvPr/>
        </p:nvSpPr>
        <p:spPr>
          <a:xfrm>
            <a:off x="822250" y="1421825"/>
            <a:ext cx="5353200" cy="1809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g237be279222_0_60"/>
          <p:cNvSpPr txBox="1"/>
          <p:nvPr/>
        </p:nvSpPr>
        <p:spPr>
          <a:xfrm>
            <a:off x="7126650" y="590817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     grupos		        	elementos</a:t>
            </a:r>
            <a:endParaRPr b="0" i="0" sz="1600" u="none" cap="none" strike="noStrike">
              <a:solidFill>
                <a:srgbClr val="000000"/>
              </a:solidFill>
              <a:latin typeface="Patrick Hand"/>
              <a:ea typeface="Patrick Hand"/>
              <a:cs typeface="Patrick Hand"/>
              <a:sym typeface="Patrick Hand"/>
            </a:endParaRPr>
          </a:p>
        </p:txBody>
      </p:sp>
      <p:sp>
        <p:nvSpPr>
          <p:cNvPr id="260" name="Google Shape;260;g237be279222_0_60"/>
          <p:cNvSpPr/>
          <p:nvPr/>
        </p:nvSpPr>
        <p:spPr>
          <a:xfrm>
            <a:off x="822250" y="3508088"/>
            <a:ext cx="5353200" cy="1809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237be279222_0_60"/>
          <p:cNvSpPr/>
          <p:nvPr/>
        </p:nvSpPr>
        <p:spPr>
          <a:xfrm>
            <a:off x="6611700" y="3512900"/>
            <a:ext cx="5353200" cy="18099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2" name="Google Shape;262;g237be279222_0_60"/>
          <p:cNvPicPr preferRelativeResize="0"/>
          <p:nvPr/>
        </p:nvPicPr>
        <p:blipFill>
          <a:blip r:embed="rId4">
            <a:alphaModFix/>
          </a:blip>
          <a:stretch>
            <a:fillRect/>
          </a:stretch>
        </p:blipFill>
        <p:spPr>
          <a:xfrm>
            <a:off x="11048025" y="71811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g237be279222_0_98"/>
          <p:cNvPicPr preferRelativeResize="0"/>
          <p:nvPr/>
        </p:nvPicPr>
        <p:blipFill rotWithShape="1">
          <a:blip r:embed="rId3">
            <a:alphaModFix/>
          </a:blip>
          <a:srcRect b="0" l="0" r="0" t="0"/>
          <a:stretch/>
        </p:blipFill>
        <p:spPr>
          <a:xfrm>
            <a:off x="30034" y="-3"/>
            <a:ext cx="12192000" cy="6858005"/>
          </a:xfrm>
          <a:prstGeom prst="rect">
            <a:avLst/>
          </a:prstGeom>
          <a:noFill/>
          <a:ln>
            <a:noFill/>
          </a:ln>
        </p:spPr>
      </p:pic>
      <p:sp>
        <p:nvSpPr>
          <p:cNvPr id="268" name="Google Shape;268;g237be279222_0_98"/>
          <p:cNvSpPr txBox="1"/>
          <p:nvPr/>
        </p:nvSpPr>
        <p:spPr>
          <a:xfrm>
            <a:off x="3423400" y="2818001"/>
            <a:ext cx="40626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0" i="0" lang="es-CL" sz="3500" u="none" cap="none" strike="noStrike">
                <a:solidFill>
                  <a:schemeClr val="dk1"/>
                </a:solidFill>
                <a:latin typeface="Patrick Hand"/>
                <a:ea typeface="Patrick Hand"/>
                <a:cs typeface="Patrick Hand"/>
                <a:sym typeface="Patrick Hand"/>
              </a:rPr>
              <a:t>__     x     __   =__</a:t>
            </a:r>
            <a:endParaRPr b="0" i="0" sz="3500" u="none" cap="none" strike="noStrike">
              <a:solidFill>
                <a:schemeClr val="dk1"/>
              </a:solidFill>
              <a:latin typeface="Patrick Hand"/>
              <a:ea typeface="Patrick Hand"/>
              <a:cs typeface="Patrick Hand"/>
              <a:sym typeface="Patrick Hand"/>
            </a:endParaRPr>
          </a:p>
        </p:txBody>
      </p:sp>
      <p:sp>
        <p:nvSpPr>
          <p:cNvPr id="269" name="Google Shape;269;g237be279222_0_98"/>
          <p:cNvSpPr txBox="1"/>
          <p:nvPr/>
        </p:nvSpPr>
        <p:spPr>
          <a:xfrm>
            <a:off x="3575200" y="2680639"/>
            <a:ext cx="36387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0" i="0" lang="es-CL" sz="3300" u="none" cap="none" strike="noStrike">
                <a:solidFill>
                  <a:schemeClr val="dk1"/>
                </a:solidFill>
                <a:latin typeface="Patrick Hand"/>
                <a:ea typeface="Patrick Hand"/>
                <a:cs typeface="Patrick Hand"/>
                <a:sym typeface="Patrick Hand"/>
              </a:rPr>
              <a:t>3               9         27</a:t>
            </a:r>
            <a:endParaRPr b="0" i="0" sz="3300" u="none" cap="none" strike="noStrike">
              <a:solidFill>
                <a:schemeClr val="dk1"/>
              </a:solidFill>
              <a:latin typeface="Patrick Hand"/>
              <a:ea typeface="Patrick Hand"/>
              <a:cs typeface="Patrick Hand"/>
              <a:sym typeface="Patrick Hand"/>
            </a:endParaRPr>
          </a:p>
        </p:txBody>
      </p:sp>
      <p:sp>
        <p:nvSpPr>
          <p:cNvPr id="270" name="Google Shape;270;g237be279222_0_98"/>
          <p:cNvSpPr txBox="1"/>
          <p:nvPr/>
        </p:nvSpPr>
        <p:spPr>
          <a:xfrm>
            <a:off x="3487075" y="5227125"/>
            <a:ext cx="43992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0" i="0" lang="es-CL" sz="3500" u="none" cap="none" strike="noStrike">
                <a:solidFill>
                  <a:schemeClr val="dk1"/>
                </a:solidFill>
                <a:latin typeface="Patrick Hand"/>
                <a:ea typeface="Patrick Hand"/>
                <a:cs typeface="Patrick Hand"/>
                <a:sym typeface="Patrick Hand"/>
              </a:rPr>
              <a:t>__     x     __   =__</a:t>
            </a:r>
            <a:endParaRPr b="0" i="0" sz="3500" u="none" cap="none" strike="noStrike">
              <a:solidFill>
                <a:schemeClr val="dk1"/>
              </a:solidFill>
              <a:latin typeface="Patrick Hand"/>
              <a:ea typeface="Patrick Hand"/>
              <a:cs typeface="Patrick Hand"/>
              <a:sym typeface="Patrick Hand"/>
            </a:endParaRPr>
          </a:p>
        </p:txBody>
      </p:sp>
      <p:sp>
        <p:nvSpPr>
          <p:cNvPr id="271" name="Google Shape;271;g237be279222_0_98"/>
          <p:cNvSpPr txBox="1"/>
          <p:nvPr/>
        </p:nvSpPr>
        <p:spPr>
          <a:xfrm>
            <a:off x="3396450" y="3319301"/>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72" name="Google Shape;272;g237be279222_0_98"/>
          <p:cNvSpPr txBox="1"/>
          <p:nvPr/>
        </p:nvSpPr>
        <p:spPr>
          <a:xfrm>
            <a:off x="3421925" y="571487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73" name="Google Shape;273;g237be279222_0_98"/>
          <p:cNvSpPr txBox="1"/>
          <p:nvPr/>
        </p:nvSpPr>
        <p:spPr>
          <a:xfrm>
            <a:off x="120775" y="433750"/>
            <a:ext cx="112842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s-CL" sz="2600" u="none" cap="none" strike="noStrike">
                <a:solidFill>
                  <a:srgbClr val="000000"/>
                </a:solidFill>
                <a:latin typeface="Patrick Hand"/>
                <a:ea typeface="Patrick Hand"/>
                <a:cs typeface="Patrick Hand"/>
                <a:sym typeface="Patrick Hand"/>
              </a:rPr>
              <a:t>¡Ahora te toca a ti! ¿Cuántos grupos son? ¿Cuántos patos hay por grupo? </a:t>
            </a:r>
            <a:endParaRPr b="1" i="0" sz="2600" u="none" cap="none" strike="noStrike">
              <a:solidFill>
                <a:srgbClr val="000000"/>
              </a:solidFill>
              <a:latin typeface="Patrick Hand"/>
              <a:ea typeface="Patrick Hand"/>
              <a:cs typeface="Patrick Hand"/>
              <a:sym typeface="Patrick Hand"/>
            </a:endParaRPr>
          </a:p>
        </p:txBody>
      </p:sp>
      <p:sp>
        <p:nvSpPr>
          <p:cNvPr id="274" name="Google Shape;274;g237be279222_0_98"/>
          <p:cNvSpPr txBox="1"/>
          <p:nvPr/>
        </p:nvSpPr>
        <p:spPr>
          <a:xfrm>
            <a:off x="3631625" y="5213063"/>
            <a:ext cx="3619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s-CL" sz="3200" u="none" cap="none" strike="noStrike">
                <a:solidFill>
                  <a:schemeClr val="dk1"/>
                </a:solidFill>
                <a:latin typeface="Patrick Hand"/>
                <a:ea typeface="Patrick Hand"/>
                <a:cs typeface="Patrick Hand"/>
                <a:sym typeface="Patrick Hand"/>
              </a:rPr>
              <a:t>4                 9        36</a:t>
            </a:r>
            <a:endParaRPr b="0" i="0" sz="3200" u="none" cap="none" strike="noStrike">
              <a:solidFill>
                <a:schemeClr val="dk1"/>
              </a:solidFill>
              <a:latin typeface="Patrick Hand"/>
              <a:ea typeface="Patrick Hand"/>
              <a:cs typeface="Patrick Hand"/>
              <a:sym typeface="Patrick Hand"/>
            </a:endParaRPr>
          </a:p>
        </p:txBody>
      </p:sp>
      <p:sp>
        <p:nvSpPr>
          <p:cNvPr id="275" name="Google Shape;275;g237be279222_0_98"/>
          <p:cNvSpPr/>
          <p:nvPr/>
        </p:nvSpPr>
        <p:spPr>
          <a:xfrm>
            <a:off x="442975" y="1395775"/>
            <a:ext cx="3619200" cy="12465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g237be279222_0_98"/>
          <p:cNvSpPr/>
          <p:nvPr/>
        </p:nvSpPr>
        <p:spPr>
          <a:xfrm>
            <a:off x="190775" y="3769725"/>
            <a:ext cx="27774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g237be279222_0_98"/>
          <p:cNvSpPr/>
          <p:nvPr/>
        </p:nvSpPr>
        <p:spPr>
          <a:xfrm>
            <a:off x="3091638" y="3769701"/>
            <a:ext cx="27774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g237be279222_0_98"/>
          <p:cNvSpPr/>
          <p:nvPr/>
        </p:nvSpPr>
        <p:spPr>
          <a:xfrm>
            <a:off x="6221113" y="3769701"/>
            <a:ext cx="27774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g237be279222_0_98"/>
          <p:cNvSpPr/>
          <p:nvPr/>
        </p:nvSpPr>
        <p:spPr>
          <a:xfrm>
            <a:off x="9216050" y="3769725"/>
            <a:ext cx="27774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g237be279222_0_98"/>
          <p:cNvSpPr/>
          <p:nvPr/>
        </p:nvSpPr>
        <p:spPr>
          <a:xfrm>
            <a:off x="4490525" y="1395800"/>
            <a:ext cx="3619200" cy="12465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g237be279222_0_98"/>
          <p:cNvSpPr/>
          <p:nvPr/>
        </p:nvSpPr>
        <p:spPr>
          <a:xfrm>
            <a:off x="8538075" y="1395775"/>
            <a:ext cx="3619200" cy="12465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2" name="Google Shape;282;g237be279222_0_98"/>
          <p:cNvPicPr preferRelativeResize="0"/>
          <p:nvPr/>
        </p:nvPicPr>
        <p:blipFill>
          <a:blip r:embed="rId4">
            <a:alphaModFix/>
          </a:blip>
          <a:stretch>
            <a:fillRect/>
          </a:stretch>
        </p:blipFill>
        <p:spPr>
          <a:xfrm>
            <a:off x="11017750" y="52130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g25bf903a7d5_1_16"/>
          <p:cNvPicPr preferRelativeResize="0"/>
          <p:nvPr/>
        </p:nvPicPr>
        <p:blipFill rotWithShape="1">
          <a:blip r:embed="rId3">
            <a:alphaModFix/>
          </a:blip>
          <a:srcRect b="0" l="0" r="0" t="0"/>
          <a:stretch/>
        </p:blipFill>
        <p:spPr>
          <a:xfrm>
            <a:off x="10" y="17"/>
            <a:ext cx="12192038" cy="6858000"/>
          </a:xfrm>
          <a:prstGeom prst="rect">
            <a:avLst/>
          </a:prstGeom>
          <a:noFill/>
          <a:ln>
            <a:noFill/>
          </a:ln>
        </p:spPr>
      </p:pic>
      <p:sp>
        <p:nvSpPr>
          <p:cNvPr id="288" name="Google Shape;288;g25bf903a7d5_1_16"/>
          <p:cNvSpPr txBox="1"/>
          <p:nvPr/>
        </p:nvSpPr>
        <p:spPr>
          <a:xfrm>
            <a:off x="152399" y="482801"/>
            <a:ext cx="6098400" cy="69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3900" u="none" cap="none" strike="noStrike">
                <a:solidFill>
                  <a:schemeClr val="dk1"/>
                </a:solidFill>
                <a:latin typeface="Patrick Hand"/>
                <a:ea typeface="Patrick Hand"/>
                <a:cs typeface="Patrick Hand"/>
                <a:sym typeface="Patrick Hand"/>
              </a:rPr>
              <a:t>Tabla del 9</a:t>
            </a:r>
            <a:endParaRPr b="1" i="0" sz="3900" u="none" cap="none" strike="noStrike">
              <a:solidFill>
                <a:schemeClr val="dk1"/>
              </a:solidFill>
              <a:latin typeface="Patrick Hand"/>
              <a:ea typeface="Patrick Hand"/>
              <a:cs typeface="Patrick Hand"/>
              <a:sym typeface="Patrick Hand"/>
            </a:endParaRPr>
          </a:p>
        </p:txBody>
      </p:sp>
      <p:sp>
        <p:nvSpPr>
          <p:cNvPr id="289" name="Google Shape;289;g25bf903a7d5_1_16"/>
          <p:cNvSpPr txBox="1"/>
          <p:nvPr/>
        </p:nvSpPr>
        <p:spPr>
          <a:xfrm>
            <a:off x="0" y="1095138"/>
            <a:ext cx="8016900" cy="264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600"/>
              <a:buFont typeface="Arial"/>
              <a:buNone/>
            </a:pPr>
            <a:r>
              <a:rPr b="0" i="0" lang="es-CL" sz="2600" u="none" cap="none" strike="noStrike">
                <a:solidFill>
                  <a:schemeClr val="dk1"/>
                </a:solidFill>
                <a:latin typeface="Patrick Hand"/>
                <a:ea typeface="Patrick Hand"/>
                <a:cs typeface="Patrick Hand"/>
                <a:sym typeface="Patrick Hand"/>
              </a:rPr>
              <a:t>  Resolvamos estos ejercicios:</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chemeClr val="dk1"/>
              </a:buClr>
              <a:buSzPts val="2600"/>
              <a:buFont typeface="Arial"/>
              <a:buNone/>
            </a:pPr>
            <a:r>
              <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chemeClr val="dk1"/>
              </a:buClr>
              <a:buSzPts val="2600"/>
              <a:buFont typeface="Arial"/>
              <a:buNone/>
            </a:pPr>
            <a:r>
              <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a:p>
            <a:pPr indent="-406400" lvl="0" marL="4572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5 x 9 =                                                            </a:t>
            </a:r>
            <a:endParaRPr b="0" i="0" sz="2800" u="none" cap="none" strike="noStrike">
              <a:solidFill>
                <a:schemeClr val="dk1"/>
              </a:solidFill>
              <a:latin typeface="Patrick Hand"/>
              <a:ea typeface="Patrick Hand"/>
              <a:cs typeface="Patrick Hand"/>
              <a:sym typeface="Patrick Hand"/>
            </a:endParaRPr>
          </a:p>
        </p:txBody>
      </p:sp>
      <p:sp>
        <p:nvSpPr>
          <p:cNvPr id="290" name="Google Shape;290;g25bf903a7d5_1_16"/>
          <p:cNvSpPr txBox="1"/>
          <p:nvPr/>
        </p:nvSpPr>
        <p:spPr>
          <a:xfrm>
            <a:off x="5638100" y="1334550"/>
            <a:ext cx="2834100" cy="985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600"/>
              <a:buFont typeface="Arial"/>
              <a:buNone/>
            </a:pPr>
            <a:r>
              <a:rPr b="0" i="0" lang="es-CL" sz="2600" u="none" cap="none" strike="noStrike">
                <a:solidFill>
                  <a:schemeClr val="dk1"/>
                </a:solidFill>
                <a:latin typeface="Patrick Hand"/>
                <a:ea typeface="Patrick Hand"/>
                <a:cs typeface="Patrick Hand"/>
                <a:sym typeface="Patrick Hand"/>
              </a:rPr>
              <a:t>¿Qué multiplicación debería ir aquí?</a:t>
            </a:r>
            <a:endParaRPr b="0" i="0" sz="1400" u="none" cap="none" strike="noStrike">
              <a:solidFill>
                <a:srgbClr val="000000"/>
              </a:solidFill>
              <a:latin typeface="Arial"/>
              <a:ea typeface="Arial"/>
              <a:cs typeface="Arial"/>
              <a:sym typeface="Arial"/>
            </a:endParaRPr>
          </a:p>
        </p:txBody>
      </p:sp>
      <p:sp>
        <p:nvSpPr>
          <p:cNvPr id="291" name="Google Shape;291;g25bf903a7d5_1_16"/>
          <p:cNvSpPr/>
          <p:nvPr/>
        </p:nvSpPr>
        <p:spPr>
          <a:xfrm>
            <a:off x="5638100" y="1214850"/>
            <a:ext cx="2834100" cy="1224600"/>
          </a:xfrm>
          <a:prstGeom prst="wedgeRoundRectCallout">
            <a:avLst>
              <a:gd fmla="val -20833" name="adj1"/>
              <a:gd fmla="val 62500" name="adj2"/>
              <a:gd fmla="val 0" name="adj3"/>
            </a:avLst>
          </a:prstGeom>
          <a:noFill/>
          <a:ln cap="flat" cmpd="sng" w="2857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g25bf903a7d5_1_16"/>
          <p:cNvSpPr txBox="1"/>
          <p:nvPr/>
        </p:nvSpPr>
        <p:spPr>
          <a:xfrm>
            <a:off x="1556125" y="3121200"/>
            <a:ext cx="5640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45</a:t>
            </a:r>
            <a:endParaRPr b="0" i="0" sz="1400" u="none" cap="none" strike="noStrike">
              <a:solidFill>
                <a:srgbClr val="000000"/>
              </a:solidFill>
              <a:latin typeface="Arial"/>
              <a:ea typeface="Arial"/>
              <a:cs typeface="Arial"/>
              <a:sym typeface="Arial"/>
            </a:endParaRPr>
          </a:p>
        </p:txBody>
      </p:sp>
      <p:sp>
        <p:nvSpPr>
          <p:cNvPr id="293" name="Google Shape;293;g25bf903a7d5_1_16"/>
          <p:cNvSpPr txBox="1"/>
          <p:nvPr/>
        </p:nvSpPr>
        <p:spPr>
          <a:xfrm>
            <a:off x="8317175" y="3121200"/>
            <a:ext cx="5640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45</a:t>
            </a:r>
            <a:endParaRPr b="0" i="0" sz="1400" u="none" cap="none" strike="noStrike">
              <a:solidFill>
                <a:srgbClr val="000000"/>
              </a:solidFill>
              <a:latin typeface="Arial"/>
              <a:ea typeface="Arial"/>
              <a:cs typeface="Arial"/>
              <a:sym typeface="Arial"/>
            </a:endParaRPr>
          </a:p>
        </p:txBody>
      </p:sp>
      <p:sp>
        <p:nvSpPr>
          <p:cNvPr id="294" name="Google Shape;294;g25bf903a7d5_1_16"/>
          <p:cNvSpPr txBox="1"/>
          <p:nvPr/>
        </p:nvSpPr>
        <p:spPr>
          <a:xfrm>
            <a:off x="6619475" y="3121225"/>
            <a:ext cx="1697700" cy="6156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  9x 5 = </a:t>
            </a:r>
            <a:endParaRPr b="0" i="0" sz="2800" u="none" cap="none" strike="noStrike">
              <a:solidFill>
                <a:schemeClr val="dk1"/>
              </a:solidFill>
              <a:latin typeface="Patrick Hand"/>
              <a:ea typeface="Patrick Hand"/>
              <a:cs typeface="Patrick Hand"/>
              <a:sym typeface="Patrick Ha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id="299" name="Google Shape;299;g237be279222_0_36"/>
          <p:cNvPicPr preferRelativeResize="0"/>
          <p:nvPr/>
        </p:nvPicPr>
        <p:blipFill rotWithShape="1">
          <a:blip r:embed="rId3">
            <a:alphaModFix/>
          </a:blip>
          <a:srcRect b="0" l="0" r="0" t="0"/>
          <a:stretch/>
        </p:blipFill>
        <p:spPr>
          <a:xfrm>
            <a:off x="0" y="0"/>
            <a:ext cx="12192014" cy="6858000"/>
          </a:xfrm>
          <a:prstGeom prst="rect">
            <a:avLst/>
          </a:prstGeom>
          <a:noFill/>
          <a:ln>
            <a:noFill/>
          </a:ln>
        </p:spPr>
      </p:pic>
      <p:sp>
        <p:nvSpPr>
          <p:cNvPr id="300" name="Google Shape;300;g237be279222_0_36"/>
          <p:cNvSpPr txBox="1"/>
          <p:nvPr/>
        </p:nvSpPr>
        <p:spPr>
          <a:xfrm>
            <a:off x="54649" y="410601"/>
            <a:ext cx="6098400" cy="69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3900" u="none" cap="none" strike="noStrike">
                <a:solidFill>
                  <a:schemeClr val="dk1"/>
                </a:solidFill>
                <a:latin typeface="Patrick Hand"/>
                <a:ea typeface="Patrick Hand"/>
                <a:cs typeface="Patrick Hand"/>
                <a:sym typeface="Patrick Hand"/>
              </a:rPr>
              <a:t>¡Desafío!</a:t>
            </a:r>
            <a:endParaRPr b="1" i="0" sz="3900" u="none" cap="none" strike="noStrike">
              <a:solidFill>
                <a:schemeClr val="dk1"/>
              </a:solidFill>
              <a:latin typeface="Patrick Hand"/>
              <a:ea typeface="Patrick Hand"/>
              <a:cs typeface="Patrick Hand"/>
              <a:sym typeface="Patrick Hand"/>
            </a:endParaRPr>
          </a:p>
        </p:txBody>
      </p:sp>
      <p:sp>
        <p:nvSpPr>
          <p:cNvPr id="301" name="Google Shape;301;g237be279222_0_36"/>
          <p:cNvSpPr txBox="1"/>
          <p:nvPr/>
        </p:nvSpPr>
        <p:spPr>
          <a:xfrm>
            <a:off x="402375" y="1006700"/>
            <a:ext cx="116166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CL" sz="2500" u="none" cap="none" strike="noStrike">
                <a:solidFill>
                  <a:schemeClr val="dk1"/>
                </a:solidFill>
                <a:latin typeface="Patrick Hand"/>
                <a:ea typeface="Patrick Hand"/>
                <a:cs typeface="Patrick Hand"/>
                <a:sym typeface="Patrick Hand"/>
              </a:rPr>
              <a:t>Hay 2 baldes que tienen 9 conchitas de mar cada uno ¿Cuántas conchitas</a:t>
            </a:r>
            <a:r>
              <a:rPr lang="es-CL" sz="2500">
                <a:solidFill>
                  <a:schemeClr val="dk1"/>
                </a:solidFill>
                <a:latin typeface="Patrick Hand"/>
                <a:ea typeface="Patrick Hand"/>
                <a:cs typeface="Patrick Hand"/>
                <a:sym typeface="Patrick Hand"/>
              </a:rPr>
              <a:t> </a:t>
            </a:r>
            <a:r>
              <a:rPr b="0" i="0" lang="es-CL" sz="2500" u="none" cap="none" strike="noStrike">
                <a:solidFill>
                  <a:schemeClr val="dk1"/>
                </a:solidFill>
                <a:latin typeface="Patrick Hand"/>
                <a:ea typeface="Patrick Hand"/>
                <a:cs typeface="Patrick Hand"/>
                <a:sym typeface="Patrick Hand"/>
              </a:rPr>
              <a:t>hay en total entre los 2 baldes?</a:t>
            </a:r>
            <a:endParaRPr b="0" i="0" sz="2500" u="none" cap="none" strike="noStrike">
              <a:solidFill>
                <a:schemeClr val="dk1"/>
              </a:solidFill>
              <a:latin typeface="Patrick Hand"/>
              <a:ea typeface="Patrick Hand"/>
              <a:cs typeface="Patrick Hand"/>
              <a:sym typeface="Patrick Hand"/>
            </a:endParaRPr>
          </a:p>
        </p:txBody>
      </p:sp>
      <p:sp>
        <p:nvSpPr>
          <p:cNvPr id="302" name="Google Shape;302;g237be279222_0_36"/>
          <p:cNvSpPr txBox="1"/>
          <p:nvPr/>
        </p:nvSpPr>
        <p:spPr>
          <a:xfrm>
            <a:off x="5133050" y="5480925"/>
            <a:ext cx="3714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 ___  x ___  =</a:t>
            </a:r>
            <a:endParaRPr b="0" i="0" sz="2800" u="none" cap="none" strike="noStrike">
              <a:solidFill>
                <a:schemeClr val="dk1"/>
              </a:solidFill>
              <a:latin typeface="Patrick Hand"/>
              <a:ea typeface="Patrick Hand"/>
              <a:cs typeface="Patrick Hand"/>
              <a:sym typeface="Patrick Hand"/>
            </a:endParaRPr>
          </a:p>
        </p:txBody>
      </p:sp>
      <p:sp>
        <p:nvSpPr>
          <p:cNvPr id="303" name="Google Shape;303;g237be279222_0_36"/>
          <p:cNvSpPr txBox="1"/>
          <p:nvPr/>
        </p:nvSpPr>
        <p:spPr>
          <a:xfrm>
            <a:off x="8826950" y="5397575"/>
            <a:ext cx="3429000" cy="1046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Hay  ___ conchitas en total.</a:t>
            </a:r>
            <a:endParaRPr b="0" i="0" sz="2800" u="none" cap="none" strike="noStrike">
              <a:solidFill>
                <a:schemeClr val="dk1"/>
              </a:solidFill>
              <a:latin typeface="Patrick Hand"/>
              <a:ea typeface="Patrick Hand"/>
              <a:cs typeface="Patrick Hand"/>
              <a:sym typeface="Patrick Hand"/>
            </a:endParaRPr>
          </a:p>
        </p:txBody>
      </p:sp>
      <p:sp>
        <p:nvSpPr>
          <p:cNvPr id="304" name="Google Shape;304;g237be279222_0_36"/>
          <p:cNvSpPr txBox="1"/>
          <p:nvPr/>
        </p:nvSpPr>
        <p:spPr>
          <a:xfrm>
            <a:off x="5215800" y="5944113"/>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305" name="Google Shape;305;g237be279222_0_36"/>
          <p:cNvSpPr txBox="1"/>
          <p:nvPr/>
        </p:nvSpPr>
        <p:spPr>
          <a:xfrm>
            <a:off x="5123450" y="4812575"/>
            <a:ext cx="37140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s-CL" sz="2600" u="none" cap="none" strike="noStrike">
                <a:solidFill>
                  <a:schemeClr val="dk1"/>
                </a:solidFill>
                <a:latin typeface="Patrick Hand"/>
                <a:ea typeface="Patrick Hand"/>
                <a:cs typeface="Patrick Hand"/>
                <a:sym typeface="Patrick Hand"/>
              </a:rPr>
              <a:t> ___  veces ___ </a:t>
            </a:r>
            <a:endParaRPr b="0" i="0" sz="2400" u="none" cap="none" strike="noStrike">
              <a:solidFill>
                <a:schemeClr val="dk1"/>
              </a:solidFill>
              <a:latin typeface="Patrick Hand"/>
              <a:ea typeface="Patrick Hand"/>
              <a:cs typeface="Patrick Hand"/>
              <a:sym typeface="Patrick Hand"/>
            </a:endParaRPr>
          </a:p>
        </p:txBody>
      </p:sp>
      <p:sp>
        <p:nvSpPr>
          <p:cNvPr id="306" name="Google Shape;306;g237be279222_0_36"/>
          <p:cNvSpPr txBox="1"/>
          <p:nvPr/>
        </p:nvSpPr>
        <p:spPr>
          <a:xfrm>
            <a:off x="5196500" y="47129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2</a:t>
            </a:r>
            <a:endParaRPr b="0" i="0" sz="1400" u="none" cap="none" strike="noStrike">
              <a:solidFill>
                <a:srgbClr val="000000"/>
              </a:solidFill>
              <a:latin typeface="Arial"/>
              <a:ea typeface="Arial"/>
              <a:cs typeface="Arial"/>
              <a:sym typeface="Arial"/>
            </a:endParaRPr>
          </a:p>
        </p:txBody>
      </p:sp>
      <p:sp>
        <p:nvSpPr>
          <p:cNvPr id="307" name="Google Shape;307;g237be279222_0_36"/>
          <p:cNvSpPr txBox="1"/>
          <p:nvPr/>
        </p:nvSpPr>
        <p:spPr>
          <a:xfrm>
            <a:off x="5300000" y="53285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2</a:t>
            </a:r>
            <a:endParaRPr b="0" i="0" sz="1400" u="none" cap="none" strike="noStrike">
              <a:solidFill>
                <a:srgbClr val="000000"/>
              </a:solidFill>
              <a:latin typeface="Arial"/>
              <a:ea typeface="Arial"/>
              <a:cs typeface="Arial"/>
              <a:sym typeface="Arial"/>
            </a:endParaRPr>
          </a:p>
        </p:txBody>
      </p:sp>
      <p:sp>
        <p:nvSpPr>
          <p:cNvPr id="308" name="Google Shape;308;g237be279222_0_36"/>
          <p:cNvSpPr txBox="1"/>
          <p:nvPr/>
        </p:nvSpPr>
        <p:spPr>
          <a:xfrm>
            <a:off x="6720563" y="4736375"/>
            <a:ext cx="5823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 </a:t>
            </a:r>
            <a:endParaRPr b="0" i="0" sz="1400" u="none" cap="none" strike="noStrike">
              <a:solidFill>
                <a:srgbClr val="000000"/>
              </a:solidFill>
              <a:latin typeface="Arial"/>
              <a:ea typeface="Arial"/>
              <a:cs typeface="Arial"/>
              <a:sym typeface="Arial"/>
            </a:endParaRPr>
          </a:p>
        </p:txBody>
      </p:sp>
      <p:sp>
        <p:nvSpPr>
          <p:cNvPr id="309" name="Google Shape;309;g237be279222_0_36"/>
          <p:cNvSpPr txBox="1"/>
          <p:nvPr/>
        </p:nvSpPr>
        <p:spPr>
          <a:xfrm>
            <a:off x="6396525" y="53285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9</a:t>
            </a:r>
            <a:endParaRPr b="0" i="0" sz="1400" u="none" cap="none" strike="noStrike">
              <a:solidFill>
                <a:srgbClr val="000000"/>
              </a:solidFill>
              <a:latin typeface="Arial"/>
              <a:ea typeface="Arial"/>
              <a:cs typeface="Arial"/>
              <a:sym typeface="Arial"/>
            </a:endParaRPr>
          </a:p>
        </p:txBody>
      </p:sp>
      <p:sp>
        <p:nvSpPr>
          <p:cNvPr id="310" name="Google Shape;310;g237be279222_0_36"/>
          <p:cNvSpPr txBox="1"/>
          <p:nvPr/>
        </p:nvSpPr>
        <p:spPr>
          <a:xfrm>
            <a:off x="7395863" y="54377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18</a:t>
            </a:r>
            <a:endParaRPr b="0" i="0" sz="1400" u="none" cap="none" strike="noStrike">
              <a:solidFill>
                <a:srgbClr val="000000"/>
              </a:solidFill>
              <a:latin typeface="Arial"/>
              <a:ea typeface="Arial"/>
              <a:cs typeface="Arial"/>
              <a:sym typeface="Arial"/>
            </a:endParaRPr>
          </a:p>
        </p:txBody>
      </p:sp>
      <p:sp>
        <p:nvSpPr>
          <p:cNvPr id="311" name="Google Shape;311;g237be279222_0_36"/>
          <p:cNvSpPr txBox="1"/>
          <p:nvPr/>
        </p:nvSpPr>
        <p:spPr>
          <a:xfrm>
            <a:off x="9578900" y="53285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18</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descr="Forma&#10;&#10;Descripción generada automáticamente con confianza media" id="316" name="Google Shape;316;g237be279222_0_130"/>
          <p:cNvPicPr preferRelativeResize="0"/>
          <p:nvPr>
            <p:ph idx="1" type="body"/>
          </p:nvPr>
        </p:nvPicPr>
        <p:blipFill rotWithShape="1">
          <a:blip r:embed="rId3">
            <a:alphaModFix/>
          </a:blip>
          <a:srcRect b="0" l="0" r="0" t="0"/>
          <a:stretch/>
        </p:blipFill>
        <p:spPr>
          <a:xfrm>
            <a:off x="-7" y="0"/>
            <a:ext cx="12192000" cy="6858000"/>
          </a:xfrm>
          <a:prstGeom prst="rect">
            <a:avLst/>
          </a:prstGeom>
          <a:noFill/>
          <a:ln>
            <a:noFill/>
          </a:ln>
        </p:spPr>
      </p:pic>
      <p:sp>
        <p:nvSpPr>
          <p:cNvPr id="317" name="Google Shape;317;g237be279222_0_130"/>
          <p:cNvSpPr txBox="1"/>
          <p:nvPr/>
        </p:nvSpPr>
        <p:spPr>
          <a:xfrm>
            <a:off x="247699" y="469276"/>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9</a:t>
            </a:r>
            <a:endParaRPr b="1" i="0" sz="4400" u="none" cap="none" strike="noStrike">
              <a:solidFill>
                <a:schemeClr val="dk1"/>
              </a:solidFill>
              <a:latin typeface="Patrick Hand"/>
              <a:ea typeface="Patrick Hand"/>
              <a:cs typeface="Patrick Hand"/>
              <a:sym typeface="Patrick Hand"/>
            </a:endParaRPr>
          </a:p>
        </p:txBody>
      </p:sp>
      <p:sp>
        <p:nvSpPr>
          <p:cNvPr id="318" name="Google Shape;318;g237be279222_0_130"/>
          <p:cNvSpPr txBox="1"/>
          <p:nvPr/>
        </p:nvSpPr>
        <p:spPr>
          <a:xfrm>
            <a:off x="484800" y="1267025"/>
            <a:ext cx="10012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Revisemos los dos siguientes trucos para aprender la tabla del 9</a:t>
            </a:r>
            <a:endParaRPr b="0" i="0" sz="1400" u="none" cap="none" strike="noStrike">
              <a:solidFill>
                <a:srgbClr val="000000"/>
              </a:solidFill>
              <a:latin typeface="Arial"/>
              <a:ea typeface="Arial"/>
              <a:cs typeface="Arial"/>
              <a:sym typeface="Arial"/>
            </a:endParaRPr>
          </a:p>
        </p:txBody>
      </p:sp>
      <p:pic>
        <p:nvPicPr>
          <p:cNvPr descr="Hola, aquí les dejo este video en donde les explico un hack para aprenderse las tabla del 9, truco para aprenderse la tabla del 9.&#10;&#10;✉️ NEGOCIOS / CONTRATACIONES / PRENSA: contacto@danielcarreon.com.mx&#10;&#10;Únete a este canal para acceder a sus beneficios: https://www.youtube.com/channel/UCwScwtu5zVqc_wHtRx9XvDA/join &#10;&#10;¡¡Sígueme en mis redes sociales!! &#10;✉️ NEGOCIOS / CONTRATACIONES / PRENSA: contacto@danielcarreon.com.mx&#10;INSTAGRAM: https://www.instagram.com/soydanielcarreon/&#10;FACEBOOK: https://www.facebook.com/SoyDanielCarreon &#10;TIK TOK : https://vm.tiktok.com/ZMeMKc9eP/&#10;TWITTER: https://twitter.com/danielcarreonyt?lang=es&#10;&#10; CANALES DE MIS HERMANOS&#10; ROCIÓ CARREON https://www.youtube.com/c/RocioCarreon&#10; MARIO CARREON https://www.youtube.com/c/MARIOCARREÓN&#10;&#10;Descarga mi app MATES CON DANIEL aquí: &#10;ANDROID: https://play.google.com/store/apps/details?id=io.educup.matescondaniel&#10;IOS: https://matescondaniel.page.link/app&#10;&#10;SUSCRIBETE!!! Si llegaste hasta aquí comenta: &quot;¡Aprendamos juntos!&quot;" id="319" name="Google Shape;319;g237be279222_0_130" title="TRUCO TABLA DEL 9 / HACK TABLA DEL 9 Facilísimo!!">
            <a:hlinkClick r:id="rId4"/>
          </p:cNvPr>
          <p:cNvPicPr preferRelativeResize="0"/>
          <p:nvPr/>
        </p:nvPicPr>
        <p:blipFill rotWithShape="1">
          <a:blip r:embed="rId5">
            <a:alphaModFix/>
          </a:blip>
          <a:srcRect b="0" l="0" r="0" t="0"/>
          <a:stretch/>
        </p:blipFill>
        <p:spPr>
          <a:xfrm>
            <a:off x="845575" y="2256850"/>
            <a:ext cx="4838555" cy="2721687"/>
          </a:xfrm>
          <a:prstGeom prst="rect">
            <a:avLst/>
          </a:prstGeom>
          <a:noFill/>
          <a:ln>
            <a:noFill/>
          </a:ln>
        </p:spPr>
      </p:pic>
      <p:pic>
        <p:nvPicPr>
          <p:cNvPr descr="En este vídeo, Isabel del Río y Cris, nos cuentan el truco que usa Cris para recordar la tabla de multiplicar del número 9. Es muy fácil porque sólo usa sus dedos.&#10;&#10;Siguenos en Facebook: https://www.facebook.com/pages/Super-madraza &#10;&#10;Suscríbete a nuestro canal y dale a ME GUSTA en nuestros vídeos¡  .&#10;Si te gusta este vídeo suscríbete aquí: https://goo.gl/q6tkO3 además nos encantaría que le dieras LIKE y compartas¡&#10;&#10;Tenemos otros dos canales en Youtube:&#10;&#10;El de mi hija Kitty: https://goo.gl/pEfkSQ&#10;El de recetas de cocina: https://goo.gl/Wu8jYU&#10;&#10;Síguenos en Instagram: https://goo.gl/jVZaew&#10;y en Twitter: https://goo.gl/TNxxGO&#10;&#10; o en nuestra web: http://www.ideas2s.com&#10;&#10;-~-~~-~~~-~~-~- Estos son nuestros canales de Youtube:&#10;&#10;http://www.youtube.com/supermadraza&#10;http://www.youtube.com/kitisweety&#10;http://www.youtube.com/condetalle&#10;&#10;Puedes seguirnos en nuestras redes sociales:&#10;&#10;Instagram: http://www.instagram.com/ideas_y_kitty&#10;Twitter: http://www.twitter.com/ideas2s&#10;Facebook:http://www.facebook.com/ideas2s&#10;Pinterest: http://www.pinterest.com/ideas2s&#10;&#10;o en nuestra web http://www.ideas2s.com&#10;&#10;La música es de Epidemic Sound, puedes probarlo gratis durante 30 días aquí:  https://goo.gl/zZ3VBi #manualidades #manualidadesfaciles #diy #ideasen5minutos #ideasfaciles #ideasfacilesdiy #manualidadesfaciles #ideasfaciles" id="320" name="Google Shape;320;g237be279222_0_130" title="Truco para aprender la tabla del 9">
            <a:hlinkClick r:id="rId6"/>
          </p:cNvPr>
          <p:cNvPicPr preferRelativeResize="0"/>
          <p:nvPr/>
        </p:nvPicPr>
        <p:blipFill rotWithShape="1">
          <a:blip r:embed="rId7">
            <a:alphaModFix/>
          </a:blip>
          <a:srcRect b="0" l="0" r="0" t="0"/>
          <a:stretch/>
        </p:blipFill>
        <p:spPr>
          <a:xfrm>
            <a:off x="5884125" y="2256850"/>
            <a:ext cx="4838550" cy="2721685"/>
          </a:xfrm>
          <a:prstGeom prst="rect">
            <a:avLst/>
          </a:prstGeom>
          <a:noFill/>
          <a:ln>
            <a:noFill/>
          </a:ln>
        </p:spPr>
      </p:pic>
      <p:pic>
        <p:nvPicPr>
          <p:cNvPr id="321" name="Google Shape;321;g237be279222_0_130"/>
          <p:cNvPicPr preferRelativeResize="0"/>
          <p:nvPr/>
        </p:nvPicPr>
        <p:blipFill>
          <a:blip r:embed="rId8">
            <a:alphaModFix/>
          </a:blip>
          <a:stretch>
            <a:fillRect/>
          </a:stretch>
        </p:blipFill>
        <p:spPr>
          <a:xfrm>
            <a:off x="11083575" y="526641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1000"/>
                                        <p:tgtEl>
                                          <p:spTgt spid="3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1000"/>
                                        <p:tgtEl>
                                          <p:spTgt spid="3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descr="Forma&#10;&#10;Descripción generada automáticamente con confianza media" id="326" name="Google Shape;326;g237be279222_0_119"/>
          <p:cNvPicPr preferRelativeResize="0"/>
          <p:nvPr>
            <p:ph idx="1" type="body"/>
          </p:nvPr>
        </p:nvPicPr>
        <p:blipFill rotWithShape="1">
          <a:blip r:embed="rId3">
            <a:alphaModFix/>
          </a:blip>
          <a:srcRect b="0" l="0" r="0" t="0"/>
          <a:stretch/>
        </p:blipFill>
        <p:spPr>
          <a:xfrm>
            <a:off x="-7" y="0"/>
            <a:ext cx="12192000" cy="6858000"/>
          </a:xfrm>
          <a:prstGeom prst="rect">
            <a:avLst/>
          </a:prstGeom>
          <a:noFill/>
          <a:ln>
            <a:noFill/>
          </a:ln>
        </p:spPr>
      </p:pic>
      <p:sp>
        <p:nvSpPr>
          <p:cNvPr id="327" name="Google Shape;327;g237be279222_0_119"/>
          <p:cNvSpPr txBox="1"/>
          <p:nvPr/>
        </p:nvSpPr>
        <p:spPr>
          <a:xfrm>
            <a:off x="99224" y="46930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9</a:t>
            </a:r>
            <a:endParaRPr b="1" i="0" sz="4400" u="none" cap="none" strike="noStrike">
              <a:solidFill>
                <a:schemeClr val="dk1"/>
              </a:solidFill>
              <a:latin typeface="Patrick Hand"/>
              <a:ea typeface="Patrick Hand"/>
              <a:cs typeface="Patrick Hand"/>
              <a:sym typeface="Patrick Hand"/>
            </a:endParaRPr>
          </a:p>
        </p:txBody>
      </p:sp>
      <p:sp>
        <p:nvSpPr>
          <p:cNvPr id="328" name="Google Shape;328;g237be279222_0_119"/>
          <p:cNvSpPr txBox="1"/>
          <p:nvPr/>
        </p:nvSpPr>
        <p:spPr>
          <a:xfrm>
            <a:off x="632600" y="1162600"/>
            <a:ext cx="11088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s-CL" sz="3200" u="none" cap="none" strike="noStrike">
                <a:solidFill>
                  <a:schemeClr val="dk1"/>
                </a:solidFill>
                <a:latin typeface="Patrick Hand"/>
                <a:ea typeface="Patrick Hand"/>
                <a:cs typeface="Patrick Hand"/>
                <a:sym typeface="Patrick Hand"/>
              </a:rPr>
              <a:t>¡Tarea</a:t>
            </a:r>
            <a:r>
              <a:rPr lang="es-CL" sz="3200">
                <a:solidFill>
                  <a:schemeClr val="dk1"/>
                </a:solidFill>
                <a:latin typeface="Patrick Hand"/>
                <a:ea typeface="Patrick Hand"/>
                <a:cs typeface="Patrick Hand"/>
                <a:sym typeface="Patrick Hand"/>
              </a:rPr>
              <a:t>! ¡A</a:t>
            </a:r>
            <a:r>
              <a:rPr b="0" i="0" lang="es-CL" sz="3200" u="none" cap="none" strike="noStrike">
                <a:solidFill>
                  <a:schemeClr val="dk1"/>
                </a:solidFill>
                <a:latin typeface="Patrick Hand"/>
                <a:ea typeface="Patrick Hand"/>
                <a:cs typeface="Patrick Hand"/>
                <a:sym typeface="Patrick Hand"/>
              </a:rPr>
              <a:t>prendamos la tabla de 9!</a:t>
            </a:r>
            <a:endParaRPr b="0" i="0" sz="3200" u="none" cap="none" strike="noStrike">
              <a:solidFill>
                <a:schemeClr val="dk1"/>
              </a:solidFill>
              <a:latin typeface="Patrick Hand"/>
              <a:ea typeface="Patrick Hand"/>
              <a:cs typeface="Patrick Hand"/>
              <a:sym typeface="Patrick Hand"/>
            </a:endParaRPr>
          </a:p>
        </p:txBody>
      </p:sp>
      <p:sp>
        <p:nvSpPr>
          <p:cNvPr id="329" name="Google Shape;329;g237be279222_0_119"/>
          <p:cNvSpPr/>
          <p:nvPr/>
        </p:nvSpPr>
        <p:spPr>
          <a:xfrm>
            <a:off x="4733925" y="1747600"/>
            <a:ext cx="2606700" cy="4494600"/>
          </a:xfrm>
          <a:prstGeom prst="roundRect">
            <a:avLst>
              <a:gd fmla="val 16667" name="adj"/>
            </a:avLst>
          </a:prstGeom>
          <a:solidFill>
            <a:srgbClr val="47C4B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g237be279222_0_119"/>
          <p:cNvSpPr txBox="1"/>
          <p:nvPr/>
        </p:nvSpPr>
        <p:spPr>
          <a:xfrm>
            <a:off x="5324650" y="1747600"/>
            <a:ext cx="3714000" cy="4494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9 x 1 = 9</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9 x 2 = 18</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9 x 3 = 27</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9 x 4 = 36</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9 x 5 = 45</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9 x 6 = 54</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9 x 7 = 63</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9 x 8 = 72</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9 x 9 = 81</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9 x 10 = 90</a:t>
            </a:r>
            <a:endParaRPr b="1" i="0" sz="2800" u="none" cap="none" strike="noStrike">
              <a:solidFill>
                <a:schemeClr val="dk1"/>
              </a:solidFill>
              <a:latin typeface="Patrick Hand"/>
              <a:ea typeface="Patrick Hand"/>
              <a:cs typeface="Patrick Hand"/>
              <a:sym typeface="Patrick Hand"/>
            </a:endParaRPr>
          </a:p>
        </p:txBody>
      </p:sp>
      <p:pic>
        <p:nvPicPr>
          <p:cNvPr id="331" name="Google Shape;331;g237be279222_0_119"/>
          <p:cNvPicPr preferRelativeResize="0"/>
          <p:nvPr/>
        </p:nvPicPr>
        <p:blipFill>
          <a:blip r:embed="rId4">
            <a:alphaModFix/>
          </a:blip>
          <a:stretch>
            <a:fillRect/>
          </a:stretch>
        </p:blipFill>
        <p:spPr>
          <a:xfrm>
            <a:off x="11101325" y="5284187"/>
            <a:ext cx="975700" cy="10291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2af0f5b907b_0_61"/>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CL"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37" name="Google Shape;337;g2af0f5b907b_0_61"/>
          <p:cNvSpPr txBox="1"/>
          <p:nvPr/>
        </p:nvSpPr>
        <p:spPr>
          <a:xfrm>
            <a:off x="1027967" y="1312067"/>
            <a:ext cx="10136100" cy="20934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Sofía recolectó de una viña seis racimos con nueve grandes uvas cada uno.</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1) ¿Qué multiplicación se representa?</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2) ¿Cuántas uvas recolectó Sofía?</a:t>
            </a:r>
            <a:endParaRPr sz="1900"/>
          </a:p>
        </p:txBody>
      </p:sp>
      <p:sp>
        <p:nvSpPr>
          <p:cNvPr id="338" name="Google Shape;338;g2af0f5b907b_0_61"/>
          <p:cNvSpPr txBox="1"/>
          <p:nvPr/>
        </p:nvSpPr>
        <p:spPr>
          <a:xfrm>
            <a:off x="5253716" y="3304775"/>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CL"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CL" sz="1900" u="sng">
                <a:solidFill>
                  <a:schemeClr val="hlink"/>
                </a:solidFill>
                <a:latin typeface="Calibri"/>
                <a:ea typeface="Calibri"/>
                <a:cs typeface="Calibri"/>
                <a:sym typeface="Calibri"/>
                <a:hlinkClick r:id="rId3"/>
              </a:rPr>
              <a:t>https://forms.gle/VXttSytvX7Sa4kh97</a:t>
            </a:r>
            <a:r>
              <a:rPr b="1" lang="es-CL" sz="1900">
                <a:latin typeface="Calibri"/>
                <a:ea typeface="Calibri"/>
                <a:cs typeface="Calibri"/>
                <a:sym typeface="Calibri"/>
              </a:rPr>
              <a:t> </a:t>
            </a:r>
            <a:endParaRPr sz="1900"/>
          </a:p>
        </p:txBody>
      </p:sp>
      <p:pic>
        <p:nvPicPr>
          <p:cNvPr id="339" name="Google Shape;339;g2af0f5b907b_0_61"/>
          <p:cNvPicPr preferRelativeResize="0"/>
          <p:nvPr/>
        </p:nvPicPr>
        <p:blipFill>
          <a:blip r:embed="rId4">
            <a:alphaModFix/>
          </a:blip>
          <a:stretch>
            <a:fillRect/>
          </a:stretch>
        </p:blipFill>
        <p:spPr>
          <a:xfrm>
            <a:off x="2060483" y="3497267"/>
            <a:ext cx="1434134" cy="1434134"/>
          </a:xfrm>
          <a:prstGeom prst="rect">
            <a:avLst/>
          </a:prstGeom>
          <a:noFill/>
          <a:ln>
            <a:noFill/>
          </a:ln>
        </p:spPr>
      </p:pic>
      <p:pic>
        <p:nvPicPr>
          <p:cNvPr id="340" name="Google Shape;340;g2af0f5b907b_0_61"/>
          <p:cNvPicPr preferRelativeResize="0"/>
          <p:nvPr/>
        </p:nvPicPr>
        <p:blipFill>
          <a:blip r:embed="rId4">
            <a:alphaModFix/>
          </a:blip>
          <a:stretch>
            <a:fillRect/>
          </a:stretch>
        </p:blipFill>
        <p:spPr>
          <a:xfrm>
            <a:off x="3494617" y="3497267"/>
            <a:ext cx="1434134" cy="1434134"/>
          </a:xfrm>
          <a:prstGeom prst="rect">
            <a:avLst/>
          </a:prstGeom>
          <a:noFill/>
          <a:ln>
            <a:noFill/>
          </a:ln>
        </p:spPr>
      </p:pic>
      <p:pic>
        <p:nvPicPr>
          <p:cNvPr id="341" name="Google Shape;341;g2af0f5b907b_0_61"/>
          <p:cNvPicPr preferRelativeResize="0"/>
          <p:nvPr/>
        </p:nvPicPr>
        <p:blipFill>
          <a:blip r:embed="rId4">
            <a:alphaModFix/>
          </a:blip>
          <a:stretch>
            <a:fillRect/>
          </a:stretch>
        </p:blipFill>
        <p:spPr>
          <a:xfrm>
            <a:off x="4928750" y="3497267"/>
            <a:ext cx="1434134" cy="1434134"/>
          </a:xfrm>
          <a:prstGeom prst="rect">
            <a:avLst/>
          </a:prstGeom>
          <a:noFill/>
          <a:ln>
            <a:noFill/>
          </a:ln>
        </p:spPr>
      </p:pic>
      <p:pic>
        <p:nvPicPr>
          <p:cNvPr id="342" name="Google Shape;342;g2af0f5b907b_0_61"/>
          <p:cNvPicPr preferRelativeResize="0"/>
          <p:nvPr/>
        </p:nvPicPr>
        <p:blipFill>
          <a:blip r:embed="rId4">
            <a:alphaModFix/>
          </a:blip>
          <a:stretch>
            <a:fillRect/>
          </a:stretch>
        </p:blipFill>
        <p:spPr>
          <a:xfrm>
            <a:off x="2127983" y="4642767"/>
            <a:ext cx="1434134" cy="1434134"/>
          </a:xfrm>
          <a:prstGeom prst="rect">
            <a:avLst/>
          </a:prstGeom>
          <a:noFill/>
          <a:ln>
            <a:noFill/>
          </a:ln>
        </p:spPr>
      </p:pic>
      <p:pic>
        <p:nvPicPr>
          <p:cNvPr id="343" name="Google Shape;343;g2af0f5b907b_0_61"/>
          <p:cNvPicPr preferRelativeResize="0"/>
          <p:nvPr/>
        </p:nvPicPr>
        <p:blipFill>
          <a:blip r:embed="rId4">
            <a:alphaModFix/>
          </a:blip>
          <a:stretch>
            <a:fillRect/>
          </a:stretch>
        </p:blipFill>
        <p:spPr>
          <a:xfrm>
            <a:off x="3562117" y="4642767"/>
            <a:ext cx="1434134" cy="1434134"/>
          </a:xfrm>
          <a:prstGeom prst="rect">
            <a:avLst/>
          </a:prstGeom>
          <a:noFill/>
          <a:ln>
            <a:noFill/>
          </a:ln>
        </p:spPr>
      </p:pic>
      <p:pic>
        <p:nvPicPr>
          <p:cNvPr id="344" name="Google Shape;344;g2af0f5b907b_0_61"/>
          <p:cNvPicPr preferRelativeResize="0"/>
          <p:nvPr/>
        </p:nvPicPr>
        <p:blipFill>
          <a:blip r:embed="rId4">
            <a:alphaModFix/>
          </a:blip>
          <a:stretch>
            <a:fillRect/>
          </a:stretch>
        </p:blipFill>
        <p:spPr>
          <a:xfrm>
            <a:off x="4996250" y="4642767"/>
            <a:ext cx="1434134" cy="1434134"/>
          </a:xfrm>
          <a:prstGeom prst="rect">
            <a:avLst/>
          </a:prstGeom>
          <a:noFill/>
          <a:ln>
            <a:noFill/>
          </a:ln>
        </p:spPr>
      </p:pic>
      <p:pic>
        <p:nvPicPr>
          <p:cNvPr id="345" name="Google Shape;345;g2af0f5b907b_0_61"/>
          <p:cNvPicPr preferRelativeResize="0"/>
          <p:nvPr/>
        </p:nvPicPr>
        <p:blipFill rotWithShape="1">
          <a:blip r:embed="rId5">
            <a:alphaModFix/>
          </a:blip>
          <a:srcRect b="8901" l="8909" r="8901" t="8909"/>
          <a:stretch/>
        </p:blipFill>
        <p:spPr>
          <a:xfrm>
            <a:off x="7235567" y="4002367"/>
            <a:ext cx="2132267" cy="2132267"/>
          </a:xfrm>
          <a:prstGeom prst="rect">
            <a:avLst/>
          </a:prstGeom>
          <a:noFill/>
          <a:ln>
            <a:noFill/>
          </a:ln>
        </p:spPr>
      </p:pic>
      <p:pic>
        <p:nvPicPr>
          <p:cNvPr id="346" name="Google Shape;346;g2af0f5b907b_0_61"/>
          <p:cNvPicPr preferRelativeResize="0"/>
          <p:nvPr/>
        </p:nvPicPr>
        <p:blipFill>
          <a:blip r:embed="rId6">
            <a:alphaModFix/>
          </a:blip>
          <a:stretch>
            <a:fillRect/>
          </a:stretch>
        </p:blipFill>
        <p:spPr>
          <a:xfrm>
            <a:off x="11038375" y="52663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pic>
        <p:nvPicPr>
          <p:cNvPr descr="Forma&#10;&#10;Descripción generada automáticamente con confianza media" id="351" name="Google Shape;351;g2b520fb7027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52" name="Google Shape;352;g2b520fb7027_0_0"/>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CL"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353" name="Google Shape;353;g2b520fb7027_0_0"/>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multiplicacion" id="354" name="Google Shape;354;g2b520fb7027_0_0" title="Reforzamiento - Multiplicación (11) - Tabla del 9">
            <a:hlinkClick r:id="rId4"/>
          </p:cNvPr>
          <p:cNvPicPr preferRelativeResize="0"/>
          <p:nvPr/>
        </p:nvPicPr>
        <p:blipFill>
          <a:blip r:embed="rId5">
            <a:alphaModFix/>
          </a:blip>
          <a:stretch>
            <a:fillRect/>
          </a:stretch>
        </p:blipFill>
        <p:spPr>
          <a:xfrm>
            <a:off x="1739500" y="1398450"/>
            <a:ext cx="8712900" cy="4901000"/>
          </a:xfrm>
          <a:prstGeom prst="rect">
            <a:avLst/>
          </a:prstGeom>
          <a:noFill/>
          <a:ln cap="flat" cmpd="sng" w="28575">
            <a:solidFill>
              <a:schemeClr val="dk2"/>
            </a:solidFill>
            <a:prstDash val="solid"/>
            <a:round/>
            <a:headEnd len="sm" w="sm" type="none"/>
            <a:tailEnd len="sm" w="sm" type="none"/>
          </a:ln>
        </p:spPr>
      </p:pic>
      <p:pic>
        <p:nvPicPr>
          <p:cNvPr id="355" name="Google Shape;355;g2b520fb7027_0_0"/>
          <p:cNvPicPr preferRelativeResize="0"/>
          <p:nvPr/>
        </p:nvPicPr>
        <p:blipFill>
          <a:blip r:embed="rId6">
            <a:alphaModFix/>
          </a:blip>
          <a:stretch>
            <a:fillRect/>
          </a:stretch>
        </p:blipFill>
        <p:spPr>
          <a:xfrm>
            <a:off x="11119100" y="525683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1000"/>
                                        <p:tgtEl>
                                          <p:spTgt spid="3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2023-07-24T15:52:01Z</dcterms:created>
  <dc:creator>Antonia  Hola</dc:creator>
</cp:coreProperties>
</file>