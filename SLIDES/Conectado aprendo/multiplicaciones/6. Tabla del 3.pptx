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Patrick Hand"/>
      <p:regular r:id="rId24"/>
    </p:embeddedFont>
    <p:embeddedFont>
      <p:font typeface="Poppins"/>
      <p:regular r:id="rId25"/>
      <p:bold r:id="rId26"/>
      <p:italic r:id="rId27"/>
      <p:boldItalic r:id="rId28"/>
    </p:embeddedFont>
    <p:embeddedFont>
      <p:font typeface="Poppins Ligh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hKp+4Yl8RUEVYija6MnlFFaf+8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atrickHand-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italic.fntdata"/><Relationship Id="rId30" Type="http://schemas.openxmlformats.org/officeDocument/2006/relationships/font" Target="fonts/PoppinsLight-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oppinsLigh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484b6211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484b621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484b62114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484b62114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484b62114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484b62114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484b62114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484b62114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1a17440f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1a17440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7be27922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237be27922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37be279222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8" name="Google Shape;238;g237be279222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37be279222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237be279222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37be279222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237be279222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5bf903a7d5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g25bf903a7d5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37be279222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g237be279222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37be27922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3" name="Google Shape;353;g237be279222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37be279222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g237be279222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65bec394b1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&lt;a href="https://www.flaticon.es/iconos-gratis/un-pan" title="un pan iconos"&gt;Un pan iconos creados por Freepik - Flaticon&lt;/a&gt;</a:t>
            </a:r>
            <a:endParaRPr/>
          </a:p>
        </p:txBody>
      </p:sp>
      <p:sp>
        <p:nvSpPr>
          <p:cNvPr id="372" name="Google Shape;372;g265bec394b1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b5231fb8f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g2b5231fb8f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p:nvPr>
            <p:ph idx="2" type="pic"/>
          </p:nvPr>
        </p:nvSpPr>
        <p:spPr>
          <a:xfrm>
            <a:off x="5183188" y="987425"/>
            <a:ext cx="6172200" cy="4873625"/>
          </a:xfrm>
          <a:prstGeom prst="rect">
            <a:avLst/>
          </a:prstGeom>
          <a:noFill/>
          <a:ln>
            <a:noFill/>
          </a:ln>
        </p:spPr>
      </p:sp>
      <p:sp>
        <p:nvSpPr>
          <p:cNvPr id="64" name="Google Shape;6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65bec394b1_0_7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65bec394b1_0_7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65bec394b1_0_75"/>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65bec394b1_0_75"/>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65bec394b1_0_75"/>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65bec394b1_0_81"/>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65bec394b1_0_81"/>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65bec394b1_0_8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65bec394b1_0_85"/>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65bec394b1_0_8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65bec394b1_0_8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65bec394b1_0_88"/>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65bec394b1_0_88"/>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65bec394b1_0_8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65bec394b1_0_9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65bec394b1_0_9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65bec394b1_0_96"/>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65bec394b1_0_96"/>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65bec394b1_0_9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65bec394b1_0_100"/>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65bec394b1_0_10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65bec394b1_0_103"/>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65bec394b1_0_103"/>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65bec394b1_0_103"/>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65bec394b1_0_103"/>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65bec394b1_0_10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65bec394b1_0_109"/>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65bec394b1_0_10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65bec394b1_0_112"/>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65bec394b1_0_112"/>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65bec394b1_0_11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65bec394b1_0_11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6.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65bec394b1_0_7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65bec394b1_0_7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65bec394b1_0_7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n9.cl/tablasmultiplicar" TargetMode="External"/><Relationship Id="rId4" Type="http://schemas.openxmlformats.org/officeDocument/2006/relationships/hyperlink" Target="http://n9.cl/visualizartablas" TargetMode="External"/><Relationship Id="rId5" Type="http://schemas.openxmlformats.org/officeDocument/2006/relationships/hyperlink" Target="http://n9.cl/dbu4p" TargetMode="External"/><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5.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10.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jpg"/><Relationship Id="rId4" Type="http://schemas.openxmlformats.org/officeDocument/2006/relationships/image" Target="../media/image7.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4.jpg"/><Relationship Id="rId4" Type="http://schemas.openxmlformats.org/officeDocument/2006/relationships/image" Target="../media/image18.jp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hyperlink" Target="http://www.youtube.com/watch?v=QaV1heVNpfc" TargetMode="External"/><Relationship Id="rId5" Type="http://schemas.openxmlformats.org/officeDocument/2006/relationships/image" Target="../media/image12.jpg"/><Relationship Id="rId6"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s://forms.gle/TKXBJydxVU8GEbt97" TargetMode="External"/><Relationship Id="rId4" Type="http://schemas.openxmlformats.org/officeDocument/2006/relationships/image" Target="../media/image13.png"/><Relationship Id="rId5" Type="http://schemas.openxmlformats.org/officeDocument/2006/relationships/image" Target="../media/image19.png"/><Relationship Id="rId6"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jpg"/><Relationship Id="rId4" Type="http://schemas.openxmlformats.org/officeDocument/2006/relationships/hyperlink" Target="http://www.youtube.com/watch?v=EA0gERIs8RE" TargetMode="External"/><Relationship Id="rId5" Type="http://schemas.openxmlformats.org/officeDocument/2006/relationships/image" Target="../media/image20.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1028075" y="5637675"/>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40" name="Google Shape;140;p2"/>
          <p:cNvPicPr preferRelativeResize="0"/>
          <p:nvPr/>
        </p:nvPicPr>
        <p:blipFill>
          <a:blip r:embed="rId4">
            <a:alphaModFix/>
          </a:blip>
          <a:stretch>
            <a:fillRect/>
          </a:stretch>
        </p:blipFill>
        <p:spPr>
          <a:xfrm>
            <a:off x="11028075" y="5246800"/>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484b62114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700">
                <a:solidFill>
                  <a:srgbClr val="3259A4"/>
                </a:solidFill>
                <a:latin typeface="Poppins"/>
                <a:ea typeface="Poppins"/>
                <a:cs typeface="Poppins"/>
                <a:sym typeface="Poppins"/>
              </a:rPr>
              <a:t>Sesión 3 a 11: Tablas del 2 al 10</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rPr b="1" lang="es-CL" sz="1600">
                <a:solidFill>
                  <a:srgbClr val="3259A4"/>
                </a:solidFill>
                <a:latin typeface="Poppins"/>
                <a:ea typeface="Poppins"/>
                <a:cs typeface="Poppins"/>
                <a:sym typeface="Poppins"/>
              </a:rPr>
              <a:t>Propósito</a:t>
            </a:r>
            <a:r>
              <a:rPr b="1" lang="es-CL" sz="1600">
                <a:solidFill>
                  <a:schemeClr val="dk1"/>
                </a:solidFill>
                <a:latin typeface="Poppins"/>
                <a:ea typeface="Poppins"/>
                <a:cs typeface="Poppins"/>
                <a:sym typeface="Poppins"/>
              </a:rPr>
              <a:t>:</a:t>
            </a:r>
            <a:r>
              <a:rPr lang="es-CL" sz="1800">
                <a:solidFill>
                  <a:schemeClr val="dk1"/>
                </a:solidFill>
                <a:latin typeface="Poppins Light"/>
                <a:ea typeface="Poppins Light"/>
                <a:cs typeface="Poppins Light"/>
                <a:sym typeface="Poppins Light"/>
              </a:rPr>
              <a:t> </a:t>
            </a:r>
            <a:r>
              <a:rPr lang="es-CL" sz="1450">
                <a:solidFill>
                  <a:schemeClr val="dk1"/>
                </a:solidFill>
                <a:latin typeface="Poppins"/>
                <a:ea typeface="Poppins"/>
                <a:cs typeface="Poppins"/>
                <a:sym typeface="Poppins"/>
              </a:rPr>
              <a:t>Enseñar las tablas de multiplicar del 2 al 10 de manera progresiva, utilizando estrategias de</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sz="1450">
                <a:solidFill>
                  <a:schemeClr val="dk1"/>
                </a:solidFill>
                <a:latin typeface="Poppins"/>
                <a:ea typeface="Poppins"/>
                <a:cs typeface="Poppins"/>
                <a:sym typeface="Poppins"/>
              </a:rPr>
              <a:t>comprensión y memorización que permitan a tu estudiante adquirir fluidez en la multiplicación.</a:t>
            </a:r>
            <a:endParaRPr sz="145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6" name="Google Shape;146;g33484b62114_0_0"/>
          <p:cNvSpPr txBox="1"/>
          <p:nvPr/>
        </p:nvSpPr>
        <p:spPr>
          <a:xfrm>
            <a:off x="1148550" y="29020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Enseñar las tablas del 2 al 10.</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7" name="Google Shape;147;g33484b62114_0_0"/>
          <p:cNvSpPr txBox="1"/>
          <p:nvPr/>
        </p:nvSpPr>
        <p:spPr>
          <a:xfrm>
            <a:off x="6346950" y="290092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Patrones específicos de cada tabla.</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2. Estrategias de memorización.</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8" name="Google Shape;148;g33484b62114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49" name="Google Shape;149;g33484b62114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g33484b62114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51" name="Google Shape;151;g33484b62114_0_0"/>
          <p:cNvPicPr preferRelativeResize="0"/>
          <p:nvPr/>
        </p:nvPicPr>
        <p:blipFill>
          <a:blip r:embed="rId3">
            <a:alphaModFix/>
          </a:blip>
          <a:stretch>
            <a:fillRect/>
          </a:stretch>
        </p:blipFill>
        <p:spPr>
          <a:xfrm>
            <a:off x="10868175" y="231700"/>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3484b62114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7" name="Google Shape;157;g33484b62114_0_85"/>
          <p:cNvSpPr txBox="1"/>
          <p:nvPr/>
        </p:nvSpPr>
        <p:spPr>
          <a:xfrm>
            <a:off x="786350" y="2131575"/>
            <a:ext cx="10500000" cy="52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A lo largo de las siguientes sesiones, explorarás una tabla de multiplicar específica, enfocándote en enseñar patrones y estrategias que faciliten la memorización y comprensión.</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Esta guía te ofrece recomendaciones generales para cada tabla, así como técnicas para superar las dificultades comunes y reforzar la aplicación de las tablas en distintos contextos. Utiliza esta guía para mantener una estructura coherente y progresiva a lo largo de las sesiones.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De ese modo, cada sesión se estructura de la siguiente manera la cual te recomendamos </a:t>
            </a:r>
            <a:r>
              <a:rPr b="1" lang="es-CL">
                <a:solidFill>
                  <a:schemeClr val="dk1"/>
                </a:solidFill>
                <a:latin typeface="Poppins"/>
                <a:ea typeface="Poppins"/>
                <a:cs typeface="Poppins"/>
                <a:sym typeface="Poppins"/>
              </a:rPr>
              <a:t>revisar de antemano</a:t>
            </a:r>
            <a:r>
              <a:rPr lang="es-CL">
                <a:solidFill>
                  <a:schemeClr val="dk1"/>
                </a:solidFill>
                <a:latin typeface="Poppins"/>
                <a:ea typeface="Poppins"/>
                <a:cs typeface="Poppins"/>
                <a:sym typeface="Poppins"/>
              </a:rPr>
              <a:t> para saber cómo explicar cada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1. </a:t>
            </a:r>
            <a:r>
              <a:rPr b="1" lang="es-CL">
                <a:solidFill>
                  <a:schemeClr val="dk1"/>
                </a:solidFill>
                <a:latin typeface="Poppins"/>
                <a:ea typeface="Poppins"/>
                <a:cs typeface="Poppins"/>
                <a:sym typeface="Poppins"/>
              </a:rPr>
              <a:t>Presentarás la tabla de multiplicación </a:t>
            </a:r>
            <a:r>
              <a:rPr lang="es-CL">
                <a:solidFill>
                  <a:schemeClr val="dk1"/>
                </a:solidFill>
                <a:latin typeface="Poppins"/>
                <a:ea typeface="Poppins"/>
                <a:cs typeface="Poppins"/>
                <a:sym typeface="Poppins"/>
              </a:rPr>
              <a:t>y cómo hay que contar para representarla como </a:t>
            </a:r>
            <a:r>
              <a:rPr b="1" lang="es-CL">
                <a:solidFill>
                  <a:schemeClr val="dk1"/>
                </a:solidFill>
                <a:latin typeface="Poppins"/>
                <a:ea typeface="Poppins"/>
                <a:cs typeface="Poppins"/>
                <a:sym typeface="Poppins"/>
              </a:rPr>
              <a:t>suma iterada.</a:t>
            </a:r>
            <a:endParaRPr b="1">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2. Vincularán la</a:t>
            </a:r>
            <a:r>
              <a:rPr b="1" lang="es-CL">
                <a:solidFill>
                  <a:schemeClr val="dk1"/>
                </a:solidFill>
                <a:latin typeface="Poppins"/>
                <a:ea typeface="Poppins"/>
                <a:cs typeface="Poppins"/>
                <a:sym typeface="Poppins"/>
              </a:rPr>
              <a:t> noción de “grupo x elementos”</a:t>
            </a:r>
            <a:r>
              <a:rPr lang="es-CL">
                <a:solidFill>
                  <a:schemeClr val="dk1"/>
                </a:solidFill>
                <a:latin typeface="Poppins"/>
                <a:ea typeface="Poppins"/>
                <a:cs typeface="Poppins"/>
                <a:sym typeface="Poppins"/>
              </a:rPr>
              <a:t>, donde los “elementos” serán los de la tabla que estén revisando.</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3. </a:t>
            </a:r>
            <a:r>
              <a:rPr b="1" lang="es-CL">
                <a:solidFill>
                  <a:schemeClr val="dk1"/>
                </a:solidFill>
                <a:latin typeface="Poppins"/>
                <a:ea typeface="Poppins"/>
                <a:cs typeface="Poppins"/>
                <a:sym typeface="Poppins"/>
              </a:rPr>
              <a:t>Ordenarán en matrices </a:t>
            </a:r>
            <a:r>
              <a:rPr lang="es-CL">
                <a:solidFill>
                  <a:schemeClr val="dk1"/>
                </a:solidFill>
                <a:latin typeface="Poppins"/>
                <a:ea typeface="Poppins"/>
                <a:cs typeface="Poppins"/>
                <a:sym typeface="Poppins"/>
              </a:rPr>
              <a:t>ejemplos de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4. Finalizarán con un </a:t>
            </a:r>
            <a:r>
              <a:rPr b="1" lang="es-CL">
                <a:solidFill>
                  <a:schemeClr val="dk1"/>
                </a:solidFill>
                <a:latin typeface="Poppins"/>
                <a:ea typeface="Poppins"/>
                <a:cs typeface="Poppins"/>
                <a:sym typeface="Poppins"/>
              </a:rPr>
              <a:t>problema aplicado </a:t>
            </a:r>
            <a:r>
              <a:rPr lang="es-CL">
                <a:solidFill>
                  <a:schemeClr val="dk1"/>
                </a:solidFill>
                <a:latin typeface="Poppins"/>
                <a:ea typeface="Poppins"/>
                <a:cs typeface="Poppins"/>
                <a:sym typeface="Poppins"/>
              </a:rPr>
              <a:t>que involucre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58" name="Google Shape;158;g33484b62114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84b62114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484b62114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484b62114_0_85"/>
          <p:cNvPicPr preferRelativeResize="0"/>
          <p:nvPr/>
        </p:nvPicPr>
        <p:blipFill>
          <a:blip r:embed="rId3">
            <a:alphaModFix/>
          </a:blip>
          <a:stretch>
            <a:fillRect/>
          </a:stretch>
        </p:blipFill>
        <p:spPr>
          <a:xfrm>
            <a:off x="10868175" y="231700"/>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484b62114_0_169"/>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484b62114_0_169"/>
          <p:cNvSpPr txBox="1"/>
          <p:nvPr/>
        </p:nvSpPr>
        <p:spPr>
          <a:xfrm>
            <a:off x="786350" y="2283975"/>
            <a:ext cx="10500000" cy="426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Al término de cada sesión, es fundamental pedirle a tu estudiante que </a:t>
            </a:r>
            <a:r>
              <a:rPr b="1" lang="es-CL">
                <a:solidFill>
                  <a:schemeClr val="dk1"/>
                </a:solidFill>
                <a:latin typeface="Poppins"/>
                <a:ea typeface="Poppins"/>
                <a:cs typeface="Poppins"/>
                <a:sym typeface="Poppins"/>
              </a:rPr>
              <a:t>construya su propia tabla </a:t>
            </a:r>
            <a:r>
              <a:rPr lang="es-CL">
                <a:solidFill>
                  <a:schemeClr val="dk1"/>
                </a:solidFill>
                <a:latin typeface="Poppins"/>
                <a:ea typeface="Poppins"/>
                <a:cs typeface="Poppins"/>
                <a:sym typeface="Poppins"/>
              </a:rPr>
              <a:t>para que progresivamente las vaya interiorizando. Es por eso que, al comienzo de la siguiente sesión, </a:t>
            </a:r>
            <a:r>
              <a:rPr b="1" lang="es-CL">
                <a:solidFill>
                  <a:schemeClr val="dk1"/>
                </a:solidFill>
                <a:latin typeface="Poppins"/>
                <a:ea typeface="Poppins"/>
                <a:cs typeface="Poppins"/>
                <a:sym typeface="Poppins"/>
              </a:rPr>
              <a:t>deben hacer un repaso de las tablas que han revisado hasta ese momento mediante preguntas del tipo: “Cuánto es___ por ___”</a:t>
            </a:r>
            <a:r>
              <a:rPr lang="es-CL">
                <a:solidFill>
                  <a:schemeClr val="dk1"/>
                </a:solidFill>
                <a:latin typeface="Poppins"/>
                <a:ea typeface="Poppins"/>
                <a:cs typeface="Poppins"/>
                <a:sym typeface="Poppins"/>
              </a:rPr>
              <a:t>. Te recomendamos </a:t>
            </a:r>
            <a:r>
              <a:rPr b="1" lang="es-CL">
                <a:solidFill>
                  <a:schemeClr val="dk1"/>
                </a:solidFill>
                <a:latin typeface="Poppins"/>
                <a:ea typeface="Poppins"/>
                <a:cs typeface="Poppins"/>
                <a:sym typeface="Poppins"/>
              </a:rPr>
              <a:t>preguntar de forma desordenada </a:t>
            </a:r>
            <a:r>
              <a:rPr lang="es-CL">
                <a:solidFill>
                  <a:schemeClr val="dk1"/>
                </a:solidFill>
                <a:latin typeface="Poppins"/>
                <a:ea typeface="Poppins"/>
                <a:cs typeface="Poppins"/>
                <a:sym typeface="Poppins"/>
              </a:rPr>
              <a:t>distintos ejemplos, ya que es común que los estudiantes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s-CL">
                <a:solidFill>
                  <a:schemeClr val="dk1"/>
                </a:solidFill>
                <a:latin typeface="Poppins"/>
                <a:ea typeface="Poppins"/>
                <a:cs typeface="Poppins"/>
                <a:sym typeface="Poppins"/>
              </a:rPr>
              <a:t>memoricen los resultados de forma creciente </a:t>
            </a:r>
            <a:r>
              <a:rPr lang="es-CL">
                <a:solidFill>
                  <a:schemeClr val="dk1"/>
                </a:solidFill>
                <a:latin typeface="Poppins"/>
                <a:ea typeface="Poppins"/>
                <a:cs typeface="Poppins"/>
                <a:sym typeface="Poppins"/>
              </a:rPr>
              <a:t>en una misma tabla, pero al cambiar el orden, cometan más errores.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Otro error común en la memorización de las tablas es que los estudiantes </a:t>
            </a:r>
            <a:r>
              <a:rPr b="1" lang="es-CL">
                <a:solidFill>
                  <a:schemeClr val="dk1"/>
                </a:solidFill>
                <a:latin typeface="Poppins"/>
                <a:ea typeface="Poppins"/>
                <a:cs typeface="Poppins"/>
                <a:sym typeface="Poppins"/>
              </a:rPr>
              <a:t>confundan el patrón de multiplicación entre ellas</a:t>
            </a:r>
            <a:r>
              <a:rPr lang="es-CL">
                <a:solidFill>
                  <a:schemeClr val="dk1"/>
                </a:solidFill>
                <a:latin typeface="Poppins"/>
                <a:ea typeface="Poppins"/>
                <a:cs typeface="Poppins"/>
                <a:sym typeface="Poppins"/>
              </a:rPr>
              <a:t>. Por eso es fundamental repasar todas las tablas vistas al comienzo de cada sesión, haciendo todas las preguntas necesarias para asegurarse de que el estudiante vaya interiorizando los conocimientos.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Existen</a:t>
            </a:r>
            <a:r>
              <a:rPr b="1" lang="es-CL">
                <a:solidFill>
                  <a:schemeClr val="dk1"/>
                </a:solidFill>
                <a:latin typeface="Poppins"/>
                <a:ea typeface="Poppins"/>
                <a:cs typeface="Poppins"/>
                <a:sym typeface="Poppins"/>
              </a:rPr>
              <a:t> recursos en interne</a:t>
            </a:r>
            <a:r>
              <a:rPr lang="es-CL">
                <a:solidFill>
                  <a:schemeClr val="dk1"/>
                </a:solidFill>
                <a:latin typeface="Poppins"/>
                <a:ea typeface="Poppins"/>
                <a:cs typeface="Poppins"/>
                <a:sym typeface="Poppins"/>
              </a:rPr>
              <a:t>t que pueden ser de gran utilidad: lista de </a:t>
            </a:r>
            <a:r>
              <a:rPr b="1" lang="es-CL">
                <a:solidFill>
                  <a:schemeClr val="dk1"/>
                </a:solidFill>
                <a:latin typeface="Poppins"/>
                <a:ea typeface="Poppins"/>
                <a:cs typeface="Poppins"/>
                <a:sym typeface="Poppins"/>
              </a:rPr>
              <a:t>videos con trucos </a:t>
            </a:r>
            <a:r>
              <a:rPr lang="es-CL">
                <a:solidFill>
                  <a:schemeClr val="dk1"/>
                </a:solidFill>
                <a:latin typeface="Poppins"/>
                <a:ea typeface="Poppins"/>
                <a:cs typeface="Poppins"/>
                <a:sym typeface="Poppins"/>
              </a:rPr>
              <a:t>para facilitar la memorización [</a:t>
            </a:r>
            <a:r>
              <a:rPr lang="es-CL" u="sng">
                <a:solidFill>
                  <a:schemeClr val="hlink"/>
                </a:solidFill>
                <a:latin typeface="Poppins"/>
                <a:ea typeface="Poppins"/>
                <a:cs typeface="Poppins"/>
                <a:sym typeface="Poppins"/>
                <a:hlinkClick r:id="rId3"/>
              </a:rPr>
              <a:t>n9.cl/tablasmultiplicar] </a:t>
            </a:r>
            <a:r>
              <a:rPr lang="es-CL">
                <a:solidFill>
                  <a:schemeClr val="dk1"/>
                </a:solidFill>
                <a:latin typeface="Poppins"/>
                <a:ea typeface="Poppins"/>
                <a:cs typeface="Poppins"/>
                <a:sym typeface="Poppins"/>
              </a:rPr>
              <a:t>, interactivo para</a:t>
            </a:r>
            <a:r>
              <a:rPr b="1" lang="es-CL">
                <a:solidFill>
                  <a:schemeClr val="dk1"/>
                </a:solidFill>
                <a:latin typeface="Poppins"/>
                <a:ea typeface="Poppins"/>
                <a:cs typeface="Poppins"/>
                <a:sym typeface="Poppins"/>
              </a:rPr>
              <a:t> visualizar multiplicaciones</a:t>
            </a:r>
            <a:r>
              <a:rPr lang="es-CL">
                <a:solidFill>
                  <a:schemeClr val="dk1"/>
                </a:solidFill>
                <a:latin typeface="Poppins"/>
                <a:ea typeface="Poppins"/>
                <a:cs typeface="Poppins"/>
                <a:sym typeface="Poppins"/>
              </a:rPr>
              <a:t> [</a:t>
            </a:r>
            <a:r>
              <a:rPr lang="es-CL" u="sng">
                <a:solidFill>
                  <a:schemeClr val="hlink"/>
                </a:solidFill>
                <a:latin typeface="Poppins"/>
                <a:ea typeface="Poppins"/>
                <a:cs typeface="Poppins"/>
                <a:sym typeface="Poppins"/>
                <a:hlinkClick r:id="rId4"/>
              </a:rPr>
              <a:t>n9.cl/visualizartablas] </a:t>
            </a:r>
            <a:r>
              <a:rPr lang="es-CL">
                <a:solidFill>
                  <a:schemeClr val="dk1"/>
                </a:solidFill>
                <a:latin typeface="Poppins"/>
                <a:ea typeface="Poppins"/>
                <a:cs typeface="Poppins"/>
                <a:sym typeface="Poppins"/>
              </a:rPr>
              <a:t>y un “repasador” de cada tabla </a:t>
            </a:r>
            <a:r>
              <a:rPr lang="es-CL" u="sng">
                <a:solidFill>
                  <a:schemeClr val="hlink"/>
                </a:solidFill>
                <a:latin typeface="Poppins"/>
                <a:ea typeface="Poppins"/>
                <a:cs typeface="Poppins"/>
                <a:sym typeface="Poppins"/>
                <a:hlinkClick r:id="rId5"/>
              </a:rPr>
              <a:t>[n9.cl/dbu4p]</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750">
              <a:solidFill>
                <a:schemeClr val="dk1"/>
              </a:solidFill>
            </a:endParaRPr>
          </a:p>
        </p:txBody>
      </p:sp>
      <p:sp>
        <p:nvSpPr>
          <p:cNvPr id="168" name="Google Shape;168;g33484b62114_0_16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484b62114_0_169"/>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484b62114_0_16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484b62114_0_169"/>
          <p:cNvPicPr preferRelativeResize="0"/>
          <p:nvPr/>
        </p:nvPicPr>
        <p:blipFill>
          <a:blip r:embed="rId6">
            <a:alphaModFix/>
          </a:blip>
          <a:stretch>
            <a:fillRect/>
          </a:stretch>
        </p:blipFill>
        <p:spPr>
          <a:xfrm>
            <a:off x="10868175" y="231700"/>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484b62114_0_253"/>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7" name="Google Shape;177;g33484b62114_0_253"/>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rPr lang="es-CL" sz="1600">
                <a:solidFill>
                  <a:schemeClr val="dk1"/>
                </a:solidFill>
                <a:latin typeface="Poppins"/>
                <a:ea typeface="Poppins"/>
                <a:cs typeface="Poppins"/>
                <a:sym typeface="Poppins"/>
              </a:rPr>
              <a:t>Pídele a tu estudiante que practique en casa recitando cada tabla y haciendo ejercicios en los que identifique patrones, como los múltiplos que terminan en un mismo número.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8" name="Google Shape;178;g33484b62114_0_253"/>
          <p:cNvSpPr txBox="1"/>
          <p:nvPr/>
        </p:nvSpPr>
        <p:spPr>
          <a:xfrm>
            <a:off x="197050"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16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1. ¿Cómo puedes representar la multiplicación como suma repetida?</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2. ¿Qué patrones ves en las tablas?</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3. ¿Cuántos elementos tenemos por grupo?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9" name="Google Shape;179;g33484b62114_0_253"/>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484b62114_0_253"/>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484b62114_0_253"/>
          <p:cNvPicPr preferRelativeResize="0"/>
          <p:nvPr/>
        </p:nvPicPr>
        <p:blipFill>
          <a:blip r:embed="rId3">
            <a:alphaModFix/>
          </a:blip>
          <a:stretch>
            <a:fillRect/>
          </a:stretch>
        </p:blipFill>
        <p:spPr>
          <a:xfrm>
            <a:off x="10868175" y="231700"/>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1a17440f2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31a17440f2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8" name="Google Shape;188;g331a17440f2_0_0"/>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89" name="Google Shape;189;g331a17440f2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0" name="Google Shape;190;g331a17440f2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Khan Academy : </a:t>
            </a:r>
            <a:r>
              <a:rPr lang="es-CL"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CL"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Matematicas libre: </a:t>
            </a:r>
            <a:r>
              <a:rPr lang="es-CL"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CL"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Cokitos:  </a:t>
            </a:r>
            <a:r>
              <a:rPr lang="es-CL"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CL"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Teachy: </a:t>
            </a:r>
            <a:r>
              <a:rPr lang="es-CL"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CL"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CL" sz="1300">
                <a:solidFill>
                  <a:schemeClr val="dk1"/>
                </a:solidFill>
                <a:latin typeface="Poppins"/>
                <a:ea typeface="Poppins"/>
                <a:cs typeface="Poppins"/>
                <a:sym typeface="Poppins"/>
              </a:rPr>
              <a:t>Importante: </a:t>
            </a:r>
            <a:r>
              <a:rPr lang="es-CL"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91" name="Google Shape;191;g331a17440f2_0_0"/>
          <p:cNvPicPr preferRelativeResize="0"/>
          <p:nvPr/>
        </p:nvPicPr>
        <p:blipFill>
          <a:blip r:embed="rId8">
            <a:alphaModFix/>
          </a:blip>
          <a:stretch>
            <a:fillRect/>
          </a:stretch>
        </p:blipFill>
        <p:spPr>
          <a:xfrm>
            <a:off x="11028075" y="5371175"/>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g237be279222_0_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7" name="Google Shape;197;g237be279222_0_0"/>
          <p:cNvSpPr txBox="1"/>
          <p:nvPr/>
        </p:nvSpPr>
        <p:spPr>
          <a:xfrm>
            <a:off x="49949" y="3955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3 </a:t>
            </a:r>
            <a:endParaRPr b="1" i="0" sz="4400" u="none" cap="none" strike="noStrike">
              <a:solidFill>
                <a:schemeClr val="dk1"/>
              </a:solidFill>
              <a:latin typeface="Patrick Hand"/>
              <a:ea typeface="Patrick Hand"/>
              <a:cs typeface="Patrick Hand"/>
              <a:sym typeface="Patrick Hand"/>
            </a:endParaRPr>
          </a:p>
        </p:txBody>
      </p:sp>
      <p:sp>
        <p:nvSpPr>
          <p:cNvPr id="198" name="Google Shape;198;g237be279222_0_0"/>
          <p:cNvSpPr txBox="1"/>
          <p:nvPr/>
        </p:nvSpPr>
        <p:spPr>
          <a:xfrm>
            <a:off x="1197575" y="5488775"/>
            <a:ext cx="46896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4 grupos de 3              cada uno</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p:txBody>
      </p:sp>
      <p:sp>
        <p:nvSpPr>
          <p:cNvPr id="199" name="Google Shape;199;g237be279222_0_0"/>
          <p:cNvSpPr txBox="1"/>
          <p:nvPr/>
        </p:nvSpPr>
        <p:spPr>
          <a:xfrm>
            <a:off x="8258500" y="5494663"/>
            <a:ext cx="444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12                   en total.</a:t>
            </a:r>
            <a:endParaRPr b="1" i="0" sz="2800" u="none" cap="none" strike="noStrike">
              <a:solidFill>
                <a:schemeClr val="dk1"/>
              </a:solidFill>
              <a:latin typeface="Patrick Hand"/>
              <a:ea typeface="Patrick Hand"/>
              <a:cs typeface="Patrick Hand"/>
              <a:sym typeface="Patrick Hand"/>
            </a:endParaRPr>
          </a:p>
        </p:txBody>
      </p:sp>
      <p:sp>
        <p:nvSpPr>
          <p:cNvPr id="200" name="Google Shape;200;g237be279222_0_0"/>
          <p:cNvSpPr txBox="1"/>
          <p:nvPr/>
        </p:nvSpPr>
        <p:spPr>
          <a:xfrm>
            <a:off x="1781125" y="415540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s-CL" sz="2800" u="none" cap="none" strike="noStrike">
                <a:solidFill>
                  <a:schemeClr val="dk1"/>
                </a:solidFill>
                <a:latin typeface="Patrick Hand"/>
                <a:ea typeface="Patrick Hand"/>
                <a:cs typeface="Patrick Hand"/>
                <a:sym typeface="Patrick Hand"/>
              </a:rPr>
              <a:t>3</a:t>
            </a:r>
            <a:endParaRPr b="0" i="0" sz="1400" u="none" cap="none" strike="noStrike">
              <a:solidFill>
                <a:srgbClr val="000000"/>
              </a:solidFill>
              <a:latin typeface="Arial"/>
              <a:ea typeface="Arial"/>
              <a:cs typeface="Arial"/>
              <a:sym typeface="Arial"/>
            </a:endParaRPr>
          </a:p>
        </p:txBody>
      </p:sp>
      <p:sp>
        <p:nvSpPr>
          <p:cNvPr id="201" name="Google Shape;201;g237be279222_0_0"/>
          <p:cNvSpPr txBox="1"/>
          <p:nvPr/>
        </p:nvSpPr>
        <p:spPr>
          <a:xfrm>
            <a:off x="4790838" y="415540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6</a:t>
            </a:r>
            <a:endParaRPr b="1" i="0" sz="2800" u="none" cap="none" strike="noStrike">
              <a:solidFill>
                <a:schemeClr val="dk1"/>
              </a:solidFill>
              <a:latin typeface="Patrick Hand"/>
              <a:ea typeface="Patrick Hand"/>
              <a:cs typeface="Patrick Hand"/>
              <a:sym typeface="Patrick Hand"/>
            </a:endParaRPr>
          </a:p>
        </p:txBody>
      </p:sp>
      <p:sp>
        <p:nvSpPr>
          <p:cNvPr id="202" name="Google Shape;202;g237be279222_0_0"/>
          <p:cNvSpPr txBox="1"/>
          <p:nvPr/>
        </p:nvSpPr>
        <p:spPr>
          <a:xfrm>
            <a:off x="7434125" y="4155400"/>
            <a:ext cx="439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9</a:t>
            </a:r>
            <a:endParaRPr b="1" i="0" sz="2800" u="none" cap="none" strike="noStrike">
              <a:solidFill>
                <a:schemeClr val="dk1"/>
              </a:solidFill>
              <a:latin typeface="Patrick Hand"/>
              <a:ea typeface="Patrick Hand"/>
              <a:cs typeface="Patrick Hand"/>
              <a:sym typeface="Patrick Hand"/>
            </a:endParaRPr>
          </a:p>
        </p:txBody>
      </p:sp>
      <p:sp>
        <p:nvSpPr>
          <p:cNvPr id="203" name="Google Shape;203;g237be279222_0_0"/>
          <p:cNvSpPr txBox="1"/>
          <p:nvPr/>
        </p:nvSpPr>
        <p:spPr>
          <a:xfrm>
            <a:off x="9859900" y="4155400"/>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12</a:t>
            </a:r>
            <a:endParaRPr b="0" i="0" sz="1400" u="none" cap="none" strike="noStrike">
              <a:solidFill>
                <a:srgbClr val="000000"/>
              </a:solidFill>
              <a:latin typeface="Arial"/>
              <a:ea typeface="Arial"/>
              <a:cs typeface="Arial"/>
              <a:sym typeface="Arial"/>
            </a:endParaRPr>
          </a:p>
        </p:txBody>
      </p:sp>
      <p:cxnSp>
        <p:nvCxnSpPr>
          <p:cNvPr id="204" name="Google Shape;204;g237be279222_0_0"/>
          <p:cNvCxnSpPr/>
          <p:nvPr/>
        </p:nvCxnSpPr>
        <p:spPr>
          <a:xfrm flipH="1" rot="10800000">
            <a:off x="5765000" y="5796613"/>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05" name="Google Shape;205;g237be279222_0_0"/>
          <p:cNvSpPr txBox="1"/>
          <p:nvPr/>
        </p:nvSpPr>
        <p:spPr>
          <a:xfrm>
            <a:off x="159925" y="1057600"/>
            <a:ext cx="1108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Para multiplicar por 3, hay que contar de 3 en 3 cada grupo de elementos.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Ejemplo: </a:t>
            </a:r>
            <a:endParaRPr b="1" i="0" sz="2800" u="none" cap="none" strike="noStrike">
              <a:solidFill>
                <a:schemeClr val="dk1"/>
              </a:solidFill>
              <a:latin typeface="Patrick Hand"/>
              <a:ea typeface="Patrick Hand"/>
              <a:cs typeface="Patrick Hand"/>
              <a:sym typeface="Patrick Hand"/>
            </a:endParaRPr>
          </a:p>
        </p:txBody>
      </p:sp>
      <p:sp>
        <p:nvSpPr>
          <p:cNvPr id="206" name="Google Shape;206;g237be279222_0_0"/>
          <p:cNvSpPr/>
          <p:nvPr/>
        </p:nvSpPr>
        <p:spPr>
          <a:xfrm>
            <a:off x="684975" y="2011900"/>
            <a:ext cx="2511900" cy="19275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237be279222_0_0"/>
          <p:cNvSpPr/>
          <p:nvPr/>
        </p:nvSpPr>
        <p:spPr>
          <a:xfrm>
            <a:off x="3426625" y="2011900"/>
            <a:ext cx="2511900" cy="19275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237be279222_0_0"/>
          <p:cNvSpPr/>
          <p:nvPr/>
        </p:nvSpPr>
        <p:spPr>
          <a:xfrm>
            <a:off x="6045800" y="2011900"/>
            <a:ext cx="2511900" cy="19275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g237be279222_0_0"/>
          <p:cNvSpPr/>
          <p:nvPr/>
        </p:nvSpPr>
        <p:spPr>
          <a:xfrm>
            <a:off x="8664975" y="2011900"/>
            <a:ext cx="2511900" cy="19275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0" name="Google Shape;210;g237be279222_0_0"/>
          <p:cNvPicPr preferRelativeResize="0"/>
          <p:nvPr/>
        </p:nvPicPr>
        <p:blipFill rotWithShape="1">
          <a:blip r:embed="rId4">
            <a:alphaModFix/>
          </a:blip>
          <a:srcRect b="0" l="0" r="0" t="0"/>
          <a:stretch/>
        </p:blipFill>
        <p:spPr>
          <a:xfrm>
            <a:off x="3529448" y="5365075"/>
            <a:ext cx="1054225" cy="874775"/>
          </a:xfrm>
          <a:prstGeom prst="rect">
            <a:avLst/>
          </a:prstGeom>
          <a:noFill/>
          <a:ln>
            <a:noFill/>
          </a:ln>
        </p:spPr>
      </p:pic>
      <p:pic>
        <p:nvPicPr>
          <p:cNvPr id="211" name="Google Shape;211;g237be279222_0_0"/>
          <p:cNvPicPr preferRelativeResize="0"/>
          <p:nvPr/>
        </p:nvPicPr>
        <p:blipFill rotWithShape="1">
          <a:blip r:embed="rId4">
            <a:alphaModFix/>
          </a:blip>
          <a:srcRect b="0" l="0" r="0" t="0"/>
          <a:stretch/>
        </p:blipFill>
        <p:spPr>
          <a:xfrm>
            <a:off x="9462673" y="5365088"/>
            <a:ext cx="1054225" cy="874775"/>
          </a:xfrm>
          <a:prstGeom prst="rect">
            <a:avLst/>
          </a:prstGeom>
          <a:noFill/>
          <a:ln>
            <a:noFill/>
          </a:ln>
        </p:spPr>
      </p:pic>
      <p:pic>
        <p:nvPicPr>
          <p:cNvPr id="212" name="Google Shape;212;g237be279222_0_0"/>
          <p:cNvPicPr preferRelativeResize="0"/>
          <p:nvPr/>
        </p:nvPicPr>
        <p:blipFill>
          <a:blip r:embed="rId5">
            <a:alphaModFix/>
          </a:blip>
          <a:stretch>
            <a:fillRect/>
          </a:stretch>
        </p:blipFill>
        <p:spPr>
          <a:xfrm>
            <a:off x="11081375" y="627425"/>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8" name="Google Shape;218;p3"/>
          <p:cNvSpPr txBox="1"/>
          <p:nvPr/>
        </p:nvSpPr>
        <p:spPr>
          <a:xfrm>
            <a:off x="99224" y="6267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3 </a:t>
            </a:r>
            <a:endParaRPr b="1" i="0" sz="4400" u="none" cap="none" strike="noStrike">
              <a:solidFill>
                <a:schemeClr val="dk1"/>
              </a:solidFill>
              <a:latin typeface="Patrick Hand"/>
              <a:ea typeface="Patrick Hand"/>
              <a:cs typeface="Patrick Hand"/>
              <a:sym typeface="Patrick Hand"/>
            </a:endParaRPr>
          </a:p>
        </p:txBody>
      </p:sp>
      <p:sp>
        <p:nvSpPr>
          <p:cNvPr id="219" name="Google Shape;219;p3"/>
          <p:cNvSpPr txBox="1"/>
          <p:nvPr/>
        </p:nvSpPr>
        <p:spPr>
          <a:xfrm>
            <a:off x="1521900" y="555975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3  						Hay ___             en total.</a:t>
            </a:r>
            <a:endParaRPr b="1" i="0" sz="2800" u="none" cap="none" strike="noStrike">
              <a:solidFill>
                <a:schemeClr val="dk1"/>
              </a:solidFill>
              <a:latin typeface="Patrick Hand"/>
              <a:ea typeface="Patrick Hand"/>
              <a:cs typeface="Patrick Hand"/>
              <a:sym typeface="Patrick Hand"/>
            </a:endParaRPr>
          </a:p>
        </p:txBody>
      </p:sp>
      <p:sp>
        <p:nvSpPr>
          <p:cNvPr id="220" name="Google Shape;220;p3"/>
          <p:cNvSpPr txBox="1"/>
          <p:nvPr/>
        </p:nvSpPr>
        <p:spPr>
          <a:xfrm>
            <a:off x="805700" y="139625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Cuente de tres en tres para obtener el resultado</a:t>
            </a:r>
            <a:endParaRPr b="1" i="0" sz="2800" u="none" cap="none" strike="noStrike">
              <a:solidFill>
                <a:schemeClr val="dk1"/>
              </a:solidFill>
              <a:latin typeface="Patrick Hand"/>
              <a:ea typeface="Patrick Hand"/>
              <a:cs typeface="Patrick Hand"/>
              <a:sym typeface="Patrick Hand"/>
            </a:endParaRPr>
          </a:p>
        </p:txBody>
      </p:sp>
      <p:sp>
        <p:nvSpPr>
          <p:cNvPr id="221" name="Google Shape;221;p3"/>
          <p:cNvSpPr txBox="1"/>
          <p:nvPr/>
        </p:nvSpPr>
        <p:spPr>
          <a:xfrm>
            <a:off x="1293775" y="464072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3</a:t>
            </a:r>
            <a:endParaRPr b="1" i="0" sz="2700" u="none" cap="none" strike="noStrike">
              <a:solidFill>
                <a:srgbClr val="000000"/>
              </a:solidFill>
              <a:latin typeface="Patrick Hand"/>
              <a:ea typeface="Patrick Hand"/>
              <a:cs typeface="Patrick Hand"/>
              <a:sym typeface="Patrick Hand"/>
            </a:endParaRPr>
          </a:p>
        </p:txBody>
      </p:sp>
      <p:sp>
        <p:nvSpPr>
          <p:cNvPr id="222" name="Google Shape;222;p3"/>
          <p:cNvSpPr txBox="1"/>
          <p:nvPr/>
        </p:nvSpPr>
        <p:spPr>
          <a:xfrm>
            <a:off x="3766000" y="46628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6</a:t>
            </a:r>
            <a:endParaRPr b="1" i="0" sz="2700" u="none" cap="none" strike="noStrike">
              <a:solidFill>
                <a:srgbClr val="000000"/>
              </a:solidFill>
              <a:latin typeface="Patrick Hand"/>
              <a:ea typeface="Patrick Hand"/>
              <a:cs typeface="Patrick Hand"/>
              <a:sym typeface="Patrick Hand"/>
            </a:endParaRPr>
          </a:p>
        </p:txBody>
      </p:sp>
      <p:sp>
        <p:nvSpPr>
          <p:cNvPr id="223" name="Google Shape;223;p3"/>
          <p:cNvSpPr txBox="1"/>
          <p:nvPr/>
        </p:nvSpPr>
        <p:spPr>
          <a:xfrm>
            <a:off x="5894050" y="464072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9</a:t>
            </a:r>
            <a:endParaRPr b="1" i="0" sz="2700" u="none" cap="none" strike="noStrike">
              <a:solidFill>
                <a:srgbClr val="000000"/>
              </a:solidFill>
              <a:latin typeface="Patrick Hand"/>
              <a:ea typeface="Patrick Hand"/>
              <a:cs typeface="Patrick Hand"/>
              <a:sym typeface="Patrick Hand"/>
            </a:endParaRPr>
          </a:p>
        </p:txBody>
      </p:sp>
      <p:sp>
        <p:nvSpPr>
          <p:cNvPr id="224" name="Google Shape;224;p3"/>
          <p:cNvSpPr txBox="1"/>
          <p:nvPr/>
        </p:nvSpPr>
        <p:spPr>
          <a:xfrm>
            <a:off x="8139925" y="47098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12</a:t>
            </a:r>
            <a:endParaRPr b="1" i="0" sz="2700" u="none" cap="none" strike="noStrike">
              <a:solidFill>
                <a:srgbClr val="000000"/>
              </a:solidFill>
              <a:latin typeface="Patrick Hand"/>
              <a:ea typeface="Patrick Hand"/>
              <a:cs typeface="Patrick Hand"/>
              <a:sym typeface="Patrick Hand"/>
            </a:endParaRPr>
          </a:p>
        </p:txBody>
      </p:sp>
      <p:sp>
        <p:nvSpPr>
          <p:cNvPr id="225" name="Google Shape;225;p3"/>
          <p:cNvSpPr txBox="1"/>
          <p:nvPr/>
        </p:nvSpPr>
        <p:spPr>
          <a:xfrm>
            <a:off x="10623000" y="4709788"/>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15</a:t>
            </a:r>
            <a:endParaRPr b="1" i="0" sz="2700" u="none" cap="none" strike="noStrike">
              <a:solidFill>
                <a:srgbClr val="000000"/>
              </a:solidFill>
              <a:latin typeface="Patrick Hand"/>
              <a:ea typeface="Patrick Hand"/>
              <a:cs typeface="Patrick Hand"/>
              <a:sym typeface="Patrick Hand"/>
            </a:endParaRPr>
          </a:p>
        </p:txBody>
      </p:sp>
      <p:sp>
        <p:nvSpPr>
          <p:cNvPr id="226" name="Google Shape;226;p3"/>
          <p:cNvSpPr txBox="1"/>
          <p:nvPr/>
        </p:nvSpPr>
        <p:spPr>
          <a:xfrm>
            <a:off x="2305825" y="54712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5</a:t>
            </a:r>
            <a:endParaRPr b="1" i="0" sz="2700" u="none" cap="none" strike="noStrike">
              <a:solidFill>
                <a:srgbClr val="000000"/>
              </a:solidFill>
              <a:latin typeface="Patrick Hand"/>
              <a:ea typeface="Patrick Hand"/>
              <a:cs typeface="Patrick Hand"/>
              <a:sym typeface="Patrick Hand"/>
            </a:endParaRPr>
          </a:p>
        </p:txBody>
      </p:sp>
      <p:sp>
        <p:nvSpPr>
          <p:cNvPr id="227" name="Google Shape;227;p3"/>
          <p:cNvSpPr txBox="1"/>
          <p:nvPr/>
        </p:nvSpPr>
        <p:spPr>
          <a:xfrm>
            <a:off x="7545025" y="54833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15</a:t>
            </a:r>
            <a:endParaRPr b="1" i="0" sz="2700" u="none" cap="none" strike="noStrike">
              <a:solidFill>
                <a:srgbClr val="000000"/>
              </a:solidFill>
              <a:latin typeface="Patrick Hand"/>
              <a:ea typeface="Patrick Hand"/>
              <a:cs typeface="Patrick Hand"/>
              <a:sym typeface="Patrick Hand"/>
            </a:endParaRPr>
          </a:p>
        </p:txBody>
      </p:sp>
      <p:sp>
        <p:nvSpPr>
          <p:cNvPr id="228" name="Google Shape;228;p3"/>
          <p:cNvSpPr/>
          <p:nvPr/>
        </p:nvSpPr>
        <p:spPr>
          <a:xfrm>
            <a:off x="7411225" y="2315625"/>
            <a:ext cx="2052300" cy="2236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3"/>
          <p:cNvSpPr/>
          <p:nvPr/>
        </p:nvSpPr>
        <p:spPr>
          <a:xfrm>
            <a:off x="9783375" y="2315625"/>
            <a:ext cx="1990800" cy="2236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
          <p:cNvSpPr/>
          <p:nvPr/>
        </p:nvSpPr>
        <p:spPr>
          <a:xfrm>
            <a:off x="5086825" y="2315625"/>
            <a:ext cx="1990800" cy="2236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
          <p:cNvSpPr/>
          <p:nvPr/>
        </p:nvSpPr>
        <p:spPr>
          <a:xfrm>
            <a:off x="2900725" y="2359900"/>
            <a:ext cx="1990800" cy="2236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
          <p:cNvSpPr/>
          <p:nvPr/>
        </p:nvSpPr>
        <p:spPr>
          <a:xfrm>
            <a:off x="595825" y="2315625"/>
            <a:ext cx="1990800" cy="2236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3" name="Google Shape;233;p3"/>
          <p:cNvPicPr preferRelativeResize="0"/>
          <p:nvPr/>
        </p:nvPicPr>
        <p:blipFill rotWithShape="1">
          <a:blip r:embed="rId4">
            <a:alphaModFix/>
          </a:blip>
          <a:srcRect b="0" l="0" r="0" t="0"/>
          <a:stretch/>
        </p:blipFill>
        <p:spPr>
          <a:xfrm>
            <a:off x="8374513" y="5267300"/>
            <a:ext cx="885825" cy="1047750"/>
          </a:xfrm>
          <a:prstGeom prst="rect">
            <a:avLst/>
          </a:prstGeom>
          <a:noFill/>
          <a:ln>
            <a:noFill/>
          </a:ln>
        </p:spPr>
      </p:pic>
      <p:cxnSp>
        <p:nvCxnSpPr>
          <p:cNvPr id="234" name="Google Shape;234;p3"/>
          <p:cNvCxnSpPr/>
          <p:nvPr/>
        </p:nvCxnSpPr>
        <p:spPr>
          <a:xfrm flipH="1" rot="10800000">
            <a:off x="4732800" y="5936563"/>
            <a:ext cx="2038500" cy="11700"/>
          </a:xfrm>
          <a:prstGeom prst="straightConnector1">
            <a:avLst/>
          </a:prstGeom>
          <a:noFill/>
          <a:ln cap="flat" cmpd="sng" w="38100">
            <a:solidFill>
              <a:srgbClr val="009287"/>
            </a:solidFill>
            <a:prstDash val="solid"/>
            <a:round/>
            <a:headEnd len="sm" w="sm" type="none"/>
            <a:tailEnd len="med" w="med" type="triangle"/>
          </a:ln>
        </p:spPr>
      </p:cxnSp>
      <p:pic>
        <p:nvPicPr>
          <p:cNvPr id="235" name="Google Shape;235;p3"/>
          <p:cNvPicPr preferRelativeResize="0"/>
          <p:nvPr/>
        </p:nvPicPr>
        <p:blipFill>
          <a:blip r:embed="rId5">
            <a:alphaModFix/>
          </a:blip>
          <a:stretch>
            <a:fillRect/>
          </a:stretch>
        </p:blipFill>
        <p:spPr>
          <a:xfrm>
            <a:off x="11081375" y="627425"/>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g237be279222_0_7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1" name="Google Shape;241;g237be279222_0_77"/>
          <p:cNvSpPr txBox="1"/>
          <p:nvPr/>
        </p:nvSpPr>
        <p:spPr>
          <a:xfrm>
            <a:off x="99224" y="6267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3 </a:t>
            </a:r>
            <a:endParaRPr b="1" i="0" sz="4400" u="none" cap="none" strike="noStrike">
              <a:solidFill>
                <a:schemeClr val="dk1"/>
              </a:solidFill>
              <a:latin typeface="Patrick Hand"/>
              <a:ea typeface="Patrick Hand"/>
              <a:cs typeface="Patrick Hand"/>
              <a:sym typeface="Patrick Hand"/>
            </a:endParaRPr>
          </a:p>
        </p:txBody>
      </p:sp>
      <p:sp>
        <p:nvSpPr>
          <p:cNvPr id="242" name="Google Shape;242;g237be279222_0_77"/>
          <p:cNvSpPr txBox="1"/>
          <p:nvPr/>
        </p:nvSpPr>
        <p:spPr>
          <a:xfrm>
            <a:off x="1521900" y="565970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3							Hay ___             en total.</a:t>
            </a:r>
            <a:endParaRPr b="1" i="0" sz="2800" u="none" cap="none" strike="noStrike">
              <a:solidFill>
                <a:schemeClr val="dk1"/>
              </a:solidFill>
              <a:latin typeface="Patrick Hand"/>
              <a:ea typeface="Patrick Hand"/>
              <a:cs typeface="Patrick Hand"/>
              <a:sym typeface="Patrick Hand"/>
            </a:endParaRPr>
          </a:p>
        </p:txBody>
      </p:sp>
      <p:sp>
        <p:nvSpPr>
          <p:cNvPr id="243" name="Google Shape;243;g237be279222_0_77"/>
          <p:cNvSpPr txBox="1"/>
          <p:nvPr/>
        </p:nvSpPr>
        <p:spPr>
          <a:xfrm>
            <a:off x="805700" y="139625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Contemos de tres en tres para obtener el resultado.</a:t>
            </a:r>
            <a:endParaRPr b="1" i="0" sz="2800" u="none" cap="none" strike="noStrike">
              <a:solidFill>
                <a:schemeClr val="dk1"/>
              </a:solidFill>
              <a:latin typeface="Patrick Hand"/>
              <a:ea typeface="Patrick Hand"/>
              <a:cs typeface="Patrick Hand"/>
              <a:sym typeface="Patrick Hand"/>
            </a:endParaRPr>
          </a:p>
        </p:txBody>
      </p:sp>
      <p:sp>
        <p:nvSpPr>
          <p:cNvPr id="244" name="Google Shape;244;g237be279222_0_77"/>
          <p:cNvSpPr txBox="1"/>
          <p:nvPr/>
        </p:nvSpPr>
        <p:spPr>
          <a:xfrm>
            <a:off x="643675" y="4587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3</a:t>
            </a:r>
            <a:endParaRPr b="1" i="0" sz="2700" u="none" cap="none" strike="noStrike">
              <a:solidFill>
                <a:srgbClr val="000000"/>
              </a:solidFill>
              <a:latin typeface="Patrick Hand"/>
              <a:ea typeface="Patrick Hand"/>
              <a:cs typeface="Patrick Hand"/>
              <a:sym typeface="Patrick Hand"/>
            </a:endParaRPr>
          </a:p>
        </p:txBody>
      </p:sp>
      <p:sp>
        <p:nvSpPr>
          <p:cNvPr id="245" name="Google Shape;245;g237be279222_0_77"/>
          <p:cNvSpPr txBox="1"/>
          <p:nvPr/>
        </p:nvSpPr>
        <p:spPr>
          <a:xfrm>
            <a:off x="2464725"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6</a:t>
            </a:r>
            <a:endParaRPr b="1" i="0" sz="2700" u="none" cap="none" strike="noStrike">
              <a:solidFill>
                <a:srgbClr val="000000"/>
              </a:solidFill>
              <a:latin typeface="Patrick Hand"/>
              <a:ea typeface="Patrick Hand"/>
              <a:cs typeface="Patrick Hand"/>
              <a:sym typeface="Patrick Hand"/>
            </a:endParaRPr>
          </a:p>
        </p:txBody>
      </p:sp>
      <p:sp>
        <p:nvSpPr>
          <p:cNvPr id="246" name="Google Shape;246;g237be279222_0_77"/>
          <p:cNvSpPr txBox="1"/>
          <p:nvPr/>
        </p:nvSpPr>
        <p:spPr>
          <a:xfrm>
            <a:off x="4285775"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9</a:t>
            </a:r>
            <a:endParaRPr b="1" i="0" sz="2700" u="none" cap="none" strike="noStrike">
              <a:solidFill>
                <a:srgbClr val="000000"/>
              </a:solidFill>
              <a:latin typeface="Patrick Hand"/>
              <a:ea typeface="Patrick Hand"/>
              <a:cs typeface="Patrick Hand"/>
              <a:sym typeface="Patrick Hand"/>
            </a:endParaRPr>
          </a:p>
        </p:txBody>
      </p:sp>
      <p:sp>
        <p:nvSpPr>
          <p:cNvPr id="247" name="Google Shape;247;g237be279222_0_77"/>
          <p:cNvSpPr txBox="1"/>
          <p:nvPr/>
        </p:nvSpPr>
        <p:spPr>
          <a:xfrm>
            <a:off x="6052688"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12</a:t>
            </a:r>
            <a:endParaRPr b="1" i="0" sz="2700" u="none" cap="none" strike="noStrike">
              <a:solidFill>
                <a:srgbClr val="000000"/>
              </a:solidFill>
              <a:latin typeface="Patrick Hand"/>
              <a:ea typeface="Patrick Hand"/>
              <a:cs typeface="Patrick Hand"/>
              <a:sym typeface="Patrick Hand"/>
            </a:endParaRPr>
          </a:p>
        </p:txBody>
      </p:sp>
      <p:sp>
        <p:nvSpPr>
          <p:cNvPr id="248" name="Google Shape;248;g237be279222_0_77"/>
          <p:cNvSpPr txBox="1"/>
          <p:nvPr/>
        </p:nvSpPr>
        <p:spPr>
          <a:xfrm>
            <a:off x="7711375"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15</a:t>
            </a:r>
            <a:endParaRPr b="1" i="0" sz="2700" u="none" cap="none" strike="noStrike">
              <a:solidFill>
                <a:srgbClr val="000000"/>
              </a:solidFill>
              <a:latin typeface="Patrick Hand"/>
              <a:ea typeface="Patrick Hand"/>
              <a:cs typeface="Patrick Hand"/>
              <a:sym typeface="Patrick Hand"/>
            </a:endParaRPr>
          </a:p>
        </p:txBody>
      </p:sp>
      <p:sp>
        <p:nvSpPr>
          <p:cNvPr id="249" name="Google Shape;249;g237be279222_0_77"/>
          <p:cNvSpPr txBox="1"/>
          <p:nvPr/>
        </p:nvSpPr>
        <p:spPr>
          <a:xfrm>
            <a:off x="9586550"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18</a:t>
            </a:r>
            <a:endParaRPr b="1" i="0" sz="2700" u="none" cap="none" strike="noStrike">
              <a:solidFill>
                <a:srgbClr val="000000"/>
              </a:solidFill>
              <a:latin typeface="Patrick Hand"/>
              <a:ea typeface="Patrick Hand"/>
              <a:cs typeface="Patrick Hand"/>
              <a:sym typeface="Patrick Hand"/>
            </a:endParaRPr>
          </a:p>
        </p:txBody>
      </p:sp>
      <p:sp>
        <p:nvSpPr>
          <p:cNvPr id="250" name="Google Shape;250;g237be279222_0_77"/>
          <p:cNvSpPr txBox="1"/>
          <p:nvPr/>
        </p:nvSpPr>
        <p:spPr>
          <a:xfrm>
            <a:off x="2203975" y="55043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7</a:t>
            </a:r>
            <a:endParaRPr b="1" i="0" sz="2700" u="none" cap="none" strike="noStrike">
              <a:solidFill>
                <a:srgbClr val="000000"/>
              </a:solidFill>
              <a:latin typeface="Patrick Hand"/>
              <a:ea typeface="Patrick Hand"/>
              <a:cs typeface="Patrick Hand"/>
              <a:sym typeface="Patrick Hand"/>
            </a:endParaRPr>
          </a:p>
        </p:txBody>
      </p:sp>
      <p:sp>
        <p:nvSpPr>
          <p:cNvPr id="251" name="Google Shape;251;g237be279222_0_77"/>
          <p:cNvSpPr/>
          <p:nvPr/>
        </p:nvSpPr>
        <p:spPr>
          <a:xfrm>
            <a:off x="99225" y="2061950"/>
            <a:ext cx="1452000" cy="24900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g237be279222_0_77"/>
          <p:cNvSpPr txBox="1"/>
          <p:nvPr/>
        </p:nvSpPr>
        <p:spPr>
          <a:xfrm>
            <a:off x="11149850"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21</a:t>
            </a:r>
            <a:endParaRPr b="1" i="0" sz="2700" u="none" cap="none" strike="noStrike">
              <a:solidFill>
                <a:srgbClr val="000000"/>
              </a:solidFill>
              <a:latin typeface="Patrick Hand"/>
              <a:ea typeface="Patrick Hand"/>
              <a:cs typeface="Patrick Hand"/>
              <a:sym typeface="Patrick Hand"/>
            </a:endParaRPr>
          </a:p>
        </p:txBody>
      </p:sp>
      <p:sp>
        <p:nvSpPr>
          <p:cNvPr id="253" name="Google Shape;253;g237be279222_0_77"/>
          <p:cNvSpPr/>
          <p:nvPr/>
        </p:nvSpPr>
        <p:spPr>
          <a:xfrm>
            <a:off x="1878250" y="2061950"/>
            <a:ext cx="1452000" cy="24900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g237be279222_0_77"/>
          <p:cNvSpPr/>
          <p:nvPr/>
        </p:nvSpPr>
        <p:spPr>
          <a:xfrm>
            <a:off x="3657275" y="2061950"/>
            <a:ext cx="1452000" cy="24900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237be279222_0_77"/>
          <p:cNvSpPr/>
          <p:nvPr/>
        </p:nvSpPr>
        <p:spPr>
          <a:xfrm>
            <a:off x="5370000" y="2066900"/>
            <a:ext cx="1452000" cy="24900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237be279222_0_77"/>
          <p:cNvSpPr/>
          <p:nvPr/>
        </p:nvSpPr>
        <p:spPr>
          <a:xfrm>
            <a:off x="7203075" y="2066900"/>
            <a:ext cx="1452000" cy="24900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g237be279222_0_77"/>
          <p:cNvSpPr/>
          <p:nvPr/>
        </p:nvSpPr>
        <p:spPr>
          <a:xfrm>
            <a:off x="8937950" y="2066900"/>
            <a:ext cx="1452000" cy="24900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g237be279222_0_77"/>
          <p:cNvSpPr/>
          <p:nvPr/>
        </p:nvSpPr>
        <p:spPr>
          <a:xfrm>
            <a:off x="10672825" y="1990700"/>
            <a:ext cx="1452000" cy="24900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237be279222_0_77"/>
          <p:cNvSpPr txBox="1"/>
          <p:nvPr/>
        </p:nvSpPr>
        <p:spPr>
          <a:xfrm>
            <a:off x="7711375" y="55835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21</a:t>
            </a:r>
            <a:endParaRPr b="1" i="0" sz="2700" u="none" cap="none" strike="noStrike">
              <a:solidFill>
                <a:srgbClr val="000000"/>
              </a:solidFill>
              <a:latin typeface="Patrick Hand"/>
              <a:ea typeface="Patrick Hand"/>
              <a:cs typeface="Patrick Hand"/>
              <a:sym typeface="Patrick Hand"/>
            </a:endParaRPr>
          </a:p>
        </p:txBody>
      </p:sp>
      <p:pic>
        <p:nvPicPr>
          <p:cNvPr id="260" name="Google Shape;260;g237be279222_0_77"/>
          <p:cNvPicPr preferRelativeResize="0"/>
          <p:nvPr/>
        </p:nvPicPr>
        <p:blipFill rotWithShape="1">
          <a:blip r:embed="rId4">
            <a:alphaModFix/>
          </a:blip>
          <a:srcRect b="0" l="0" r="0" t="0"/>
          <a:stretch/>
        </p:blipFill>
        <p:spPr>
          <a:xfrm>
            <a:off x="8306275" y="5359025"/>
            <a:ext cx="966725" cy="906300"/>
          </a:xfrm>
          <a:prstGeom prst="rect">
            <a:avLst/>
          </a:prstGeom>
          <a:noFill/>
          <a:ln>
            <a:noFill/>
          </a:ln>
        </p:spPr>
      </p:pic>
      <p:cxnSp>
        <p:nvCxnSpPr>
          <p:cNvPr id="261" name="Google Shape;261;g237be279222_0_77"/>
          <p:cNvCxnSpPr/>
          <p:nvPr/>
        </p:nvCxnSpPr>
        <p:spPr>
          <a:xfrm flipH="1" rot="10800000">
            <a:off x="4880675" y="5961638"/>
            <a:ext cx="2038500" cy="11700"/>
          </a:xfrm>
          <a:prstGeom prst="straightConnector1">
            <a:avLst/>
          </a:prstGeom>
          <a:noFill/>
          <a:ln cap="flat" cmpd="sng" w="38100">
            <a:solidFill>
              <a:srgbClr val="009287"/>
            </a:solidFill>
            <a:prstDash val="solid"/>
            <a:round/>
            <a:headEnd len="sm" w="sm" type="none"/>
            <a:tailEnd len="med" w="med" type="triangle"/>
          </a:ln>
        </p:spPr>
      </p:cxnSp>
      <p:pic>
        <p:nvPicPr>
          <p:cNvPr id="262" name="Google Shape;262;g237be279222_0_77"/>
          <p:cNvPicPr preferRelativeResize="0"/>
          <p:nvPr/>
        </p:nvPicPr>
        <p:blipFill>
          <a:blip r:embed="rId5">
            <a:alphaModFix/>
          </a:blip>
          <a:stretch>
            <a:fillRect/>
          </a:stretch>
        </p:blipFill>
        <p:spPr>
          <a:xfrm>
            <a:off x="11081375" y="627425"/>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g237be279222_0_6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8" name="Google Shape;268;g237be279222_0_60"/>
          <p:cNvSpPr txBox="1"/>
          <p:nvPr/>
        </p:nvSpPr>
        <p:spPr>
          <a:xfrm>
            <a:off x="99224" y="5392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3 </a:t>
            </a:r>
            <a:endParaRPr b="1" i="0" sz="4400" u="none" cap="none" strike="noStrike">
              <a:solidFill>
                <a:schemeClr val="dk1"/>
              </a:solidFill>
              <a:latin typeface="Patrick Hand"/>
              <a:ea typeface="Patrick Hand"/>
              <a:cs typeface="Patrick Hand"/>
              <a:sym typeface="Patrick Hand"/>
            </a:endParaRPr>
          </a:p>
        </p:txBody>
      </p:sp>
      <p:sp>
        <p:nvSpPr>
          <p:cNvPr id="269" name="Google Shape;269;g237be279222_0_60"/>
          <p:cNvSpPr txBox="1"/>
          <p:nvPr/>
        </p:nvSpPr>
        <p:spPr>
          <a:xfrm>
            <a:off x="8106825" y="1442450"/>
            <a:ext cx="40185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1      x       3    =	 3</a:t>
            </a:r>
            <a:endParaRPr b="0" i="0" sz="4100" u="none" cap="none" strike="noStrike">
              <a:solidFill>
                <a:schemeClr val="dk1"/>
              </a:solidFill>
              <a:latin typeface="Patrick Hand"/>
              <a:ea typeface="Patrick Hand"/>
              <a:cs typeface="Patrick Hand"/>
              <a:sym typeface="Patrick Hand"/>
            </a:endParaRPr>
          </a:p>
        </p:txBody>
      </p:sp>
      <p:sp>
        <p:nvSpPr>
          <p:cNvPr id="270" name="Google Shape;270;g237be279222_0_60"/>
          <p:cNvSpPr txBox="1"/>
          <p:nvPr/>
        </p:nvSpPr>
        <p:spPr>
          <a:xfrm>
            <a:off x="8049975" y="2969425"/>
            <a:ext cx="41322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2     x       3   =		6</a:t>
            </a:r>
            <a:endParaRPr b="0" i="0" sz="4100" u="none" cap="none" strike="noStrike">
              <a:solidFill>
                <a:schemeClr val="dk1"/>
              </a:solidFill>
              <a:latin typeface="Patrick Hand"/>
              <a:ea typeface="Patrick Hand"/>
              <a:cs typeface="Patrick Hand"/>
              <a:sym typeface="Patrick Hand"/>
            </a:endParaRPr>
          </a:p>
        </p:txBody>
      </p:sp>
      <p:sp>
        <p:nvSpPr>
          <p:cNvPr id="271" name="Google Shape;271;g237be279222_0_60"/>
          <p:cNvSpPr txBox="1"/>
          <p:nvPr/>
        </p:nvSpPr>
        <p:spPr>
          <a:xfrm>
            <a:off x="8049975" y="5593800"/>
            <a:ext cx="42315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200"/>
              <a:buFont typeface="Arial"/>
              <a:buNone/>
            </a:pPr>
            <a:r>
              <a:rPr b="0" i="0" lang="es-CL" sz="3800" u="none" cap="none" strike="noStrike">
                <a:solidFill>
                  <a:schemeClr val="dk1"/>
                </a:solidFill>
                <a:latin typeface="Patrick Hand"/>
                <a:ea typeface="Patrick Hand"/>
                <a:cs typeface="Patrick Hand"/>
                <a:sym typeface="Patrick Hand"/>
              </a:rPr>
              <a:t>__     x     __   =	__</a:t>
            </a:r>
            <a:endParaRPr b="0" i="0" sz="3800" u="none" cap="none" strike="noStrike">
              <a:solidFill>
                <a:schemeClr val="dk1"/>
              </a:solidFill>
              <a:latin typeface="Patrick Hand"/>
              <a:ea typeface="Patrick Hand"/>
              <a:cs typeface="Patrick Hand"/>
              <a:sym typeface="Patrick Hand"/>
            </a:endParaRPr>
          </a:p>
        </p:txBody>
      </p:sp>
      <p:sp>
        <p:nvSpPr>
          <p:cNvPr id="272" name="Google Shape;272;g237be279222_0_60"/>
          <p:cNvSpPr txBox="1"/>
          <p:nvPr/>
        </p:nvSpPr>
        <p:spPr>
          <a:xfrm>
            <a:off x="8186875" y="5569313"/>
            <a:ext cx="40185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3              3    		9</a:t>
            </a:r>
            <a:endParaRPr b="0" i="0" sz="4100" u="none" cap="none" strike="noStrike">
              <a:solidFill>
                <a:schemeClr val="dk1"/>
              </a:solidFill>
              <a:latin typeface="Patrick Hand"/>
              <a:ea typeface="Patrick Hand"/>
              <a:cs typeface="Patrick Hand"/>
              <a:sym typeface="Patrick Hand"/>
            </a:endParaRPr>
          </a:p>
        </p:txBody>
      </p:sp>
      <p:sp>
        <p:nvSpPr>
          <p:cNvPr id="273" name="Google Shape;273;g237be279222_0_60"/>
          <p:cNvSpPr txBox="1"/>
          <p:nvPr/>
        </p:nvSpPr>
        <p:spPr>
          <a:xfrm>
            <a:off x="7868650" y="2165750"/>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     grupos		        	elementos</a:t>
            </a:r>
            <a:endParaRPr b="0" i="0" sz="1600" u="none" cap="none" strike="noStrike">
              <a:solidFill>
                <a:srgbClr val="000000"/>
              </a:solidFill>
              <a:latin typeface="Patrick Hand"/>
              <a:ea typeface="Patrick Hand"/>
              <a:cs typeface="Patrick Hand"/>
              <a:sym typeface="Patrick Hand"/>
            </a:endParaRPr>
          </a:p>
        </p:txBody>
      </p:sp>
      <p:sp>
        <p:nvSpPr>
          <p:cNvPr id="274" name="Google Shape;274;g237be279222_0_60"/>
          <p:cNvSpPr txBox="1"/>
          <p:nvPr/>
        </p:nvSpPr>
        <p:spPr>
          <a:xfrm>
            <a:off x="8106825" y="369272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75" name="Google Shape;275;g237be279222_0_60"/>
          <p:cNvSpPr txBox="1"/>
          <p:nvPr/>
        </p:nvSpPr>
        <p:spPr>
          <a:xfrm>
            <a:off x="8186875" y="5987825"/>
            <a:ext cx="37239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76" name="Google Shape;276;g237be279222_0_60"/>
          <p:cNvSpPr/>
          <p:nvPr/>
        </p:nvSpPr>
        <p:spPr>
          <a:xfrm>
            <a:off x="384900" y="1493975"/>
            <a:ext cx="30489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237be279222_0_60"/>
          <p:cNvSpPr/>
          <p:nvPr/>
        </p:nvSpPr>
        <p:spPr>
          <a:xfrm>
            <a:off x="384900" y="2914275"/>
            <a:ext cx="30489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237be279222_0_60"/>
          <p:cNvSpPr/>
          <p:nvPr/>
        </p:nvSpPr>
        <p:spPr>
          <a:xfrm>
            <a:off x="3581400" y="2914275"/>
            <a:ext cx="30489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237be279222_0_60"/>
          <p:cNvSpPr/>
          <p:nvPr/>
        </p:nvSpPr>
        <p:spPr>
          <a:xfrm>
            <a:off x="384900" y="4334575"/>
            <a:ext cx="30489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237be279222_0_60"/>
          <p:cNvSpPr/>
          <p:nvPr/>
        </p:nvSpPr>
        <p:spPr>
          <a:xfrm>
            <a:off x="3581400" y="4334575"/>
            <a:ext cx="30489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237be279222_0_60"/>
          <p:cNvSpPr/>
          <p:nvPr/>
        </p:nvSpPr>
        <p:spPr>
          <a:xfrm>
            <a:off x="6935375" y="4334575"/>
            <a:ext cx="3048900" cy="1235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g237be279222_0_9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7" name="Google Shape;287;g237be279222_0_98"/>
          <p:cNvSpPr txBox="1"/>
          <p:nvPr/>
        </p:nvSpPr>
        <p:spPr>
          <a:xfrm>
            <a:off x="3533075" y="1943576"/>
            <a:ext cx="36387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0" i="0" lang="es-CL" sz="3300" u="none" cap="none" strike="noStrike">
                <a:solidFill>
                  <a:schemeClr val="dk1"/>
                </a:solidFill>
                <a:latin typeface="Patrick Hand"/>
                <a:ea typeface="Patrick Hand"/>
                <a:cs typeface="Patrick Hand"/>
                <a:sym typeface="Patrick Hand"/>
              </a:rPr>
              <a:t>4               </a:t>
            </a:r>
            <a:r>
              <a:rPr lang="es-CL" sz="3300">
                <a:solidFill>
                  <a:schemeClr val="dk1"/>
                </a:solidFill>
                <a:latin typeface="Patrick Hand"/>
                <a:ea typeface="Patrick Hand"/>
                <a:cs typeface="Patrick Hand"/>
                <a:sym typeface="Patrick Hand"/>
              </a:rPr>
              <a:t>3</a:t>
            </a:r>
            <a:r>
              <a:rPr b="0" i="0" lang="es-CL" sz="3300" u="none" cap="none" strike="noStrike">
                <a:solidFill>
                  <a:schemeClr val="dk1"/>
                </a:solidFill>
                <a:latin typeface="Patrick Hand"/>
                <a:ea typeface="Patrick Hand"/>
                <a:cs typeface="Patrick Hand"/>
                <a:sym typeface="Patrick Hand"/>
              </a:rPr>
              <a:t>        	   </a:t>
            </a:r>
            <a:r>
              <a:rPr lang="es-CL" sz="3300">
                <a:solidFill>
                  <a:schemeClr val="dk1"/>
                </a:solidFill>
                <a:latin typeface="Patrick Hand"/>
                <a:ea typeface="Patrick Hand"/>
                <a:cs typeface="Patrick Hand"/>
                <a:sym typeface="Patrick Hand"/>
              </a:rPr>
              <a:t>12</a:t>
            </a:r>
            <a:endParaRPr b="0" i="0" sz="3300" u="none" cap="none" strike="noStrike">
              <a:solidFill>
                <a:schemeClr val="dk1"/>
              </a:solidFill>
              <a:latin typeface="Patrick Hand"/>
              <a:ea typeface="Patrick Hand"/>
              <a:cs typeface="Patrick Hand"/>
              <a:sym typeface="Patrick Hand"/>
            </a:endParaRPr>
          </a:p>
        </p:txBody>
      </p:sp>
      <p:sp>
        <p:nvSpPr>
          <p:cNvPr id="288" name="Google Shape;288;g237be279222_0_98"/>
          <p:cNvSpPr txBox="1"/>
          <p:nvPr/>
        </p:nvSpPr>
        <p:spPr>
          <a:xfrm>
            <a:off x="4064700" y="2004476"/>
            <a:ext cx="40626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     x</a:t>
            </a:r>
            <a:r>
              <a:rPr b="0" i="0" lang="es-CL" sz="3500" u="none" cap="none" strike="noStrike">
                <a:solidFill>
                  <a:schemeClr val="dk1"/>
                </a:solidFill>
                <a:latin typeface="Patrick Hand"/>
                <a:ea typeface="Patrick Hand"/>
                <a:cs typeface="Patrick Hand"/>
                <a:sym typeface="Patrick Hand"/>
              </a:rPr>
              <a:t>        </a:t>
            </a:r>
            <a:r>
              <a:rPr b="0" i="0" lang="es-CL" sz="3500" u="none" cap="none" strike="noStrike">
                <a:solidFill>
                  <a:schemeClr val="dk1"/>
                </a:solidFill>
                <a:latin typeface="Patrick Hand"/>
                <a:ea typeface="Patrick Hand"/>
                <a:cs typeface="Patrick Hand"/>
                <a:sym typeface="Patrick Hand"/>
              </a:rPr>
              <a:t>= 	__</a:t>
            </a:r>
            <a:endParaRPr b="0" i="0" sz="3500" u="none" cap="none" strike="noStrike">
              <a:solidFill>
                <a:schemeClr val="dk1"/>
              </a:solidFill>
              <a:latin typeface="Patrick Hand"/>
              <a:ea typeface="Patrick Hand"/>
              <a:cs typeface="Patrick Hand"/>
              <a:sym typeface="Patrick Hand"/>
            </a:endParaRPr>
          </a:p>
        </p:txBody>
      </p:sp>
      <p:sp>
        <p:nvSpPr>
          <p:cNvPr id="289" name="Google Shape;289;g237be279222_0_98"/>
          <p:cNvSpPr txBox="1"/>
          <p:nvPr/>
        </p:nvSpPr>
        <p:spPr>
          <a:xfrm>
            <a:off x="3486125" y="3591475"/>
            <a:ext cx="40626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	__</a:t>
            </a:r>
            <a:endParaRPr b="0" i="0" sz="3500" u="none" cap="none" strike="noStrike">
              <a:solidFill>
                <a:schemeClr val="dk1"/>
              </a:solidFill>
              <a:latin typeface="Patrick Hand"/>
              <a:ea typeface="Patrick Hand"/>
              <a:cs typeface="Patrick Hand"/>
              <a:sym typeface="Patrick Hand"/>
            </a:endParaRPr>
          </a:p>
        </p:txBody>
      </p:sp>
      <p:sp>
        <p:nvSpPr>
          <p:cNvPr id="290" name="Google Shape;290;g237be279222_0_98"/>
          <p:cNvSpPr txBox="1"/>
          <p:nvPr/>
        </p:nvSpPr>
        <p:spPr>
          <a:xfrm>
            <a:off x="3563275" y="5608125"/>
            <a:ext cx="43992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=__</a:t>
            </a:r>
            <a:endParaRPr b="0" i="0" sz="3500" u="none" cap="none" strike="noStrike">
              <a:solidFill>
                <a:schemeClr val="dk1"/>
              </a:solidFill>
              <a:latin typeface="Patrick Hand"/>
              <a:ea typeface="Patrick Hand"/>
              <a:cs typeface="Patrick Hand"/>
              <a:sym typeface="Patrick Hand"/>
            </a:endParaRPr>
          </a:p>
        </p:txBody>
      </p:sp>
      <p:sp>
        <p:nvSpPr>
          <p:cNvPr id="291" name="Google Shape;291;g237be279222_0_98"/>
          <p:cNvSpPr txBox="1"/>
          <p:nvPr/>
        </p:nvSpPr>
        <p:spPr>
          <a:xfrm>
            <a:off x="3561725" y="402047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92" name="Google Shape;292;g237be279222_0_98"/>
          <p:cNvSpPr txBox="1"/>
          <p:nvPr/>
        </p:nvSpPr>
        <p:spPr>
          <a:xfrm>
            <a:off x="278825" y="2264901"/>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93" name="Google Shape;293;g237be279222_0_98"/>
          <p:cNvSpPr txBox="1"/>
          <p:nvPr/>
        </p:nvSpPr>
        <p:spPr>
          <a:xfrm>
            <a:off x="3726725" y="601967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a:t>
            </a:r>
            <a:r>
              <a:rPr lang="es-CL" sz="1600">
                <a:latin typeface="Patrick Hand"/>
                <a:ea typeface="Patrick Hand"/>
                <a:cs typeface="Patrick Hand"/>
                <a:sym typeface="Patrick Hand"/>
              </a:rPr>
              <a:t>   </a:t>
            </a:r>
            <a:r>
              <a:rPr b="0" i="0" lang="es-CL" sz="1600" u="none" cap="none" strike="noStrike">
                <a:solidFill>
                  <a:srgbClr val="000000"/>
                </a:solidFill>
                <a:latin typeface="Patrick Hand"/>
                <a:ea typeface="Patrick Hand"/>
                <a:cs typeface="Patrick Hand"/>
                <a:sym typeface="Patrick Hand"/>
              </a:rPr>
              <a:t>elementos</a:t>
            </a:r>
            <a:endParaRPr b="0" i="0" sz="1600" u="none" cap="none" strike="noStrike">
              <a:solidFill>
                <a:srgbClr val="000000"/>
              </a:solidFill>
              <a:latin typeface="Patrick Hand"/>
              <a:ea typeface="Patrick Hand"/>
              <a:cs typeface="Patrick Hand"/>
              <a:sym typeface="Patrick Hand"/>
            </a:endParaRPr>
          </a:p>
        </p:txBody>
      </p:sp>
      <p:sp>
        <p:nvSpPr>
          <p:cNvPr id="294" name="Google Shape;294;g237be279222_0_98"/>
          <p:cNvSpPr txBox="1"/>
          <p:nvPr/>
        </p:nvSpPr>
        <p:spPr>
          <a:xfrm>
            <a:off x="120775" y="433750"/>
            <a:ext cx="112842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s-CL" sz="2600" u="none" cap="none" strike="noStrike">
                <a:solidFill>
                  <a:srgbClr val="000000"/>
                </a:solidFill>
                <a:latin typeface="Patrick Hand"/>
                <a:ea typeface="Patrick Hand"/>
                <a:cs typeface="Patrick Hand"/>
                <a:sym typeface="Patrick Hand"/>
              </a:rPr>
              <a:t>¡Ahora te toca a ti! ¿Cuántos grupos son? ¿Cuántos patos hay por grupo? </a:t>
            </a:r>
            <a:endParaRPr b="1" i="0" sz="2600" u="none" cap="none" strike="noStrike">
              <a:solidFill>
                <a:srgbClr val="000000"/>
              </a:solidFill>
              <a:latin typeface="Patrick Hand"/>
              <a:ea typeface="Patrick Hand"/>
              <a:cs typeface="Patrick Hand"/>
              <a:sym typeface="Patrick Hand"/>
            </a:endParaRPr>
          </a:p>
        </p:txBody>
      </p:sp>
      <p:sp>
        <p:nvSpPr>
          <p:cNvPr id="295" name="Google Shape;295;g237be279222_0_98"/>
          <p:cNvSpPr txBox="1"/>
          <p:nvPr/>
        </p:nvSpPr>
        <p:spPr>
          <a:xfrm>
            <a:off x="3561725" y="3520025"/>
            <a:ext cx="37590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lang="es-CL" sz="3400">
                <a:solidFill>
                  <a:schemeClr val="dk1"/>
                </a:solidFill>
                <a:latin typeface="Patrick Hand"/>
                <a:ea typeface="Patrick Hand"/>
                <a:cs typeface="Patrick Hand"/>
                <a:sym typeface="Patrick Hand"/>
              </a:rPr>
              <a:t>5</a:t>
            </a:r>
            <a:r>
              <a:rPr b="0" i="0" lang="es-CL" sz="3400" u="none" cap="none" strike="noStrike">
                <a:solidFill>
                  <a:schemeClr val="dk1"/>
                </a:solidFill>
                <a:latin typeface="Patrick Hand"/>
                <a:ea typeface="Patrick Hand"/>
                <a:cs typeface="Patrick Hand"/>
                <a:sym typeface="Patrick Hand"/>
              </a:rPr>
              <a:t>               </a:t>
            </a:r>
            <a:r>
              <a:rPr lang="es-CL" sz="3400">
                <a:solidFill>
                  <a:schemeClr val="dk1"/>
                </a:solidFill>
                <a:latin typeface="Patrick Hand"/>
                <a:ea typeface="Patrick Hand"/>
                <a:cs typeface="Patrick Hand"/>
                <a:sym typeface="Patrick Hand"/>
              </a:rPr>
              <a:t>3</a:t>
            </a:r>
            <a:r>
              <a:rPr b="0" i="0" lang="es-CL" sz="3400" u="none" cap="none" strike="noStrike">
                <a:solidFill>
                  <a:schemeClr val="dk1"/>
                </a:solidFill>
                <a:latin typeface="Patrick Hand"/>
                <a:ea typeface="Patrick Hand"/>
                <a:cs typeface="Patrick Hand"/>
                <a:sym typeface="Patrick Hand"/>
              </a:rPr>
              <a:t>            1</a:t>
            </a:r>
            <a:r>
              <a:rPr lang="es-CL" sz="3400">
                <a:solidFill>
                  <a:schemeClr val="dk1"/>
                </a:solidFill>
                <a:latin typeface="Patrick Hand"/>
                <a:ea typeface="Patrick Hand"/>
                <a:cs typeface="Patrick Hand"/>
                <a:sym typeface="Patrick Hand"/>
              </a:rPr>
              <a:t>5</a:t>
            </a:r>
            <a:endParaRPr b="0" i="0" sz="3400" u="none" cap="none" strike="noStrike">
              <a:solidFill>
                <a:schemeClr val="dk1"/>
              </a:solidFill>
              <a:latin typeface="Patrick Hand"/>
              <a:ea typeface="Patrick Hand"/>
              <a:cs typeface="Patrick Hand"/>
              <a:sym typeface="Patrick Hand"/>
            </a:endParaRPr>
          </a:p>
        </p:txBody>
      </p:sp>
      <p:sp>
        <p:nvSpPr>
          <p:cNvPr id="296" name="Google Shape;296;g237be279222_0_98"/>
          <p:cNvSpPr txBox="1"/>
          <p:nvPr/>
        </p:nvSpPr>
        <p:spPr>
          <a:xfrm>
            <a:off x="3707825" y="5608113"/>
            <a:ext cx="3619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6                </a:t>
            </a:r>
            <a:r>
              <a:rPr lang="es-CL" sz="3200">
                <a:solidFill>
                  <a:schemeClr val="dk1"/>
                </a:solidFill>
                <a:latin typeface="Patrick Hand"/>
                <a:ea typeface="Patrick Hand"/>
                <a:cs typeface="Patrick Hand"/>
                <a:sym typeface="Patrick Hand"/>
              </a:rPr>
              <a:t>3</a:t>
            </a:r>
            <a:r>
              <a:rPr b="0" i="0" lang="es-CL" sz="3200" u="none" cap="none" strike="noStrike">
                <a:solidFill>
                  <a:schemeClr val="dk1"/>
                </a:solidFill>
                <a:latin typeface="Patrick Hand"/>
                <a:ea typeface="Patrick Hand"/>
                <a:cs typeface="Patrick Hand"/>
                <a:sym typeface="Patrick Hand"/>
              </a:rPr>
              <a:t>          1</a:t>
            </a:r>
            <a:r>
              <a:rPr lang="es-CL" sz="3200">
                <a:solidFill>
                  <a:schemeClr val="dk1"/>
                </a:solidFill>
                <a:latin typeface="Patrick Hand"/>
                <a:ea typeface="Patrick Hand"/>
                <a:cs typeface="Patrick Hand"/>
                <a:sym typeface="Patrick Hand"/>
              </a:rPr>
              <a:t>8</a:t>
            </a:r>
            <a:endParaRPr b="0" i="0" sz="3200" u="none" cap="none" strike="noStrike">
              <a:solidFill>
                <a:schemeClr val="dk1"/>
              </a:solidFill>
              <a:latin typeface="Patrick Hand"/>
              <a:ea typeface="Patrick Hand"/>
              <a:cs typeface="Patrick Hand"/>
              <a:sym typeface="Patrick Hand"/>
            </a:endParaRPr>
          </a:p>
        </p:txBody>
      </p:sp>
      <p:sp>
        <p:nvSpPr>
          <p:cNvPr id="297" name="Google Shape;297;g237be279222_0_98"/>
          <p:cNvSpPr/>
          <p:nvPr/>
        </p:nvSpPr>
        <p:spPr>
          <a:xfrm>
            <a:off x="120775" y="9919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g237be279222_0_98"/>
          <p:cNvSpPr/>
          <p:nvPr/>
        </p:nvSpPr>
        <p:spPr>
          <a:xfrm>
            <a:off x="2127625" y="9919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237be279222_0_98"/>
          <p:cNvSpPr/>
          <p:nvPr/>
        </p:nvSpPr>
        <p:spPr>
          <a:xfrm>
            <a:off x="4134475" y="9919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g237be279222_0_98"/>
          <p:cNvSpPr/>
          <p:nvPr/>
        </p:nvSpPr>
        <p:spPr>
          <a:xfrm>
            <a:off x="6162775" y="9919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237be279222_0_98"/>
          <p:cNvSpPr/>
          <p:nvPr/>
        </p:nvSpPr>
        <p:spPr>
          <a:xfrm>
            <a:off x="120775" y="26932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g237be279222_0_98"/>
          <p:cNvSpPr/>
          <p:nvPr/>
        </p:nvSpPr>
        <p:spPr>
          <a:xfrm>
            <a:off x="2127625" y="26932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237be279222_0_98"/>
          <p:cNvSpPr/>
          <p:nvPr/>
        </p:nvSpPr>
        <p:spPr>
          <a:xfrm>
            <a:off x="4134475" y="26932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237be279222_0_98"/>
          <p:cNvSpPr/>
          <p:nvPr/>
        </p:nvSpPr>
        <p:spPr>
          <a:xfrm>
            <a:off x="6204938" y="26932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g237be279222_0_98"/>
          <p:cNvSpPr/>
          <p:nvPr/>
        </p:nvSpPr>
        <p:spPr>
          <a:xfrm>
            <a:off x="8275425" y="26932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237be279222_0_98"/>
          <p:cNvSpPr/>
          <p:nvPr/>
        </p:nvSpPr>
        <p:spPr>
          <a:xfrm>
            <a:off x="120775" y="43945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g237be279222_0_98"/>
          <p:cNvSpPr/>
          <p:nvPr/>
        </p:nvSpPr>
        <p:spPr>
          <a:xfrm>
            <a:off x="2127625" y="43945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g237be279222_0_98"/>
          <p:cNvSpPr/>
          <p:nvPr/>
        </p:nvSpPr>
        <p:spPr>
          <a:xfrm>
            <a:off x="4134475" y="43945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g237be279222_0_98"/>
          <p:cNvSpPr/>
          <p:nvPr/>
        </p:nvSpPr>
        <p:spPr>
          <a:xfrm>
            <a:off x="6060475" y="4394575"/>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237be279222_0_98"/>
          <p:cNvSpPr/>
          <p:nvPr/>
        </p:nvSpPr>
        <p:spPr>
          <a:xfrm>
            <a:off x="8148175" y="4337350"/>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g237be279222_0_98"/>
          <p:cNvSpPr/>
          <p:nvPr/>
        </p:nvSpPr>
        <p:spPr>
          <a:xfrm>
            <a:off x="10150375" y="4337350"/>
            <a:ext cx="19260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2" name="Google Shape;312;g237be279222_0_98"/>
          <p:cNvPicPr preferRelativeResize="0"/>
          <p:nvPr/>
        </p:nvPicPr>
        <p:blipFill>
          <a:blip r:embed="rId4">
            <a:alphaModFix/>
          </a:blip>
          <a:stretch>
            <a:fillRect/>
          </a:stretch>
        </p:blipFill>
        <p:spPr>
          <a:xfrm>
            <a:off x="11081375" y="627425"/>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g25bf903a7d5_1_16"/>
          <p:cNvPicPr preferRelativeResize="0"/>
          <p:nvPr/>
        </p:nvPicPr>
        <p:blipFill rotWithShape="1">
          <a:blip r:embed="rId3">
            <a:alphaModFix/>
          </a:blip>
          <a:srcRect b="0" l="0" r="0" t="0"/>
          <a:stretch/>
        </p:blipFill>
        <p:spPr>
          <a:xfrm>
            <a:off x="0" y="0"/>
            <a:ext cx="12192000" cy="6858035"/>
          </a:xfrm>
          <a:prstGeom prst="rect">
            <a:avLst/>
          </a:prstGeom>
          <a:noFill/>
          <a:ln>
            <a:noFill/>
          </a:ln>
        </p:spPr>
      </p:pic>
      <p:sp>
        <p:nvSpPr>
          <p:cNvPr id="318" name="Google Shape;318;g25bf903a7d5_1_16"/>
          <p:cNvSpPr txBox="1"/>
          <p:nvPr/>
        </p:nvSpPr>
        <p:spPr>
          <a:xfrm>
            <a:off x="-1" y="4828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3 </a:t>
            </a:r>
            <a:endParaRPr b="1" i="0" sz="4400" u="none" cap="none" strike="noStrike">
              <a:solidFill>
                <a:schemeClr val="dk1"/>
              </a:solidFill>
              <a:latin typeface="Patrick Hand"/>
              <a:ea typeface="Patrick Hand"/>
              <a:cs typeface="Patrick Hand"/>
              <a:sym typeface="Patrick Hand"/>
            </a:endParaRPr>
          </a:p>
        </p:txBody>
      </p:sp>
      <p:sp>
        <p:nvSpPr>
          <p:cNvPr id="319" name="Google Shape;319;g25bf903a7d5_1_16"/>
          <p:cNvSpPr txBox="1"/>
          <p:nvPr/>
        </p:nvSpPr>
        <p:spPr>
          <a:xfrm>
            <a:off x="240750" y="1164850"/>
            <a:ext cx="117105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600"/>
              <a:buFont typeface="Arial"/>
              <a:buNone/>
            </a:pPr>
            <a:r>
              <a:rPr b="0" i="0" lang="es-CL" sz="2600" u="none" cap="none" strike="noStrike">
                <a:solidFill>
                  <a:schemeClr val="dk1"/>
                </a:solidFill>
                <a:latin typeface="Patrick Hand"/>
                <a:ea typeface="Patrick Hand"/>
                <a:cs typeface="Patrick Hand"/>
                <a:sym typeface="Patrick Hand"/>
              </a:rPr>
              <a:t>Resolvamos estos ejercicios, recordando que no importa el orden de los n°</a:t>
            </a:r>
            <a:r>
              <a:rPr lang="es-CL" sz="2600">
                <a:solidFill>
                  <a:schemeClr val="dk1"/>
                </a:solidFill>
                <a:latin typeface="Patrick Hand"/>
                <a:ea typeface="Patrick Hand"/>
                <a:cs typeface="Patrick Hand"/>
                <a:sym typeface="Patrick Hand"/>
              </a:rPr>
              <a:t>; </a:t>
            </a:r>
            <a:r>
              <a:rPr b="0" i="0" lang="es-CL" sz="2600" u="none" cap="none" strike="noStrike">
                <a:solidFill>
                  <a:schemeClr val="dk1"/>
                </a:solidFill>
                <a:latin typeface="Patrick Hand"/>
                <a:ea typeface="Patrick Hand"/>
                <a:cs typeface="Patrick Hand"/>
                <a:sym typeface="Patrick Hand"/>
              </a:rPr>
              <a:t>la respuesta debe ser la misma.</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3 x 4 =                                                    4 x 3 = </a:t>
            </a:r>
            <a:endParaRPr b="0" i="0" sz="2800" u="none" cap="none" strike="noStrike">
              <a:solidFill>
                <a:schemeClr val="dk1"/>
              </a:solidFill>
              <a:latin typeface="Patrick Hand"/>
              <a:ea typeface="Patrick Hand"/>
              <a:cs typeface="Patrick Hand"/>
              <a:sym typeface="Patrick Hand"/>
            </a:endParaRPr>
          </a:p>
        </p:txBody>
      </p:sp>
      <p:sp>
        <p:nvSpPr>
          <p:cNvPr id="320" name="Google Shape;320;g25bf903a7d5_1_16"/>
          <p:cNvSpPr txBox="1"/>
          <p:nvPr/>
        </p:nvSpPr>
        <p:spPr>
          <a:xfrm>
            <a:off x="240750" y="4946000"/>
            <a:ext cx="9469800" cy="615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3 x 6 =                                                    __ x __ = </a:t>
            </a:r>
            <a:endParaRPr b="0" i="0" sz="1400" u="none" cap="none" strike="noStrike">
              <a:solidFill>
                <a:srgbClr val="000000"/>
              </a:solidFill>
              <a:latin typeface="Arial"/>
              <a:ea typeface="Arial"/>
              <a:cs typeface="Arial"/>
              <a:sym typeface="Arial"/>
            </a:endParaRPr>
          </a:p>
        </p:txBody>
      </p:sp>
      <p:pic>
        <p:nvPicPr>
          <p:cNvPr id="321" name="Google Shape;321;g25bf903a7d5_1_16"/>
          <p:cNvPicPr preferRelativeResize="0"/>
          <p:nvPr/>
        </p:nvPicPr>
        <p:blipFill rotWithShape="1">
          <a:blip r:embed="rId4">
            <a:alphaModFix/>
          </a:blip>
          <a:srcRect b="0" l="0" r="0" t="93112"/>
          <a:stretch/>
        </p:blipFill>
        <p:spPr>
          <a:xfrm>
            <a:off x="0" y="6385650"/>
            <a:ext cx="12192000" cy="472324"/>
          </a:xfrm>
          <a:prstGeom prst="rect">
            <a:avLst/>
          </a:prstGeom>
          <a:noFill/>
          <a:ln>
            <a:noFill/>
          </a:ln>
        </p:spPr>
      </p:pic>
      <p:sp>
        <p:nvSpPr>
          <p:cNvPr id="322" name="Google Shape;322;g25bf903a7d5_1_16"/>
          <p:cNvSpPr txBox="1"/>
          <p:nvPr/>
        </p:nvSpPr>
        <p:spPr>
          <a:xfrm>
            <a:off x="5103450" y="3615125"/>
            <a:ext cx="30000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¿Qué multiplicación debería ir aquí?</a:t>
            </a:r>
            <a:endParaRPr b="0" i="0" sz="1400" u="none" cap="none" strike="noStrike">
              <a:solidFill>
                <a:srgbClr val="000000"/>
              </a:solidFill>
              <a:latin typeface="Arial"/>
              <a:ea typeface="Arial"/>
              <a:cs typeface="Arial"/>
              <a:sym typeface="Arial"/>
            </a:endParaRPr>
          </a:p>
        </p:txBody>
      </p:sp>
      <p:sp>
        <p:nvSpPr>
          <p:cNvPr id="323" name="Google Shape;323;g25bf903a7d5_1_16"/>
          <p:cNvSpPr/>
          <p:nvPr/>
        </p:nvSpPr>
        <p:spPr>
          <a:xfrm>
            <a:off x="5283450" y="3516475"/>
            <a:ext cx="2834100" cy="1224600"/>
          </a:xfrm>
          <a:prstGeom prst="wedgeRoundRectCallout">
            <a:avLst>
              <a:gd fmla="val -20833" name="adj1"/>
              <a:gd fmla="val 62500" name="adj2"/>
              <a:gd fmla="val 0" name="adj3"/>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25bf903a7d5_1_16"/>
          <p:cNvSpPr txBox="1"/>
          <p:nvPr/>
        </p:nvSpPr>
        <p:spPr>
          <a:xfrm>
            <a:off x="1850275" y="230395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12</a:t>
            </a:r>
            <a:endParaRPr b="0" i="0" sz="1400" u="none" cap="none" strike="noStrike">
              <a:solidFill>
                <a:srgbClr val="000000"/>
              </a:solidFill>
              <a:latin typeface="Arial"/>
              <a:ea typeface="Arial"/>
              <a:cs typeface="Arial"/>
              <a:sym typeface="Arial"/>
            </a:endParaRPr>
          </a:p>
        </p:txBody>
      </p:sp>
      <p:sp>
        <p:nvSpPr>
          <p:cNvPr id="325" name="Google Shape;325;g25bf903a7d5_1_16"/>
          <p:cNvSpPr txBox="1"/>
          <p:nvPr/>
        </p:nvSpPr>
        <p:spPr>
          <a:xfrm>
            <a:off x="7058700" y="230395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12</a:t>
            </a:r>
            <a:endParaRPr b="0" i="0" sz="1400" u="none" cap="none" strike="noStrike">
              <a:solidFill>
                <a:srgbClr val="000000"/>
              </a:solidFill>
              <a:latin typeface="Arial"/>
              <a:ea typeface="Arial"/>
              <a:cs typeface="Arial"/>
              <a:sym typeface="Arial"/>
            </a:endParaRPr>
          </a:p>
        </p:txBody>
      </p:sp>
      <p:sp>
        <p:nvSpPr>
          <p:cNvPr id="326" name="Google Shape;326;g25bf903a7d5_1_16"/>
          <p:cNvSpPr txBox="1"/>
          <p:nvPr/>
        </p:nvSpPr>
        <p:spPr>
          <a:xfrm>
            <a:off x="1962650" y="49460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18</a:t>
            </a:r>
            <a:endParaRPr b="0" i="0" sz="1400" u="none" cap="none" strike="noStrike">
              <a:solidFill>
                <a:srgbClr val="000000"/>
              </a:solidFill>
              <a:latin typeface="Arial"/>
              <a:ea typeface="Arial"/>
              <a:cs typeface="Arial"/>
              <a:sym typeface="Arial"/>
            </a:endParaRPr>
          </a:p>
        </p:txBody>
      </p:sp>
      <p:sp>
        <p:nvSpPr>
          <p:cNvPr id="327" name="Google Shape;327;g25bf903a7d5_1_16"/>
          <p:cNvSpPr txBox="1"/>
          <p:nvPr/>
        </p:nvSpPr>
        <p:spPr>
          <a:xfrm>
            <a:off x="7451000" y="49460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18</a:t>
            </a:r>
            <a:endParaRPr b="0" i="0" sz="1400" u="none" cap="none" strike="noStrike">
              <a:solidFill>
                <a:srgbClr val="000000"/>
              </a:solidFill>
              <a:latin typeface="Arial"/>
              <a:ea typeface="Arial"/>
              <a:cs typeface="Arial"/>
              <a:sym typeface="Arial"/>
            </a:endParaRPr>
          </a:p>
        </p:txBody>
      </p:sp>
      <p:sp>
        <p:nvSpPr>
          <p:cNvPr id="328" name="Google Shape;328;g25bf903a7d5_1_16"/>
          <p:cNvSpPr txBox="1"/>
          <p:nvPr/>
        </p:nvSpPr>
        <p:spPr>
          <a:xfrm>
            <a:off x="6585850" y="4833225"/>
            <a:ext cx="6648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CL" sz="2900" u="none" cap="none" strike="noStrike">
                <a:solidFill>
                  <a:schemeClr val="dk1"/>
                </a:solidFill>
                <a:latin typeface="Patrick Hand"/>
                <a:ea typeface="Patrick Hand"/>
                <a:cs typeface="Patrick Hand"/>
                <a:sym typeface="Patrick Hand"/>
              </a:rPr>
              <a:t>3 </a:t>
            </a:r>
            <a:endParaRPr b="0" i="0" sz="1500" u="none" cap="none" strike="noStrike">
              <a:solidFill>
                <a:srgbClr val="000000"/>
              </a:solidFill>
              <a:latin typeface="Arial"/>
              <a:ea typeface="Arial"/>
              <a:cs typeface="Arial"/>
              <a:sym typeface="Arial"/>
            </a:endParaRPr>
          </a:p>
        </p:txBody>
      </p:sp>
      <p:sp>
        <p:nvSpPr>
          <p:cNvPr id="329" name="Google Shape;329;g25bf903a7d5_1_16"/>
          <p:cNvSpPr txBox="1"/>
          <p:nvPr/>
        </p:nvSpPr>
        <p:spPr>
          <a:xfrm>
            <a:off x="5921050" y="4862000"/>
            <a:ext cx="6648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CL" sz="2900" u="none" cap="none" strike="noStrike">
                <a:solidFill>
                  <a:schemeClr val="dk1"/>
                </a:solidFill>
                <a:latin typeface="Patrick Hand"/>
                <a:ea typeface="Patrick Hand"/>
                <a:cs typeface="Patrick Hand"/>
                <a:sym typeface="Patrick Hand"/>
              </a:rPr>
              <a:t>6 </a:t>
            </a:r>
            <a:endParaRPr b="0" i="0" sz="1500" u="none" cap="none" strike="noStrike">
              <a:solidFill>
                <a:srgbClr val="000000"/>
              </a:solidFill>
              <a:latin typeface="Arial"/>
              <a:ea typeface="Arial"/>
              <a:cs typeface="Arial"/>
              <a:sym typeface="Arial"/>
            </a:endParaRPr>
          </a:p>
        </p:txBody>
      </p:sp>
      <p:pic>
        <p:nvPicPr>
          <p:cNvPr id="330" name="Google Shape;330;g25bf903a7d5_1_16"/>
          <p:cNvPicPr preferRelativeResize="0"/>
          <p:nvPr/>
        </p:nvPicPr>
        <p:blipFill>
          <a:blip r:embed="rId5">
            <a:alphaModFix/>
          </a:blip>
          <a:stretch>
            <a:fillRect/>
          </a:stretch>
        </p:blipFill>
        <p:spPr>
          <a:xfrm>
            <a:off x="10975550" y="5211275"/>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g237be279222_0_3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6" name="Google Shape;336;g237be279222_0_36"/>
          <p:cNvSpPr txBox="1"/>
          <p:nvPr/>
        </p:nvSpPr>
        <p:spPr>
          <a:xfrm>
            <a:off x="54649" y="4106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¡Desafío!</a:t>
            </a:r>
            <a:endParaRPr b="1" i="0" sz="4400" u="none" cap="none" strike="noStrike">
              <a:solidFill>
                <a:schemeClr val="dk1"/>
              </a:solidFill>
              <a:latin typeface="Patrick Hand"/>
              <a:ea typeface="Patrick Hand"/>
              <a:cs typeface="Patrick Hand"/>
              <a:sym typeface="Patrick Hand"/>
            </a:endParaRPr>
          </a:p>
        </p:txBody>
      </p:sp>
      <p:sp>
        <p:nvSpPr>
          <p:cNvPr id="337" name="Google Shape;337;g237be279222_0_36"/>
          <p:cNvSpPr txBox="1"/>
          <p:nvPr/>
        </p:nvSpPr>
        <p:spPr>
          <a:xfrm>
            <a:off x="1452075" y="1592025"/>
            <a:ext cx="10101000" cy="954300"/>
          </a:xfrm>
          <a:prstGeom prst="rect">
            <a:avLst/>
          </a:prstGeom>
          <a:noFill/>
          <a:ln>
            <a:noFill/>
          </a:ln>
        </p:spPr>
        <p:txBody>
          <a:bodyPr anchorCtr="0" anchor="t" bIns="45700" lIns="91425" spcFirstLastPara="1" rIns="91425" wrap="square" tIns="45700">
            <a:spAutoFit/>
          </a:bodyPr>
          <a:lstStyle/>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Josefina tiene en su casa 6 floreros y en cada uno hay 3 flores. ¿Cuántas flores hay en total en los 6 floreros? </a:t>
            </a:r>
            <a:endParaRPr b="0" i="0" sz="2800" u="none" cap="none" strike="noStrike">
              <a:solidFill>
                <a:schemeClr val="dk1"/>
              </a:solidFill>
              <a:latin typeface="Patrick Hand"/>
              <a:ea typeface="Patrick Hand"/>
              <a:cs typeface="Patrick Hand"/>
              <a:sym typeface="Patrick Hand"/>
            </a:endParaRPr>
          </a:p>
        </p:txBody>
      </p:sp>
      <p:sp>
        <p:nvSpPr>
          <p:cNvPr id="338" name="Google Shape;338;g237be279222_0_36"/>
          <p:cNvSpPr txBox="1"/>
          <p:nvPr/>
        </p:nvSpPr>
        <p:spPr>
          <a:xfrm>
            <a:off x="2008850" y="5023725"/>
            <a:ext cx="3714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___  x ___  =</a:t>
            </a:r>
            <a:endParaRPr b="0" i="0" sz="2800" u="none" cap="none" strike="noStrike">
              <a:solidFill>
                <a:schemeClr val="dk1"/>
              </a:solidFill>
              <a:latin typeface="Patrick Hand"/>
              <a:ea typeface="Patrick Hand"/>
              <a:cs typeface="Patrick Hand"/>
              <a:sym typeface="Patrick Hand"/>
            </a:endParaRPr>
          </a:p>
        </p:txBody>
      </p:sp>
      <p:sp>
        <p:nvSpPr>
          <p:cNvPr id="339" name="Google Shape;339;g237be279222_0_36"/>
          <p:cNvSpPr txBox="1"/>
          <p:nvPr/>
        </p:nvSpPr>
        <p:spPr>
          <a:xfrm>
            <a:off x="6622450" y="4871325"/>
            <a:ext cx="4461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Hay  ___ flores en total.</a:t>
            </a:r>
            <a:endParaRPr b="0" i="0" sz="2800" u="none" cap="none" strike="noStrike">
              <a:solidFill>
                <a:schemeClr val="dk1"/>
              </a:solidFill>
              <a:latin typeface="Patrick Hand"/>
              <a:ea typeface="Patrick Hand"/>
              <a:cs typeface="Patrick Hand"/>
              <a:sym typeface="Patrick Hand"/>
            </a:endParaRPr>
          </a:p>
        </p:txBody>
      </p:sp>
      <p:sp>
        <p:nvSpPr>
          <p:cNvPr id="340" name="Google Shape;340;g237be279222_0_36"/>
          <p:cNvSpPr txBox="1"/>
          <p:nvPr/>
        </p:nvSpPr>
        <p:spPr>
          <a:xfrm>
            <a:off x="2041675" y="5412963"/>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341" name="Google Shape;341;g237be279222_0_36"/>
          <p:cNvSpPr/>
          <p:nvPr/>
        </p:nvSpPr>
        <p:spPr>
          <a:xfrm>
            <a:off x="1452075" y="1592025"/>
            <a:ext cx="9956100" cy="4321200"/>
          </a:xfrm>
          <a:prstGeom prst="roundRect">
            <a:avLst>
              <a:gd fmla="val 14215" name="adj"/>
            </a:avLst>
          </a:prstGeom>
          <a:noFill/>
          <a:ln cap="flat" cmpd="sng" w="19050">
            <a:solidFill>
              <a:srgbClr val="00928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g237be279222_0_36"/>
          <p:cNvSpPr txBox="1"/>
          <p:nvPr/>
        </p:nvSpPr>
        <p:spPr>
          <a:xfrm>
            <a:off x="2051575" y="4431575"/>
            <a:ext cx="3714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 ___  veces ___ </a:t>
            </a:r>
            <a:endParaRPr b="0" i="0" sz="2400" u="none" cap="none" strike="noStrike">
              <a:solidFill>
                <a:schemeClr val="dk1"/>
              </a:solidFill>
              <a:latin typeface="Patrick Hand"/>
              <a:ea typeface="Patrick Hand"/>
              <a:cs typeface="Patrick Hand"/>
              <a:sym typeface="Patrick Hand"/>
            </a:endParaRPr>
          </a:p>
        </p:txBody>
      </p:sp>
      <p:sp>
        <p:nvSpPr>
          <p:cNvPr id="343" name="Google Shape;343;g237be279222_0_36"/>
          <p:cNvSpPr txBox="1"/>
          <p:nvPr/>
        </p:nvSpPr>
        <p:spPr>
          <a:xfrm>
            <a:off x="2256450" y="434007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6 </a:t>
            </a:r>
            <a:endParaRPr b="0" i="0" sz="1400" u="none" cap="none" strike="noStrike">
              <a:solidFill>
                <a:srgbClr val="000000"/>
              </a:solidFill>
              <a:latin typeface="Arial"/>
              <a:ea typeface="Arial"/>
              <a:cs typeface="Arial"/>
              <a:sym typeface="Arial"/>
            </a:endParaRPr>
          </a:p>
        </p:txBody>
      </p:sp>
      <p:sp>
        <p:nvSpPr>
          <p:cNvPr id="344" name="Google Shape;344;g237be279222_0_36"/>
          <p:cNvSpPr txBox="1"/>
          <p:nvPr/>
        </p:nvSpPr>
        <p:spPr>
          <a:xfrm>
            <a:off x="2256450" y="48713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345" name="Google Shape;345;g237be279222_0_36"/>
          <p:cNvSpPr txBox="1"/>
          <p:nvPr/>
        </p:nvSpPr>
        <p:spPr>
          <a:xfrm>
            <a:off x="3727100" y="4376100"/>
            <a:ext cx="5823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3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a:t>
            </a:r>
            <a:endParaRPr b="0" i="0" sz="1400" u="none" cap="none" strike="noStrike">
              <a:solidFill>
                <a:srgbClr val="000000"/>
              </a:solidFill>
              <a:latin typeface="Arial"/>
              <a:ea typeface="Arial"/>
              <a:cs typeface="Arial"/>
              <a:sym typeface="Arial"/>
            </a:endParaRPr>
          </a:p>
        </p:txBody>
      </p:sp>
      <p:sp>
        <p:nvSpPr>
          <p:cNvPr id="346" name="Google Shape;346;g237be279222_0_36"/>
          <p:cNvSpPr txBox="1"/>
          <p:nvPr/>
        </p:nvSpPr>
        <p:spPr>
          <a:xfrm>
            <a:off x="3196125" y="48713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3 </a:t>
            </a:r>
            <a:endParaRPr b="0" i="0" sz="1400" u="none" cap="none" strike="noStrike">
              <a:solidFill>
                <a:srgbClr val="000000"/>
              </a:solidFill>
              <a:latin typeface="Arial"/>
              <a:ea typeface="Arial"/>
              <a:cs typeface="Arial"/>
              <a:sym typeface="Arial"/>
            </a:endParaRPr>
          </a:p>
        </p:txBody>
      </p:sp>
      <p:sp>
        <p:nvSpPr>
          <p:cNvPr id="347" name="Google Shape;347;g237be279222_0_36"/>
          <p:cNvSpPr txBox="1"/>
          <p:nvPr/>
        </p:nvSpPr>
        <p:spPr>
          <a:xfrm>
            <a:off x="4363250" y="50237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18</a:t>
            </a:r>
            <a:endParaRPr b="0" i="0" sz="1400" u="none" cap="none" strike="noStrike">
              <a:solidFill>
                <a:srgbClr val="000000"/>
              </a:solidFill>
              <a:latin typeface="Arial"/>
              <a:ea typeface="Arial"/>
              <a:cs typeface="Arial"/>
              <a:sym typeface="Arial"/>
            </a:endParaRPr>
          </a:p>
        </p:txBody>
      </p:sp>
      <p:sp>
        <p:nvSpPr>
          <p:cNvPr id="348" name="Google Shape;348;g237be279222_0_36"/>
          <p:cNvSpPr txBox="1"/>
          <p:nvPr/>
        </p:nvSpPr>
        <p:spPr>
          <a:xfrm>
            <a:off x="7429300" y="48713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18</a:t>
            </a:r>
            <a:endParaRPr b="0" i="0" sz="1400" u="none" cap="none" strike="noStrike">
              <a:solidFill>
                <a:srgbClr val="000000"/>
              </a:solidFill>
              <a:latin typeface="Arial"/>
              <a:ea typeface="Arial"/>
              <a:cs typeface="Arial"/>
              <a:sym typeface="Arial"/>
            </a:endParaRPr>
          </a:p>
        </p:txBody>
      </p:sp>
      <p:sp>
        <p:nvSpPr>
          <p:cNvPr id="349" name="Google Shape;349;g237be279222_0_36"/>
          <p:cNvSpPr txBox="1"/>
          <p:nvPr/>
        </p:nvSpPr>
        <p:spPr>
          <a:xfrm>
            <a:off x="54650" y="985900"/>
            <a:ext cx="4461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Resolvamos lo siguiente: </a:t>
            </a:r>
            <a:endParaRPr b="0" i="0" sz="2800" u="none" cap="none" strike="noStrike">
              <a:solidFill>
                <a:schemeClr val="dk1"/>
              </a:solidFill>
              <a:latin typeface="Patrick Hand"/>
              <a:ea typeface="Patrick Hand"/>
              <a:cs typeface="Patrick Hand"/>
              <a:sym typeface="Patrick Hand"/>
            </a:endParaRPr>
          </a:p>
        </p:txBody>
      </p:sp>
      <p:pic>
        <p:nvPicPr>
          <p:cNvPr id="350" name="Google Shape;350;g237be279222_0_36"/>
          <p:cNvPicPr preferRelativeResize="0"/>
          <p:nvPr/>
        </p:nvPicPr>
        <p:blipFill>
          <a:blip r:embed="rId4">
            <a:alphaModFix/>
          </a:blip>
          <a:stretch>
            <a:fillRect/>
          </a:stretch>
        </p:blipFill>
        <p:spPr>
          <a:xfrm>
            <a:off x="11084050" y="5211250"/>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descr="Forma&#10;&#10;Descripción generada automáticamente con confianza media" id="355" name="Google Shape;355;g237be279222_0_130"/>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56" name="Google Shape;356;g237be279222_0_130"/>
          <p:cNvSpPr txBox="1"/>
          <p:nvPr/>
        </p:nvSpPr>
        <p:spPr>
          <a:xfrm>
            <a:off x="247699" y="4692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3 </a:t>
            </a:r>
            <a:endParaRPr b="1" i="0" sz="4400" u="none" cap="none" strike="noStrike">
              <a:solidFill>
                <a:schemeClr val="dk1"/>
              </a:solidFill>
              <a:latin typeface="Patrick Hand"/>
              <a:ea typeface="Patrick Hand"/>
              <a:cs typeface="Patrick Hand"/>
              <a:sym typeface="Patrick Hand"/>
            </a:endParaRPr>
          </a:p>
        </p:txBody>
      </p:sp>
      <p:pic>
        <p:nvPicPr>
          <p:cNvPr descr="Hola, aqui les dejo este video en donde les explico un hack para aprenderse las tabla del 3, truco para aprenderse la tabla del 3&#10;&#10;✉️ NEGOCIOS / CONTRATACIONES / PRENSA: contacto@danielcarreon.com.mx&#10;&#10;&#10;Únete a este canal para acceder a sus beneficios: https://www.youtube.com/channel/UCwScwtu5zVqc_wHtRx9XvDA/join &#10;&#10;¡¡Sígueme en mis redes sociales!! &#10;✉️ NEGOCIOS / CONTRATACIONES / PRENSA: contacto@danielcarreon.com.mx&#10;INSTAGRAM: https://www.instagram.com/soydanielcarreon/&#10;FACEBOOK: https://www.facebook.com/SoyDanielCarreon &#10;TIK TOK : https://vm.tiktok.com/ZMeMKc9eP/&#10;TWITTER: https://twitter.com/danielcarreonyt?lang=es&#10;&#10; CANALES DE MIS HERMANOS&#10; ROCIÓ CARREON https://www.youtube.com/c/RocioCarreon&#10; MARIO CARREON https://www.youtube.com/c/MARIOCARREÓN&#10;&#10;Descarga mi app MATES CON DANIEL aquí: &#10;ANDROID: https://play.google.com/store/apps/details?id=io.educup.matescondaniel&#10;IOS: https://matescondaniel.page.link/app&#10;&#10;SUSCRIBETE!!! Si llegaste hasta aquí comenta: &quot;¡Aprendamos juntos!&quot;" id="357" name="Google Shape;357;g237be279222_0_130" title="TRUCO TABLA DEL 3 / HACK TABLA DEL 3 Facilísimo!!">
            <a:hlinkClick r:id="rId4"/>
          </p:cNvPr>
          <p:cNvPicPr preferRelativeResize="0"/>
          <p:nvPr/>
        </p:nvPicPr>
        <p:blipFill rotWithShape="1">
          <a:blip r:embed="rId5">
            <a:alphaModFix/>
          </a:blip>
          <a:srcRect b="0" l="0" r="0" t="0"/>
          <a:stretch/>
        </p:blipFill>
        <p:spPr>
          <a:xfrm>
            <a:off x="2212125" y="1887250"/>
            <a:ext cx="7375075" cy="4148475"/>
          </a:xfrm>
          <a:prstGeom prst="rect">
            <a:avLst/>
          </a:prstGeom>
          <a:noFill/>
          <a:ln>
            <a:noFill/>
          </a:ln>
        </p:spPr>
      </p:pic>
      <p:sp>
        <p:nvSpPr>
          <p:cNvPr id="358" name="Google Shape;358;g237be279222_0_130"/>
          <p:cNvSpPr txBox="1"/>
          <p:nvPr/>
        </p:nvSpPr>
        <p:spPr>
          <a:xfrm>
            <a:off x="484800" y="1267025"/>
            <a:ext cx="10012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Revisemos el siguiente truco para aprender la tabla del 3</a:t>
            </a:r>
            <a:endParaRPr b="0" i="0" sz="1400" u="none" cap="none" strike="noStrike">
              <a:solidFill>
                <a:srgbClr val="000000"/>
              </a:solidFill>
              <a:latin typeface="Arial"/>
              <a:ea typeface="Arial"/>
              <a:cs typeface="Arial"/>
              <a:sym typeface="Arial"/>
            </a:endParaRPr>
          </a:p>
        </p:txBody>
      </p:sp>
      <p:pic>
        <p:nvPicPr>
          <p:cNvPr id="359" name="Google Shape;359;g237be279222_0_130"/>
          <p:cNvPicPr preferRelativeResize="0"/>
          <p:nvPr/>
        </p:nvPicPr>
        <p:blipFill>
          <a:blip r:embed="rId6">
            <a:alphaModFix/>
          </a:blip>
          <a:stretch>
            <a:fillRect/>
          </a:stretch>
        </p:blipFill>
        <p:spPr>
          <a:xfrm>
            <a:off x="11028075" y="5246800"/>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1000"/>
                                        <p:tgtEl>
                                          <p:spTgt spid="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descr="Forma&#10;&#10;Descripción generada automáticamente con confianza media" id="364" name="Google Shape;364;g237be279222_0_119"/>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65" name="Google Shape;365;g237be279222_0_119"/>
          <p:cNvSpPr txBox="1"/>
          <p:nvPr/>
        </p:nvSpPr>
        <p:spPr>
          <a:xfrm>
            <a:off x="99224" y="4693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3 </a:t>
            </a:r>
            <a:endParaRPr b="1" i="0" sz="4400" u="none" cap="none" strike="noStrike">
              <a:solidFill>
                <a:schemeClr val="dk1"/>
              </a:solidFill>
              <a:latin typeface="Patrick Hand"/>
              <a:ea typeface="Patrick Hand"/>
              <a:cs typeface="Patrick Hand"/>
              <a:sym typeface="Patrick Hand"/>
            </a:endParaRPr>
          </a:p>
        </p:txBody>
      </p:sp>
      <p:sp>
        <p:nvSpPr>
          <p:cNvPr id="366" name="Google Shape;366;g237be279222_0_119"/>
          <p:cNvSpPr txBox="1"/>
          <p:nvPr/>
        </p:nvSpPr>
        <p:spPr>
          <a:xfrm>
            <a:off x="632600" y="1162600"/>
            <a:ext cx="11088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¡Tarea</a:t>
            </a:r>
            <a:r>
              <a:rPr lang="es-CL" sz="3200">
                <a:solidFill>
                  <a:schemeClr val="dk1"/>
                </a:solidFill>
                <a:latin typeface="Patrick Hand"/>
                <a:ea typeface="Patrick Hand"/>
                <a:cs typeface="Patrick Hand"/>
                <a:sym typeface="Patrick Hand"/>
              </a:rPr>
              <a:t>! ¡A</a:t>
            </a:r>
            <a:r>
              <a:rPr b="0" i="0" lang="es-CL" sz="3200" u="none" cap="none" strike="noStrike">
                <a:solidFill>
                  <a:schemeClr val="dk1"/>
                </a:solidFill>
                <a:latin typeface="Patrick Hand"/>
                <a:ea typeface="Patrick Hand"/>
                <a:cs typeface="Patrick Hand"/>
                <a:sym typeface="Patrick Hand"/>
              </a:rPr>
              <a:t>prendamos la tabla de 3!</a:t>
            </a:r>
            <a:endParaRPr b="0" i="0" sz="3200" u="none" cap="none" strike="noStrike">
              <a:solidFill>
                <a:schemeClr val="dk1"/>
              </a:solidFill>
              <a:latin typeface="Patrick Hand"/>
              <a:ea typeface="Patrick Hand"/>
              <a:cs typeface="Patrick Hand"/>
              <a:sym typeface="Patrick Hand"/>
            </a:endParaRPr>
          </a:p>
        </p:txBody>
      </p:sp>
      <p:sp>
        <p:nvSpPr>
          <p:cNvPr id="367" name="Google Shape;367;g237be279222_0_119"/>
          <p:cNvSpPr/>
          <p:nvPr/>
        </p:nvSpPr>
        <p:spPr>
          <a:xfrm>
            <a:off x="4567725" y="1758025"/>
            <a:ext cx="2606700" cy="4494600"/>
          </a:xfrm>
          <a:prstGeom prst="roundRect">
            <a:avLst>
              <a:gd fmla="val 16667" name="adj"/>
            </a:avLst>
          </a:prstGeom>
          <a:solidFill>
            <a:srgbClr val="47C4B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237be279222_0_119"/>
          <p:cNvSpPr txBox="1"/>
          <p:nvPr/>
        </p:nvSpPr>
        <p:spPr>
          <a:xfrm>
            <a:off x="5258575" y="1758025"/>
            <a:ext cx="37140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3 x 1 = 3</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3 x 2 = 6</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3 x 3 = 9</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3 x 4 = 12</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3 x 5 = 15</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3 x 6 = 18</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3 x 7 = 21</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3 x 8 = 24</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3 x 9 = 27</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3 x 10 = 30</a:t>
            </a:r>
            <a:endParaRPr b="1" i="0" sz="2800" u="none" cap="none" strike="noStrike">
              <a:solidFill>
                <a:schemeClr val="dk1"/>
              </a:solidFill>
              <a:latin typeface="Patrick Hand"/>
              <a:ea typeface="Patrick Hand"/>
              <a:cs typeface="Patrick Hand"/>
              <a:sym typeface="Patrick Hand"/>
            </a:endParaRPr>
          </a:p>
        </p:txBody>
      </p:sp>
      <p:pic>
        <p:nvPicPr>
          <p:cNvPr id="369" name="Google Shape;369;g237be279222_0_119"/>
          <p:cNvPicPr preferRelativeResize="0"/>
          <p:nvPr/>
        </p:nvPicPr>
        <p:blipFill>
          <a:blip r:embed="rId4">
            <a:alphaModFix/>
          </a:blip>
          <a:stretch>
            <a:fillRect/>
          </a:stretch>
        </p:blipFill>
        <p:spPr>
          <a:xfrm>
            <a:off x="11045850" y="5223450"/>
            <a:ext cx="975700" cy="1029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265bec394b1_0_59"/>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75" name="Google Shape;375;g265bec394b1_0_59"/>
          <p:cNvSpPr txBox="1"/>
          <p:nvPr/>
        </p:nvSpPr>
        <p:spPr>
          <a:xfrm>
            <a:off x="1027967" y="1312067"/>
            <a:ext cx="10136100" cy="20934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Un atleta de alto rendimiento come cuatro porciones de tres panes a lo largo del día.</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1) ¿Qué multiplicación se representa?</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2) ¿Cuántos panes come el atleta?</a:t>
            </a:r>
            <a:endParaRPr sz="1900"/>
          </a:p>
        </p:txBody>
      </p:sp>
      <p:sp>
        <p:nvSpPr>
          <p:cNvPr id="376" name="Google Shape;376;g265bec394b1_0_59"/>
          <p:cNvSpPr txBox="1"/>
          <p:nvPr/>
        </p:nvSpPr>
        <p:spPr>
          <a:xfrm>
            <a:off x="7127616" y="3223342"/>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CL"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CL" sz="1900" u="sng">
                <a:solidFill>
                  <a:schemeClr val="hlink"/>
                </a:solidFill>
                <a:latin typeface="Calibri"/>
                <a:ea typeface="Calibri"/>
                <a:cs typeface="Calibri"/>
                <a:sym typeface="Calibri"/>
                <a:hlinkClick r:id="rId3"/>
              </a:rPr>
              <a:t>https://forms.gle/TKXBJydxVU8GEbt97</a:t>
            </a:r>
            <a:r>
              <a:rPr b="1" lang="es-CL" sz="1900">
                <a:latin typeface="Calibri"/>
                <a:ea typeface="Calibri"/>
                <a:cs typeface="Calibri"/>
                <a:sym typeface="Calibri"/>
              </a:rPr>
              <a:t> </a:t>
            </a:r>
            <a:endParaRPr sz="1900"/>
          </a:p>
        </p:txBody>
      </p:sp>
      <p:pic>
        <p:nvPicPr>
          <p:cNvPr id="377" name="Google Shape;377;g265bec394b1_0_59"/>
          <p:cNvPicPr preferRelativeResize="0"/>
          <p:nvPr/>
        </p:nvPicPr>
        <p:blipFill>
          <a:blip r:embed="rId4">
            <a:alphaModFix/>
          </a:blip>
          <a:stretch>
            <a:fillRect/>
          </a:stretch>
        </p:blipFill>
        <p:spPr>
          <a:xfrm>
            <a:off x="362667" y="3866933"/>
            <a:ext cx="1902899" cy="1902899"/>
          </a:xfrm>
          <a:prstGeom prst="rect">
            <a:avLst/>
          </a:prstGeom>
          <a:noFill/>
          <a:ln>
            <a:noFill/>
          </a:ln>
        </p:spPr>
      </p:pic>
      <p:pic>
        <p:nvPicPr>
          <p:cNvPr id="378" name="Google Shape;378;g265bec394b1_0_59"/>
          <p:cNvPicPr preferRelativeResize="0"/>
          <p:nvPr/>
        </p:nvPicPr>
        <p:blipFill>
          <a:blip r:embed="rId4">
            <a:alphaModFix/>
          </a:blip>
          <a:stretch>
            <a:fillRect/>
          </a:stretch>
        </p:blipFill>
        <p:spPr>
          <a:xfrm>
            <a:off x="2265567" y="3866933"/>
            <a:ext cx="1902899" cy="1902899"/>
          </a:xfrm>
          <a:prstGeom prst="rect">
            <a:avLst/>
          </a:prstGeom>
          <a:noFill/>
          <a:ln>
            <a:noFill/>
          </a:ln>
        </p:spPr>
      </p:pic>
      <p:pic>
        <p:nvPicPr>
          <p:cNvPr id="379" name="Google Shape;379;g265bec394b1_0_59"/>
          <p:cNvPicPr preferRelativeResize="0"/>
          <p:nvPr/>
        </p:nvPicPr>
        <p:blipFill>
          <a:blip r:embed="rId4">
            <a:alphaModFix/>
          </a:blip>
          <a:stretch>
            <a:fillRect/>
          </a:stretch>
        </p:blipFill>
        <p:spPr>
          <a:xfrm>
            <a:off x="4168467" y="3866933"/>
            <a:ext cx="1902899" cy="1902899"/>
          </a:xfrm>
          <a:prstGeom prst="rect">
            <a:avLst/>
          </a:prstGeom>
          <a:noFill/>
          <a:ln>
            <a:noFill/>
          </a:ln>
        </p:spPr>
      </p:pic>
      <p:pic>
        <p:nvPicPr>
          <p:cNvPr id="380" name="Google Shape;380;g265bec394b1_0_59"/>
          <p:cNvPicPr preferRelativeResize="0"/>
          <p:nvPr/>
        </p:nvPicPr>
        <p:blipFill>
          <a:blip r:embed="rId4">
            <a:alphaModFix/>
          </a:blip>
          <a:stretch>
            <a:fillRect/>
          </a:stretch>
        </p:blipFill>
        <p:spPr>
          <a:xfrm>
            <a:off x="6071367" y="3866933"/>
            <a:ext cx="1902899" cy="1902899"/>
          </a:xfrm>
          <a:prstGeom prst="rect">
            <a:avLst/>
          </a:prstGeom>
          <a:noFill/>
          <a:ln>
            <a:noFill/>
          </a:ln>
        </p:spPr>
      </p:pic>
      <p:pic>
        <p:nvPicPr>
          <p:cNvPr id="381" name="Google Shape;381;g265bec394b1_0_59"/>
          <p:cNvPicPr preferRelativeResize="0"/>
          <p:nvPr/>
        </p:nvPicPr>
        <p:blipFill rotWithShape="1">
          <a:blip r:embed="rId5">
            <a:alphaModFix/>
          </a:blip>
          <a:srcRect b="9062" l="9070" r="9062" t="9070"/>
          <a:stretch/>
        </p:blipFill>
        <p:spPr>
          <a:xfrm>
            <a:off x="9109483" y="3920933"/>
            <a:ext cx="2132235" cy="2132235"/>
          </a:xfrm>
          <a:prstGeom prst="rect">
            <a:avLst/>
          </a:prstGeom>
          <a:noFill/>
          <a:ln>
            <a:noFill/>
          </a:ln>
        </p:spPr>
      </p:pic>
      <p:pic>
        <p:nvPicPr>
          <p:cNvPr id="382" name="Google Shape;382;g265bec394b1_0_59"/>
          <p:cNvPicPr preferRelativeResize="0"/>
          <p:nvPr/>
        </p:nvPicPr>
        <p:blipFill>
          <a:blip r:embed="rId6">
            <a:alphaModFix/>
          </a:blip>
          <a:stretch>
            <a:fillRect/>
          </a:stretch>
        </p:blipFill>
        <p:spPr>
          <a:xfrm>
            <a:off x="11144975" y="488800"/>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descr="Forma&#10;&#10;Descripción generada automáticamente con confianza media" id="387" name="Google Shape;387;g2b5231fb8f0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88" name="Google Shape;388;g2b5231fb8f0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89" name="Google Shape;389;g2b5231fb8f0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90" name="Google Shape;390;g2b5231fb8f0_0_0" title="Reforzamiento - Multiplicación (6) - Tabla de 3">
            <a:hlinkClick r:id="rId4"/>
          </p:cNvPr>
          <p:cNvPicPr preferRelativeResize="0"/>
          <p:nvPr/>
        </p:nvPicPr>
        <p:blipFill>
          <a:blip r:embed="rId5">
            <a:alphaModFix/>
          </a:blip>
          <a:stretch>
            <a:fillRect/>
          </a:stretch>
        </p:blipFill>
        <p:spPr>
          <a:xfrm>
            <a:off x="1727300" y="1398450"/>
            <a:ext cx="8737600" cy="4914900"/>
          </a:xfrm>
          <a:prstGeom prst="rect">
            <a:avLst/>
          </a:prstGeom>
          <a:noFill/>
          <a:ln cap="flat" cmpd="sng" w="28575">
            <a:solidFill>
              <a:schemeClr val="dk2"/>
            </a:solidFill>
            <a:prstDash val="solid"/>
            <a:round/>
            <a:headEnd len="sm" w="sm" type="none"/>
            <a:tailEnd len="sm" w="sm" type="none"/>
          </a:ln>
        </p:spPr>
      </p:pic>
      <p:pic>
        <p:nvPicPr>
          <p:cNvPr id="391" name="Google Shape;391;g2b5231fb8f0_0_0"/>
          <p:cNvPicPr preferRelativeResize="0"/>
          <p:nvPr/>
        </p:nvPicPr>
        <p:blipFill>
          <a:blip r:embed="rId6">
            <a:alphaModFix/>
          </a:blip>
          <a:stretch>
            <a:fillRect/>
          </a:stretch>
        </p:blipFill>
        <p:spPr>
          <a:xfrm>
            <a:off x="11045850" y="5223450"/>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1000"/>
                                        <p:tgtEl>
                                          <p:spTgt spid="3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2023-07-24T15:52:01Z</dcterms:created>
  <dc:creator>Antonia  Hola</dc:creator>
</cp:coreProperties>
</file>