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Patrick Hand"/>
      <p:regular r:id="rId22"/>
    </p:embeddedFont>
    <p:embeddedFont>
      <p:font typeface="Poppins"/>
      <p:regular r:id="rId23"/>
      <p:bold r:id="rId24"/>
      <p:italic r:id="rId25"/>
      <p:boldItalic r:id="rId26"/>
    </p:embeddedFont>
    <p:embeddedFont>
      <p:font typeface="Poppins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h7ZGx9yYx0rWkHcbciZZkZvS+T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atrickHand-regular.fntdata"/><Relationship Id="rId21" Type="http://schemas.openxmlformats.org/officeDocument/2006/relationships/slide" Target="slides/slide16.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PoppinsLight-bold.fntdata"/><Relationship Id="rId27" Type="http://schemas.openxmlformats.org/officeDocument/2006/relationships/font" Target="fonts/Poppins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Poppins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e8f5722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e8f572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e8f5722e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e8f5722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e8f5722e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e8f5722e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e8f5722e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e8f5722e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86a0bb73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86a0bb7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f15b63d7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g237f15b63d7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38040fe0d9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238040fe0d9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5c689ae274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25c689ae27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38040fe0d9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238040fe0d9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38040fe0d9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238040fe0d9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37f1d0694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237f1d0694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b52535aec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g2b52535aec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af0f3c8546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Estimar y varias preugntas de si la descomposción está bien </a:t>
            </a:r>
            <a:endParaRPr/>
          </a:p>
        </p:txBody>
      </p:sp>
      <p:sp>
        <p:nvSpPr>
          <p:cNvPr id="381" name="Google Shape;381;g2af0f3c8546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b52535aecd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2b52535aecd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f0f3c8546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f0f3c8546_0_6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f0f3c8546_0_6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f0f3c8546_0_6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f0f3c8546_0_6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f0f3c8546_0_73"/>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f0f3c8546_0_73"/>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f0f3c8546_0_7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f0f3c8546_0_77"/>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f0f3c8546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f0f3c8546_0_8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f0f3c8546_0_8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f0f3c8546_0_8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f0f3c8546_0_8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f0f3c8546_0_8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f0f3c8546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f0f3c8546_0_8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f0f3c8546_0_8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f0f3c8546_0_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f0f3c8546_0_9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f0f3c8546_0_9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f0f3c8546_0_9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f0f3c8546_0_9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f0f3c8546_0_9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f0f3c8546_0_9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f0f3c8546_0_9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f0f3c8546_0_10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f0f3c8546_0_10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f0f3c8546_0_10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f0f3c8546_0_10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f0f3c8546_0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f0f3c8546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4.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f0f3c8546_0_6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f0f3c8546_0_6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f0f3c8546_0_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hyperlink" Target="http://www.youtube.com/watch?v=ssbmrwesc-0" TargetMode="External"/><Relationship Id="rId5" Type="http://schemas.openxmlformats.org/officeDocument/2006/relationships/image" Target="../media/image12.jpg"/><Relationship Id="rId6"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forms.gle/ES2DK77TPpyaGwyUA" TargetMode="External"/><Relationship Id="rId4" Type="http://schemas.openxmlformats.org/officeDocument/2006/relationships/image" Target="../media/image9.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8.jpg"/><Relationship Id="rId4" Type="http://schemas.openxmlformats.org/officeDocument/2006/relationships/hyperlink" Target="http://www.youtube.com/watch?v=7_R4HtoMoBg" TargetMode="External"/><Relationship Id="rId5" Type="http://schemas.openxmlformats.org/officeDocument/2006/relationships/image" Target="../media/image10.jp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0974775" y="5607787"/>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0974775" y="528798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e8f5722e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700">
                <a:solidFill>
                  <a:srgbClr val="3259A4"/>
                </a:solidFill>
                <a:latin typeface="Poppins"/>
                <a:ea typeface="Poppins"/>
                <a:cs typeface="Poppins"/>
                <a:sym typeface="Poppins"/>
              </a:rPr>
              <a:t>Sesión 15:  </a:t>
            </a:r>
            <a:r>
              <a:rPr b="1" lang="es-ES" sz="1700">
                <a:solidFill>
                  <a:srgbClr val="3259A4"/>
                </a:solidFill>
                <a:latin typeface="Poppins"/>
                <a:ea typeface="Poppins"/>
                <a:cs typeface="Poppins"/>
                <a:sym typeface="Poppins"/>
              </a:rPr>
              <a:t>Multiplicación</a:t>
            </a:r>
            <a:r>
              <a:rPr b="1" lang="es-ES" sz="1700">
                <a:solidFill>
                  <a:srgbClr val="3259A4"/>
                </a:solidFill>
                <a:latin typeface="Poppins"/>
                <a:ea typeface="Poppins"/>
                <a:cs typeface="Poppins"/>
                <a:sym typeface="Poppins"/>
              </a:rPr>
              <a:t> 3 </a:t>
            </a:r>
            <a:r>
              <a:rPr b="1" lang="es-ES" sz="1700">
                <a:solidFill>
                  <a:srgbClr val="3259A4"/>
                </a:solidFill>
                <a:latin typeface="Poppins"/>
                <a:ea typeface="Poppins"/>
                <a:cs typeface="Poppins"/>
                <a:sym typeface="Poppins"/>
              </a:rPr>
              <a:t>dígitos</a:t>
            </a:r>
            <a:r>
              <a:rPr b="1" lang="es-ES" sz="1700">
                <a:solidFill>
                  <a:srgbClr val="3259A4"/>
                </a:solidFill>
                <a:latin typeface="Poppins"/>
                <a:ea typeface="Poppins"/>
                <a:cs typeface="Poppins"/>
                <a:sym typeface="Poppins"/>
              </a:rPr>
              <a:t> por 1 </a:t>
            </a:r>
            <a:r>
              <a:rPr b="1" lang="es-ES" sz="1700">
                <a:solidFill>
                  <a:srgbClr val="3259A4"/>
                </a:solidFill>
                <a:latin typeface="Poppins"/>
                <a:ea typeface="Poppins"/>
                <a:cs typeface="Poppins"/>
                <a:sym typeface="Poppins"/>
              </a:rPr>
              <a:t>dígito</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800">
                <a:solidFill>
                  <a:schemeClr val="dk1"/>
                </a:solidFill>
                <a:latin typeface="Poppins Light"/>
                <a:ea typeface="Poppins Light"/>
                <a:cs typeface="Poppins Light"/>
                <a:sym typeface="Poppins Light"/>
              </a:rPr>
              <a:t> </a:t>
            </a:r>
            <a:r>
              <a:rPr lang="es-ES" sz="1450">
                <a:solidFill>
                  <a:schemeClr val="dk1"/>
                </a:solidFill>
                <a:latin typeface="Poppins"/>
                <a:ea typeface="Poppins"/>
                <a:cs typeface="Poppins"/>
                <a:sym typeface="Poppins"/>
              </a:rPr>
              <a:t>Desarrollar la habilidad para multiplicar números de tres dígitos por uno de un dígito,</a:t>
            </a:r>
            <a:endParaRPr sz="1450">
              <a:solidFill>
                <a:schemeClr val="dk1"/>
              </a:solidFill>
              <a:latin typeface="Poppins"/>
              <a:ea typeface="Poppins"/>
              <a:cs typeface="Poppins"/>
              <a:sym typeface="Poppins"/>
            </a:endParaRPr>
          </a:p>
          <a:p>
            <a:pPr indent="0" lvl="0" marL="0" rtl="0" algn="ctr">
              <a:lnSpc>
                <a:spcPct val="115000"/>
              </a:lnSpc>
              <a:spcBef>
                <a:spcPts val="0"/>
              </a:spcBef>
              <a:spcAft>
                <a:spcPts val="0"/>
              </a:spcAft>
              <a:buClr>
                <a:schemeClr val="dk1"/>
              </a:buClr>
              <a:buSzPts val="1100"/>
              <a:buFont typeface="Arial"/>
              <a:buNone/>
            </a:pPr>
            <a:r>
              <a:rPr lang="es-ES" sz="1450">
                <a:solidFill>
                  <a:schemeClr val="dk1"/>
                </a:solidFill>
                <a:latin typeface="Poppins"/>
                <a:ea typeface="Poppins"/>
                <a:cs typeface="Poppins"/>
                <a:sym typeface="Poppins"/>
              </a:rPr>
              <a:t>comprendiendo el procedimiento tanto sin como con reagrupación.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21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e8f5722e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Multiplicar números de 3 dígitos por 1</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dígito sin y con reagrupar.</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e8f5722e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Reagrupación en columnas de unidades, decenas y centenas.</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e8f5722e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e8f5722e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e8f5722e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e8f5722e_0_0"/>
          <p:cNvPicPr preferRelativeResize="0"/>
          <p:nvPr/>
        </p:nvPicPr>
        <p:blipFill>
          <a:blip r:embed="rId3">
            <a:alphaModFix/>
          </a:blip>
          <a:stretch>
            <a:fillRect/>
          </a:stretch>
        </p:blipFill>
        <p:spPr>
          <a:xfrm>
            <a:off x="10921475" y="23168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e8f5722e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e8f5722e_0_85"/>
          <p:cNvSpPr txBox="1"/>
          <p:nvPr/>
        </p:nvSpPr>
        <p:spPr>
          <a:xfrm>
            <a:off x="786350" y="2131575"/>
            <a:ext cx="10500000" cy="354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ES" sz="1600">
                <a:solidFill>
                  <a:schemeClr val="dk1"/>
                </a:solidFill>
                <a:latin typeface="Poppins"/>
                <a:ea typeface="Poppins"/>
                <a:cs typeface="Poppins"/>
                <a:sym typeface="Poppins"/>
              </a:rPr>
              <a:t>En esta sesión le enseñarás a tu estudiante el procedimiento para realizar la multiplicación de números de tres dígitos por uno de un dígito. Por medio de distintos problemas, podrás ayudarlo a expandir su conocimiento hacia las centenas.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00">
                <a:solidFill>
                  <a:schemeClr val="dk1"/>
                </a:solidFill>
                <a:latin typeface="Poppins"/>
                <a:ea typeface="Poppins"/>
                <a:cs typeface="Poppins"/>
                <a:sym typeface="Poppins"/>
              </a:rPr>
              <a:t>La sesión comienza con el ejemplo “237 x 5,” donde existe la necesidad de reagrupar. Si lo consideras adecuado según el nivel de tu estudiante, comienza con “132 x 2,” donde no es necesario realizar lo anterior. De esta forma, te adaptarás a sus necesidades y a qué tan preparado está para estos casos.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e8f5722e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e8f5722e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e8f5722e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e8f5722e_0_85"/>
          <p:cNvPicPr preferRelativeResize="0"/>
          <p:nvPr/>
        </p:nvPicPr>
        <p:blipFill>
          <a:blip r:embed="rId3">
            <a:alphaModFix/>
          </a:blip>
          <a:stretch>
            <a:fillRect/>
          </a:stretch>
        </p:blipFill>
        <p:spPr>
          <a:xfrm>
            <a:off x="10921475" y="23168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e8f5722e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e8f5722e_0_169"/>
          <p:cNvSpPr txBox="1"/>
          <p:nvPr/>
        </p:nvSpPr>
        <p:spPr>
          <a:xfrm>
            <a:off x="786350" y="2283975"/>
            <a:ext cx="10500000" cy="444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ES" sz="1600">
                <a:solidFill>
                  <a:schemeClr val="dk1"/>
                </a:solidFill>
                <a:latin typeface="Poppins"/>
                <a:ea typeface="Poppins"/>
                <a:cs typeface="Poppins"/>
                <a:sym typeface="Poppins"/>
              </a:rPr>
              <a:t>La sesión comienza con el ejemplo </a:t>
            </a:r>
            <a:r>
              <a:rPr b="1" lang="es-ES" sz="1600">
                <a:solidFill>
                  <a:schemeClr val="dk1"/>
                </a:solidFill>
                <a:latin typeface="Poppins"/>
                <a:ea typeface="Poppins"/>
                <a:cs typeface="Poppins"/>
                <a:sym typeface="Poppins"/>
              </a:rPr>
              <a:t>“237 x 5</a:t>
            </a:r>
            <a:r>
              <a:rPr lang="es-ES" sz="1600">
                <a:solidFill>
                  <a:schemeClr val="dk1"/>
                </a:solidFill>
                <a:latin typeface="Poppins"/>
                <a:ea typeface="Poppins"/>
                <a:cs typeface="Poppins"/>
                <a:sym typeface="Poppins"/>
              </a:rPr>
              <a:t>”, donde existe la necesidad de </a:t>
            </a:r>
            <a:r>
              <a:rPr b="1" lang="es-ES" sz="1600">
                <a:solidFill>
                  <a:schemeClr val="dk1"/>
                </a:solidFill>
                <a:latin typeface="Poppins"/>
                <a:ea typeface="Poppins"/>
                <a:cs typeface="Poppins"/>
                <a:sym typeface="Poppins"/>
              </a:rPr>
              <a:t>reagrupar</a:t>
            </a:r>
            <a:r>
              <a:rPr lang="es-ES" sz="1600">
                <a:solidFill>
                  <a:schemeClr val="dk1"/>
                </a:solidFill>
                <a:latin typeface="Poppins"/>
                <a:ea typeface="Poppins"/>
                <a:cs typeface="Poppins"/>
                <a:sym typeface="Poppins"/>
              </a:rPr>
              <a:t>. Si lo consideras adecuado según el nivel de tu estudiante, comienza con </a:t>
            </a:r>
            <a:r>
              <a:rPr b="1" lang="es-ES" sz="1600">
                <a:solidFill>
                  <a:schemeClr val="dk1"/>
                </a:solidFill>
                <a:latin typeface="Poppins"/>
                <a:ea typeface="Poppins"/>
                <a:cs typeface="Poppins"/>
                <a:sym typeface="Poppins"/>
              </a:rPr>
              <a:t>“132 x 2”</a:t>
            </a:r>
            <a:r>
              <a:rPr lang="es-ES" sz="1600">
                <a:solidFill>
                  <a:schemeClr val="dk1"/>
                </a:solidFill>
                <a:latin typeface="Poppins"/>
                <a:ea typeface="Poppins"/>
                <a:cs typeface="Poppins"/>
                <a:sym typeface="Poppins"/>
              </a:rPr>
              <a:t>, donde no necesario realizar lo anterior. De esa forma, te adaptarás a sus necesidades y a qué tan preparado está para estos casos.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ES" sz="1600">
                <a:solidFill>
                  <a:schemeClr val="dk1"/>
                </a:solidFill>
                <a:latin typeface="Poppins"/>
                <a:ea typeface="Poppins"/>
                <a:cs typeface="Poppins"/>
                <a:sym typeface="Poppins"/>
              </a:rPr>
              <a:t>Independientemente de lo anterior, sé enfático en enseñarle a colocar cada número en columna y a </a:t>
            </a:r>
            <a:r>
              <a:rPr b="1" lang="es-ES" sz="1600">
                <a:solidFill>
                  <a:schemeClr val="dk1"/>
                </a:solidFill>
                <a:latin typeface="Poppins"/>
                <a:ea typeface="Poppins"/>
                <a:cs typeface="Poppins"/>
                <a:sym typeface="Poppins"/>
              </a:rPr>
              <a:t>multiplicar de derecha a izquierda</a:t>
            </a:r>
            <a:r>
              <a:rPr lang="es-ES" sz="1600">
                <a:solidFill>
                  <a:schemeClr val="dk1"/>
                </a:solidFill>
                <a:latin typeface="Poppins"/>
                <a:ea typeface="Poppins"/>
                <a:cs typeface="Poppins"/>
                <a:sym typeface="Poppins"/>
              </a:rPr>
              <a:t>, escribiendo el resultado directamente en las unidades, decenas y centenas. Esto último es vital, ya que, al igual que con dos dígitos, se </a:t>
            </a:r>
            <a:r>
              <a:rPr b="1" lang="es-ES" sz="1600">
                <a:solidFill>
                  <a:schemeClr val="dk1"/>
                </a:solidFill>
                <a:latin typeface="Poppins"/>
                <a:ea typeface="Poppins"/>
                <a:cs typeface="Poppins"/>
                <a:sym typeface="Poppins"/>
              </a:rPr>
              <a:t>tiende a confundir dónde poner las reservas</a:t>
            </a:r>
            <a:r>
              <a:rPr lang="es-ES" sz="1600">
                <a:solidFill>
                  <a:schemeClr val="dk1"/>
                </a:solidFill>
                <a:latin typeface="Poppins"/>
                <a:ea typeface="Poppins"/>
                <a:cs typeface="Poppins"/>
                <a:sym typeface="Poppins"/>
              </a:rPr>
              <a:t>; por lo tanto, presta atención al procedimiento que realice.</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600">
                <a:solidFill>
                  <a:schemeClr val="dk1"/>
                </a:solidFill>
                <a:latin typeface="Poppins"/>
                <a:ea typeface="Poppins"/>
                <a:cs typeface="Poppins"/>
                <a:sym typeface="Poppins"/>
              </a:rPr>
              <a:t>Como los ejercicios pueden resultar más extensos, no importa que no alcancen a realizarlos todos; </a:t>
            </a:r>
            <a:r>
              <a:rPr b="1" lang="es-ES" sz="1600">
                <a:solidFill>
                  <a:schemeClr val="dk1"/>
                </a:solidFill>
                <a:latin typeface="Poppins"/>
                <a:ea typeface="Poppins"/>
                <a:cs typeface="Poppins"/>
                <a:sym typeface="Poppins"/>
              </a:rPr>
              <a:t>prioriza el aprendizaje de tu estudiante en todo momento.</a:t>
            </a:r>
            <a:endParaRPr b="1"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e8f5722e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e8f5722e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e8f5722e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e8f5722e_0_169"/>
          <p:cNvPicPr preferRelativeResize="0"/>
          <p:nvPr/>
        </p:nvPicPr>
        <p:blipFill>
          <a:blip r:embed="rId3">
            <a:alphaModFix/>
          </a:blip>
          <a:stretch>
            <a:fillRect/>
          </a:stretch>
        </p:blipFill>
        <p:spPr>
          <a:xfrm>
            <a:off x="10921475" y="23168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e8f5722e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e8f5722e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sz="21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que calcule cuánto gastaría en una tienda de frutos secos si compra 123 gramos de nueces a $6 cada gramo. Esta actividad lo ayudará a aplicar la multiplicación de tres dígitos por uno de un dígito en una situación de compras cotidianas.</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e8f5722e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8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¿Cómo organizas los números en columna para multiplicar un número de tres dígitos por uno de un dígito?</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¿Qué haces cuando el producto de una columna es mayor a 9?</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e8f5722e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e8f5722e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e8f5722e_0_253"/>
          <p:cNvPicPr preferRelativeResize="0"/>
          <p:nvPr/>
        </p:nvPicPr>
        <p:blipFill>
          <a:blip r:embed="rId3">
            <a:alphaModFix/>
          </a:blip>
          <a:stretch>
            <a:fillRect/>
          </a:stretch>
        </p:blipFill>
        <p:spPr>
          <a:xfrm>
            <a:off x="10921475" y="23168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86a0bb732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86a0bb732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86a0bb732_0_0"/>
          <p:cNvPicPr preferRelativeResize="0"/>
          <p:nvPr>
            <p:ph idx="1" type="body"/>
          </p:nvPr>
        </p:nvPicPr>
        <p:blipFill rotWithShape="1">
          <a:blip r:embed="rId3">
            <a:alphaModFix/>
          </a:blip>
          <a:srcRect b="0" l="0" r="0" t="0"/>
          <a:stretch/>
        </p:blipFill>
        <p:spPr>
          <a:xfrm>
            <a:off x="-150" y="0"/>
            <a:ext cx="12192000" cy="6966600"/>
          </a:xfrm>
          <a:prstGeom prst="rect">
            <a:avLst/>
          </a:prstGeom>
          <a:noFill/>
          <a:ln>
            <a:noFill/>
          </a:ln>
        </p:spPr>
      </p:pic>
      <p:sp>
        <p:nvSpPr>
          <p:cNvPr id="189" name="Google Shape;189;g3386a0bb732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86a0bb732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86a0bb732_0_0"/>
          <p:cNvPicPr preferRelativeResize="0"/>
          <p:nvPr/>
        </p:nvPicPr>
        <p:blipFill>
          <a:blip r:embed="rId8">
            <a:alphaModFix/>
          </a:blip>
          <a:stretch>
            <a:fillRect/>
          </a:stretch>
        </p:blipFill>
        <p:spPr>
          <a:xfrm>
            <a:off x="10992550" y="5312987"/>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37f15b63d7_0_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197" name="Google Shape;197;g237f15b63d7_0_3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198" name="Google Shape;198;g237f15b63d7_0_36"/>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199" name="Google Shape;199;g237f15b63d7_0_36"/>
          <p:cNvSpPr txBox="1"/>
          <p:nvPr/>
        </p:nvSpPr>
        <p:spPr>
          <a:xfrm>
            <a:off x="12125" y="423925"/>
            <a:ext cx="12192000" cy="201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lt1"/>
                </a:solidFill>
                <a:highlight>
                  <a:srgbClr val="009287"/>
                </a:highlight>
                <a:latin typeface="Patrick Hand"/>
                <a:ea typeface="Patrick Hand"/>
                <a:cs typeface="Patrick Hand"/>
                <a:sym typeface="Patrick Hand"/>
              </a:rPr>
              <a:t>4. Multiplicar números de 3 dígitos por n° de 1 dígito. </a:t>
            </a:r>
            <a:endParaRPr b="0" i="0" sz="3900" u="none" cap="none" strike="noStrike">
              <a:solidFill>
                <a:schemeClr val="lt1"/>
              </a:solidFill>
              <a:highlight>
                <a:srgbClr val="009287"/>
              </a:highlight>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800" u="none" cap="none" strike="noStrike">
                <a:solidFill>
                  <a:srgbClr val="040C28"/>
                </a:solidFill>
                <a:latin typeface="Patrick Hand"/>
                <a:ea typeface="Patrick Hand"/>
                <a:cs typeface="Patrick Hand"/>
                <a:sym typeface="Patrick Hand"/>
              </a:rPr>
              <a:t>Para poder multiplicar, lo hacemos utilizando un algoritmo (conjunto de pasos para resolver la operación) de la siguiente manera:</a:t>
            </a:r>
            <a:endParaRPr b="0" i="1" sz="29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000"/>
              <a:buFont typeface="Arial"/>
              <a:buNone/>
            </a:pPr>
            <a:r>
              <a:rPr b="1" i="0" lang="es-ES" sz="3000" u="none" cap="none" strike="noStrike">
                <a:solidFill>
                  <a:schemeClr val="dk1"/>
                </a:solidFill>
                <a:latin typeface="Patrick Hand"/>
                <a:ea typeface="Patrick Hand"/>
                <a:cs typeface="Patrick Hand"/>
                <a:sym typeface="Patrick Hand"/>
              </a:rPr>
              <a:t>Ejemplo: </a:t>
            </a:r>
            <a:endParaRPr b="0" i="0" sz="4000" u="none" cap="none" strike="noStrike">
              <a:solidFill>
                <a:schemeClr val="dk1"/>
              </a:solidFill>
              <a:latin typeface="Patrick Hand"/>
              <a:ea typeface="Patrick Hand"/>
              <a:cs typeface="Patrick Hand"/>
              <a:sym typeface="Patrick Hand"/>
            </a:endParaRPr>
          </a:p>
        </p:txBody>
      </p:sp>
      <p:sp>
        <p:nvSpPr>
          <p:cNvPr id="200" name="Google Shape;200;g237f15b63d7_0_36"/>
          <p:cNvSpPr txBox="1"/>
          <p:nvPr/>
        </p:nvSpPr>
        <p:spPr>
          <a:xfrm>
            <a:off x="72875" y="4013375"/>
            <a:ext cx="4973100" cy="242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00000"/>
                </a:solidFill>
                <a:latin typeface="Patrick Hand"/>
                <a:ea typeface="Patrick Hand"/>
                <a:cs typeface="Patrick Hand"/>
                <a:sym typeface="Patrick Hand"/>
              </a:rPr>
              <a:t>- Comienzo multiplicando el 4 por las unidades</a:t>
            </a:r>
            <a:endParaRPr b="0" i="0" sz="22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00000"/>
                </a:solidFill>
                <a:latin typeface="Patrick Hand"/>
                <a:ea typeface="Patrick Hand"/>
                <a:cs typeface="Patrick Hand"/>
                <a:sym typeface="Patrick Hand"/>
              </a:rPr>
              <a:t>- 4 x 3U = 12U</a:t>
            </a:r>
            <a:endParaRPr b="0" i="0" sz="22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00000"/>
                </a:solidFill>
                <a:latin typeface="Patrick Hand"/>
                <a:ea typeface="Patrick Hand"/>
                <a:cs typeface="Patrick Hand"/>
                <a:sym typeface="Patrick Hand"/>
              </a:rPr>
              <a:t>- Tengo que reagrupar las 12 U en 1D Y 2U</a:t>
            </a:r>
            <a:endParaRPr b="0" i="0" sz="22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00000"/>
                </a:solidFill>
                <a:latin typeface="Patrick Hand"/>
                <a:ea typeface="Patrick Hand"/>
                <a:cs typeface="Patrick Hand"/>
                <a:sym typeface="Patrick Hand"/>
              </a:rPr>
              <a:t>- Escribo el 2 bajo las U y el 1 sobre las D.</a:t>
            </a:r>
            <a:endParaRPr b="0" i="0" sz="2200" u="none" cap="none" strike="noStrike">
              <a:solidFill>
                <a:srgbClr val="000000"/>
              </a:solidFill>
              <a:latin typeface="Patrick Hand"/>
              <a:ea typeface="Patrick Hand"/>
              <a:cs typeface="Patrick Hand"/>
              <a:sym typeface="Patrick Hand"/>
            </a:endParaRPr>
          </a:p>
        </p:txBody>
      </p:sp>
      <p:sp>
        <p:nvSpPr>
          <p:cNvPr id="201" name="Google Shape;201;g237f15b63d7_0_36"/>
          <p:cNvSpPr txBox="1"/>
          <p:nvPr/>
        </p:nvSpPr>
        <p:spPr>
          <a:xfrm>
            <a:off x="749378" y="2932288"/>
            <a:ext cx="25797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3600" u="none" cap="none" strike="noStrike">
                <a:solidFill>
                  <a:schemeClr val="dk1"/>
                </a:solidFill>
                <a:latin typeface="Patrick Hand"/>
                <a:ea typeface="Patrick Hand"/>
                <a:cs typeface="Patrick Hand"/>
                <a:sym typeface="Patrick Hand"/>
              </a:rPr>
              <a:t>1 2 3  x  4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2</a:t>
            </a:r>
            <a:endParaRPr b="0" i="0" sz="3600" u="none" cap="none" strike="noStrike">
              <a:solidFill>
                <a:schemeClr val="dk1"/>
              </a:solidFill>
              <a:latin typeface="Patrick Hand"/>
              <a:ea typeface="Patrick Hand"/>
              <a:cs typeface="Patrick Hand"/>
              <a:sym typeface="Patrick Hand"/>
            </a:endParaRPr>
          </a:p>
        </p:txBody>
      </p:sp>
      <p:sp>
        <p:nvSpPr>
          <p:cNvPr id="202" name="Google Shape;202;g237f15b63d7_0_36"/>
          <p:cNvSpPr txBox="1"/>
          <p:nvPr/>
        </p:nvSpPr>
        <p:spPr>
          <a:xfrm>
            <a:off x="838188" y="2243763"/>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C  D  U</a:t>
            </a:r>
            <a:endParaRPr b="0" i="0" sz="1200" u="none" cap="none" strike="noStrike">
              <a:solidFill>
                <a:srgbClr val="000000"/>
              </a:solidFill>
              <a:latin typeface="Arial"/>
              <a:ea typeface="Arial"/>
              <a:cs typeface="Arial"/>
              <a:sym typeface="Arial"/>
            </a:endParaRPr>
          </a:p>
        </p:txBody>
      </p:sp>
      <p:sp>
        <p:nvSpPr>
          <p:cNvPr id="203" name="Google Shape;203;g237f15b63d7_0_36"/>
          <p:cNvSpPr txBox="1"/>
          <p:nvPr/>
        </p:nvSpPr>
        <p:spPr>
          <a:xfrm>
            <a:off x="6027115" y="2844075"/>
            <a:ext cx="2451600" cy="1920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3600" u="none" cap="none" strike="noStrike">
                <a:solidFill>
                  <a:schemeClr val="dk1"/>
                </a:solidFill>
                <a:latin typeface="Patrick Hand"/>
                <a:ea typeface="Patrick Hand"/>
                <a:cs typeface="Patrick Hand"/>
                <a:sym typeface="Patrick Hand"/>
              </a:rPr>
              <a:t>1 2 3  x  4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9 2</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04" name="Google Shape;204;g237f15b63d7_0_36"/>
          <p:cNvSpPr txBox="1"/>
          <p:nvPr/>
        </p:nvSpPr>
        <p:spPr>
          <a:xfrm>
            <a:off x="5072150" y="4112025"/>
            <a:ext cx="38646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200" u="none" cap="none" strike="noStrike">
                <a:solidFill>
                  <a:schemeClr val="dk1"/>
                </a:solidFill>
                <a:latin typeface="Patrick Hand"/>
                <a:ea typeface="Patrick Hand"/>
                <a:cs typeface="Patrick Hand"/>
                <a:sym typeface="Patrick Hand"/>
              </a:rPr>
              <a:t>-  Multiplic</a:t>
            </a:r>
            <a:r>
              <a:rPr lang="es-ES" sz="2200">
                <a:solidFill>
                  <a:schemeClr val="dk1"/>
                </a:solidFill>
                <a:latin typeface="Patrick Hand"/>
                <a:ea typeface="Patrick Hand"/>
                <a:cs typeface="Patrick Hand"/>
                <a:sym typeface="Patrick Hand"/>
              </a:rPr>
              <a:t>o </a:t>
            </a:r>
            <a:r>
              <a:rPr b="0" i="0" lang="es-ES" sz="2200" u="none" cap="none" strike="noStrike">
                <a:solidFill>
                  <a:schemeClr val="dk1"/>
                </a:solidFill>
                <a:latin typeface="Patrick Hand"/>
                <a:ea typeface="Patrick Hand"/>
                <a:cs typeface="Patrick Hand"/>
                <a:sym typeface="Patrick Hand"/>
              </a:rPr>
              <a:t>el 4 x 2D = 8D</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Hay que sumarle el 1 que está de reserva en las decenas</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- 8D + 1D = 9D  Lo escribo bajo las decenas.</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205" name="Google Shape;205;g237f15b63d7_0_36"/>
          <p:cNvSpPr txBox="1"/>
          <p:nvPr/>
        </p:nvSpPr>
        <p:spPr>
          <a:xfrm>
            <a:off x="9102575" y="4070850"/>
            <a:ext cx="3000000" cy="1446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200" u="none" cap="none" strike="noStrike">
                <a:solidFill>
                  <a:schemeClr val="dk1"/>
                </a:solidFill>
                <a:latin typeface="Patrick Hand"/>
                <a:ea typeface="Patrick Hand"/>
                <a:cs typeface="Patrick Hand"/>
                <a:sym typeface="Patrick Hand"/>
              </a:rPr>
              <a:t>-  Multiplic</a:t>
            </a:r>
            <a:r>
              <a:rPr lang="es-ES" sz="2200">
                <a:solidFill>
                  <a:schemeClr val="dk1"/>
                </a:solidFill>
                <a:latin typeface="Patrick Hand"/>
                <a:ea typeface="Patrick Hand"/>
                <a:cs typeface="Patrick Hand"/>
                <a:sym typeface="Patrick Hand"/>
              </a:rPr>
              <a:t>o</a:t>
            </a:r>
            <a:r>
              <a:rPr b="0" i="0" lang="es-ES" sz="2200" u="none" cap="none" strike="noStrike">
                <a:solidFill>
                  <a:schemeClr val="dk1"/>
                </a:solidFill>
                <a:latin typeface="Patrick Hand"/>
                <a:ea typeface="Patrick Hand"/>
                <a:cs typeface="Patrick Hand"/>
                <a:sym typeface="Patrick Hand"/>
              </a:rPr>
              <a:t> el 4 x 1C = 4C</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Escrib</a:t>
            </a:r>
            <a:r>
              <a:rPr lang="es-ES" sz="2200">
                <a:solidFill>
                  <a:schemeClr val="dk1"/>
                </a:solidFill>
                <a:latin typeface="Patrick Hand"/>
                <a:ea typeface="Patrick Hand"/>
                <a:cs typeface="Patrick Hand"/>
                <a:sym typeface="Patrick Hand"/>
              </a:rPr>
              <a:t>o</a:t>
            </a:r>
            <a:r>
              <a:rPr b="0" i="0" lang="es-ES" sz="2200" u="none" cap="none" strike="noStrike">
                <a:solidFill>
                  <a:schemeClr val="dk1"/>
                </a:solidFill>
                <a:latin typeface="Patrick Hand"/>
                <a:ea typeface="Patrick Hand"/>
                <a:cs typeface="Patrick Hand"/>
                <a:sym typeface="Patrick Hand"/>
              </a:rPr>
              <a:t> el 4 bajo las decenas.</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206" name="Google Shape;206;g237f15b63d7_0_36"/>
          <p:cNvSpPr txBox="1"/>
          <p:nvPr/>
        </p:nvSpPr>
        <p:spPr>
          <a:xfrm>
            <a:off x="5936863" y="2243763"/>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C  D  U</a:t>
            </a:r>
            <a:endParaRPr b="0" i="0" sz="1200" u="none" cap="none" strike="noStrike">
              <a:solidFill>
                <a:srgbClr val="000000"/>
              </a:solidFill>
              <a:latin typeface="Arial"/>
              <a:ea typeface="Arial"/>
              <a:cs typeface="Arial"/>
              <a:sym typeface="Arial"/>
            </a:endParaRPr>
          </a:p>
        </p:txBody>
      </p:sp>
      <p:sp>
        <p:nvSpPr>
          <p:cNvPr id="207" name="Google Shape;207;g237f15b63d7_0_36"/>
          <p:cNvSpPr txBox="1"/>
          <p:nvPr/>
        </p:nvSpPr>
        <p:spPr>
          <a:xfrm>
            <a:off x="9801600" y="2787138"/>
            <a:ext cx="24516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3600" u="none" cap="none" strike="noStrike">
                <a:solidFill>
                  <a:schemeClr val="dk1"/>
                </a:solidFill>
                <a:latin typeface="Patrick Hand"/>
                <a:ea typeface="Patrick Hand"/>
                <a:cs typeface="Patrick Hand"/>
                <a:sym typeface="Patrick Hand"/>
              </a:rPr>
              <a:t>1 2 3  x  4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4 9 2</a:t>
            </a:r>
            <a:endParaRPr b="0" i="0" sz="3600" u="none" cap="none" strike="noStrike">
              <a:solidFill>
                <a:schemeClr val="dk1"/>
              </a:solidFill>
              <a:latin typeface="Patrick Hand"/>
              <a:ea typeface="Patrick Hand"/>
              <a:cs typeface="Patrick Hand"/>
              <a:sym typeface="Patrick Hand"/>
            </a:endParaRPr>
          </a:p>
        </p:txBody>
      </p:sp>
      <p:sp>
        <p:nvSpPr>
          <p:cNvPr id="208" name="Google Shape;208;g237f15b63d7_0_36"/>
          <p:cNvSpPr txBox="1"/>
          <p:nvPr/>
        </p:nvSpPr>
        <p:spPr>
          <a:xfrm>
            <a:off x="9753038" y="2243763"/>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C  D  U</a:t>
            </a:r>
            <a:endParaRPr b="0" i="0" sz="1200" u="none" cap="none" strike="noStrike">
              <a:solidFill>
                <a:srgbClr val="000000"/>
              </a:solidFill>
              <a:latin typeface="Arial"/>
              <a:ea typeface="Arial"/>
              <a:cs typeface="Arial"/>
              <a:sym typeface="Arial"/>
            </a:endParaRPr>
          </a:p>
        </p:txBody>
      </p:sp>
      <p:sp>
        <p:nvSpPr>
          <p:cNvPr id="209" name="Google Shape;209;g237f15b63d7_0_36"/>
          <p:cNvSpPr txBox="1"/>
          <p:nvPr/>
        </p:nvSpPr>
        <p:spPr>
          <a:xfrm>
            <a:off x="1154850" y="2525850"/>
            <a:ext cx="693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900"/>
              <a:buFont typeface="Arial"/>
              <a:buNone/>
            </a:pPr>
            <a:r>
              <a:rPr b="0" i="0" lang="es-ES" sz="2900" u="none" cap="none" strike="noStrike">
                <a:solidFill>
                  <a:srgbClr val="FF0000"/>
                </a:solidFill>
                <a:latin typeface="Patrick Hand"/>
                <a:ea typeface="Patrick Hand"/>
                <a:cs typeface="Patrick Hand"/>
                <a:sym typeface="Patrick Hand"/>
              </a:rPr>
              <a:t>1</a:t>
            </a:r>
            <a:endParaRPr b="0" i="0" sz="900" u="none" cap="none" strike="noStrike">
              <a:solidFill>
                <a:srgbClr val="000000"/>
              </a:solidFill>
              <a:latin typeface="Arial"/>
              <a:ea typeface="Arial"/>
              <a:cs typeface="Arial"/>
              <a:sym typeface="Arial"/>
            </a:endParaRPr>
          </a:p>
        </p:txBody>
      </p:sp>
      <p:sp>
        <p:nvSpPr>
          <p:cNvPr id="210" name="Google Shape;210;g237f15b63d7_0_36"/>
          <p:cNvSpPr txBox="1"/>
          <p:nvPr/>
        </p:nvSpPr>
        <p:spPr>
          <a:xfrm>
            <a:off x="6301300" y="2525850"/>
            <a:ext cx="693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900"/>
              <a:buFont typeface="Arial"/>
              <a:buNone/>
            </a:pPr>
            <a:r>
              <a:rPr b="0" i="0" lang="es-ES" sz="2900" u="none" cap="none" strike="noStrike">
                <a:solidFill>
                  <a:srgbClr val="FF0000"/>
                </a:solidFill>
                <a:latin typeface="Patrick Hand"/>
                <a:ea typeface="Patrick Hand"/>
                <a:cs typeface="Patrick Hand"/>
                <a:sym typeface="Patrick Hand"/>
              </a:rPr>
              <a:t>1</a:t>
            </a:r>
            <a:endParaRPr b="0" i="0" sz="900" u="none" cap="none" strike="noStrike">
              <a:solidFill>
                <a:srgbClr val="000000"/>
              </a:solidFill>
              <a:latin typeface="Arial"/>
              <a:ea typeface="Arial"/>
              <a:cs typeface="Arial"/>
              <a:sym typeface="Arial"/>
            </a:endParaRPr>
          </a:p>
        </p:txBody>
      </p:sp>
      <p:sp>
        <p:nvSpPr>
          <p:cNvPr id="211" name="Google Shape;211;g237f15b63d7_0_36"/>
          <p:cNvSpPr txBox="1"/>
          <p:nvPr/>
        </p:nvSpPr>
        <p:spPr>
          <a:xfrm>
            <a:off x="10053575" y="2489038"/>
            <a:ext cx="693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900"/>
              <a:buFont typeface="Arial"/>
              <a:buNone/>
            </a:pPr>
            <a:r>
              <a:rPr b="0" i="0" lang="es-ES" sz="2900" u="none" cap="none" strike="noStrike">
                <a:solidFill>
                  <a:srgbClr val="FF0000"/>
                </a:solidFill>
                <a:latin typeface="Patrick Hand"/>
                <a:ea typeface="Patrick Hand"/>
                <a:cs typeface="Patrick Hand"/>
                <a:sym typeface="Patrick Hand"/>
              </a:rPr>
              <a:t>1</a:t>
            </a:r>
            <a:endParaRPr b="0" i="0" sz="900" u="none" cap="none" strike="noStrike">
              <a:solidFill>
                <a:srgbClr val="000000"/>
              </a:solidFill>
              <a:latin typeface="Arial"/>
              <a:ea typeface="Arial"/>
              <a:cs typeface="Arial"/>
              <a:sym typeface="Arial"/>
            </a:endParaRPr>
          </a:p>
        </p:txBody>
      </p:sp>
      <p:cxnSp>
        <p:nvCxnSpPr>
          <p:cNvPr id="212" name="Google Shape;212;g237f15b63d7_0_36"/>
          <p:cNvCxnSpPr/>
          <p:nvPr/>
        </p:nvCxnSpPr>
        <p:spPr>
          <a:xfrm>
            <a:off x="5072138" y="2345225"/>
            <a:ext cx="27000" cy="3464400"/>
          </a:xfrm>
          <a:prstGeom prst="straightConnector1">
            <a:avLst/>
          </a:prstGeom>
          <a:noFill/>
          <a:ln cap="flat" cmpd="sng" w="28575">
            <a:solidFill>
              <a:srgbClr val="009287"/>
            </a:solidFill>
            <a:prstDash val="solid"/>
            <a:round/>
            <a:headEnd len="sm" w="sm" type="none"/>
            <a:tailEnd len="sm" w="sm" type="none"/>
          </a:ln>
        </p:spPr>
      </p:cxnSp>
      <p:cxnSp>
        <p:nvCxnSpPr>
          <p:cNvPr id="213" name="Google Shape;213;g237f15b63d7_0_36"/>
          <p:cNvCxnSpPr/>
          <p:nvPr/>
        </p:nvCxnSpPr>
        <p:spPr>
          <a:xfrm>
            <a:off x="8962913" y="2354075"/>
            <a:ext cx="6600" cy="3446700"/>
          </a:xfrm>
          <a:prstGeom prst="straightConnector1">
            <a:avLst/>
          </a:prstGeom>
          <a:noFill/>
          <a:ln cap="flat" cmpd="sng" w="28575">
            <a:solidFill>
              <a:srgbClr val="009287"/>
            </a:solidFill>
            <a:prstDash val="solid"/>
            <a:round/>
            <a:headEnd len="sm" w="sm" type="none"/>
            <a:tailEnd len="sm" w="sm" type="none"/>
          </a:ln>
        </p:spPr>
      </p:cxnSp>
      <p:sp>
        <p:nvSpPr>
          <p:cNvPr id="214" name="Google Shape;214;g237f15b63d7_0_36"/>
          <p:cNvSpPr/>
          <p:nvPr/>
        </p:nvSpPr>
        <p:spPr>
          <a:xfrm>
            <a:off x="230975" y="2949300"/>
            <a:ext cx="435000" cy="5550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s-ES" sz="2300" u="none" cap="none" strike="noStrike">
                <a:solidFill>
                  <a:schemeClr val="lt1"/>
                </a:solidFill>
                <a:latin typeface="Patrick Hand"/>
                <a:ea typeface="Patrick Hand"/>
                <a:cs typeface="Patrick Hand"/>
                <a:sym typeface="Patrick Hand"/>
              </a:rPr>
              <a:t>1</a:t>
            </a:r>
            <a:endParaRPr b="0" i="0" sz="2300" u="none" cap="none" strike="noStrike">
              <a:solidFill>
                <a:schemeClr val="lt1"/>
              </a:solidFill>
              <a:latin typeface="Patrick Hand"/>
              <a:ea typeface="Patrick Hand"/>
              <a:cs typeface="Patrick Hand"/>
              <a:sym typeface="Patrick Hand"/>
            </a:endParaRPr>
          </a:p>
        </p:txBody>
      </p:sp>
      <p:sp>
        <p:nvSpPr>
          <p:cNvPr id="215" name="Google Shape;215;g237f15b63d7_0_36"/>
          <p:cNvSpPr/>
          <p:nvPr/>
        </p:nvSpPr>
        <p:spPr>
          <a:xfrm>
            <a:off x="5180363" y="2857750"/>
            <a:ext cx="435000" cy="5550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s-ES" sz="2300" u="none" cap="none" strike="noStrike">
                <a:solidFill>
                  <a:schemeClr val="lt1"/>
                </a:solidFill>
                <a:latin typeface="Patrick Hand"/>
                <a:ea typeface="Patrick Hand"/>
                <a:cs typeface="Patrick Hand"/>
                <a:sym typeface="Patrick Hand"/>
              </a:rPr>
              <a:t>2</a:t>
            </a:r>
            <a:endParaRPr b="0" i="0" sz="2300" u="none" cap="none" strike="noStrike">
              <a:solidFill>
                <a:schemeClr val="lt1"/>
              </a:solidFill>
              <a:latin typeface="Patrick Hand"/>
              <a:ea typeface="Patrick Hand"/>
              <a:cs typeface="Patrick Hand"/>
              <a:sym typeface="Patrick Hand"/>
            </a:endParaRPr>
          </a:p>
        </p:txBody>
      </p:sp>
      <p:sp>
        <p:nvSpPr>
          <p:cNvPr id="216" name="Google Shape;216;g237f15b63d7_0_36"/>
          <p:cNvSpPr/>
          <p:nvPr/>
        </p:nvSpPr>
        <p:spPr>
          <a:xfrm>
            <a:off x="8995675" y="2857750"/>
            <a:ext cx="435000" cy="5550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s-ES" sz="2300" u="none" cap="none" strike="noStrike">
                <a:solidFill>
                  <a:schemeClr val="lt1"/>
                </a:solidFill>
                <a:latin typeface="Patrick Hand"/>
                <a:ea typeface="Patrick Hand"/>
                <a:cs typeface="Patrick Hand"/>
                <a:sym typeface="Patrick Hand"/>
              </a:rPr>
              <a:t>3</a:t>
            </a:r>
            <a:endParaRPr b="0" i="0" sz="2300" u="none" cap="none" strike="noStrike">
              <a:solidFill>
                <a:schemeClr val="lt1"/>
              </a:solidFill>
              <a:latin typeface="Patrick Hand"/>
              <a:ea typeface="Patrick Hand"/>
              <a:cs typeface="Patrick Hand"/>
              <a:sym typeface="Patrick Hand"/>
            </a:endParaRPr>
          </a:p>
        </p:txBody>
      </p:sp>
      <p:sp>
        <p:nvSpPr>
          <p:cNvPr id="217" name="Google Shape;217;g237f15b63d7_0_36"/>
          <p:cNvSpPr txBox="1"/>
          <p:nvPr/>
        </p:nvSpPr>
        <p:spPr>
          <a:xfrm>
            <a:off x="4163700" y="5918225"/>
            <a:ext cx="3864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040C28"/>
                </a:solidFill>
                <a:latin typeface="Patrick Hand"/>
                <a:ea typeface="Patrick Hand"/>
                <a:cs typeface="Patrick Hand"/>
                <a:sym typeface="Patrick Hand"/>
              </a:rPr>
              <a:t>Finalmente: 123 x 4 = 492</a:t>
            </a:r>
            <a:endParaRPr b="0" i="0" sz="1400" u="none" cap="none" strike="noStrike">
              <a:solidFill>
                <a:srgbClr val="000000"/>
              </a:solidFill>
              <a:latin typeface="Arial"/>
              <a:ea typeface="Arial"/>
              <a:cs typeface="Arial"/>
              <a:sym typeface="Arial"/>
            </a:endParaRPr>
          </a:p>
        </p:txBody>
      </p:sp>
      <p:sp>
        <p:nvSpPr>
          <p:cNvPr id="218" name="Google Shape;218;g237f15b63d7_0_36"/>
          <p:cNvSpPr/>
          <p:nvPr/>
        </p:nvSpPr>
        <p:spPr>
          <a:xfrm>
            <a:off x="4175200" y="5987425"/>
            <a:ext cx="3571200" cy="408600"/>
          </a:xfrm>
          <a:prstGeom prst="roundRect">
            <a:avLst>
              <a:gd fmla="val 16667" name="adj"/>
            </a:avLst>
          </a:prstGeom>
          <a:noFill/>
          <a:ln cap="flat" cmpd="sng" w="19050">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g237f15b63d7_0_36"/>
          <p:cNvPicPr preferRelativeResize="0"/>
          <p:nvPr/>
        </p:nvPicPr>
        <p:blipFill>
          <a:blip r:embed="rId4">
            <a:alphaModFix/>
          </a:blip>
          <a:stretch>
            <a:fillRect/>
          </a:stretch>
        </p:blipFill>
        <p:spPr>
          <a:xfrm>
            <a:off x="10992550" y="531298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238040fe0d9_0_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Forma&#10;&#10;Descripción generada automáticamente con confianza media" id="225" name="Google Shape;225;g238040fe0d9_0_22"/>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26" name="Google Shape;226;g238040fe0d9_0_22"/>
          <p:cNvSpPr txBox="1"/>
          <p:nvPr/>
        </p:nvSpPr>
        <p:spPr>
          <a:xfrm>
            <a:off x="1032163" y="314614"/>
            <a:ext cx="9847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27" name="Google Shape;227;g238040fe0d9_0_22"/>
          <p:cNvSpPr txBox="1"/>
          <p:nvPr/>
        </p:nvSpPr>
        <p:spPr>
          <a:xfrm>
            <a:off x="12125" y="423925"/>
            <a:ext cx="12192000" cy="112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lt1"/>
                </a:solidFill>
                <a:highlight>
                  <a:srgbClr val="009287"/>
                </a:highlight>
                <a:latin typeface="Patrick Hand"/>
                <a:ea typeface="Patrick Hand"/>
                <a:cs typeface="Patrick Hand"/>
                <a:sym typeface="Patrick Hand"/>
              </a:rPr>
              <a:t>4. Multiplicar números de 3 dígitos por n° de 1 dígito. </a:t>
            </a:r>
            <a:endParaRPr b="0" i="0" sz="3900" u="none" cap="none" strike="noStrike">
              <a:solidFill>
                <a:schemeClr val="lt1"/>
              </a:solidFill>
              <a:highlight>
                <a:srgbClr val="009287"/>
              </a:highlight>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000"/>
              <a:buFont typeface="Arial"/>
              <a:buNone/>
            </a:pPr>
            <a:r>
              <a:rPr b="0" i="0" lang="es-ES" sz="2800" u="none" cap="none" strike="noStrike">
                <a:solidFill>
                  <a:srgbClr val="040C28"/>
                </a:solidFill>
                <a:latin typeface="Patrick Hand"/>
                <a:ea typeface="Patrick Hand"/>
                <a:cs typeface="Patrick Hand"/>
                <a:sym typeface="Patrick Hand"/>
              </a:rPr>
              <a:t>Ejemplo 2:</a:t>
            </a:r>
            <a:endParaRPr b="0" i="0" sz="4000" u="none" cap="none" strike="noStrike">
              <a:solidFill>
                <a:schemeClr val="dk1"/>
              </a:solidFill>
              <a:latin typeface="Patrick Hand"/>
              <a:ea typeface="Patrick Hand"/>
              <a:cs typeface="Patrick Hand"/>
              <a:sym typeface="Patrick Hand"/>
            </a:endParaRPr>
          </a:p>
        </p:txBody>
      </p:sp>
      <p:sp>
        <p:nvSpPr>
          <p:cNvPr id="228" name="Google Shape;228;g238040fe0d9_0_22"/>
          <p:cNvSpPr txBox="1"/>
          <p:nvPr/>
        </p:nvSpPr>
        <p:spPr>
          <a:xfrm>
            <a:off x="0" y="3491975"/>
            <a:ext cx="4484700" cy="242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00000"/>
                </a:solidFill>
                <a:latin typeface="Patrick Hand"/>
                <a:ea typeface="Patrick Hand"/>
                <a:cs typeface="Patrick Hand"/>
                <a:sym typeface="Patrick Hand"/>
              </a:rPr>
              <a:t>- Comienzo multiplicando el 5 por las unidades</a:t>
            </a:r>
            <a:endParaRPr b="0" i="0" sz="22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00000"/>
                </a:solidFill>
                <a:latin typeface="Patrick Hand"/>
                <a:ea typeface="Patrick Hand"/>
                <a:cs typeface="Patrick Hand"/>
                <a:sym typeface="Patrick Hand"/>
              </a:rPr>
              <a:t>- 5 x 7U = 35U</a:t>
            </a:r>
            <a:endParaRPr b="0" i="0" sz="22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00000"/>
                </a:solidFill>
                <a:latin typeface="Patrick Hand"/>
                <a:ea typeface="Patrick Hand"/>
                <a:cs typeface="Patrick Hand"/>
                <a:sym typeface="Patrick Hand"/>
              </a:rPr>
              <a:t>- Tengo que reagrupar las 35 U en 3d Y 5U</a:t>
            </a:r>
            <a:endParaRPr b="0" i="0" sz="22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00000"/>
                </a:solidFill>
                <a:latin typeface="Patrick Hand"/>
                <a:ea typeface="Patrick Hand"/>
                <a:cs typeface="Patrick Hand"/>
                <a:sym typeface="Patrick Hand"/>
              </a:rPr>
              <a:t>- Escribo el 5 bajo las U y el 3 sobre las D.</a:t>
            </a:r>
            <a:endParaRPr b="0" i="0" sz="2200" u="none" cap="none" strike="noStrike">
              <a:solidFill>
                <a:srgbClr val="000000"/>
              </a:solidFill>
              <a:latin typeface="Patrick Hand"/>
              <a:ea typeface="Patrick Hand"/>
              <a:cs typeface="Patrick Hand"/>
              <a:sym typeface="Patrick Hand"/>
            </a:endParaRPr>
          </a:p>
        </p:txBody>
      </p:sp>
      <p:sp>
        <p:nvSpPr>
          <p:cNvPr id="229" name="Google Shape;229;g238040fe0d9_0_22"/>
          <p:cNvSpPr txBox="1"/>
          <p:nvPr/>
        </p:nvSpPr>
        <p:spPr>
          <a:xfrm>
            <a:off x="749378" y="2284463"/>
            <a:ext cx="25797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3600" u="none" cap="none" strike="noStrike">
                <a:solidFill>
                  <a:schemeClr val="dk1"/>
                </a:solidFill>
                <a:latin typeface="Patrick Hand"/>
                <a:ea typeface="Patrick Hand"/>
                <a:cs typeface="Patrick Hand"/>
                <a:sym typeface="Patrick Hand"/>
              </a:rPr>
              <a:t>2 3 7  x  5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5</a:t>
            </a:r>
            <a:endParaRPr b="0" i="0" sz="3600" u="none" cap="none" strike="noStrike">
              <a:solidFill>
                <a:schemeClr val="dk1"/>
              </a:solidFill>
              <a:latin typeface="Patrick Hand"/>
              <a:ea typeface="Patrick Hand"/>
              <a:cs typeface="Patrick Hand"/>
              <a:sym typeface="Patrick Hand"/>
            </a:endParaRPr>
          </a:p>
        </p:txBody>
      </p:sp>
      <p:sp>
        <p:nvSpPr>
          <p:cNvPr id="230" name="Google Shape;230;g238040fe0d9_0_22"/>
          <p:cNvSpPr txBox="1"/>
          <p:nvPr/>
        </p:nvSpPr>
        <p:spPr>
          <a:xfrm>
            <a:off x="838188" y="1615800"/>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C  D  U</a:t>
            </a:r>
            <a:endParaRPr b="0" i="0" sz="1200" u="none" cap="none" strike="noStrike">
              <a:solidFill>
                <a:srgbClr val="000000"/>
              </a:solidFill>
              <a:latin typeface="Arial"/>
              <a:ea typeface="Arial"/>
              <a:cs typeface="Arial"/>
              <a:sym typeface="Arial"/>
            </a:endParaRPr>
          </a:p>
        </p:txBody>
      </p:sp>
      <p:sp>
        <p:nvSpPr>
          <p:cNvPr id="231" name="Google Shape;231;g238040fe0d9_0_22"/>
          <p:cNvSpPr txBox="1"/>
          <p:nvPr/>
        </p:nvSpPr>
        <p:spPr>
          <a:xfrm>
            <a:off x="5875065" y="2196275"/>
            <a:ext cx="2451600" cy="1920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3600" u="none" cap="none" strike="noStrike">
                <a:solidFill>
                  <a:schemeClr val="dk1"/>
                </a:solidFill>
                <a:latin typeface="Patrick Hand"/>
                <a:ea typeface="Patrick Hand"/>
                <a:cs typeface="Patrick Hand"/>
                <a:sym typeface="Patrick Hand"/>
              </a:rPr>
              <a:t>2 3 7  x  5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   8 5</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t/>
            </a:r>
            <a:endParaRPr b="0" i="0" sz="3600" u="none" cap="none" strike="noStrike">
              <a:solidFill>
                <a:schemeClr val="dk1"/>
              </a:solidFill>
              <a:latin typeface="Patrick Hand"/>
              <a:ea typeface="Patrick Hand"/>
              <a:cs typeface="Patrick Hand"/>
              <a:sym typeface="Patrick Hand"/>
            </a:endParaRPr>
          </a:p>
        </p:txBody>
      </p:sp>
      <p:sp>
        <p:nvSpPr>
          <p:cNvPr id="232" name="Google Shape;232;g238040fe0d9_0_22"/>
          <p:cNvSpPr txBox="1"/>
          <p:nvPr/>
        </p:nvSpPr>
        <p:spPr>
          <a:xfrm>
            <a:off x="4471025" y="3464225"/>
            <a:ext cx="4484700" cy="221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200" u="none" cap="none" strike="noStrike">
                <a:solidFill>
                  <a:schemeClr val="dk1"/>
                </a:solidFill>
                <a:latin typeface="Patrick Hand"/>
                <a:ea typeface="Patrick Hand"/>
                <a:cs typeface="Patrick Hand"/>
                <a:sym typeface="Patrick Hand"/>
              </a:rPr>
              <a:t>-  Multiplic</a:t>
            </a:r>
            <a:r>
              <a:rPr lang="es-ES" sz="2200">
                <a:solidFill>
                  <a:schemeClr val="dk1"/>
                </a:solidFill>
                <a:latin typeface="Patrick Hand"/>
                <a:ea typeface="Patrick Hand"/>
                <a:cs typeface="Patrick Hand"/>
                <a:sym typeface="Patrick Hand"/>
              </a:rPr>
              <a:t>o</a:t>
            </a:r>
            <a:r>
              <a:rPr b="0" i="0" lang="es-ES" sz="2200" u="none" cap="none" strike="noStrike">
                <a:solidFill>
                  <a:schemeClr val="dk1"/>
                </a:solidFill>
                <a:latin typeface="Patrick Hand"/>
                <a:ea typeface="Patrick Hand"/>
                <a:cs typeface="Patrick Hand"/>
                <a:sym typeface="Patrick Hand"/>
              </a:rPr>
              <a:t> el 5 x 3D = 15D</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Hay que sumarle el 3 que está de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reserva en las decenas</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- 15D + 3D = 18D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Tengo que reagrupar el 18D en 8 D Y 1C.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Escribo el 8 bajo las D y el 1 sobre las C.</a:t>
            </a:r>
            <a:endParaRPr b="0" i="0" sz="2200" u="none" cap="none" strike="noStrike">
              <a:solidFill>
                <a:schemeClr val="dk1"/>
              </a:solidFill>
              <a:latin typeface="Patrick Hand"/>
              <a:ea typeface="Patrick Hand"/>
              <a:cs typeface="Patrick Hand"/>
              <a:sym typeface="Patrick Hand"/>
            </a:endParaRPr>
          </a:p>
        </p:txBody>
      </p:sp>
      <p:sp>
        <p:nvSpPr>
          <p:cNvPr id="233" name="Google Shape;233;g238040fe0d9_0_22"/>
          <p:cNvSpPr txBox="1"/>
          <p:nvPr/>
        </p:nvSpPr>
        <p:spPr>
          <a:xfrm>
            <a:off x="8813475" y="3578375"/>
            <a:ext cx="32793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ES" sz="2200" u="none" cap="none" strike="noStrike">
                <a:solidFill>
                  <a:schemeClr val="dk1"/>
                </a:solidFill>
                <a:latin typeface="Patrick Hand"/>
                <a:ea typeface="Patrick Hand"/>
                <a:cs typeface="Patrick Hand"/>
                <a:sym typeface="Patrick Hand"/>
              </a:rPr>
              <a:t>-  Multiplic</a:t>
            </a:r>
            <a:r>
              <a:rPr lang="es-ES" sz="2200">
                <a:solidFill>
                  <a:schemeClr val="dk1"/>
                </a:solidFill>
                <a:latin typeface="Patrick Hand"/>
                <a:ea typeface="Patrick Hand"/>
                <a:cs typeface="Patrick Hand"/>
                <a:sym typeface="Patrick Hand"/>
              </a:rPr>
              <a:t>o</a:t>
            </a:r>
            <a:r>
              <a:rPr b="0" i="0" lang="es-ES" sz="2200" u="none" cap="none" strike="noStrike">
                <a:solidFill>
                  <a:schemeClr val="dk1"/>
                </a:solidFill>
                <a:latin typeface="Patrick Hand"/>
                <a:ea typeface="Patrick Hand"/>
                <a:cs typeface="Patrick Hand"/>
                <a:sym typeface="Patrick Hand"/>
              </a:rPr>
              <a:t> el 5 x 2C = 10 C</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Le tengo que sumar el 1 que estaba en la reserva:</a:t>
            </a:r>
            <a:endParaRPr b="0" i="0" sz="22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- 10C + 1C = 11C</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chemeClr val="dk1"/>
                </a:solidFill>
                <a:latin typeface="Patrick Hand"/>
                <a:ea typeface="Patrick Hand"/>
                <a:cs typeface="Patrick Hand"/>
                <a:sym typeface="Patrick Hand"/>
              </a:rPr>
              <a:t>- Escrib</a:t>
            </a:r>
            <a:r>
              <a:rPr lang="es-ES" sz="2200">
                <a:solidFill>
                  <a:schemeClr val="dk1"/>
                </a:solidFill>
                <a:latin typeface="Patrick Hand"/>
                <a:ea typeface="Patrick Hand"/>
                <a:cs typeface="Patrick Hand"/>
                <a:sym typeface="Patrick Hand"/>
              </a:rPr>
              <a:t>o</a:t>
            </a:r>
            <a:r>
              <a:rPr b="0" i="0" lang="es-ES" sz="2200" u="none" cap="none" strike="noStrike">
                <a:solidFill>
                  <a:schemeClr val="dk1"/>
                </a:solidFill>
                <a:latin typeface="Patrick Hand"/>
                <a:ea typeface="Patrick Hand"/>
                <a:cs typeface="Patrick Hand"/>
                <a:sym typeface="Patrick Hand"/>
              </a:rPr>
              <a:t> el 11.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Arial"/>
              <a:ea typeface="Arial"/>
              <a:cs typeface="Arial"/>
              <a:sym typeface="Arial"/>
            </a:endParaRPr>
          </a:p>
        </p:txBody>
      </p:sp>
      <p:sp>
        <p:nvSpPr>
          <p:cNvPr id="234" name="Google Shape;234;g238040fe0d9_0_22"/>
          <p:cNvSpPr txBox="1"/>
          <p:nvPr/>
        </p:nvSpPr>
        <p:spPr>
          <a:xfrm>
            <a:off x="5936738" y="1571688"/>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C  D  U</a:t>
            </a:r>
            <a:endParaRPr b="0" i="0" sz="1200" u="none" cap="none" strike="noStrike">
              <a:solidFill>
                <a:srgbClr val="000000"/>
              </a:solidFill>
              <a:latin typeface="Arial"/>
              <a:ea typeface="Arial"/>
              <a:cs typeface="Arial"/>
              <a:sym typeface="Arial"/>
            </a:endParaRPr>
          </a:p>
        </p:txBody>
      </p:sp>
      <p:sp>
        <p:nvSpPr>
          <p:cNvPr id="235" name="Google Shape;235;g238040fe0d9_0_22"/>
          <p:cNvSpPr txBox="1"/>
          <p:nvPr/>
        </p:nvSpPr>
        <p:spPr>
          <a:xfrm>
            <a:off x="9717513" y="1615788"/>
            <a:ext cx="3000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40C28"/>
                </a:solidFill>
                <a:latin typeface="Patrick Hand"/>
                <a:ea typeface="Patrick Hand"/>
                <a:cs typeface="Patrick Hand"/>
                <a:sym typeface="Patrick Hand"/>
              </a:rPr>
              <a:t>C  D  U</a:t>
            </a:r>
            <a:endParaRPr b="0" i="0" sz="1200" u="none" cap="none" strike="noStrike">
              <a:solidFill>
                <a:srgbClr val="000000"/>
              </a:solidFill>
              <a:latin typeface="Arial"/>
              <a:ea typeface="Arial"/>
              <a:cs typeface="Arial"/>
              <a:sym typeface="Arial"/>
            </a:endParaRPr>
          </a:p>
        </p:txBody>
      </p:sp>
      <p:sp>
        <p:nvSpPr>
          <p:cNvPr id="236" name="Google Shape;236;g238040fe0d9_0_22"/>
          <p:cNvSpPr txBox="1"/>
          <p:nvPr/>
        </p:nvSpPr>
        <p:spPr>
          <a:xfrm>
            <a:off x="1032175" y="1978188"/>
            <a:ext cx="693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900"/>
              <a:buFont typeface="Arial"/>
              <a:buNone/>
            </a:pPr>
            <a:r>
              <a:rPr b="0" i="0" lang="es-ES" sz="2900" u="none" cap="none" strike="noStrike">
                <a:solidFill>
                  <a:srgbClr val="FF0000"/>
                </a:solidFill>
                <a:latin typeface="Patrick Hand"/>
                <a:ea typeface="Patrick Hand"/>
                <a:cs typeface="Patrick Hand"/>
                <a:sym typeface="Patrick Hand"/>
              </a:rPr>
              <a:t>3</a:t>
            </a:r>
            <a:endParaRPr b="0" i="0" sz="900" u="none" cap="none" strike="noStrike">
              <a:solidFill>
                <a:srgbClr val="000000"/>
              </a:solidFill>
              <a:latin typeface="Arial"/>
              <a:ea typeface="Arial"/>
              <a:cs typeface="Arial"/>
              <a:sym typeface="Arial"/>
            </a:endParaRPr>
          </a:p>
        </p:txBody>
      </p:sp>
      <p:sp>
        <p:nvSpPr>
          <p:cNvPr id="237" name="Google Shape;237;g238040fe0d9_0_22"/>
          <p:cNvSpPr txBox="1"/>
          <p:nvPr/>
        </p:nvSpPr>
        <p:spPr>
          <a:xfrm>
            <a:off x="6278350" y="1902000"/>
            <a:ext cx="693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900"/>
              <a:buFont typeface="Arial"/>
              <a:buNone/>
            </a:pPr>
            <a:r>
              <a:rPr b="0" i="0" lang="es-ES" sz="2900" u="none" cap="none" strike="noStrike">
                <a:solidFill>
                  <a:srgbClr val="FF0000"/>
                </a:solidFill>
                <a:latin typeface="Patrick Hand"/>
                <a:ea typeface="Patrick Hand"/>
                <a:cs typeface="Patrick Hand"/>
                <a:sym typeface="Patrick Hand"/>
              </a:rPr>
              <a:t>3</a:t>
            </a:r>
            <a:endParaRPr b="0" i="0" sz="900" u="none" cap="none" strike="noStrike">
              <a:solidFill>
                <a:srgbClr val="000000"/>
              </a:solidFill>
              <a:latin typeface="Arial"/>
              <a:ea typeface="Arial"/>
              <a:cs typeface="Arial"/>
              <a:sym typeface="Arial"/>
            </a:endParaRPr>
          </a:p>
        </p:txBody>
      </p:sp>
      <p:sp>
        <p:nvSpPr>
          <p:cNvPr id="238" name="Google Shape;238;g238040fe0d9_0_22"/>
          <p:cNvSpPr txBox="1"/>
          <p:nvPr/>
        </p:nvSpPr>
        <p:spPr>
          <a:xfrm>
            <a:off x="9717525" y="1923388"/>
            <a:ext cx="693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900"/>
              <a:buFont typeface="Arial"/>
              <a:buNone/>
            </a:pPr>
            <a:r>
              <a:rPr b="0" i="0" lang="es-ES" sz="2900" u="none" cap="none" strike="noStrike">
                <a:solidFill>
                  <a:srgbClr val="FF0000"/>
                </a:solidFill>
                <a:latin typeface="Patrick Hand"/>
                <a:ea typeface="Patrick Hand"/>
                <a:cs typeface="Patrick Hand"/>
                <a:sym typeface="Patrick Hand"/>
              </a:rPr>
              <a:t>1</a:t>
            </a:r>
            <a:endParaRPr b="0" i="0" sz="900" u="none" cap="none" strike="noStrike">
              <a:solidFill>
                <a:srgbClr val="000000"/>
              </a:solidFill>
              <a:latin typeface="Arial"/>
              <a:ea typeface="Arial"/>
              <a:cs typeface="Arial"/>
              <a:sym typeface="Arial"/>
            </a:endParaRPr>
          </a:p>
        </p:txBody>
      </p:sp>
      <p:cxnSp>
        <p:nvCxnSpPr>
          <p:cNvPr id="239" name="Google Shape;239;g238040fe0d9_0_22"/>
          <p:cNvCxnSpPr/>
          <p:nvPr/>
        </p:nvCxnSpPr>
        <p:spPr>
          <a:xfrm>
            <a:off x="4409213" y="2345225"/>
            <a:ext cx="27000" cy="3464400"/>
          </a:xfrm>
          <a:prstGeom prst="straightConnector1">
            <a:avLst/>
          </a:prstGeom>
          <a:noFill/>
          <a:ln cap="flat" cmpd="sng" w="28575">
            <a:solidFill>
              <a:srgbClr val="009287"/>
            </a:solidFill>
            <a:prstDash val="solid"/>
            <a:round/>
            <a:headEnd len="sm" w="sm" type="none"/>
            <a:tailEnd len="sm" w="sm" type="none"/>
          </a:ln>
        </p:spPr>
      </p:cxnSp>
      <p:cxnSp>
        <p:nvCxnSpPr>
          <p:cNvPr id="240" name="Google Shape;240;g238040fe0d9_0_22"/>
          <p:cNvCxnSpPr/>
          <p:nvPr/>
        </p:nvCxnSpPr>
        <p:spPr>
          <a:xfrm>
            <a:off x="8813463" y="2354075"/>
            <a:ext cx="6600" cy="3446700"/>
          </a:xfrm>
          <a:prstGeom prst="straightConnector1">
            <a:avLst/>
          </a:prstGeom>
          <a:noFill/>
          <a:ln cap="flat" cmpd="sng" w="28575">
            <a:solidFill>
              <a:srgbClr val="009287"/>
            </a:solidFill>
            <a:prstDash val="solid"/>
            <a:round/>
            <a:headEnd len="sm" w="sm" type="none"/>
            <a:tailEnd len="sm" w="sm" type="none"/>
          </a:ln>
        </p:spPr>
      </p:cxnSp>
      <p:sp>
        <p:nvSpPr>
          <p:cNvPr id="241" name="Google Shape;241;g238040fe0d9_0_22"/>
          <p:cNvSpPr/>
          <p:nvPr/>
        </p:nvSpPr>
        <p:spPr>
          <a:xfrm>
            <a:off x="230975" y="2354075"/>
            <a:ext cx="435000" cy="5550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s-ES" sz="2300" u="none" cap="none" strike="noStrike">
                <a:solidFill>
                  <a:schemeClr val="lt1"/>
                </a:solidFill>
                <a:latin typeface="Patrick Hand"/>
                <a:ea typeface="Patrick Hand"/>
                <a:cs typeface="Patrick Hand"/>
                <a:sym typeface="Patrick Hand"/>
              </a:rPr>
              <a:t>1</a:t>
            </a:r>
            <a:endParaRPr b="0" i="0" sz="2300" u="none" cap="none" strike="noStrike">
              <a:solidFill>
                <a:schemeClr val="lt1"/>
              </a:solidFill>
              <a:latin typeface="Patrick Hand"/>
              <a:ea typeface="Patrick Hand"/>
              <a:cs typeface="Patrick Hand"/>
              <a:sym typeface="Patrick Hand"/>
            </a:endParaRPr>
          </a:p>
        </p:txBody>
      </p:sp>
      <p:sp>
        <p:nvSpPr>
          <p:cNvPr id="242" name="Google Shape;242;g238040fe0d9_0_22"/>
          <p:cNvSpPr/>
          <p:nvPr/>
        </p:nvSpPr>
        <p:spPr>
          <a:xfrm>
            <a:off x="5126549" y="2228325"/>
            <a:ext cx="435000" cy="5550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s-ES" sz="2300" u="none" cap="none" strike="noStrike">
                <a:solidFill>
                  <a:schemeClr val="lt1"/>
                </a:solidFill>
                <a:latin typeface="Patrick Hand"/>
                <a:ea typeface="Patrick Hand"/>
                <a:cs typeface="Patrick Hand"/>
                <a:sym typeface="Patrick Hand"/>
              </a:rPr>
              <a:t>2</a:t>
            </a:r>
            <a:endParaRPr b="0" i="0" sz="2300" u="none" cap="none" strike="noStrike">
              <a:solidFill>
                <a:schemeClr val="lt1"/>
              </a:solidFill>
              <a:latin typeface="Patrick Hand"/>
              <a:ea typeface="Patrick Hand"/>
              <a:cs typeface="Patrick Hand"/>
              <a:sym typeface="Patrick Hand"/>
            </a:endParaRPr>
          </a:p>
        </p:txBody>
      </p:sp>
      <p:sp>
        <p:nvSpPr>
          <p:cNvPr id="243" name="Google Shape;243;g238040fe0d9_0_22"/>
          <p:cNvSpPr/>
          <p:nvPr/>
        </p:nvSpPr>
        <p:spPr>
          <a:xfrm>
            <a:off x="8956900" y="2207738"/>
            <a:ext cx="435000" cy="5550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s-ES" sz="2300" u="none" cap="none" strike="noStrike">
                <a:solidFill>
                  <a:schemeClr val="lt1"/>
                </a:solidFill>
                <a:latin typeface="Patrick Hand"/>
                <a:ea typeface="Patrick Hand"/>
                <a:cs typeface="Patrick Hand"/>
                <a:sym typeface="Patrick Hand"/>
              </a:rPr>
              <a:t>3</a:t>
            </a:r>
            <a:endParaRPr b="0" i="0" sz="2300" u="none" cap="none" strike="noStrike">
              <a:solidFill>
                <a:schemeClr val="lt1"/>
              </a:solidFill>
              <a:latin typeface="Patrick Hand"/>
              <a:ea typeface="Patrick Hand"/>
              <a:cs typeface="Patrick Hand"/>
              <a:sym typeface="Patrick Hand"/>
            </a:endParaRPr>
          </a:p>
        </p:txBody>
      </p:sp>
      <p:sp>
        <p:nvSpPr>
          <p:cNvPr id="244" name="Google Shape;244;g238040fe0d9_0_22"/>
          <p:cNvSpPr txBox="1"/>
          <p:nvPr/>
        </p:nvSpPr>
        <p:spPr>
          <a:xfrm>
            <a:off x="4163700" y="5883925"/>
            <a:ext cx="4163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040C28"/>
                </a:solidFill>
                <a:latin typeface="Patrick Hand"/>
                <a:ea typeface="Patrick Hand"/>
                <a:cs typeface="Patrick Hand"/>
                <a:sym typeface="Patrick Hand"/>
              </a:rPr>
              <a:t>Finalmente: 237 x 5 = 1185</a:t>
            </a:r>
            <a:endParaRPr b="0" i="0" sz="1400" u="none" cap="none" strike="noStrike">
              <a:solidFill>
                <a:srgbClr val="000000"/>
              </a:solidFill>
              <a:latin typeface="Arial"/>
              <a:ea typeface="Arial"/>
              <a:cs typeface="Arial"/>
              <a:sym typeface="Arial"/>
            </a:endParaRPr>
          </a:p>
        </p:txBody>
      </p:sp>
      <p:sp>
        <p:nvSpPr>
          <p:cNvPr id="245" name="Google Shape;245;g238040fe0d9_0_22"/>
          <p:cNvSpPr/>
          <p:nvPr/>
        </p:nvSpPr>
        <p:spPr>
          <a:xfrm>
            <a:off x="4175200" y="5987425"/>
            <a:ext cx="3748800" cy="408600"/>
          </a:xfrm>
          <a:prstGeom prst="roundRect">
            <a:avLst>
              <a:gd fmla="val 16667" name="adj"/>
            </a:avLst>
          </a:prstGeom>
          <a:noFill/>
          <a:ln cap="flat" cmpd="sng" w="19050">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238040fe0d9_0_22"/>
          <p:cNvSpPr txBox="1"/>
          <p:nvPr/>
        </p:nvSpPr>
        <p:spPr>
          <a:xfrm>
            <a:off x="5936750" y="1902000"/>
            <a:ext cx="693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900"/>
              <a:buFont typeface="Arial"/>
              <a:buNone/>
            </a:pPr>
            <a:r>
              <a:rPr b="0" i="0" lang="es-ES" sz="2900" u="none" cap="none" strike="noStrike">
                <a:solidFill>
                  <a:srgbClr val="FF0000"/>
                </a:solidFill>
                <a:latin typeface="Patrick Hand"/>
                <a:ea typeface="Patrick Hand"/>
                <a:cs typeface="Patrick Hand"/>
                <a:sym typeface="Patrick Hand"/>
              </a:rPr>
              <a:t>1</a:t>
            </a:r>
            <a:endParaRPr b="0" i="0" sz="900" u="none" cap="none" strike="noStrike">
              <a:solidFill>
                <a:srgbClr val="000000"/>
              </a:solidFill>
              <a:latin typeface="Arial"/>
              <a:ea typeface="Arial"/>
              <a:cs typeface="Arial"/>
              <a:sym typeface="Arial"/>
            </a:endParaRPr>
          </a:p>
        </p:txBody>
      </p:sp>
      <p:sp>
        <p:nvSpPr>
          <p:cNvPr id="247" name="Google Shape;247;g238040fe0d9_0_22"/>
          <p:cNvSpPr txBox="1"/>
          <p:nvPr/>
        </p:nvSpPr>
        <p:spPr>
          <a:xfrm>
            <a:off x="10022125" y="1923388"/>
            <a:ext cx="6930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900"/>
              <a:buFont typeface="Arial"/>
              <a:buNone/>
            </a:pPr>
            <a:r>
              <a:rPr b="0" i="0" lang="es-ES" sz="2900" u="none" cap="none" strike="noStrike">
                <a:solidFill>
                  <a:srgbClr val="FF0000"/>
                </a:solidFill>
                <a:latin typeface="Patrick Hand"/>
                <a:ea typeface="Patrick Hand"/>
                <a:cs typeface="Patrick Hand"/>
                <a:sym typeface="Patrick Hand"/>
              </a:rPr>
              <a:t>3</a:t>
            </a:r>
            <a:endParaRPr b="0" i="0" sz="900" u="none" cap="none" strike="noStrike">
              <a:solidFill>
                <a:srgbClr val="000000"/>
              </a:solidFill>
              <a:latin typeface="Arial"/>
              <a:ea typeface="Arial"/>
              <a:cs typeface="Arial"/>
              <a:sym typeface="Arial"/>
            </a:endParaRPr>
          </a:p>
        </p:txBody>
      </p:sp>
      <p:sp>
        <p:nvSpPr>
          <p:cNvPr id="248" name="Google Shape;248;g238040fe0d9_0_22"/>
          <p:cNvSpPr txBox="1"/>
          <p:nvPr/>
        </p:nvSpPr>
        <p:spPr>
          <a:xfrm>
            <a:off x="9513225" y="2208275"/>
            <a:ext cx="2579700" cy="1283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4100"/>
              <a:buFont typeface="Arial"/>
              <a:buNone/>
            </a:pPr>
            <a:r>
              <a:rPr b="0" i="0" lang="es-ES" sz="3600" u="none" cap="none" strike="noStrike">
                <a:solidFill>
                  <a:schemeClr val="dk1"/>
                </a:solidFill>
                <a:latin typeface="Patrick Hand"/>
                <a:ea typeface="Patrick Hand"/>
                <a:cs typeface="Patrick Hand"/>
                <a:sym typeface="Patrick Hand"/>
              </a:rPr>
              <a:t>  2 3 7  x  5 =</a:t>
            </a:r>
            <a:endParaRPr b="0" i="0" sz="3600" u="none" cap="none" strike="noStrike">
              <a:solidFill>
                <a:schemeClr val="dk1"/>
              </a:solidFill>
              <a:latin typeface="Patrick Hand"/>
              <a:ea typeface="Patrick Hand"/>
              <a:cs typeface="Patrick Hand"/>
              <a:sym typeface="Patrick Hand"/>
            </a:endParaRPr>
          </a:p>
          <a:p>
            <a:pPr indent="0" lvl="0" marL="0" marR="0" rtl="0" algn="l">
              <a:lnSpc>
                <a:spcPct val="115000"/>
              </a:lnSpc>
              <a:spcBef>
                <a:spcPts val="0"/>
              </a:spcBef>
              <a:spcAft>
                <a:spcPts val="0"/>
              </a:spcAft>
              <a:buClr>
                <a:srgbClr val="000000"/>
              </a:buClr>
              <a:buSzPts val="3600"/>
              <a:buFont typeface="Arial"/>
              <a:buNone/>
            </a:pPr>
            <a:r>
              <a:rPr b="0" i="0" lang="es-ES" sz="3600" u="none" cap="none" strike="noStrike">
                <a:solidFill>
                  <a:schemeClr val="dk1"/>
                </a:solidFill>
                <a:latin typeface="Patrick Hand"/>
                <a:ea typeface="Patrick Hand"/>
                <a:cs typeface="Patrick Hand"/>
                <a:sym typeface="Patrick Hand"/>
              </a:rPr>
              <a:t>1 1  8 5</a:t>
            </a:r>
            <a:endParaRPr b="0" i="0" sz="3600" u="none" cap="none" strike="noStrike">
              <a:solidFill>
                <a:schemeClr val="dk1"/>
              </a:solidFill>
              <a:latin typeface="Patrick Hand"/>
              <a:ea typeface="Patrick Hand"/>
              <a:cs typeface="Patrick Hand"/>
              <a:sym typeface="Patrick Hand"/>
            </a:endParaRPr>
          </a:p>
        </p:txBody>
      </p:sp>
      <p:pic>
        <p:nvPicPr>
          <p:cNvPr id="249" name="Google Shape;249;g238040fe0d9_0_22"/>
          <p:cNvPicPr preferRelativeResize="0"/>
          <p:nvPr/>
        </p:nvPicPr>
        <p:blipFill>
          <a:blip r:embed="rId4">
            <a:alphaModFix/>
          </a:blip>
          <a:stretch>
            <a:fillRect/>
          </a:stretch>
        </p:blipFill>
        <p:spPr>
          <a:xfrm>
            <a:off x="10992550" y="5312987"/>
            <a:ext cx="975700" cy="1029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descr="Forma&#10;&#10;Descripción generada automáticamente con confianza media" id="254" name="Google Shape;254;g25c689ae274_0_1"/>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55" name="Google Shape;255;g25c689ae274_0_1"/>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Resolvamos los siguientes ejercicios juntos:</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25c689ae274_0_1"/>
          <p:cNvSpPr txBox="1"/>
          <p:nvPr/>
        </p:nvSpPr>
        <p:spPr>
          <a:xfrm>
            <a:off x="2461725" y="1868125"/>
            <a:ext cx="3993900" cy="12621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1 3 2    x    2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500"/>
              <a:buFont typeface="Arial"/>
              <a:buNone/>
            </a:pPr>
            <a:r>
              <a:t/>
            </a:r>
            <a:endParaRPr b="0" i="0" sz="3500" u="none" cap="none" strike="noStrike">
              <a:solidFill>
                <a:srgbClr val="040C28"/>
              </a:solidFill>
              <a:latin typeface="Patrick Hand"/>
              <a:ea typeface="Patrick Hand"/>
              <a:cs typeface="Patrick Hand"/>
              <a:sym typeface="Patrick Hand"/>
            </a:endParaRPr>
          </a:p>
        </p:txBody>
      </p:sp>
      <p:sp>
        <p:nvSpPr>
          <p:cNvPr id="257" name="Google Shape;257;g25c689ae274_0_1"/>
          <p:cNvSpPr txBox="1"/>
          <p:nvPr/>
        </p:nvSpPr>
        <p:spPr>
          <a:xfrm>
            <a:off x="2781013" y="1567100"/>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ES" sz="2200" u="none" cap="none" strike="noStrike">
                <a:solidFill>
                  <a:srgbClr val="040C28"/>
                </a:solidFill>
                <a:latin typeface="Patrick Hand"/>
                <a:ea typeface="Patrick Hand"/>
                <a:cs typeface="Patrick Hand"/>
                <a:sym typeface="Patrick Hand"/>
              </a:rPr>
              <a:t>   C D  U</a:t>
            </a:r>
            <a:endParaRPr b="0" i="0" sz="700" u="none" cap="none" strike="noStrike">
              <a:solidFill>
                <a:srgbClr val="000000"/>
              </a:solidFill>
              <a:latin typeface="Arial"/>
              <a:ea typeface="Arial"/>
              <a:cs typeface="Arial"/>
              <a:sym typeface="Arial"/>
            </a:endParaRPr>
          </a:p>
        </p:txBody>
      </p:sp>
      <p:sp>
        <p:nvSpPr>
          <p:cNvPr id="258" name="Google Shape;258;g25c689ae274_0_1"/>
          <p:cNvSpPr txBox="1"/>
          <p:nvPr/>
        </p:nvSpPr>
        <p:spPr>
          <a:xfrm>
            <a:off x="7309250" y="709275"/>
            <a:ext cx="4578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¿Cuál es el primer paso?</a:t>
            </a:r>
            <a:endParaRPr b="0" i="0" sz="2400" u="none" cap="none" strike="noStrike">
              <a:solidFill>
                <a:srgbClr val="000000"/>
              </a:solidFill>
              <a:latin typeface="Arial"/>
              <a:ea typeface="Arial"/>
              <a:cs typeface="Arial"/>
              <a:sym typeface="Arial"/>
            </a:endParaRPr>
          </a:p>
        </p:txBody>
      </p:sp>
      <p:sp>
        <p:nvSpPr>
          <p:cNvPr id="259" name="Google Shape;259;g25c689ae274_0_1"/>
          <p:cNvSpPr txBox="1"/>
          <p:nvPr/>
        </p:nvSpPr>
        <p:spPr>
          <a:xfrm>
            <a:off x="7211842" y="1417029"/>
            <a:ext cx="4578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Multiplicas el 2 por las 2U </a:t>
            </a:r>
            <a:endParaRPr b="0" i="0" sz="2400" u="none" cap="none" strike="noStrike">
              <a:solidFill>
                <a:srgbClr val="040C28"/>
              </a:solidFill>
              <a:latin typeface="Patrick Hand"/>
              <a:ea typeface="Patrick Hand"/>
              <a:cs typeface="Patrick Hand"/>
              <a:sym typeface="Patrick Hand"/>
            </a:endParaRPr>
          </a:p>
        </p:txBody>
      </p:sp>
      <p:sp>
        <p:nvSpPr>
          <p:cNvPr id="260" name="Google Shape;260;g25c689ae274_0_1"/>
          <p:cNvSpPr txBox="1"/>
          <p:nvPr/>
        </p:nvSpPr>
        <p:spPr>
          <a:xfrm>
            <a:off x="6934051" y="1872750"/>
            <a:ext cx="5133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2 x 2U = 4U → </a:t>
            </a:r>
            <a:r>
              <a:rPr lang="es-ES" sz="2400">
                <a:solidFill>
                  <a:srgbClr val="040C28"/>
                </a:solidFill>
                <a:latin typeface="Patrick Hand"/>
                <a:ea typeface="Patrick Hand"/>
                <a:cs typeface="Patrick Hand"/>
                <a:sym typeface="Patrick Hand"/>
              </a:rPr>
              <a:t>Se e</a:t>
            </a:r>
            <a:r>
              <a:rPr b="0" i="0" lang="es-ES" sz="2400" u="none" cap="none" strike="noStrike">
                <a:solidFill>
                  <a:srgbClr val="040C28"/>
                </a:solidFill>
                <a:latin typeface="Patrick Hand"/>
                <a:ea typeface="Patrick Hand"/>
                <a:cs typeface="Patrick Hand"/>
                <a:sym typeface="Patrick Hand"/>
              </a:rPr>
              <a:t>scriben debajo de las U</a:t>
            </a:r>
            <a:endParaRPr b="0" i="0" sz="2400" u="none" cap="none" strike="noStrike">
              <a:solidFill>
                <a:srgbClr val="040C28"/>
              </a:solidFill>
              <a:latin typeface="Patrick Hand"/>
              <a:ea typeface="Patrick Hand"/>
              <a:cs typeface="Patrick Hand"/>
              <a:sym typeface="Patrick Hand"/>
            </a:endParaRPr>
          </a:p>
        </p:txBody>
      </p:sp>
      <p:sp>
        <p:nvSpPr>
          <p:cNvPr id="261" name="Google Shape;261;g25c689ae274_0_1"/>
          <p:cNvSpPr txBox="1"/>
          <p:nvPr/>
        </p:nvSpPr>
        <p:spPr>
          <a:xfrm>
            <a:off x="7291325" y="3205726"/>
            <a:ext cx="48618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Multiplicas el 2 por 3D</a:t>
            </a:r>
            <a:endParaRPr b="0" i="0" sz="2400" u="none" cap="none" strike="noStrike">
              <a:solidFill>
                <a:srgbClr val="040C28"/>
              </a:solidFill>
              <a:latin typeface="Patrick Hand"/>
              <a:ea typeface="Patrick Hand"/>
              <a:cs typeface="Patrick Hand"/>
              <a:sym typeface="Patrick Hand"/>
            </a:endParaRPr>
          </a:p>
        </p:txBody>
      </p:sp>
      <p:sp>
        <p:nvSpPr>
          <p:cNvPr id="262" name="Google Shape;262;g25c689ae274_0_1"/>
          <p:cNvSpPr txBox="1"/>
          <p:nvPr/>
        </p:nvSpPr>
        <p:spPr>
          <a:xfrm>
            <a:off x="7268825" y="3502113"/>
            <a:ext cx="521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2 x 3D = 6D → </a:t>
            </a:r>
            <a:r>
              <a:rPr lang="es-ES" sz="2400">
                <a:solidFill>
                  <a:srgbClr val="040C28"/>
                </a:solidFill>
                <a:latin typeface="Patrick Hand"/>
                <a:ea typeface="Patrick Hand"/>
                <a:cs typeface="Patrick Hand"/>
                <a:sym typeface="Patrick Hand"/>
              </a:rPr>
              <a:t>Se e</a:t>
            </a:r>
            <a:r>
              <a:rPr b="0" i="0" lang="es-ES" sz="2400" u="none" cap="none" strike="noStrike">
                <a:solidFill>
                  <a:srgbClr val="040C28"/>
                </a:solidFill>
                <a:latin typeface="Patrick Hand"/>
                <a:ea typeface="Patrick Hand"/>
                <a:cs typeface="Patrick Hand"/>
                <a:sym typeface="Patrick Hand"/>
              </a:rPr>
              <a:t>scriben debajo de las D. </a:t>
            </a:r>
            <a:endParaRPr b="0" i="0" sz="2400" u="none" cap="none" strike="noStrike">
              <a:solidFill>
                <a:srgbClr val="040C28"/>
              </a:solidFill>
              <a:latin typeface="Patrick Hand"/>
              <a:ea typeface="Patrick Hand"/>
              <a:cs typeface="Patrick Hand"/>
              <a:sym typeface="Patrick Hand"/>
            </a:endParaRPr>
          </a:p>
        </p:txBody>
      </p:sp>
      <p:cxnSp>
        <p:nvCxnSpPr>
          <p:cNvPr id="263" name="Google Shape;263;g25c689ae274_0_1"/>
          <p:cNvCxnSpPr/>
          <p:nvPr/>
        </p:nvCxnSpPr>
        <p:spPr>
          <a:xfrm>
            <a:off x="8698841" y="1074565"/>
            <a:ext cx="0" cy="405300"/>
          </a:xfrm>
          <a:prstGeom prst="straightConnector1">
            <a:avLst/>
          </a:prstGeom>
          <a:noFill/>
          <a:ln cap="flat" cmpd="sng" w="28575">
            <a:solidFill>
              <a:srgbClr val="009287"/>
            </a:solidFill>
            <a:prstDash val="solid"/>
            <a:round/>
            <a:headEnd len="sm" w="sm" type="none"/>
            <a:tailEnd len="med" w="med" type="triangle"/>
          </a:ln>
        </p:spPr>
      </p:cxnSp>
      <p:cxnSp>
        <p:nvCxnSpPr>
          <p:cNvPr id="264" name="Google Shape;264;g25c689ae274_0_1"/>
          <p:cNvCxnSpPr/>
          <p:nvPr/>
        </p:nvCxnSpPr>
        <p:spPr>
          <a:xfrm>
            <a:off x="8698844" y="2861858"/>
            <a:ext cx="0" cy="405300"/>
          </a:xfrm>
          <a:prstGeom prst="straightConnector1">
            <a:avLst/>
          </a:prstGeom>
          <a:noFill/>
          <a:ln cap="flat" cmpd="sng" w="28575">
            <a:solidFill>
              <a:srgbClr val="009287"/>
            </a:solidFill>
            <a:prstDash val="solid"/>
            <a:round/>
            <a:headEnd len="sm" w="sm" type="none"/>
            <a:tailEnd len="med" w="med" type="triangle"/>
          </a:ln>
        </p:spPr>
      </p:cxnSp>
      <p:sp>
        <p:nvSpPr>
          <p:cNvPr id="265" name="Google Shape;265;g25c689ae274_0_1"/>
          <p:cNvSpPr txBox="1"/>
          <p:nvPr/>
        </p:nvSpPr>
        <p:spPr>
          <a:xfrm>
            <a:off x="7309242" y="2405995"/>
            <a:ext cx="5208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¿Cuál es el segundo paso?</a:t>
            </a:r>
            <a:endParaRPr b="0" i="0" sz="2400" u="none" cap="none" strike="noStrike">
              <a:solidFill>
                <a:srgbClr val="000000"/>
              </a:solidFill>
              <a:latin typeface="Arial"/>
              <a:ea typeface="Arial"/>
              <a:cs typeface="Arial"/>
              <a:sym typeface="Arial"/>
            </a:endParaRPr>
          </a:p>
        </p:txBody>
      </p:sp>
      <p:sp>
        <p:nvSpPr>
          <p:cNvPr id="266" name="Google Shape;266;g25c689ae274_0_1"/>
          <p:cNvSpPr txBox="1"/>
          <p:nvPr/>
        </p:nvSpPr>
        <p:spPr>
          <a:xfrm>
            <a:off x="3480025" y="2450800"/>
            <a:ext cx="5406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4</a:t>
            </a:r>
            <a:endParaRPr b="0" i="0" sz="4100" u="none" cap="none" strike="noStrike">
              <a:solidFill>
                <a:srgbClr val="000000"/>
              </a:solidFill>
              <a:latin typeface="Patrick Hand"/>
              <a:ea typeface="Patrick Hand"/>
              <a:cs typeface="Patrick Hand"/>
              <a:sym typeface="Patrick Hand"/>
            </a:endParaRPr>
          </a:p>
        </p:txBody>
      </p:sp>
      <p:sp>
        <p:nvSpPr>
          <p:cNvPr id="267" name="Google Shape;267;g25c689ae274_0_1"/>
          <p:cNvSpPr txBox="1"/>
          <p:nvPr/>
        </p:nvSpPr>
        <p:spPr>
          <a:xfrm>
            <a:off x="3244225" y="2450800"/>
            <a:ext cx="5406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6</a:t>
            </a:r>
            <a:endParaRPr b="0" i="0" sz="4100" u="none" cap="none" strike="noStrike">
              <a:solidFill>
                <a:srgbClr val="000000"/>
              </a:solidFill>
              <a:latin typeface="Patrick Hand"/>
              <a:ea typeface="Patrick Hand"/>
              <a:cs typeface="Patrick Hand"/>
              <a:sym typeface="Patrick Hand"/>
            </a:endParaRPr>
          </a:p>
        </p:txBody>
      </p:sp>
      <p:sp>
        <p:nvSpPr>
          <p:cNvPr id="268" name="Google Shape;268;g25c689ae274_0_1"/>
          <p:cNvSpPr txBox="1"/>
          <p:nvPr/>
        </p:nvSpPr>
        <p:spPr>
          <a:xfrm>
            <a:off x="5724079" y="1741950"/>
            <a:ext cx="10137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264</a:t>
            </a:r>
            <a:endParaRPr b="0" i="0" sz="4100" u="none" cap="none" strike="noStrike">
              <a:solidFill>
                <a:srgbClr val="000000"/>
              </a:solidFill>
              <a:latin typeface="Patrick Hand"/>
              <a:ea typeface="Patrick Hand"/>
              <a:cs typeface="Patrick Hand"/>
              <a:sym typeface="Patrick Hand"/>
            </a:endParaRPr>
          </a:p>
        </p:txBody>
      </p:sp>
      <p:sp>
        <p:nvSpPr>
          <p:cNvPr id="269" name="Google Shape;269;g25c689ae274_0_1"/>
          <p:cNvSpPr txBox="1"/>
          <p:nvPr/>
        </p:nvSpPr>
        <p:spPr>
          <a:xfrm>
            <a:off x="7309242" y="3998458"/>
            <a:ext cx="5208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¿Cuál es el tercer paso?</a:t>
            </a:r>
            <a:endParaRPr b="0" i="0" sz="2400" u="none" cap="none" strike="noStrike">
              <a:solidFill>
                <a:srgbClr val="000000"/>
              </a:solidFill>
              <a:latin typeface="Arial"/>
              <a:ea typeface="Arial"/>
              <a:cs typeface="Arial"/>
              <a:sym typeface="Arial"/>
            </a:endParaRPr>
          </a:p>
        </p:txBody>
      </p:sp>
      <p:cxnSp>
        <p:nvCxnSpPr>
          <p:cNvPr id="270" name="Google Shape;270;g25c689ae274_0_1"/>
          <p:cNvCxnSpPr/>
          <p:nvPr/>
        </p:nvCxnSpPr>
        <p:spPr>
          <a:xfrm>
            <a:off x="8473019" y="5648683"/>
            <a:ext cx="0" cy="405300"/>
          </a:xfrm>
          <a:prstGeom prst="straightConnector1">
            <a:avLst/>
          </a:prstGeom>
          <a:noFill/>
          <a:ln cap="flat" cmpd="sng" w="28575">
            <a:solidFill>
              <a:srgbClr val="009287"/>
            </a:solidFill>
            <a:prstDash val="solid"/>
            <a:round/>
            <a:headEnd len="sm" w="sm" type="none"/>
            <a:tailEnd len="med" w="med" type="triangle"/>
          </a:ln>
        </p:spPr>
      </p:cxnSp>
      <p:sp>
        <p:nvSpPr>
          <p:cNvPr id="271" name="Google Shape;271;g25c689ae274_0_1"/>
          <p:cNvSpPr txBox="1"/>
          <p:nvPr/>
        </p:nvSpPr>
        <p:spPr>
          <a:xfrm>
            <a:off x="7117925" y="5893475"/>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Escrib</a:t>
            </a:r>
            <a:r>
              <a:rPr lang="es-ES" sz="2400">
                <a:solidFill>
                  <a:srgbClr val="040C28"/>
                </a:solidFill>
                <a:latin typeface="Patrick Hand"/>
                <a:ea typeface="Patrick Hand"/>
                <a:cs typeface="Patrick Hand"/>
                <a:sym typeface="Patrick Hand"/>
              </a:rPr>
              <a:t>ir</a:t>
            </a:r>
            <a:r>
              <a:rPr b="0" i="0" lang="es-ES" sz="2400" u="none" cap="none" strike="noStrike">
                <a:solidFill>
                  <a:srgbClr val="040C28"/>
                </a:solidFill>
                <a:latin typeface="Patrick Hand"/>
                <a:ea typeface="Patrick Hand"/>
                <a:cs typeface="Patrick Hand"/>
                <a:sym typeface="Patrick Hand"/>
              </a:rPr>
              <a:t> la respuesta: 264</a:t>
            </a:r>
            <a:endParaRPr b="0" i="0" sz="1400" u="none" cap="none" strike="noStrike">
              <a:solidFill>
                <a:srgbClr val="000000"/>
              </a:solidFill>
              <a:latin typeface="Arial"/>
              <a:ea typeface="Arial"/>
              <a:cs typeface="Arial"/>
              <a:sym typeface="Arial"/>
            </a:endParaRPr>
          </a:p>
        </p:txBody>
      </p:sp>
      <p:sp>
        <p:nvSpPr>
          <p:cNvPr id="272" name="Google Shape;272;g25c689ae274_0_1"/>
          <p:cNvSpPr/>
          <p:nvPr/>
        </p:nvSpPr>
        <p:spPr>
          <a:xfrm>
            <a:off x="2461725" y="1454550"/>
            <a:ext cx="4406100" cy="2457000"/>
          </a:xfrm>
          <a:prstGeom prst="roundRect">
            <a:avLst>
              <a:gd fmla="val 16667" name="adj"/>
            </a:avLst>
          </a:prstGeom>
          <a:noFill/>
          <a:ln cap="flat" cmpd="sng" w="38100">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3" name="Google Shape;273;g25c689ae274_0_1"/>
          <p:cNvCxnSpPr/>
          <p:nvPr/>
        </p:nvCxnSpPr>
        <p:spPr>
          <a:xfrm>
            <a:off x="8617919" y="4400083"/>
            <a:ext cx="0" cy="405300"/>
          </a:xfrm>
          <a:prstGeom prst="straightConnector1">
            <a:avLst/>
          </a:prstGeom>
          <a:noFill/>
          <a:ln cap="flat" cmpd="sng" w="28575">
            <a:solidFill>
              <a:srgbClr val="009287"/>
            </a:solidFill>
            <a:prstDash val="solid"/>
            <a:round/>
            <a:headEnd len="sm" w="sm" type="none"/>
            <a:tailEnd len="med" w="med" type="triangle"/>
          </a:ln>
        </p:spPr>
      </p:cxnSp>
      <p:sp>
        <p:nvSpPr>
          <p:cNvPr id="274" name="Google Shape;274;g25c689ae274_0_1"/>
          <p:cNvSpPr txBox="1"/>
          <p:nvPr/>
        </p:nvSpPr>
        <p:spPr>
          <a:xfrm>
            <a:off x="7291325" y="4671163"/>
            <a:ext cx="48618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Multiplicas el 2 por 1C</a:t>
            </a:r>
            <a:endParaRPr b="0" i="0" sz="2400" u="none" cap="none" strike="noStrike">
              <a:solidFill>
                <a:srgbClr val="040C28"/>
              </a:solidFill>
              <a:latin typeface="Patrick Hand"/>
              <a:ea typeface="Patrick Hand"/>
              <a:cs typeface="Patrick Hand"/>
              <a:sym typeface="Patrick Hand"/>
            </a:endParaRPr>
          </a:p>
        </p:txBody>
      </p:sp>
      <p:sp>
        <p:nvSpPr>
          <p:cNvPr id="275" name="Google Shape;275;g25c689ae274_0_1"/>
          <p:cNvSpPr txBox="1"/>
          <p:nvPr/>
        </p:nvSpPr>
        <p:spPr>
          <a:xfrm>
            <a:off x="2933425" y="2450800"/>
            <a:ext cx="5406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b="0" i="0" lang="es-ES" sz="4100" u="none" cap="none" strike="noStrike">
                <a:solidFill>
                  <a:srgbClr val="000000"/>
                </a:solidFill>
                <a:latin typeface="Patrick Hand"/>
                <a:ea typeface="Patrick Hand"/>
                <a:cs typeface="Patrick Hand"/>
                <a:sym typeface="Patrick Hand"/>
              </a:rPr>
              <a:t>2</a:t>
            </a:r>
            <a:endParaRPr b="0" i="0" sz="4100" u="none" cap="none" strike="noStrike">
              <a:solidFill>
                <a:srgbClr val="000000"/>
              </a:solidFill>
              <a:latin typeface="Patrick Hand"/>
              <a:ea typeface="Patrick Hand"/>
              <a:cs typeface="Patrick Hand"/>
              <a:sym typeface="Patrick Hand"/>
            </a:endParaRPr>
          </a:p>
        </p:txBody>
      </p:sp>
      <p:sp>
        <p:nvSpPr>
          <p:cNvPr id="276" name="Google Shape;276;g25c689ae274_0_1"/>
          <p:cNvSpPr txBox="1"/>
          <p:nvPr/>
        </p:nvSpPr>
        <p:spPr>
          <a:xfrm>
            <a:off x="7297250" y="5073013"/>
            <a:ext cx="521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rgbClr val="040C28"/>
                </a:solidFill>
                <a:latin typeface="Patrick Hand"/>
                <a:ea typeface="Patrick Hand"/>
                <a:cs typeface="Patrick Hand"/>
                <a:sym typeface="Patrick Hand"/>
              </a:rPr>
              <a:t>2 x 1C = 2C → Se </a:t>
            </a:r>
            <a:r>
              <a:rPr lang="es-ES" sz="2400">
                <a:solidFill>
                  <a:srgbClr val="040C28"/>
                </a:solidFill>
                <a:latin typeface="Patrick Hand"/>
                <a:ea typeface="Patrick Hand"/>
                <a:cs typeface="Patrick Hand"/>
                <a:sym typeface="Patrick Hand"/>
              </a:rPr>
              <a:t>e</a:t>
            </a:r>
            <a:r>
              <a:rPr b="0" i="0" lang="es-ES" sz="2400" u="none" cap="none" strike="noStrike">
                <a:solidFill>
                  <a:srgbClr val="040C28"/>
                </a:solidFill>
                <a:latin typeface="Patrick Hand"/>
                <a:ea typeface="Patrick Hand"/>
                <a:cs typeface="Patrick Hand"/>
                <a:sym typeface="Patrick Hand"/>
              </a:rPr>
              <a:t>scriben debajo de las C. </a:t>
            </a:r>
            <a:endParaRPr b="0" i="0" sz="2400" u="none" cap="none" strike="noStrike">
              <a:solidFill>
                <a:srgbClr val="040C28"/>
              </a:solidFill>
              <a:latin typeface="Patrick Hand"/>
              <a:ea typeface="Patrick Hand"/>
              <a:cs typeface="Patrick Hand"/>
              <a:sym typeface="Patrick Hand"/>
            </a:endParaRPr>
          </a:p>
        </p:txBody>
      </p:sp>
      <p:pic>
        <p:nvPicPr>
          <p:cNvPr id="277" name="Google Shape;277;g25c689ae274_0_1"/>
          <p:cNvPicPr preferRelativeResize="0"/>
          <p:nvPr/>
        </p:nvPicPr>
        <p:blipFill>
          <a:blip r:embed="rId4">
            <a:alphaModFix/>
          </a:blip>
          <a:stretch>
            <a:fillRect/>
          </a:stretch>
        </p:blipFill>
        <p:spPr>
          <a:xfrm>
            <a:off x="10985350" y="4717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descr="Forma&#10;&#10;Descripción generada automáticamente con confianza media" id="282" name="Google Shape;282;g238040fe0d9_0_52"/>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283" name="Google Shape;283;g238040fe0d9_0_52"/>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Abre tu cuaderno y resuelve los siguientes ejercicios utilizando el algoritmo. </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g238040fe0d9_0_52"/>
          <p:cNvSpPr txBox="1"/>
          <p:nvPr/>
        </p:nvSpPr>
        <p:spPr>
          <a:xfrm>
            <a:off x="235250" y="1957400"/>
            <a:ext cx="39939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2 2 7   x    6 =</a:t>
            </a:r>
            <a:endParaRPr b="0" i="0" sz="3500" u="none" cap="none" strike="noStrike">
              <a:solidFill>
                <a:srgbClr val="040C28"/>
              </a:solidFill>
              <a:latin typeface="Patrick Hand"/>
              <a:ea typeface="Patrick Hand"/>
              <a:cs typeface="Patrick Hand"/>
              <a:sym typeface="Patrick Hand"/>
            </a:endParaRPr>
          </a:p>
        </p:txBody>
      </p:sp>
      <p:sp>
        <p:nvSpPr>
          <p:cNvPr id="285" name="Google Shape;285;g238040fe0d9_0_52"/>
          <p:cNvSpPr txBox="1"/>
          <p:nvPr/>
        </p:nvSpPr>
        <p:spPr>
          <a:xfrm>
            <a:off x="2999650" y="1957400"/>
            <a:ext cx="1229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1362</a:t>
            </a:r>
            <a:endParaRPr b="0" i="0" sz="1400" u="none" cap="none" strike="noStrike">
              <a:solidFill>
                <a:srgbClr val="000000"/>
              </a:solidFill>
              <a:latin typeface="Arial"/>
              <a:ea typeface="Arial"/>
              <a:cs typeface="Arial"/>
              <a:sym typeface="Arial"/>
            </a:endParaRPr>
          </a:p>
        </p:txBody>
      </p:sp>
      <p:sp>
        <p:nvSpPr>
          <p:cNvPr id="286" name="Google Shape;286;g238040fe0d9_0_52"/>
          <p:cNvSpPr txBox="1"/>
          <p:nvPr/>
        </p:nvSpPr>
        <p:spPr>
          <a:xfrm>
            <a:off x="3228250" y="4061500"/>
            <a:ext cx="1147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5360</a:t>
            </a:r>
            <a:endParaRPr b="0" i="0" sz="1400" u="none" cap="none" strike="noStrike">
              <a:solidFill>
                <a:srgbClr val="000000"/>
              </a:solidFill>
              <a:latin typeface="Arial"/>
              <a:ea typeface="Arial"/>
              <a:cs typeface="Arial"/>
              <a:sym typeface="Arial"/>
            </a:endParaRPr>
          </a:p>
        </p:txBody>
      </p:sp>
      <p:sp>
        <p:nvSpPr>
          <p:cNvPr id="287" name="Google Shape;287;g238040fe0d9_0_52"/>
          <p:cNvSpPr txBox="1"/>
          <p:nvPr/>
        </p:nvSpPr>
        <p:spPr>
          <a:xfrm>
            <a:off x="9626650" y="1818775"/>
            <a:ext cx="10512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2184</a:t>
            </a:r>
            <a:endParaRPr b="0" i="0" sz="1400" u="none" cap="none" strike="noStrike">
              <a:solidFill>
                <a:srgbClr val="000000"/>
              </a:solidFill>
              <a:latin typeface="Arial"/>
              <a:ea typeface="Arial"/>
              <a:cs typeface="Arial"/>
              <a:sym typeface="Arial"/>
            </a:endParaRPr>
          </a:p>
        </p:txBody>
      </p:sp>
      <p:sp>
        <p:nvSpPr>
          <p:cNvPr id="288" name="Google Shape;288;g238040fe0d9_0_52"/>
          <p:cNvSpPr txBox="1"/>
          <p:nvPr/>
        </p:nvSpPr>
        <p:spPr>
          <a:xfrm>
            <a:off x="9747400" y="406150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867</a:t>
            </a:r>
            <a:endParaRPr b="0" i="0" sz="1400" u="none" cap="none" strike="noStrike">
              <a:solidFill>
                <a:srgbClr val="000000"/>
              </a:solidFill>
              <a:latin typeface="Arial"/>
              <a:ea typeface="Arial"/>
              <a:cs typeface="Arial"/>
              <a:sym typeface="Arial"/>
            </a:endParaRPr>
          </a:p>
        </p:txBody>
      </p:sp>
      <p:sp>
        <p:nvSpPr>
          <p:cNvPr id="289" name="Google Shape;289;g238040fe0d9_0_52"/>
          <p:cNvSpPr txBox="1"/>
          <p:nvPr/>
        </p:nvSpPr>
        <p:spPr>
          <a:xfrm>
            <a:off x="1005200" y="2452650"/>
            <a:ext cx="27471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 </a:t>
            </a:r>
            <a:endParaRPr b="0" i="0" sz="1400" u="none" cap="none" strike="noStrike">
              <a:solidFill>
                <a:srgbClr val="000000"/>
              </a:solidFill>
              <a:latin typeface="Arial"/>
              <a:ea typeface="Arial"/>
              <a:cs typeface="Arial"/>
              <a:sym typeface="Arial"/>
            </a:endParaRPr>
          </a:p>
        </p:txBody>
      </p:sp>
      <p:sp>
        <p:nvSpPr>
          <p:cNvPr id="290" name="Google Shape;290;g238040fe0d9_0_52"/>
          <p:cNvSpPr txBox="1"/>
          <p:nvPr/>
        </p:nvSpPr>
        <p:spPr>
          <a:xfrm>
            <a:off x="1005200" y="1608450"/>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4</a:t>
            </a:r>
            <a:endParaRPr b="0" i="0" sz="700" u="none" cap="none" strike="noStrike">
              <a:solidFill>
                <a:srgbClr val="FF0000"/>
              </a:solidFill>
              <a:latin typeface="Arial"/>
              <a:ea typeface="Arial"/>
              <a:cs typeface="Arial"/>
              <a:sym typeface="Arial"/>
            </a:endParaRPr>
          </a:p>
        </p:txBody>
      </p:sp>
      <p:sp>
        <p:nvSpPr>
          <p:cNvPr id="291" name="Google Shape;291;g238040fe0d9_0_52"/>
          <p:cNvSpPr txBox="1"/>
          <p:nvPr/>
        </p:nvSpPr>
        <p:spPr>
          <a:xfrm>
            <a:off x="977125" y="4621950"/>
            <a:ext cx="3383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 </a:t>
            </a:r>
            <a:endParaRPr b="0" i="0" sz="1400" u="none" cap="none" strike="noStrike">
              <a:solidFill>
                <a:srgbClr val="000000"/>
              </a:solidFill>
              <a:latin typeface="Arial"/>
              <a:ea typeface="Arial"/>
              <a:cs typeface="Arial"/>
              <a:sym typeface="Arial"/>
            </a:endParaRPr>
          </a:p>
        </p:txBody>
      </p:sp>
      <p:sp>
        <p:nvSpPr>
          <p:cNvPr id="292" name="Google Shape;292;g238040fe0d9_0_52"/>
          <p:cNvSpPr txBox="1"/>
          <p:nvPr/>
        </p:nvSpPr>
        <p:spPr>
          <a:xfrm>
            <a:off x="7313075" y="2338275"/>
            <a:ext cx="344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 </a:t>
            </a:r>
            <a:endParaRPr b="0" i="0" sz="1400" u="none" cap="none" strike="noStrike">
              <a:solidFill>
                <a:srgbClr val="000000"/>
              </a:solidFill>
              <a:latin typeface="Arial"/>
              <a:ea typeface="Arial"/>
              <a:cs typeface="Arial"/>
              <a:sym typeface="Arial"/>
            </a:endParaRPr>
          </a:p>
        </p:txBody>
      </p:sp>
      <p:sp>
        <p:nvSpPr>
          <p:cNvPr id="293" name="Google Shape;293;g238040fe0d9_0_52"/>
          <p:cNvSpPr txBox="1"/>
          <p:nvPr/>
        </p:nvSpPr>
        <p:spPr>
          <a:xfrm>
            <a:off x="7313075" y="1456013"/>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1 </a:t>
            </a:r>
            <a:endParaRPr b="0" i="0" sz="700" u="none" cap="none" strike="noStrike">
              <a:solidFill>
                <a:srgbClr val="FF0000"/>
              </a:solidFill>
              <a:latin typeface="Arial"/>
              <a:ea typeface="Arial"/>
              <a:cs typeface="Arial"/>
              <a:sym typeface="Arial"/>
            </a:endParaRPr>
          </a:p>
        </p:txBody>
      </p:sp>
      <p:sp>
        <p:nvSpPr>
          <p:cNvPr id="294" name="Google Shape;294;g238040fe0d9_0_52"/>
          <p:cNvSpPr txBox="1"/>
          <p:nvPr/>
        </p:nvSpPr>
        <p:spPr>
          <a:xfrm>
            <a:off x="7313075" y="3705163"/>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2</a:t>
            </a:r>
            <a:endParaRPr b="0" i="0" sz="700" u="none" cap="none" strike="noStrike">
              <a:solidFill>
                <a:srgbClr val="FF0000"/>
              </a:solidFill>
              <a:latin typeface="Arial"/>
              <a:ea typeface="Arial"/>
              <a:cs typeface="Arial"/>
              <a:sym typeface="Arial"/>
            </a:endParaRPr>
          </a:p>
        </p:txBody>
      </p:sp>
      <p:sp>
        <p:nvSpPr>
          <p:cNvPr id="295" name="Google Shape;295;g238040fe0d9_0_52"/>
          <p:cNvSpPr txBox="1"/>
          <p:nvPr/>
        </p:nvSpPr>
        <p:spPr>
          <a:xfrm>
            <a:off x="7313075" y="4621950"/>
            <a:ext cx="1310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96" name="Google Shape;296;g238040fe0d9_0_52"/>
          <p:cNvSpPr txBox="1"/>
          <p:nvPr/>
        </p:nvSpPr>
        <p:spPr>
          <a:xfrm>
            <a:off x="6503375" y="1818775"/>
            <a:ext cx="3546900" cy="9390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3 1 2    x    7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238040fe0d9_0_52"/>
          <p:cNvSpPr txBox="1"/>
          <p:nvPr/>
        </p:nvSpPr>
        <p:spPr>
          <a:xfrm>
            <a:off x="235250" y="4061500"/>
            <a:ext cx="31761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6 7 0   x    8  =</a:t>
            </a:r>
            <a:endParaRPr b="0" i="0" sz="1400" u="none" cap="none" strike="noStrike">
              <a:solidFill>
                <a:srgbClr val="000000"/>
              </a:solidFill>
              <a:latin typeface="Arial"/>
              <a:ea typeface="Arial"/>
              <a:cs typeface="Arial"/>
              <a:sym typeface="Arial"/>
            </a:endParaRPr>
          </a:p>
        </p:txBody>
      </p:sp>
      <p:sp>
        <p:nvSpPr>
          <p:cNvPr id="298" name="Google Shape;298;g238040fe0d9_0_52"/>
          <p:cNvSpPr txBox="1"/>
          <p:nvPr/>
        </p:nvSpPr>
        <p:spPr>
          <a:xfrm>
            <a:off x="6503375" y="4061500"/>
            <a:ext cx="32685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2 8 9    x    3   =</a:t>
            </a:r>
            <a:endParaRPr b="0" i="0" sz="1400" u="none" cap="none" strike="noStrike">
              <a:solidFill>
                <a:srgbClr val="000000"/>
              </a:solidFill>
              <a:latin typeface="Arial"/>
              <a:ea typeface="Arial"/>
              <a:cs typeface="Arial"/>
              <a:sym typeface="Arial"/>
            </a:endParaRPr>
          </a:p>
        </p:txBody>
      </p:sp>
      <p:sp>
        <p:nvSpPr>
          <p:cNvPr id="299" name="Google Shape;299;g238040fe0d9_0_52"/>
          <p:cNvSpPr txBox="1"/>
          <p:nvPr/>
        </p:nvSpPr>
        <p:spPr>
          <a:xfrm>
            <a:off x="1360525" y="24526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 </a:t>
            </a:r>
            <a:endParaRPr b="0" i="0" sz="1400" u="none" cap="none" strike="noStrike">
              <a:solidFill>
                <a:srgbClr val="000000"/>
              </a:solidFill>
              <a:latin typeface="Arial"/>
              <a:ea typeface="Arial"/>
              <a:cs typeface="Arial"/>
              <a:sym typeface="Arial"/>
            </a:endParaRPr>
          </a:p>
        </p:txBody>
      </p:sp>
      <p:sp>
        <p:nvSpPr>
          <p:cNvPr id="300" name="Google Shape;300;g238040fe0d9_0_52"/>
          <p:cNvSpPr txBox="1"/>
          <p:nvPr/>
        </p:nvSpPr>
        <p:spPr>
          <a:xfrm>
            <a:off x="1360525" y="46219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01" name="Google Shape;301;g238040fe0d9_0_52"/>
          <p:cNvSpPr txBox="1"/>
          <p:nvPr/>
        </p:nvSpPr>
        <p:spPr>
          <a:xfrm>
            <a:off x="7581275" y="2350675"/>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4 </a:t>
            </a:r>
            <a:endParaRPr b="0" i="0" sz="1400" u="none" cap="none" strike="noStrike">
              <a:solidFill>
                <a:srgbClr val="000000"/>
              </a:solidFill>
              <a:latin typeface="Arial"/>
              <a:ea typeface="Arial"/>
              <a:cs typeface="Arial"/>
              <a:sym typeface="Arial"/>
            </a:endParaRPr>
          </a:p>
        </p:txBody>
      </p:sp>
      <p:sp>
        <p:nvSpPr>
          <p:cNvPr id="302" name="Google Shape;302;g238040fe0d9_0_52"/>
          <p:cNvSpPr txBox="1"/>
          <p:nvPr/>
        </p:nvSpPr>
        <p:spPr>
          <a:xfrm>
            <a:off x="7583875" y="46219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7 </a:t>
            </a:r>
            <a:endParaRPr b="0" i="0" sz="1400" u="none" cap="none" strike="noStrike">
              <a:solidFill>
                <a:srgbClr val="000000"/>
              </a:solidFill>
              <a:latin typeface="Arial"/>
              <a:ea typeface="Arial"/>
              <a:cs typeface="Arial"/>
              <a:sym typeface="Arial"/>
            </a:endParaRPr>
          </a:p>
        </p:txBody>
      </p:sp>
      <p:sp>
        <p:nvSpPr>
          <p:cNvPr id="303" name="Google Shape;303;g238040fe0d9_0_52"/>
          <p:cNvSpPr txBox="1"/>
          <p:nvPr/>
        </p:nvSpPr>
        <p:spPr>
          <a:xfrm>
            <a:off x="732200" y="1608450"/>
            <a:ext cx="344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1</a:t>
            </a:r>
            <a:endParaRPr b="0" i="0" sz="700" u="none" cap="none" strike="noStrike">
              <a:solidFill>
                <a:srgbClr val="FF0000"/>
              </a:solidFill>
              <a:latin typeface="Arial"/>
              <a:ea typeface="Arial"/>
              <a:cs typeface="Arial"/>
              <a:sym typeface="Arial"/>
            </a:endParaRPr>
          </a:p>
        </p:txBody>
      </p:sp>
      <p:sp>
        <p:nvSpPr>
          <p:cNvPr id="304" name="Google Shape;304;g238040fe0d9_0_52"/>
          <p:cNvSpPr txBox="1"/>
          <p:nvPr/>
        </p:nvSpPr>
        <p:spPr>
          <a:xfrm>
            <a:off x="732200" y="3705175"/>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5</a:t>
            </a:r>
            <a:endParaRPr b="0" i="0" sz="700" u="none" cap="none" strike="noStrike">
              <a:solidFill>
                <a:srgbClr val="FF0000"/>
              </a:solidFill>
              <a:latin typeface="Arial"/>
              <a:ea typeface="Arial"/>
              <a:cs typeface="Arial"/>
              <a:sym typeface="Arial"/>
            </a:endParaRPr>
          </a:p>
        </p:txBody>
      </p:sp>
      <p:sp>
        <p:nvSpPr>
          <p:cNvPr id="305" name="Google Shape;305;g238040fe0d9_0_52"/>
          <p:cNvSpPr txBox="1"/>
          <p:nvPr/>
        </p:nvSpPr>
        <p:spPr>
          <a:xfrm>
            <a:off x="367125" y="462195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5 3</a:t>
            </a:r>
            <a:endParaRPr b="0" i="0" sz="1400" u="none" cap="none" strike="noStrike">
              <a:solidFill>
                <a:srgbClr val="000000"/>
              </a:solidFill>
              <a:latin typeface="Arial"/>
              <a:ea typeface="Arial"/>
              <a:cs typeface="Arial"/>
              <a:sym typeface="Arial"/>
            </a:endParaRPr>
          </a:p>
        </p:txBody>
      </p:sp>
      <p:sp>
        <p:nvSpPr>
          <p:cNvPr id="306" name="Google Shape;306;g238040fe0d9_0_52"/>
          <p:cNvSpPr txBox="1"/>
          <p:nvPr/>
        </p:nvSpPr>
        <p:spPr>
          <a:xfrm>
            <a:off x="411350" y="2452650"/>
            <a:ext cx="6651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1 3</a:t>
            </a:r>
            <a:endParaRPr b="0" i="0" sz="1400" u="none" cap="none" strike="noStrike">
              <a:solidFill>
                <a:srgbClr val="000000"/>
              </a:solidFill>
              <a:latin typeface="Arial"/>
              <a:ea typeface="Arial"/>
              <a:cs typeface="Arial"/>
              <a:sym typeface="Arial"/>
            </a:endParaRPr>
          </a:p>
        </p:txBody>
      </p:sp>
      <p:sp>
        <p:nvSpPr>
          <p:cNvPr id="307" name="Google Shape;307;g238040fe0d9_0_52"/>
          <p:cNvSpPr txBox="1"/>
          <p:nvPr/>
        </p:nvSpPr>
        <p:spPr>
          <a:xfrm>
            <a:off x="6671500" y="2338275"/>
            <a:ext cx="6651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2 1</a:t>
            </a:r>
            <a:endParaRPr b="0" i="0" sz="1400" u="none" cap="none" strike="noStrike">
              <a:solidFill>
                <a:srgbClr val="000000"/>
              </a:solidFill>
              <a:latin typeface="Arial"/>
              <a:ea typeface="Arial"/>
              <a:cs typeface="Arial"/>
              <a:sym typeface="Arial"/>
            </a:endParaRPr>
          </a:p>
        </p:txBody>
      </p:sp>
      <p:sp>
        <p:nvSpPr>
          <p:cNvPr id="308" name="Google Shape;308;g238040fe0d9_0_52"/>
          <p:cNvSpPr txBox="1"/>
          <p:nvPr/>
        </p:nvSpPr>
        <p:spPr>
          <a:xfrm>
            <a:off x="7050275" y="3705175"/>
            <a:ext cx="344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2</a:t>
            </a:r>
            <a:endParaRPr b="0" i="0" sz="700" u="none" cap="none" strike="noStrike">
              <a:solidFill>
                <a:srgbClr val="FF0000"/>
              </a:solidFill>
              <a:latin typeface="Arial"/>
              <a:ea typeface="Arial"/>
              <a:cs typeface="Arial"/>
              <a:sym typeface="Arial"/>
            </a:endParaRPr>
          </a:p>
        </p:txBody>
      </p:sp>
      <p:sp>
        <p:nvSpPr>
          <p:cNvPr id="309" name="Google Shape;309;g238040fe0d9_0_52"/>
          <p:cNvSpPr txBox="1"/>
          <p:nvPr/>
        </p:nvSpPr>
        <p:spPr>
          <a:xfrm>
            <a:off x="7117475" y="4621950"/>
            <a:ext cx="21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pic>
        <p:nvPicPr>
          <p:cNvPr id="310" name="Google Shape;310;g238040fe0d9_0_52"/>
          <p:cNvPicPr preferRelativeResize="0"/>
          <p:nvPr/>
        </p:nvPicPr>
        <p:blipFill>
          <a:blip r:embed="rId4">
            <a:alphaModFix/>
          </a:blip>
          <a:stretch>
            <a:fillRect/>
          </a:stretch>
        </p:blipFill>
        <p:spPr>
          <a:xfrm>
            <a:off x="10992550" y="53129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descr="Forma&#10;&#10;Descripción generada automáticamente con confianza media" id="315" name="Google Shape;315;g238040fe0d9_0_186"/>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316" name="Google Shape;316;g238040fe0d9_0_186"/>
          <p:cNvSpPr txBox="1"/>
          <p:nvPr/>
        </p:nvSpPr>
        <p:spPr>
          <a:xfrm>
            <a:off x="235250" y="212600"/>
            <a:ext cx="14275800" cy="1354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3300"/>
              <a:buFont typeface="Arial"/>
              <a:buNone/>
            </a:pPr>
            <a:r>
              <a:rPr b="1" i="0" lang="es-ES" sz="3300" u="none" cap="none" strike="noStrike">
                <a:solidFill>
                  <a:srgbClr val="040C28"/>
                </a:solidFill>
                <a:latin typeface="Patrick Hand"/>
                <a:ea typeface="Patrick Hand"/>
                <a:cs typeface="Patrick Hand"/>
                <a:sym typeface="Patrick Hand"/>
              </a:rPr>
              <a:t>Ejercicio</a:t>
            </a:r>
            <a:r>
              <a:rPr b="0" i="0" lang="es-ES" sz="2900" u="none" cap="none" strike="noStrike">
                <a:solidFill>
                  <a:srgbClr val="040C28"/>
                </a:solidFill>
                <a:latin typeface="Patrick Hand"/>
                <a:ea typeface="Patrick Hand"/>
                <a:cs typeface="Patrick Hand"/>
                <a:sym typeface="Patrick Hand"/>
              </a:rPr>
              <a:t>: </a:t>
            </a:r>
            <a:endParaRPr b="0" i="0" sz="2900" u="none" cap="none" strike="noStrike">
              <a:solidFill>
                <a:srgbClr val="040C28"/>
              </a:solidFill>
              <a:latin typeface="Patrick Hand"/>
              <a:ea typeface="Patrick Hand"/>
              <a:cs typeface="Patrick Hand"/>
              <a:sym typeface="Patrick Hand"/>
            </a:endParaRPr>
          </a:p>
          <a:p>
            <a:pPr indent="-412750" lvl="0" marL="457200" marR="0" rtl="0" algn="l">
              <a:lnSpc>
                <a:spcPct val="100000"/>
              </a:lnSpc>
              <a:spcBef>
                <a:spcPts val="0"/>
              </a:spcBef>
              <a:spcAft>
                <a:spcPts val="0"/>
              </a:spcAft>
              <a:buClr>
                <a:srgbClr val="040C28"/>
              </a:buClr>
              <a:buSzPts val="2900"/>
              <a:buFont typeface="Patrick Hand"/>
              <a:buChar char="-"/>
            </a:pPr>
            <a:r>
              <a:rPr b="0" i="0" lang="es-ES" sz="2900" u="none" cap="none" strike="noStrike">
                <a:solidFill>
                  <a:srgbClr val="040C28"/>
                </a:solidFill>
                <a:latin typeface="Patrick Hand"/>
                <a:ea typeface="Patrick Hand"/>
                <a:cs typeface="Patrick Hand"/>
                <a:sym typeface="Patrick Hand"/>
              </a:rPr>
              <a:t>Abre tu cuaderno y resuelve los siguientes ejercicios utilizando el algoritmo. </a:t>
            </a:r>
            <a:endParaRPr b="0" i="0" sz="2900" u="none" cap="none" strike="noStrike">
              <a:solidFill>
                <a:srgbClr val="040C28"/>
              </a:solidFill>
              <a:latin typeface="Patrick Hand"/>
              <a:ea typeface="Patrick Hand"/>
              <a:cs typeface="Patrick Hand"/>
              <a:sym typeface="Patrick Hand"/>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238040fe0d9_0_186"/>
          <p:cNvSpPr txBox="1"/>
          <p:nvPr/>
        </p:nvSpPr>
        <p:spPr>
          <a:xfrm>
            <a:off x="235250" y="1957400"/>
            <a:ext cx="39939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4 4 9   x    5 =</a:t>
            </a:r>
            <a:endParaRPr b="0" i="0" sz="3500" u="none" cap="none" strike="noStrike">
              <a:solidFill>
                <a:srgbClr val="040C28"/>
              </a:solidFill>
              <a:latin typeface="Patrick Hand"/>
              <a:ea typeface="Patrick Hand"/>
              <a:cs typeface="Patrick Hand"/>
              <a:sym typeface="Patrick Hand"/>
            </a:endParaRPr>
          </a:p>
        </p:txBody>
      </p:sp>
      <p:sp>
        <p:nvSpPr>
          <p:cNvPr id="318" name="Google Shape;318;g238040fe0d9_0_186"/>
          <p:cNvSpPr txBox="1"/>
          <p:nvPr/>
        </p:nvSpPr>
        <p:spPr>
          <a:xfrm>
            <a:off x="2999650" y="1957400"/>
            <a:ext cx="1229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2245</a:t>
            </a:r>
            <a:endParaRPr b="0" i="0" sz="1400" u="none" cap="none" strike="noStrike">
              <a:solidFill>
                <a:srgbClr val="000000"/>
              </a:solidFill>
              <a:latin typeface="Arial"/>
              <a:ea typeface="Arial"/>
              <a:cs typeface="Arial"/>
              <a:sym typeface="Arial"/>
            </a:endParaRPr>
          </a:p>
        </p:txBody>
      </p:sp>
      <p:sp>
        <p:nvSpPr>
          <p:cNvPr id="319" name="Google Shape;319;g238040fe0d9_0_186"/>
          <p:cNvSpPr txBox="1"/>
          <p:nvPr/>
        </p:nvSpPr>
        <p:spPr>
          <a:xfrm>
            <a:off x="3228250" y="4061500"/>
            <a:ext cx="11475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6489</a:t>
            </a:r>
            <a:endParaRPr b="0" i="0" sz="1400" u="none" cap="none" strike="noStrike">
              <a:solidFill>
                <a:srgbClr val="000000"/>
              </a:solidFill>
              <a:latin typeface="Arial"/>
              <a:ea typeface="Arial"/>
              <a:cs typeface="Arial"/>
              <a:sym typeface="Arial"/>
            </a:endParaRPr>
          </a:p>
        </p:txBody>
      </p:sp>
      <p:sp>
        <p:nvSpPr>
          <p:cNvPr id="320" name="Google Shape;320;g238040fe0d9_0_186"/>
          <p:cNvSpPr txBox="1"/>
          <p:nvPr/>
        </p:nvSpPr>
        <p:spPr>
          <a:xfrm>
            <a:off x="9626650" y="1818775"/>
            <a:ext cx="10512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4944</a:t>
            </a:r>
            <a:endParaRPr b="0" i="0" sz="1400" u="none" cap="none" strike="noStrike">
              <a:solidFill>
                <a:srgbClr val="000000"/>
              </a:solidFill>
              <a:latin typeface="Arial"/>
              <a:ea typeface="Arial"/>
              <a:cs typeface="Arial"/>
              <a:sym typeface="Arial"/>
            </a:endParaRPr>
          </a:p>
        </p:txBody>
      </p:sp>
      <p:sp>
        <p:nvSpPr>
          <p:cNvPr id="321" name="Google Shape;321;g238040fe0d9_0_186"/>
          <p:cNvSpPr txBox="1"/>
          <p:nvPr/>
        </p:nvSpPr>
        <p:spPr>
          <a:xfrm>
            <a:off x="9747400" y="4061500"/>
            <a:ext cx="1229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5096</a:t>
            </a:r>
            <a:endParaRPr b="0" i="0" sz="1400" u="none" cap="none" strike="noStrike">
              <a:solidFill>
                <a:srgbClr val="000000"/>
              </a:solidFill>
              <a:latin typeface="Arial"/>
              <a:ea typeface="Arial"/>
              <a:cs typeface="Arial"/>
              <a:sym typeface="Arial"/>
            </a:endParaRPr>
          </a:p>
        </p:txBody>
      </p:sp>
      <p:sp>
        <p:nvSpPr>
          <p:cNvPr id="322" name="Google Shape;322;g238040fe0d9_0_186"/>
          <p:cNvSpPr txBox="1"/>
          <p:nvPr/>
        </p:nvSpPr>
        <p:spPr>
          <a:xfrm>
            <a:off x="1005200" y="2452650"/>
            <a:ext cx="27471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4 </a:t>
            </a:r>
            <a:endParaRPr b="0" i="0" sz="1400" u="none" cap="none" strike="noStrike">
              <a:solidFill>
                <a:srgbClr val="000000"/>
              </a:solidFill>
              <a:latin typeface="Arial"/>
              <a:ea typeface="Arial"/>
              <a:cs typeface="Arial"/>
              <a:sym typeface="Arial"/>
            </a:endParaRPr>
          </a:p>
        </p:txBody>
      </p:sp>
      <p:sp>
        <p:nvSpPr>
          <p:cNvPr id="323" name="Google Shape;323;g238040fe0d9_0_186"/>
          <p:cNvSpPr txBox="1"/>
          <p:nvPr/>
        </p:nvSpPr>
        <p:spPr>
          <a:xfrm>
            <a:off x="1005200" y="1608450"/>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4</a:t>
            </a:r>
            <a:endParaRPr b="0" i="0" sz="700" u="none" cap="none" strike="noStrike">
              <a:solidFill>
                <a:srgbClr val="FF0000"/>
              </a:solidFill>
              <a:latin typeface="Arial"/>
              <a:ea typeface="Arial"/>
              <a:cs typeface="Arial"/>
              <a:sym typeface="Arial"/>
            </a:endParaRPr>
          </a:p>
        </p:txBody>
      </p:sp>
      <p:sp>
        <p:nvSpPr>
          <p:cNvPr id="324" name="Google Shape;324;g238040fe0d9_0_186"/>
          <p:cNvSpPr txBox="1"/>
          <p:nvPr/>
        </p:nvSpPr>
        <p:spPr>
          <a:xfrm>
            <a:off x="977125" y="4621950"/>
            <a:ext cx="3383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8 </a:t>
            </a:r>
            <a:endParaRPr b="0" i="0" sz="1400" u="none" cap="none" strike="noStrike">
              <a:solidFill>
                <a:srgbClr val="000000"/>
              </a:solidFill>
              <a:latin typeface="Arial"/>
              <a:ea typeface="Arial"/>
              <a:cs typeface="Arial"/>
              <a:sym typeface="Arial"/>
            </a:endParaRPr>
          </a:p>
        </p:txBody>
      </p:sp>
      <p:sp>
        <p:nvSpPr>
          <p:cNvPr id="325" name="Google Shape;325;g238040fe0d9_0_186"/>
          <p:cNvSpPr txBox="1"/>
          <p:nvPr/>
        </p:nvSpPr>
        <p:spPr>
          <a:xfrm>
            <a:off x="7313075" y="2338275"/>
            <a:ext cx="344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4 </a:t>
            </a:r>
            <a:endParaRPr b="0" i="0" sz="1400" u="none" cap="none" strike="noStrike">
              <a:solidFill>
                <a:srgbClr val="000000"/>
              </a:solidFill>
              <a:latin typeface="Arial"/>
              <a:ea typeface="Arial"/>
              <a:cs typeface="Arial"/>
              <a:sym typeface="Arial"/>
            </a:endParaRPr>
          </a:p>
        </p:txBody>
      </p:sp>
      <p:sp>
        <p:nvSpPr>
          <p:cNvPr id="326" name="Google Shape;326;g238040fe0d9_0_186"/>
          <p:cNvSpPr txBox="1"/>
          <p:nvPr/>
        </p:nvSpPr>
        <p:spPr>
          <a:xfrm>
            <a:off x="7313075" y="1456013"/>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2 </a:t>
            </a:r>
            <a:endParaRPr b="0" i="0" sz="700" u="none" cap="none" strike="noStrike">
              <a:solidFill>
                <a:srgbClr val="FF0000"/>
              </a:solidFill>
              <a:latin typeface="Arial"/>
              <a:ea typeface="Arial"/>
              <a:cs typeface="Arial"/>
              <a:sym typeface="Arial"/>
            </a:endParaRPr>
          </a:p>
        </p:txBody>
      </p:sp>
      <p:sp>
        <p:nvSpPr>
          <p:cNvPr id="327" name="Google Shape;327;g238040fe0d9_0_186"/>
          <p:cNvSpPr txBox="1"/>
          <p:nvPr/>
        </p:nvSpPr>
        <p:spPr>
          <a:xfrm>
            <a:off x="7313075" y="3705163"/>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5</a:t>
            </a:r>
            <a:endParaRPr b="0" i="0" sz="700" u="none" cap="none" strike="noStrike">
              <a:solidFill>
                <a:srgbClr val="FF0000"/>
              </a:solidFill>
              <a:latin typeface="Arial"/>
              <a:ea typeface="Arial"/>
              <a:cs typeface="Arial"/>
              <a:sym typeface="Arial"/>
            </a:endParaRPr>
          </a:p>
        </p:txBody>
      </p:sp>
      <p:sp>
        <p:nvSpPr>
          <p:cNvPr id="328" name="Google Shape;328;g238040fe0d9_0_186"/>
          <p:cNvSpPr txBox="1"/>
          <p:nvPr/>
        </p:nvSpPr>
        <p:spPr>
          <a:xfrm>
            <a:off x="7313075" y="4621950"/>
            <a:ext cx="1310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9</a:t>
            </a:r>
            <a:endParaRPr b="0" i="0" sz="1400" u="none" cap="none" strike="noStrike">
              <a:solidFill>
                <a:srgbClr val="000000"/>
              </a:solidFill>
              <a:latin typeface="Arial"/>
              <a:ea typeface="Arial"/>
              <a:cs typeface="Arial"/>
              <a:sym typeface="Arial"/>
            </a:endParaRPr>
          </a:p>
        </p:txBody>
      </p:sp>
      <p:sp>
        <p:nvSpPr>
          <p:cNvPr id="329" name="Google Shape;329;g238040fe0d9_0_186"/>
          <p:cNvSpPr txBox="1"/>
          <p:nvPr/>
        </p:nvSpPr>
        <p:spPr>
          <a:xfrm>
            <a:off x="6503375" y="1818775"/>
            <a:ext cx="3546900" cy="9390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8 2 4    x    6  =</a:t>
            </a:r>
            <a:endParaRPr b="0" i="0" sz="3500" u="none" cap="none" strike="noStrike">
              <a:solidFill>
                <a:srgbClr val="040C28"/>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238040fe0d9_0_186"/>
          <p:cNvSpPr txBox="1"/>
          <p:nvPr/>
        </p:nvSpPr>
        <p:spPr>
          <a:xfrm>
            <a:off x="235250" y="4061500"/>
            <a:ext cx="31761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7 2 1   x    9  =</a:t>
            </a:r>
            <a:endParaRPr b="0" i="0" sz="1400" u="none" cap="none" strike="noStrike">
              <a:solidFill>
                <a:srgbClr val="000000"/>
              </a:solidFill>
              <a:latin typeface="Arial"/>
              <a:ea typeface="Arial"/>
              <a:cs typeface="Arial"/>
              <a:sym typeface="Arial"/>
            </a:endParaRPr>
          </a:p>
        </p:txBody>
      </p:sp>
      <p:sp>
        <p:nvSpPr>
          <p:cNvPr id="331" name="Google Shape;331;g238040fe0d9_0_186"/>
          <p:cNvSpPr txBox="1"/>
          <p:nvPr/>
        </p:nvSpPr>
        <p:spPr>
          <a:xfrm>
            <a:off x="6503375" y="4061500"/>
            <a:ext cx="3268500" cy="723300"/>
          </a:xfrm>
          <a:prstGeom prst="rect">
            <a:avLst/>
          </a:prstGeom>
          <a:noFill/>
          <a:ln>
            <a:noFill/>
          </a:ln>
        </p:spPr>
        <p:txBody>
          <a:bodyPr anchorCtr="0" anchor="t" bIns="91425" lIns="91425" spcFirstLastPara="1" rIns="91425" wrap="square" tIns="91425">
            <a:spAutoFit/>
          </a:bodyPr>
          <a:lstStyle/>
          <a:p>
            <a:pPr indent="-450850" lvl="0" marL="457200" marR="0" rtl="0" algn="l">
              <a:lnSpc>
                <a:spcPct val="100000"/>
              </a:lnSpc>
              <a:spcBef>
                <a:spcPts val="0"/>
              </a:spcBef>
              <a:spcAft>
                <a:spcPts val="0"/>
              </a:spcAft>
              <a:buClr>
                <a:srgbClr val="040C28"/>
              </a:buClr>
              <a:buSzPts val="3500"/>
              <a:buFont typeface="Patrick Hand"/>
              <a:buChar char="●"/>
            </a:pPr>
            <a:r>
              <a:rPr b="0" i="0" lang="es-ES" sz="3500" u="none" cap="none" strike="noStrike">
                <a:solidFill>
                  <a:srgbClr val="040C28"/>
                </a:solidFill>
                <a:latin typeface="Patrick Hand"/>
                <a:ea typeface="Patrick Hand"/>
                <a:cs typeface="Patrick Hand"/>
                <a:sym typeface="Patrick Hand"/>
              </a:rPr>
              <a:t>6 3 7    x    8   =</a:t>
            </a:r>
            <a:endParaRPr b="0" i="0" sz="1400" u="none" cap="none" strike="noStrike">
              <a:solidFill>
                <a:srgbClr val="000000"/>
              </a:solidFill>
              <a:latin typeface="Arial"/>
              <a:ea typeface="Arial"/>
              <a:cs typeface="Arial"/>
              <a:sym typeface="Arial"/>
            </a:endParaRPr>
          </a:p>
        </p:txBody>
      </p:sp>
      <p:sp>
        <p:nvSpPr>
          <p:cNvPr id="332" name="Google Shape;332;g238040fe0d9_0_186"/>
          <p:cNvSpPr txBox="1"/>
          <p:nvPr/>
        </p:nvSpPr>
        <p:spPr>
          <a:xfrm>
            <a:off x="1284325" y="24526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 </a:t>
            </a:r>
            <a:endParaRPr b="0" i="0" sz="1400" u="none" cap="none" strike="noStrike">
              <a:solidFill>
                <a:srgbClr val="000000"/>
              </a:solidFill>
              <a:latin typeface="Arial"/>
              <a:ea typeface="Arial"/>
              <a:cs typeface="Arial"/>
              <a:sym typeface="Arial"/>
            </a:endParaRPr>
          </a:p>
        </p:txBody>
      </p:sp>
      <p:sp>
        <p:nvSpPr>
          <p:cNvPr id="333" name="Google Shape;333;g238040fe0d9_0_186"/>
          <p:cNvSpPr txBox="1"/>
          <p:nvPr/>
        </p:nvSpPr>
        <p:spPr>
          <a:xfrm>
            <a:off x="1360525" y="46219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9</a:t>
            </a:r>
            <a:endParaRPr b="0" i="0" sz="1400" u="none" cap="none" strike="noStrike">
              <a:solidFill>
                <a:srgbClr val="000000"/>
              </a:solidFill>
              <a:latin typeface="Arial"/>
              <a:ea typeface="Arial"/>
              <a:cs typeface="Arial"/>
              <a:sym typeface="Arial"/>
            </a:endParaRPr>
          </a:p>
        </p:txBody>
      </p:sp>
      <p:sp>
        <p:nvSpPr>
          <p:cNvPr id="334" name="Google Shape;334;g238040fe0d9_0_186"/>
          <p:cNvSpPr txBox="1"/>
          <p:nvPr/>
        </p:nvSpPr>
        <p:spPr>
          <a:xfrm>
            <a:off x="7581275" y="2350675"/>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4 </a:t>
            </a:r>
            <a:endParaRPr b="0" i="0" sz="1400" u="none" cap="none" strike="noStrike">
              <a:solidFill>
                <a:srgbClr val="000000"/>
              </a:solidFill>
              <a:latin typeface="Arial"/>
              <a:ea typeface="Arial"/>
              <a:cs typeface="Arial"/>
              <a:sym typeface="Arial"/>
            </a:endParaRPr>
          </a:p>
        </p:txBody>
      </p:sp>
      <p:sp>
        <p:nvSpPr>
          <p:cNvPr id="335" name="Google Shape;335;g238040fe0d9_0_186"/>
          <p:cNvSpPr txBox="1"/>
          <p:nvPr/>
        </p:nvSpPr>
        <p:spPr>
          <a:xfrm>
            <a:off x="7583875" y="4621950"/>
            <a:ext cx="3000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 </a:t>
            </a:r>
            <a:endParaRPr b="0" i="0" sz="1400" u="none" cap="none" strike="noStrike">
              <a:solidFill>
                <a:srgbClr val="000000"/>
              </a:solidFill>
              <a:latin typeface="Arial"/>
              <a:ea typeface="Arial"/>
              <a:cs typeface="Arial"/>
              <a:sym typeface="Arial"/>
            </a:endParaRPr>
          </a:p>
        </p:txBody>
      </p:sp>
      <p:sp>
        <p:nvSpPr>
          <p:cNvPr id="336" name="Google Shape;336;g238040fe0d9_0_186"/>
          <p:cNvSpPr txBox="1"/>
          <p:nvPr/>
        </p:nvSpPr>
        <p:spPr>
          <a:xfrm>
            <a:off x="732200" y="1608450"/>
            <a:ext cx="344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2</a:t>
            </a:r>
            <a:endParaRPr b="0" i="0" sz="700" u="none" cap="none" strike="noStrike">
              <a:solidFill>
                <a:srgbClr val="FF0000"/>
              </a:solidFill>
              <a:latin typeface="Arial"/>
              <a:ea typeface="Arial"/>
              <a:cs typeface="Arial"/>
              <a:sym typeface="Arial"/>
            </a:endParaRPr>
          </a:p>
        </p:txBody>
      </p:sp>
      <p:sp>
        <p:nvSpPr>
          <p:cNvPr id="337" name="Google Shape;337;g238040fe0d9_0_186"/>
          <p:cNvSpPr txBox="1"/>
          <p:nvPr/>
        </p:nvSpPr>
        <p:spPr>
          <a:xfrm>
            <a:off x="732200" y="3705175"/>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1</a:t>
            </a:r>
            <a:endParaRPr b="0" i="0" sz="700" u="none" cap="none" strike="noStrike">
              <a:solidFill>
                <a:srgbClr val="FF0000"/>
              </a:solidFill>
              <a:latin typeface="Arial"/>
              <a:ea typeface="Arial"/>
              <a:cs typeface="Arial"/>
              <a:sym typeface="Arial"/>
            </a:endParaRPr>
          </a:p>
        </p:txBody>
      </p:sp>
      <p:sp>
        <p:nvSpPr>
          <p:cNvPr id="338" name="Google Shape;338;g238040fe0d9_0_186"/>
          <p:cNvSpPr txBox="1"/>
          <p:nvPr/>
        </p:nvSpPr>
        <p:spPr>
          <a:xfrm>
            <a:off x="367125" y="4621950"/>
            <a:ext cx="6651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6 4</a:t>
            </a:r>
            <a:endParaRPr b="0" i="0" sz="1400" u="none" cap="none" strike="noStrike">
              <a:solidFill>
                <a:srgbClr val="000000"/>
              </a:solidFill>
              <a:latin typeface="Arial"/>
              <a:ea typeface="Arial"/>
              <a:cs typeface="Arial"/>
              <a:sym typeface="Arial"/>
            </a:endParaRPr>
          </a:p>
        </p:txBody>
      </p:sp>
      <p:sp>
        <p:nvSpPr>
          <p:cNvPr id="339" name="Google Shape;339;g238040fe0d9_0_186"/>
          <p:cNvSpPr txBox="1"/>
          <p:nvPr/>
        </p:nvSpPr>
        <p:spPr>
          <a:xfrm>
            <a:off x="411350" y="245265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2 2</a:t>
            </a:r>
            <a:endParaRPr b="0" i="0" sz="1400" u="none" cap="none" strike="noStrike">
              <a:solidFill>
                <a:srgbClr val="000000"/>
              </a:solidFill>
              <a:latin typeface="Arial"/>
              <a:ea typeface="Arial"/>
              <a:cs typeface="Arial"/>
              <a:sym typeface="Arial"/>
            </a:endParaRPr>
          </a:p>
        </p:txBody>
      </p:sp>
      <p:sp>
        <p:nvSpPr>
          <p:cNvPr id="340" name="Google Shape;340;g238040fe0d9_0_186"/>
          <p:cNvSpPr txBox="1"/>
          <p:nvPr/>
        </p:nvSpPr>
        <p:spPr>
          <a:xfrm>
            <a:off x="6671500" y="2338275"/>
            <a:ext cx="6651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4 9</a:t>
            </a:r>
            <a:endParaRPr b="0" i="0" sz="1400" u="none" cap="none" strike="noStrike">
              <a:solidFill>
                <a:srgbClr val="000000"/>
              </a:solidFill>
              <a:latin typeface="Arial"/>
              <a:ea typeface="Arial"/>
              <a:cs typeface="Arial"/>
              <a:sym typeface="Arial"/>
            </a:endParaRPr>
          </a:p>
        </p:txBody>
      </p:sp>
      <p:sp>
        <p:nvSpPr>
          <p:cNvPr id="341" name="Google Shape;341;g238040fe0d9_0_186"/>
          <p:cNvSpPr txBox="1"/>
          <p:nvPr/>
        </p:nvSpPr>
        <p:spPr>
          <a:xfrm>
            <a:off x="7050275" y="3705175"/>
            <a:ext cx="344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2</a:t>
            </a:r>
            <a:endParaRPr b="0" i="0" sz="700" u="none" cap="none" strike="noStrike">
              <a:solidFill>
                <a:srgbClr val="FF0000"/>
              </a:solidFill>
              <a:latin typeface="Arial"/>
              <a:ea typeface="Arial"/>
              <a:cs typeface="Arial"/>
              <a:sym typeface="Arial"/>
            </a:endParaRPr>
          </a:p>
        </p:txBody>
      </p:sp>
      <p:sp>
        <p:nvSpPr>
          <p:cNvPr id="342" name="Google Shape;342;g238040fe0d9_0_186"/>
          <p:cNvSpPr txBox="1"/>
          <p:nvPr/>
        </p:nvSpPr>
        <p:spPr>
          <a:xfrm>
            <a:off x="6736825" y="4621950"/>
            <a:ext cx="809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rgbClr val="040C28"/>
                </a:solidFill>
                <a:latin typeface="Patrick Hand"/>
                <a:ea typeface="Patrick Hand"/>
                <a:cs typeface="Patrick Hand"/>
                <a:sym typeface="Patrick Hand"/>
              </a:rPr>
              <a:t>5 0</a:t>
            </a:r>
            <a:endParaRPr b="0" i="0" sz="1400" u="none" cap="none" strike="noStrike">
              <a:solidFill>
                <a:srgbClr val="000000"/>
              </a:solidFill>
              <a:latin typeface="Arial"/>
              <a:ea typeface="Arial"/>
              <a:cs typeface="Arial"/>
              <a:sym typeface="Arial"/>
            </a:endParaRPr>
          </a:p>
        </p:txBody>
      </p:sp>
      <p:sp>
        <p:nvSpPr>
          <p:cNvPr id="343" name="Google Shape;343;g238040fe0d9_0_186"/>
          <p:cNvSpPr txBox="1"/>
          <p:nvPr/>
        </p:nvSpPr>
        <p:spPr>
          <a:xfrm>
            <a:off x="6974075" y="1456013"/>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ES" sz="2800" u="none" cap="none" strike="noStrike">
                <a:solidFill>
                  <a:srgbClr val="FF0000"/>
                </a:solidFill>
                <a:latin typeface="Patrick Hand"/>
                <a:ea typeface="Patrick Hand"/>
                <a:cs typeface="Patrick Hand"/>
                <a:sym typeface="Patrick Hand"/>
              </a:rPr>
              <a:t>1 </a:t>
            </a:r>
            <a:endParaRPr b="0" i="0" sz="700" u="none" cap="none" strike="noStrike">
              <a:solidFill>
                <a:srgbClr val="FF0000"/>
              </a:solidFill>
              <a:latin typeface="Arial"/>
              <a:ea typeface="Arial"/>
              <a:cs typeface="Arial"/>
              <a:sym typeface="Arial"/>
            </a:endParaRPr>
          </a:p>
        </p:txBody>
      </p:sp>
      <p:pic>
        <p:nvPicPr>
          <p:cNvPr id="344" name="Google Shape;344;g238040fe0d9_0_186"/>
          <p:cNvPicPr preferRelativeResize="0"/>
          <p:nvPr/>
        </p:nvPicPr>
        <p:blipFill>
          <a:blip r:embed="rId4">
            <a:alphaModFix/>
          </a:blip>
          <a:stretch>
            <a:fillRect/>
          </a:stretch>
        </p:blipFill>
        <p:spPr>
          <a:xfrm>
            <a:off x="10992550" y="53129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237f1d06943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50" name="Google Shape;350;g237f1d06943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351" name="Google Shape;351;g237f1d06943_0_0"/>
          <p:cNvPicPr preferRelativeResize="0"/>
          <p:nvPr>
            <p:ph idx="1" type="body"/>
          </p:nvPr>
        </p:nvPicPr>
        <p:blipFill rotWithShape="1">
          <a:blip r:embed="rId3">
            <a:alphaModFix/>
          </a:blip>
          <a:srcRect b="0" l="0" r="0" t="0"/>
          <a:stretch/>
        </p:blipFill>
        <p:spPr>
          <a:xfrm>
            <a:off x="0" y="0"/>
            <a:ext cx="12192000" cy="6858000"/>
          </a:xfrm>
          <a:prstGeom prst="rect">
            <a:avLst/>
          </a:prstGeom>
          <a:noFill/>
          <a:ln>
            <a:noFill/>
          </a:ln>
        </p:spPr>
      </p:pic>
      <p:sp>
        <p:nvSpPr>
          <p:cNvPr id="352" name="Google Shape;352;g237f1d06943_0_0"/>
          <p:cNvSpPr txBox="1"/>
          <p:nvPr/>
        </p:nvSpPr>
        <p:spPr>
          <a:xfrm>
            <a:off x="212275" y="457200"/>
            <a:ext cx="3000000" cy="263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900"/>
              <a:buFont typeface="Arial"/>
              <a:buNone/>
            </a:pPr>
            <a:r>
              <a:rPr b="1" i="0" lang="es-ES" sz="3900" u="none" cap="none" strike="noStrike">
                <a:solidFill>
                  <a:schemeClr val="dk1"/>
                </a:solidFill>
                <a:latin typeface="Patrick Hand"/>
                <a:ea typeface="Patrick Hand"/>
                <a:cs typeface="Patrick Hand"/>
                <a:sym typeface="Patrick Hand"/>
              </a:rPr>
              <a:t>¡Tarea!</a:t>
            </a:r>
            <a:endParaRPr b="1" i="0" sz="3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Recuerda seguir aprendiendo las tablas de multiplicar.</a:t>
            </a:r>
            <a:endParaRPr b="0" i="0" sz="1200" u="none" cap="none" strike="noStrike">
              <a:solidFill>
                <a:srgbClr val="000000"/>
              </a:solidFill>
              <a:latin typeface="Arial"/>
              <a:ea typeface="Arial"/>
              <a:cs typeface="Arial"/>
              <a:sym typeface="Arial"/>
            </a:endParaRPr>
          </a:p>
        </p:txBody>
      </p:sp>
      <p:sp>
        <p:nvSpPr>
          <p:cNvPr id="353" name="Google Shape;353;g237f1d06943_0_0"/>
          <p:cNvSpPr txBox="1"/>
          <p:nvPr/>
        </p:nvSpPr>
        <p:spPr>
          <a:xfrm>
            <a:off x="506845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1 = 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2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3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4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5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6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7 = 14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8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9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2 x 10 = 20</a:t>
            </a:r>
            <a:endParaRPr b="1" i="0" sz="1900" u="none" cap="none" strike="noStrike">
              <a:solidFill>
                <a:srgbClr val="000000"/>
              </a:solidFill>
              <a:latin typeface="Patrick Hand"/>
              <a:ea typeface="Patrick Hand"/>
              <a:cs typeface="Patrick Hand"/>
              <a:sym typeface="Patrick Hand"/>
            </a:endParaRPr>
          </a:p>
        </p:txBody>
      </p:sp>
      <p:sp>
        <p:nvSpPr>
          <p:cNvPr id="354" name="Google Shape;354;g237f1d06943_0_0"/>
          <p:cNvSpPr txBox="1"/>
          <p:nvPr/>
        </p:nvSpPr>
        <p:spPr>
          <a:xfrm>
            <a:off x="3856225"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1 = 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2 = 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3 = 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4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5 = 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6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7 = 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8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9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900"/>
              <a:buFont typeface="Arial"/>
              <a:buNone/>
            </a:pPr>
            <a:r>
              <a:rPr b="1" i="0" lang="es-ES" sz="1900" u="none" cap="none" strike="noStrike">
                <a:solidFill>
                  <a:srgbClr val="000000"/>
                </a:solidFill>
                <a:latin typeface="Patrick Hand"/>
                <a:ea typeface="Patrick Hand"/>
                <a:cs typeface="Patrick Hand"/>
                <a:sym typeface="Patrick Hand"/>
              </a:rPr>
              <a:t>1 x 10 = 10</a:t>
            </a:r>
            <a:endParaRPr b="1" i="0" sz="1900" u="none" cap="none" strike="noStrike">
              <a:solidFill>
                <a:srgbClr val="000000"/>
              </a:solidFill>
              <a:latin typeface="Patrick Hand"/>
              <a:ea typeface="Patrick Hand"/>
              <a:cs typeface="Patrick Hand"/>
              <a:sym typeface="Patrick Hand"/>
            </a:endParaRPr>
          </a:p>
        </p:txBody>
      </p:sp>
      <p:sp>
        <p:nvSpPr>
          <p:cNvPr id="355" name="Google Shape;355;g237f1d06943_0_0"/>
          <p:cNvSpPr txBox="1"/>
          <p:nvPr/>
        </p:nvSpPr>
        <p:spPr>
          <a:xfrm>
            <a:off x="634560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1 = 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2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3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4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5 = 15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6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7 = 21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8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9 = 27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3 x 10 = 30</a:t>
            </a:r>
            <a:endParaRPr b="1" i="0" sz="1900" u="none" cap="none" strike="noStrike">
              <a:solidFill>
                <a:srgbClr val="000000"/>
              </a:solidFill>
              <a:latin typeface="Patrick Hand"/>
              <a:ea typeface="Patrick Hand"/>
              <a:cs typeface="Patrick Hand"/>
              <a:sym typeface="Patrick Hand"/>
            </a:endParaRPr>
          </a:p>
        </p:txBody>
      </p:sp>
      <p:sp>
        <p:nvSpPr>
          <p:cNvPr id="356" name="Google Shape;356;g237f1d06943_0_0"/>
          <p:cNvSpPr txBox="1"/>
          <p:nvPr/>
        </p:nvSpPr>
        <p:spPr>
          <a:xfrm>
            <a:off x="7570225"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1 = 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2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3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4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5 =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6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7 = 28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8 = 32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9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4 x 10 = 40</a:t>
            </a:r>
            <a:endParaRPr b="1" i="0" sz="1900" u="none" cap="none" strike="noStrike">
              <a:solidFill>
                <a:srgbClr val="000000"/>
              </a:solidFill>
              <a:latin typeface="Patrick Hand"/>
              <a:ea typeface="Patrick Hand"/>
              <a:cs typeface="Patrick Hand"/>
              <a:sym typeface="Patrick Hand"/>
            </a:endParaRPr>
          </a:p>
        </p:txBody>
      </p:sp>
      <p:sp>
        <p:nvSpPr>
          <p:cNvPr id="357" name="Google Shape;357;g237f1d06943_0_0"/>
          <p:cNvSpPr txBox="1"/>
          <p:nvPr/>
        </p:nvSpPr>
        <p:spPr>
          <a:xfrm>
            <a:off x="8782450" y="365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1 = 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2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3 = 15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4 =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5 = 25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6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7 = 35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8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9 = 45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5 x 10 = 50</a:t>
            </a:r>
            <a:endParaRPr b="1" i="0" sz="1900" u="none" cap="none" strike="noStrike">
              <a:solidFill>
                <a:srgbClr val="000000"/>
              </a:solidFill>
              <a:latin typeface="Patrick Hand"/>
              <a:ea typeface="Patrick Hand"/>
              <a:cs typeface="Patrick Hand"/>
              <a:sym typeface="Patrick Hand"/>
            </a:endParaRPr>
          </a:p>
        </p:txBody>
      </p:sp>
      <p:sp>
        <p:nvSpPr>
          <p:cNvPr id="358" name="Google Shape;358;g237f1d06943_0_0"/>
          <p:cNvSpPr txBox="1"/>
          <p:nvPr/>
        </p:nvSpPr>
        <p:spPr>
          <a:xfrm>
            <a:off x="3839950"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1 = 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2 = 12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3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4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5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6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7 = 42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8 = 48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9 = 54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6 x 10 = 60</a:t>
            </a:r>
            <a:endParaRPr b="1" i="0" sz="1900" u="none" cap="none" strike="noStrike">
              <a:solidFill>
                <a:srgbClr val="000000"/>
              </a:solidFill>
              <a:latin typeface="Patrick Hand"/>
              <a:ea typeface="Patrick Hand"/>
              <a:cs typeface="Patrick Hand"/>
              <a:sym typeface="Patrick Hand"/>
            </a:endParaRPr>
          </a:p>
        </p:txBody>
      </p:sp>
      <p:sp>
        <p:nvSpPr>
          <p:cNvPr id="359" name="Google Shape;359;g237f1d06943_0_0"/>
          <p:cNvSpPr txBox="1"/>
          <p:nvPr/>
        </p:nvSpPr>
        <p:spPr>
          <a:xfrm>
            <a:off x="5068450"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1 = 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2 = 14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3 = 21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4 = 28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5 = 35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6 = 42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7 = 49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8 = 56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9 = 63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7 x 10 = 70</a:t>
            </a:r>
            <a:endParaRPr b="1" i="0" sz="1900" u="none" cap="none" strike="noStrike">
              <a:solidFill>
                <a:srgbClr val="000000"/>
              </a:solidFill>
              <a:latin typeface="Patrick Hand"/>
              <a:ea typeface="Patrick Hand"/>
              <a:cs typeface="Patrick Hand"/>
              <a:sym typeface="Patrick Hand"/>
            </a:endParaRPr>
          </a:p>
        </p:txBody>
      </p:sp>
      <p:sp>
        <p:nvSpPr>
          <p:cNvPr id="360" name="Google Shape;360;g237f1d06943_0_0"/>
          <p:cNvSpPr txBox="1"/>
          <p:nvPr/>
        </p:nvSpPr>
        <p:spPr>
          <a:xfrm>
            <a:off x="6421800" y="3363350"/>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1 = 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2 = 16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3 = 24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4 = 32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5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6 = 48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7 = 56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8 = 64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9 = 72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8 x 10 = 80</a:t>
            </a:r>
            <a:endParaRPr b="1" i="0" sz="1900" u="none" cap="none" strike="noStrike">
              <a:solidFill>
                <a:srgbClr val="000000"/>
              </a:solidFill>
              <a:latin typeface="Patrick Hand"/>
              <a:ea typeface="Patrick Hand"/>
              <a:cs typeface="Patrick Hand"/>
              <a:sym typeface="Patrick Hand"/>
            </a:endParaRPr>
          </a:p>
        </p:txBody>
      </p:sp>
      <p:sp>
        <p:nvSpPr>
          <p:cNvPr id="361" name="Google Shape;361;g237f1d06943_0_0"/>
          <p:cNvSpPr txBox="1"/>
          <p:nvPr/>
        </p:nvSpPr>
        <p:spPr>
          <a:xfrm>
            <a:off x="7646425" y="3398125"/>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1 = 9</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2 = 18</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3 = 27</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4 = 36</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5 = 45</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6 = 54</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7 = 63</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8 = 72</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9 = 81</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9 x 10 = 90</a:t>
            </a:r>
            <a:endParaRPr b="1" i="0" sz="1900" u="none" cap="none" strike="noStrike">
              <a:solidFill>
                <a:srgbClr val="000000"/>
              </a:solidFill>
              <a:latin typeface="Patrick Hand"/>
              <a:ea typeface="Patrick Hand"/>
              <a:cs typeface="Patrick Hand"/>
              <a:sym typeface="Patrick Hand"/>
            </a:endParaRPr>
          </a:p>
        </p:txBody>
      </p:sp>
      <p:sp>
        <p:nvSpPr>
          <p:cNvPr id="362" name="Google Shape;362;g237f1d06943_0_0"/>
          <p:cNvSpPr txBox="1"/>
          <p:nvPr/>
        </p:nvSpPr>
        <p:spPr>
          <a:xfrm>
            <a:off x="8782450" y="3363350"/>
            <a:ext cx="37140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1 = 10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2= 20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3 = 30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4 = 40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5 = 50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6= 60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7 = 70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8 = 80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9 = 90</a:t>
            </a:r>
            <a:endParaRPr b="1" i="0" sz="19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ES" sz="1900" u="none" cap="none" strike="noStrike">
                <a:solidFill>
                  <a:srgbClr val="000000"/>
                </a:solidFill>
                <a:latin typeface="Patrick Hand"/>
                <a:ea typeface="Patrick Hand"/>
                <a:cs typeface="Patrick Hand"/>
                <a:sym typeface="Patrick Hand"/>
              </a:rPr>
              <a:t>10 x 10 = 100</a:t>
            </a:r>
            <a:endParaRPr b="1" i="0" sz="1900" u="none" cap="none" strike="noStrike">
              <a:solidFill>
                <a:srgbClr val="000000"/>
              </a:solidFill>
              <a:latin typeface="Patrick Hand"/>
              <a:ea typeface="Patrick Hand"/>
              <a:cs typeface="Patrick Hand"/>
              <a:sym typeface="Patrick Hand"/>
            </a:endParaRPr>
          </a:p>
        </p:txBody>
      </p:sp>
      <p:sp>
        <p:nvSpPr>
          <p:cNvPr id="363" name="Google Shape;363;g237f1d06943_0_0"/>
          <p:cNvSpPr/>
          <p:nvPr/>
        </p:nvSpPr>
        <p:spPr>
          <a:xfrm>
            <a:off x="3638950" y="457200"/>
            <a:ext cx="6595500" cy="5939400"/>
          </a:xfrm>
          <a:prstGeom prst="roundRect">
            <a:avLst>
              <a:gd fmla="val 4913" name="adj"/>
            </a:avLst>
          </a:prstGeom>
          <a:noFill/>
          <a:ln cap="flat" cmpd="sng" w="3810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4" name="Google Shape;364;g237f1d06943_0_0"/>
          <p:cNvCxnSpPr/>
          <p:nvPr/>
        </p:nvCxnSpPr>
        <p:spPr>
          <a:xfrm>
            <a:off x="5003550" y="4898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65" name="Google Shape;365;g237f1d06943_0_0"/>
          <p:cNvCxnSpPr/>
          <p:nvPr/>
        </p:nvCxnSpPr>
        <p:spPr>
          <a:xfrm>
            <a:off x="6286888" y="4898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66" name="Google Shape;366;g237f1d06943_0_0"/>
          <p:cNvCxnSpPr/>
          <p:nvPr/>
        </p:nvCxnSpPr>
        <p:spPr>
          <a:xfrm>
            <a:off x="7534675" y="4615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67" name="Google Shape;367;g237f1d06943_0_0"/>
          <p:cNvCxnSpPr/>
          <p:nvPr/>
        </p:nvCxnSpPr>
        <p:spPr>
          <a:xfrm>
            <a:off x="8747350" y="461550"/>
            <a:ext cx="35100" cy="5930700"/>
          </a:xfrm>
          <a:prstGeom prst="straightConnector1">
            <a:avLst/>
          </a:prstGeom>
          <a:noFill/>
          <a:ln cap="flat" cmpd="sng" w="9525">
            <a:solidFill>
              <a:srgbClr val="009287"/>
            </a:solidFill>
            <a:prstDash val="solid"/>
            <a:round/>
            <a:headEnd len="sm" w="sm" type="none"/>
            <a:tailEnd len="sm" w="sm" type="none"/>
          </a:ln>
        </p:spPr>
      </p:cxnSp>
      <p:cxnSp>
        <p:nvCxnSpPr>
          <p:cNvPr id="368" name="Google Shape;368;g237f1d06943_0_0"/>
          <p:cNvCxnSpPr>
            <a:stCxn id="363" idx="1"/>
            <a:endCxn id="363" idx="3"/>
          </p:cNvCxnSpPr>
          <p:nvPr/>
        </p:nvCxnSpPr>
        <p:spPr>
          <a:xfrm>
            <a:off x="3638950" y="3426900"/>
            <a:ext cx="6595500" cy="0"/>
          </a:xfrm>
          <a:prstGeom prst="straightConnector1">
            <a:avLst/>
          </a:prstGeom>
          <a:noFill/>
          <a:ln cap="flat" cmpd="sng" w="9525">
            <a:solidFill>
              <a:srgbClr val="009287"/>
            </a:solidFill>
            <a:prstDash val="solid"/>
            <a:round/>
            <a:headEnd len="sm" w="sm" type="none"/>
            <a:tailEnd len="sm" w="sm" type="none"/>
          </a:ln>
        </p:spPr>
      </p:cxnSp>
      <p:pic>
        <p:nvPicPr>
          <p:cNvPr id="369" name="Google Shape;369;g237f1d06943_0_0"/>
          <p:cNvPicPr preferRelativeResize="0"/>
          <p:nvPr/>
        </p:nvPicPr>
        <p:blipFill>
          <a:blip r:embed="rId4">
            <a:alphaModFix/>
          </a:blip>
          <a:stretch>
            <a:fillRect/>
          </a:stretch>
        </p:blipFill>
        <p:spPr>
          <a:xfrm>
            <a:off x="10992550" y="5312987"/>
            <a:ext cx="975700" cy="1029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descr="Forma&#10;&#10;Descripción generada automáticamente con confianza media" id="374" name="Google Shape;374;g2b52535aecd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75" name="Google Shape;375;g2b52535aecd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376" name="Google Shape;376;g2b52535aecd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77" name="Google Shape;377;g2b52535aecd_0_0" title="Resumen - Multiplicación (15) - 3 dígitos">
            <a:hlinkClick r:id="rId4"/>
          </p:cNvPr>
          <p:cNvPicPr preferRelativeResize="0"/>
          <p:nvPr/>
        </p:nvPicPr>
        <p:blipFill>
          <a:blip r:embed="rId5">
            <a:alphaModFix/>
          </a:blip>
          <a:stretch>
            <a:fillRect/>
          </a:stretch>
        </p:blipFill>
        <p:spPr>
          <a:xfrm>
            <a:off x="1766125" y="1398450"/>
            <a:ext cx="8659650" cy="4871050"/>
          </a:xfrm>
          <a:prstGeom prst="rect">
            <a:avLst/>
          </a:prstGeom>
          <a:noFill/>
          <a:ln cap="flat" cmpd="sng" w="28575">
            <a:solidFill>
              <a:schemeClr val="dk2"/>
            </a:solidFill>
            <a:prstDash val="solid"/>
            <a:round/>
            <a:headEnd len="sm" w="sm" type="none"/>
            <a:tailEnd len="sm" w="sm" type="none"/>
          </a:ln>
        </p:spPr>
      </p:pic>
      <p:pic>
        <p:nvPicPr>
          <p:cNvPr id="378" name="Google Shape;378;g2b52535aecd_0_0"/>
          <p:cNvPicPr preferRelativeResize="0"/>
          <p:nvPr/>
        </p:nvPicPr>
        <p:blipFill>
          <a:blip r:embed="rId6">
            <a:alphaModFix/>
          </a:blip>
          <a:stretch>
            <a:fillRect/>
          </a:stretch>
        </p:blipFill>
        <p:spPr>
          <a:xfrm>
            <a:off x="10992550" y="53129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2af0f3c8546_0_55"/>
          <p:cNvSpPr txBox="1"/>
          <p:nvPr/>
        </p:nvSpPr>
        <p:spPr>
          <a:xfrm>
            <a:off x="2842767" y="1268500"/>
            <a:ext cx="6506400" cy="35709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300 x 7</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2)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382 x 7</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3) ¿Cuál es el resultado?</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rPr lang="es-ES" sz="3200">
                <a:solidFill>
                  <a:schemeClr val="dk1"/>
                </a:solidFill>
                <a:latin typeface="Patrick Hand"/>
                <a:ea typeface="Patrick Hand"/>
                <a:cs typeface="Patrick Hand"/>
                <a:sym typeface="Patrick Hand"/>
              </a:rPr>
              <a:t>974 x 5</a:t>
            </a:r>
            <a:endParaRPr sz="3200">
              <a:solidFill>
                <a:schemeClr val="dk1"/>
              </a:solidFill>
              <a:latin typeface="Patrick Hand"/>
              <a:ea typeface="Patrick Hand"/>
              <a:cs typeface="Patrick Hand"/>
              <a:sym typeface="Patrick Hand"/>
            </a:endParaRPr>
          </a:p>
          <a:p>
            <a:pPr indent="0" lvl="0" marL="0" rtl="0" algn="ctr">
              <a:spcBef>
                <a:spcPts val="0"/>
              </a:spcBef>
              <a:spcAft>
                <a:spcPts val="0"/>
              </a:spcAft>
              <a:buClr>
                <a:schemeClr val="dk1"/>
              </a:buClr>
              <a:buSzPts val="1500"/>
              <a:buFont typeface="Arial"/>
              <a:buNone/>
            </a:pPr>
            <a:r>
              <a:t/>
            </a:r>
            <a:endParaRPr sz="3200">
              <a:solidFill>
                <a:schemeClr val="dk1"/>
              </a:solidFill>
              <a:latin typeface="Patrick Hand"/>
              <a:ea typeface="Patrick Hand"/>
              <a:cs typeface="Patrick Hand"/>
              <a:sym typeface="Patrick Hand"/>
            </a:endParaRPr>
          </a:p>
        </p:txBody>
      </p:sp>
      <p:sp>
        <p:nvSpPr>
          <p:cNvPr id="384" name="Google Shape;384;g2af0f3c8546_0_55"/>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85" name="Google Shape;385;g2af0f3c8546_0_55"/>
          <p:cNvSpPr txBox="1"/>
          <p:nvPr/>
        </p:nvSpPr>
        <p:spPr>
          <a:xfrm>
            <a:off x="3047983" y="4372392"/>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https://forms.gle/ES2DK77TPpyaGwyUA</a:t>
            </a:r>
            <a:r>
              <a:rPr b="1" lang="es-ES" sz="1900">
                <a:latin typeface="Calibri"/>
                <a:ea typeface="Calibri"/>
                <a:cs typeface="Calibri"/>
                <a:sym typeface="Calibri"/>
              </a:rPr>
              <a:t> </a:t>
            </a:r>
            <a:endParaRPr sz="1900"/>
          </a:p>
        </p:txBody>
      </p:sp>
      <p:pic>
        <p:nvPicPr>
          <p:cNvPr id="386" name="Google Shape;386;g2af0f3c8546_0_55"/>
          <p:cNvPicPr preferRelativeResize="0"/>
          <p:nvPr/>
        </p:nvPicPr>
        <p:blipFill rotWithShape="1">
          <a:blip r:embed="rId4">
            <a:alphaModFix/>
          </a:blip>
          <a:srcRect b="8200" l="8208" r="8200" t="8208"/>
          <a:stretch/>
        </p:blipFill>
        <p:spPr>
          <a:xfrm>
            <a:off x="8713233" y="1746167"/>
            <a:ext cx="2770500" cy="2770500"/>
          </a:xfrm>
          <a:prstGeom prst="rect">
            <a:avLst/>
          </a:prstGeom>
          <a:noFill/>
          <a:ln>
            <a:noFill/>
          </a:ln>
        </p:spPr>
      </p:pic>
      <p:pic>
        <p:nvPicPr>
          <p:cNvPr id="387" name="Google Shape;387;g2af0f3c8546_0_55"/>
          <p:cNvPicPr preferRelativeResize="0"/>
          <p:nvPr/>
        </p:nvPicPr>
        <p:blipFill>
          <a:blip r:embed="rId5">
            <a:alphaModFix/>
          </a:blip>
          <a:stretch>
            <a:fillRect/>
          </a:stretch>
        </p:blipFill>
        <p:spPr>
          <a:xfrm>
            <a:off x="10992550" y="53129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descr="Forma&#10;&#10;Descripción generada automáticamente con confianza media" id="392" name="Google Shape;392;g2b52535aecd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93" name="Google Shape;393;g2b52535aecd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94" name="Google Shape;394;g2b52535aecd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95" name="Google Shape;395;g2b52535aecd_0_7" title="Reforzamiento - Multiplicación (15) - 3 dígitos">
            <a:hlinkClick r:id="rId4"/>
          </p:cNvPr>
          <p:cNvPicPr preferRelativeResize="0"/>
          <p:nvPr/>
        </p:nvPicPr>
        <p:blipFill>
          <a:blip r:embed="rId5">
            <a:alphaModFix/>
          </a:blip>
          <a:stretch>
            <a:fillRect/>
          </a:stretch>
        </p:blipFill>
        <p:spPr>
          <a:xfrm>
            <a:off x="1714800" y="1398450"/>
            <a:ext cx="8762300" cy="4928800"/>
          </a:xfrm>
          <a:prstGeom prst="rect">
            <a:avLst/>
          </a:prstGeom>
          <a:noFill/>
          <a:ln cap="flat" cmpd="sng" w="28575">
            <a:solidFill>
              <a:schemeClr val="dk2"/>
            </a:solidFill>
            <a:prstDash val="solid"/>
            <a:round/>
            <a:headEnd len="sm" w="sm" type="none"/>
            <a:tailEnd len="sm" w="sm" type="none"/>
          </a:ln>
        </p:spPr>
      </p:pic>
      <p:pic>
        <p:nvPicPr>
          <p:cNvPr id="396" name="Google Shape;396;g2b52535aecd_0_7"/>
          <p:cNvPicPr preferRelativeResize="0"/>
          <p:nvPr/>
        </p:nvPicPr>
        <p:blipFill>
          <a:blip r:embed="rId6">
            <a:alphaModFix/>
          </a:blip>
          <a:stretch>
            <a:fillRect/>
          </a:stretch>
        </p:blipFill>
        <p:spPr>
          <a:xfrm>
            <a:off x="10992550" y="53129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