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Patrick Hand"/>
      <p:regular r:id="rId22"/>
    </p:embeddedFont>
    <p:embeddedFont>
      <p:font typeface="Poppins"/>
      <p:regular r:id="rId23"/>
      <p:bold r:id="rId24"/>
      <p:italic r:id="rId25"/>
      <p:boldItalic r:id="rId26"/>
    </p:embeddedFont>
    <p:embeddedFont>
      <p:font typeface="Poppins L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ig8b7iwsDaGpYRAwA3RcSsRbLy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atrickHand-regular.fntdata"/><Relationship Id="rId21" Type="http://schemas.openxmlformats.org/officeDocument/2006/relationships/slide" Target="slides/slide16.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PoppinsLight-bold.fntdata"/><Relationship Id="rId27" Type="http://schemas.openxmlformats.org/officeDocument/2006/relationships/font" Target="fonts/Poppins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Poppins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48a86760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48a8676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48a86760a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48a86760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48a86760a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48a86760a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48a86760a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48a86760a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1a1be59d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1a1be59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5bcd879e0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25bcd879e0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8d68822c6a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28d68822c6a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5c689ae274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g25c689ae274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37f15b63d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g237f15b63d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37f15b63d7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g237f15b63d7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37f15b63d7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g237f15b63d7_0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b5202b5fc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2b5202b5fc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65bf75732d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Estimar y varias preugntas de si la descomposción está bien </a:t>
            </a:r>
            <a:endParaRPr/>
          </a:p>
        </p:txBody>
      </p:sp>
      <p:sp>
        <p:nvSpPr>
          <p:cNvPr id="319" name="Google Shape;319;g265bf75732d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b5202b5fc3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2b5202b5fc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65bf75732d_0_6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65bf75732d_0_6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65bf75732d_0_67"/>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65bf75732d_0_67"/>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65bf75732d_0_67"/>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65bf75732d_0_73"/>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65bf75732d_0_73"/>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65bf75732d_0_7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65bf75732d_0_77"/>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65bf75732d_0_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65bf75732d_0_8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65bf75732d_0_8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65bf75732d_0_8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65bf75732d_0_8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65bf75732d_0_8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65bf75732d_0_8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65bf75732d_0_88"/>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65bf75732d_0_88"/>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65bf75732d_0_8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65bf75732d_0_92"/>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65bf75732d_0_9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65bf75732d_0_95"/>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65bf75732d_0_95"/>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65bf75732d_0_95"/>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65bf75732d_0_95"/>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65bf75732d_0_9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65bf75732d_0_101"/>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65bf75732d_0_10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65bf75732d_0_104"/>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65bf75732d_0_104"/>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65bf75732d_0_10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65bf75732d_0_1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65bf75732d_0_6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65bf75732d_0_6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65bf75732d_0_6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hyperlink" Target="http://www.youtube.com/watch?v=TEoI4nuH-wc" TargetMode="External"/><Relationship Id="rId5" Type="http://schemas.openxmlformats.org/officeDocument/2006/relationships/image" Target="../media/image12.jpg"/><Relationship Id="rId6"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forms.gle/uSk6QkxZoqcaiXhC8" TargetMode="External"/><Relationship Id="rId4" Type="http://schemas.openxmlformats.org/officeDocument/2006/relationships/image" Target="../media/image11.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7.jpg"/><Relationship Id="rId4" Type="http://schemas.openxmlformats.org/officeDocument/2006/relationships/hyperlink" Target="http://www.youtube.com/watch?v=1Kfr9U_y9fs" TargetMode="External"/><Relationship Id="rId5" Type="http://schemas.openxmlformats.org/officeDocument/2006/relationships/image" Target="../media/image10.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83575" y="5675037"/>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40" name="Google Shape;140;p2"/>
          <p:cNvPicPr preferRelativeResize="0"/>
          <p:nvPr/>
        </p:nvPicPr>
        <p:blipFill>
          <a:blip r:embed="rId4">
            <a:alphaModFix/>
          </a:blip>
          <a:stretch>
            <a:fillRect/>
          </a:stretch>
        </p:blipFill>
        <p:spPr>
          <a:xfrm>
            <a:off x="11083575" y="5266412"/>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48a86760a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700">
                <a:solidFill>
                  <a:srgbClr val="3259A4"/>
                </a:solidFill>
                <a:latin typeface="Poppins"/>
                <a:ea typeface="Poppins"/>
                <a:cs typeface="Poppins"/>
                <a:sym typeface="Poppins"/>
              </a:rPr>
              <a:t>Sesión 12: </a:t>
            </a:r>
            <a:r>
              <a:rPr b="1" lang="es-ES" sz="1700">
                <a:solidFill>
                  <a:srgbClr val="3259A4"/>
                </a:solidFill>
                <a:latin typeface="Poppins"/>
                <a:ea typeface="Poppins"/>
                <a:cs typeface="Poppins"/>
                <a:sym typeface="Poppins"/>
              </a:rPr>
              <a:t>Multiplicación</a:t>
            </a:r>
            <a:r>
              <a:rPr b="1" lang="es-ES" sz="1700">
                <a:solidFill>
                  <a:srgbClr val="3259A4"/>
                </a:solidFill>
                <a:latin typeface="Poppins"/>
                <a:ea typeface="Poppins"/>
                <a:cs typeface="Poppins"/>
                <a:sym typeface="Poppins"/>
              </a:rPr>
              <a:t> con decenas y </a:t>
            </a:r>
            <a:r>
              <a:rPr b="1" lang="es-ES" sz="1700">
                <a:solidFill>
                  <a:srgbClr val="3259A4"/>
                </a:solidFill>
                <a:latin typeface="Poppins"/>
                <a:ea typeface="Poppins"/>
                <a:cs typeface="Poppins"/>
                <a:sym typeface="Poppins"/>
              </a:rPr>
              <a:t>descomposición</a:t>
            </a:r>
            <a:r>
              <a:rPr b="1" lang="es-ES" sz="1700">
                <a:solidFill>
                  <a:srgbClr val="3259A4"/>
                </a:solidFill>
                <a:latin typeface="Poppins"/>
                <a:ea typeface="Poppins"/>
                <a:cs typeface="Poppins"/>
                <a:sym typeface="Poppins"/>
              </a:rPr>
              <a:t>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a:solidFill>
                  <a:schemeClr val="dk1"/>
                </a:solidFill>
                <a:latin typeface="Poppins Light"/>
                <a:ea typeface="Poppins Light"/>
                <a:cs typeface="Poppins Light"/>
                <a:sym typeface="Poppins Light"/>
              </a:rPr>
              <a:t> </a:t>
            </a:r>
            <a:r>
              <a:rPr lang="es-ES">
                <a:solidFill>
                  <a:schemeClr val="dk1"/>
                </a:solidFill>
                <a:latin typeface="Poppins"/>
                <a:ea typeface="Poppins"/>
                <a:cs typeface="Poppins"/>
                <a:sym typeface="Poppins"/>
              </a:rPr>
              <a:t>Fomentar el uso de estrategias de descomposición y estimación para facilitar la suma de</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números de dos y tres dígitos, promoviendo habilidades de redondeo y cálculo mental.</a:t>
            </a:r>
            <a:endParaRPr>
              <a:solidFill>
                <a:schemeClr val="dk1"/>
              </a:solidFill>
              <a:latin typeface="Poppins"/>
              <a:ea typeface="Poppins"/>
              <a:cs typeface="Poppins"/>
              <a:sym typeface="Poppins"/>
            </a:endParaRPr>
          </a:p>
          <a:p>
            <a:pPr indent="0" lvl="0" marL="0" rtl="0" algn="ctr">
              <a:spcBef>
                <a:spcPts val="0"/>
              </a:spcBef>
              <a:spcAft>
                <a:spcPts val="0"/>
              </a:spcAft>
              <a:buNone/>
            </a:pPr>
            <a:r>
              <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48a86760a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1. Multiplicar por decenas y centenas.</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2. Multiplicar descomponiendo.</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48a86760a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1. Ceros en la multiplicación</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50">
                <a:solidFill>
                  <a:schemeClr val="dk1"/>
                </a:solidFill>
                <a:latin typeface="Poppins"/>
                <a:ea typeface="Poppins"/>
                <a:cs typeface="Poppins"/>
                <a:sym typeface="Poppins"/>
              </a:rPr>
              <a:t>2. Descomposición de números.</a:t>
            </a:r>
            <a:endParaRPr sz="16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48a86760a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48a86760a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48a86760a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48a86760a_0_0"/>
          <p:cNvPicPr preferRelativeResize="0"/>
          <p:nvPr/>
        </p:nvPicPr>
        <p:blipFill>
          <a:blip r:embed="rId3">
            <a:alphaModFix/>
          </a:blip>
          <a:stretch>
            <a:fillRect/>
          </a:stretch>
        </p:blipFill>
        <p:spPr>
          <a:xfrm>
            <a:off x="11045850"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48a86760a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48a86760a_0_85"/>
          <p:cNvSpPr txBox="1"/>
          <p:nvPr/>
        </p:nvSpPr>
        <p:spPr>
          <a:xfrm>
            <a:off x="786350" y="2131575"/>
            <a:ext cx="10500000" cy="282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Durante esta sesión, revisarán junto a tu estudiante dos temas de gran importancia:</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sz="1450">
                <a:solidFill>
                  <a:schemeClr val="dk1"/>
                </a:solidFill>
                <a:latin typeface="Poppins"/>
                <a:ea typeface="Poppins"/>
                <a:cs typeface="Poppins"/>
                <a:sym typeface="Poppins"/>
              </a:rPr>
              <a:t>1. </a:t>
            </a:r>
            <a:r>
              <a:rPr b="1" lang="es-ES" sz="1450">
                <a:solidFill>
                  <a:schemeClr val="dk1"/>
                </a:solidFill>
                <a:latin typeface="Poppins"/>
                <a:ea typeface="Poppins"/>
                <a:cs typeface="Poppins"/>
                <a:sym typeface="Poppins"/>
              </a:rPr>
              <a:t>Multiplicar por decenas y centenas</a:t>
            </a:r>
            <a:r>
              <a:rPr lang="es-ES" sz="1450">
                <a:solidFill>
                  <a:schemeClr val="dk1"/>
                </a:solidFill>
                <a:latin typeface="Poppins"/>
                <a:ea typeface="Poppins"/>
                <a:cs typeface="Poppins"/>
                <a:sym typeface="Poppins"/>
              </a:rPr>
              <a:t> : Esta corresponde a la situación donde se presentan ceros en uno de los factores. Le explicarás a tu estudiante que la multiplicación por decenas y centenas se basa en la </a:t>
            </a:r>
            <a:r>
              <a:rPr b="1" lang="es-ES" sz="1450">
                <a:solidFill>
                  <a:schemeClr val="dk1"/>
                </a:solidFill>
                <a:latin typeface="Poppins"/>
                <a:ea typeface="Poppins"/>
                <a:cs typeface="Poppins"/>
                <a:sym typeface="Poppins"/>
              </a:rPr>
              <a:t>multiplicación simple como la ha aprendida, seguida de agregar tantos ceros haya.</a:t>
            </a:r>
            <a:endParaRPr b="1"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sz="1450">
                <a:solidFill>
                  <a:schemeClr val="dk1"/>
                </a:solidFill>
                <a:latin typeface="Poppins"/>
                <a:ea typeface="Poppins"/>
                <a:cs typeface="Poppins"/>
                <a:sym typeface="Poppins"/>
              </a:rPr>
              <a:t>Realicen varios ejemplos para que tu estudiante</a:t>
            </a:r>
            <a:r>
              <a:rPr b="1" lang="es-ES" sz="1450">
                <a:solidFill>
                  <a:schemeClr val="dk1"/>
                </a:solidFill>
                <a:latin typeface="Poppins"/>
                <a:ea typeface="Poppins"/>
                <a:cs typeface="Poppins"/>
                <a:sym typeface="Poppins"/>
              </a:rPr>
              <a:t> logre ver el patrón</a:t>
            </a:r>
            <a:r>
              <a:rPr lang="es-ES" sz="1450">
                <a:solidFill>
                  <a:schemeClr val="dk1"/>
                </a:solidFill>
                <a:latin typeface="Poppins"/>
                <a:ea typeface="Poppins"/>
                <a:cs typeface="Poppins"/>
                <a:sym typeface="Poppins"/>
              </a:rPr>
              <a:t> de este tipo de multiplicación, ya que </a:t>
            </a:r>
            <a:r>
              <a:rPr b="1" lang="es-ES" sz="1450">
                <a:solidFill>
                  <a:schemeClr val="dk1"/>
                </a:solidFill>
                <a:latin typeface="Poppins"/>
                <a:ea typeface="Poppins"/>
                <a:cs typeface="Poppins"/>
                <a:sym typeface="Poppins"/>
              </a:rPr>
              <a:t>es común olvidar agregar el cero</a:t>
            </a:r>
            <a:r>
              <a:rPr lang="es-ES" sz="1450">
                <a:solidFill>
                  <a:schemeClr val="dk1"/>
                </a:solidFill>
                <a:latin typeface="Poppins"/>
                <a:ea typeface="Poppins"/>
                <a:cs typeface="Poppins"/>
                <a:sym typeface="Poppins"/>
              </a:rPr>
              <a:t> o los ceros correspondientes al final del producto.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48a86760a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8a86760a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48a86760a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48a86760a_0_85"/>
          <p:cNvPicPr preferRelativeResize="0"/>
          <p:nvPr/>
        </p:nvPicPr>
        <p:blipFill>
          <a:blip r:embed="rId3">
            <a:alphaModFix/>
          </a:blip>
          <a:stretch>
            <a:fillRect/>
          </a:stretch>
        </p:blipFill>
        <p:spPr>
          <a:xfrm>
            <a:off x="11045850"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48a86760a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48a86760a_0_169"/>
          <p:cNvSpPr txBox="1"/>
          <p:nvPr/>
        </p:nvSpPr>
        <p:spPr>
          <a:xfrm>
            <a:off x="786350" y="2051175"/>
            <a:ext cx="10500000" cy="515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2. </a:t>
            </a:r>
            <a:r>
              <a:rPr b="1" lang="es-ES" sz="1450">
                <a:solidFill>
                  <a:schemeClr val="dk1"/>
                </a:solidFill>
                <a:latin typeface="Poppins"/>
                <a:ea typeface="Poppins"/>
                <a:cs typeface="Poppins"/>
                <a:sym typeface="Poppins"/>
              </a:rPr>
              <a:t>Multiplicar descomponiendo</a:t>
            </a:r>
            <a:endParaRPr b="1"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Esta es una técnica que le permitirá a tu estudiante realizar multiplicaciones con números que le resulten más simples. Para enseñarla, es necesario realizar una variedad de ejercicios para orientar a tu estudiante a que pruebe distintas formas de descomponer los números hasta que se dé cuenta, por sí mismo, de cuál es la</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forma más conveniente en cada situación. Por eso, es muy relevante darle el espacio para que sea él quien proponga maneras de descomponer los números.</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Junto a cada descomposición propuesta, muéstrale otra forma de descomponer para que se dé cuenta de que existen muchas formas de llegar al mismo resultado, siempre y cuando la suma de la descomposición resulte en el número original. Esto último es un error común; por tanto, asegúrate de que no le ocurra.</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Otro error es olvidar multiplicar cada parte descompuesta o perder un término en el proceso de multiplicación y suma final. Tenlo presente y corrige si fuese necesario.</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Por último, hazle notar que esta técnica es válida dado que nace de la propiedad distributiva. Pregúntale si es capaz de notarlo y explicítalo con un ejemplo.</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48a86760a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48a86760a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48a86760a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48a86760a_0_169"/>
          <p:cNvPicPr preferRelativeResize="0"/>
          <p:nvPr/>
        </p:nvPicPr>
        <p:blipFill>
          <a:blip r:embed="rId3">
            <a:alphaModFix/>
          </a:blip>
          <a:stretch>
            <a:fillRect/>
          </a:stretch>
        </p:blipFill>
        <p:spPr>
          <a:xfrm>
            <a:off x="11045850" y="2777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48a86760a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48a86760a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sz="21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Dile a tu estudiante que en tu almacén te cobran $200 por cada pan y vas a gastar $10.000 porque tendrás invitados.</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Pregúntale: ¿cuánto me costará? Con ello </a:t>
            </a:r>
            <a:r>
              <a:rPr lang="es-ES" sz="1500">
                <a:solidFill>
                  <a:schemeClr val="dk1"/>
                </a:solidFill>
                <a:latin typeface="Poppins"/>
                <a:ea typeface="Poppins"/>
                <a:cs typeface="Poppins"/>
                <a:sym typeface="Poppins"/>
              </a:rPr>
              <a:t>motívalo a que puede aplicar lo aprendido en el día a día.</a:t>
            </a:r>
            <a:endParaRPr sz="15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48a86760a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1. ¿Qué sucede cuando multiplicas por una decena o una centena?</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2. ¿Cómo puedes descomponer un número antes de multiplicar?</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3. ¿Por qué es útil la descomposición al hacer multiplicaciones grandes?</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48a86760a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48a86760a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48a86760a_0_253"/>
          <p:cNvPicPr preferRelativeResize="0"/>
          <p:nvPr/>
        </p:nvPicPr>
        <p:blipFill>
          <a:blip r:embed="rId3">
            <a:alphaModFix/>
          </a:blip>
          <a:stretch>
            <a:fillRect/>
          </a:stretch>
        </p:blipFill>
        <p:spPr>
          <a:xfrm>
            <a:off x="11045850" y="27773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1a1be59d9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1a1be59d9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1a1be59d9_0_0"/>
          <p:cNvPicPr preferRelativeResize="0"/>
          <p:nvPr>
            <p:ph idx="1" type="body"/>
          </p:nvPr>
        </p:nvPicPr>
        <p:blipFill rotWithShape="1">
          <a:blip r:embed="rId3">
            <a:alphaModFix/>
          </a:blip>
          <a:srcRect b="0" l="0" r="0" t="0"/>
          <a:stretch/>
        </p:blipFill>
        <p:spPr>
          <a:xfrm>
            <a:off x="-150" y="0"/>
            <a:ext cx="12192000" cy="6966600"/>
          </a:xfrm>
          <a:prstGeom prst="rect">
            <a:avLst/>
          </a:prstGeom>
          <a:noFill/>
          <a:ln>
            <a:noFill/>
          </a:ln>
        </p:spPr>
      </p:pic>
      <p:sp>
        <p:nvSpPr>
          <p:cNvPr id="189" name="Google Shape;189;g331a1be59d9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1a1be59d9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1a1be59d9_0_0"/>
          <p:cNvPicPr preferRelativeResize="0"/>
          <p:nvPr/>
        </p:nvPicPr>
        <p:blipFill>
          <a:blip r:embed="rId8">
            <a:alphaModFix/>
          </a:blip>
          <a:stretch>
            <a:fillRect/>
          </a:stretch>
        </p:blipFill>
        <p:spPr>
          <a:xfrm>
            <a:off x="11081375" y="534128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5bcd879e01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197" name="Google Shape;197;g25bcd879e01_0_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98" name="Google Shape;198;g25bcd879e01_0_0"/>
          <p:cNvSpPr txBox="1"/>
          <p:nvPr/>
        </p:nvSpPr>
        <p:spPr>
          <a:xfrm>
            <a:off x="660226" y="439125"/>
            <a:ext cx="10864500" cy="298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200"/>
              <a:buFont typeface="Arial"/>
              <a:buNone/>
            </a:pPr>
            <a:r>
              <a:t/>
            </a:r>
            <a:endParaRPr b="0" i="0" sz="42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4200"/>
              <a:buFont typeface="Arial"/>
              <a:buNone/>
            </a:pPr>
            <a:r>
              <a:rPr b="0" i="0" lang="es-ES" sz="4200" u="none" cap="none" strike="noStrike">
                <a:solidFill>
                  <a:schemeClr val="lt1"/>
                </a:solidFill>
                <a:highlight>
                  <a:srgbClr val="009287"/>
                </a:highlight>
                <a:latin typeface="Patrick Hand"/>
                <a:ea typeface="Patrick Hand"/>
                <a:cs typeface="Patrick Hand"/>
                <a:sym typeface="Patrick Hand"/>
              </a:rPr>
              <a:t>RECORDEMOS</a:t>
            </a:r>
            <a:endParaRPr b="0" i="0" sz="2000" u="none" cap="none" strike="noStrike">
              <a:solidFill>
                <a:schemeClr val="lt1"/>
              </a:solidFill>
              <a:highlight>
                <a:srgbClr val="009287"/>
              </a:highlight>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7  x  4  = 28</a:t>
            </a:r>
            <a:endParaRPr b="1" i="0" sz="6800" u="none" cap="none" strike="noStrike">
              <a:solidFill>
                <a:schemeClr val="dk1"/>
              </a:solidFill>
              <a:latin typeface="Patrick Hand"/>
              <a:ea typeface="Patrick Hand"/>
              <a:cs typeface="Patrick Hand"/>
              <a:sym typeface="Patrick Hand"/>
            </a:endParaRPr>
          </a:p>
        </p:txBody>
      </p:sp>
      <p:sp>
        <p:nvSpPr>
          <p:cNvPr id="199" name="Google Shape;199;g25bcd879e01_0_0"/>
          <p:cNvSpPr txBox="1"/>
          <p:nvPr/>
        </p:nvSpPr>
        <p:spPr>
          <a:xfrm>
            <a:off x="8082647" y="4795450"/>
            <a:ext cx="2654400" cy="892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Resultado de la multiplicación</a:t>
            </a:r>
            <a:endParaRPr b="0" i="0" sz="2600" u="none" cap="none" strike="noStrike">
              <a:solidFill>
                <a:schemeClr val="dk1"/>
              </a:solidFill>
              <a:latin typeface="Patrick Hand"/>
              <a:ea typeface="Patrick Hand"/>
              <a:cs typeface="Patrick Hand"/>
              <a:sym typeface="Patrick Hand"/>
            </a:endParaRPr>
          </a:p>
        </p:txBody>
      </p:sp>
      <p:sp>
        <p:nvSpPr>
          <p:cNvPr id="200" name="Google Shape;200;g25bcd879e01_0_0"/>
          <p:cNvSpPr txBox="1"/>
          <p:nvPr/>
        </p:nvSpPr>
        <p:spPr>
          <a:xfrm>
            <a:off x="1941368" y="4865374"/>
            <a:ext cx="2062500" cy="892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Número de grupos </a:t>
            </a:r>
            <a:endParaRPr b="0" i="0" sz="2600" u="none" cap="none" strike="noStrike">
              <a:solidFill>
                <a:schemeClr val="dk1"/>
              </a:solidFill>
              <a:latin typeface="Patrick Hand"/>
              <a:ea typeface="Patrick Hand"/>
              <a:cs typeface="Patrick Hand"/>
              <a:sym typeface="Patrick Hand"/>
            </a:endParaRPr>
          </a:p>
        </p:txBody>
      </p:sp>
      <p:sp>
        <p:nvSpPr>
          <p:cNvPr id="201" name="Google Shape;201;g25bcd879e01_0_0"/>
          <p:cNvSpPr txBox="1"/>
          <p:nvPr/>
        </p:nvSpPr>
        <p:spPr>
          <a:xfrm>
            <a:off x="4429923" y="5465537"/>
            <a:ext cx="66087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Número de elementos </a:t>
            </a:r>
            <a:endParaRPr b="0" i="0" sz="2600" u="none" cap="none" strike="noStrike">
              <a:solidFill>
                <a:schemeClr val="dk1"/>
              </a:solidFill>
              <a:latin typeface="Patrick Hand"/>
              <a:ea typeface="Patrick Hand"/>
              <a:cs typeface="Patrick Hand"/>
              <a:sym typeface="Patrick Hand"/>
            </a:endParaRPr>
          </a:p>
        </p:txBody>
      </p:sp>
      <p:sp>
        <p:nvSpPr>
          <p:cNvPr id="202" name="Google Shape;202;g25bcd879e01_0_0"/>
          <p:cNvSpPr/>
          <p:nvPr/>
        </p:nvSpPr>
        <p:spPr>
          <a:xfrm>
            <a:off x="2036243" y="4865372"/>
            <a:ext cx="1920600" cy="1147500"/>
          </a:xfrm>
          <a:prstGeom prst="roundRect">
            <a:avLst>
              <a:gd fmla="val 16667" name="adj"/>
            </a:avLst>
          </a:prstGeom>
          <a:noFill/>
          <a:ln cap="flat" cmpd="sng" w="12700">
            <a:solidFill>
              <a:srgbClr val="00928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atrick Hand"/>
              <a:ea typeface="Patrick Hand"/>
              <a:cs typeface="Patrick Hand"/>
              <a:sym typeface="Patrick Hand"/>
            </a:endParaRPr>
          </a:p>
        </p:txBody>
      </p:sp>
      <p:sp>
        <p:nvSpPr>
          <p:cNvPr id="203" name="Google Shape;203;g25bcd879e01_0_0"/>
          <p:cNvSpPr/>
          <p:nvPr/>
        </p:nvSpPr>
        <p:spPr>
          <a:xfrm>
            <a:off x="4308763" y="5033832"/>
            <a:ext cx="2982300" cy="1147500"/>
          </a:xfrm>
          <a:prstGeom prst="roundRect">
            <a:avLst>
              <a:gd fmla="val 16667" name="adj"/>
            </a:avLst>
          </a:prstGeom>
          <a:noFill/>
          <a:ln cap="flat" cmpd="sng" w="12700">
            <a:solidFill>
              <a:srgbClr val="00928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atrick Hand"/>
              <a:ea typeface="Patrick Hand"/>
              <a:cs typeface="Patrick Hand"/>
              <a:sym typeface="Patrick Hand"/>
            </a:endParaRPr>
          </a:p>
        </p:txBody>
      </p:sp>
      <p:sp>
        <p:nvSpPr>
          <p:cNvPr id="204" name="Google Shape;204;g25bcd879e01_0_0"/>
          <p:cNvSpPr/>
          <p:nvPr/>
        </p:nvSpPr>
        <p:spPr>
          <a:xfrm>
            <a:off x="8257262" y="4707124"/>
            <a:ext cx="2305200" cy="1147500"/>
          </a:xfrm>
          <a:prstGeom prst="roundRect">
            <a:avLst>
              <a:gd fmla="val 16667" name="adj"/>
            </a:avLst>
          </a:prstGeom>
          <a:noFill/>
          <a:ln cap="flat" cmpd="sng" w="12700">
            <a:solidFill>
              <a:srgbClr val="00928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05" name="Google Shape;205;g25bcd879e01_0_0"/>
          <p:cNvCxnSpPr/>
          <p:nvPr/>
        </p:nvCxnSpPr>
        <p:spPr>
          <a:xfrm flipH="1">
            <a:off x="3444675" y="3498975"/>
            <a:ext cx="1104000" cy="1237500"/>
          </a:xfrm>
          <a:prstGeom prst="straightConnector1">
            <a:avLst/>
          </a:prstGeom>
          <a:noFill/>
          <a:ln cap="flat" cmpd="sng" w="28575">
            <a:solidFill>
              <a:srgbClr val="009287"/>
            </a:solidFill>
            <a:prstDash val="solid"/>
            <a:miter lim="800000"/>
            <a:headEnd len="sm" w="sm" type="none"/>
            <a:tailEnd len="med" w="med" type="triangle"/>
          </a:ln>
        </p:spPr>
      </p:cxnSp>
      <p:cxnSp>
        <p:nvCxnSpPr>
          <p:cNvPr id="206" name="Google Shape;206;g25bcd879e01_0_0"/>
          <p:cNvCxnSpPr/>
          <p:nvPr/>
        </p:nvCxnSpPr>
        <p:spPr>
          <a:xfrm>
            <a:off x="5913275" y="3586450"/>
            <a:ext cx="42300" cy="1447200"/>
          </a:xfrm>
          <a:prstGeom prst="straightConnector1">
            <a:avLst/>
          </a:prstGeom>
          <a:noFill/>
          <a:ln cap="flat" cmpd="sng" w="28575">
            <a:solidFill>
              <a:srgbClr val="009287"/>
            </a:solidFill>
            <a:prstDash val="solid"/>
            <a:miter lim="800000"/>
            <a:headEnd len="sm" w="sm" type="none"/>
            <a:tailEnd len="med" w="med" type="triangle"/>
          </a:ln>
        </p:spPr>
      </p:cxnSp>
      <p:cxnSp>
        <p:nvCxnSpPr>
          <p:cNvPr id="207" name="Google Shape;207;g25bcd879e01_0_0"/>
          <p:cNvCxnSpPr/>
          <p:nvPr/>
        </p:nvCxnSpPr>
        <p:spPr>
          <a:xfrm>
            <a:off x="7872700" y="3498975"/>
            <a:ext cx="1081800" cy="1142400"/>
          </a:xfrm>
          <a:prstGeom prst="straightConnector1">
            <a:avLst/>
          </a:prstGeom>
          <a:noFill/>
          <a:ln cap="flat" cmpd="sng" w="28575">
            <a:solidFill>
              <a:srgbClr val="009287"/>
            </a:solidFill>
            <a:prstDash val="solid"/>
            <a:miter lim="800000"/>
            <a:headEnd len="sm" w="sm" type="none"/>
            <a:tailEnd len="med" w="med" type="triangle"/>
          </a:ln>
        </p:spPr>
      </p:cxnSp>
      <p:pic>
        <p:nvPicPr>
          <p:cNvPr id="208" name="Google Shape;208;g25bcd879e01_0_0"/>
          <p:cNvPicPr preferRelativeResize="0"/>
          <p:nvPr/>
        </p:nvPicPr>
        <p:blipFill>
          <a:blip r:embed="rId4">
            <a:alphaModFix/>
          </a:blip>
          <a:stretch>
            <a:fillRect/>
          </a:stretch>
        </p:blipFill>
        <p:spPr>
          <a:xfrm>
            <a:off x="11038625" y="51338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28d68822c6a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214" name="Google Shape;214;g28d68822c6a_0_6"/>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15" name="Google Shape;215;g28d68822c6a_0_6"/>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16" name="Google Shape;216;g28d68822c6a_0_6"/>
          <p:cNvSpPr txBox="1"/>
          <p:nvPr/>
        </p:nvSpPr>
        <p:spPr>
          <a:xfrm>
            <a:off x="12125" y="271525"/>
            <a:ext cx="12192000" cy="5833800"/>
          </a:xfrm>
          <a:prstGeom prst="rect">
            <a:avLst/>
          </a:prstGeom>
          <a:noFill/>
          <a:ln>
            <a:noFill/>
          </a:ln>
        </p:spPr>
        <p:txBody>
          <a:bodyPr anchorCtr="0" anchor="t" bIns="45700" lIns="91425" spcFirstLastPara="1" rIns="91425" wrap="square" tIns="45700">
            <a:spAutoFit/>
          </a:bodyPr>
          <a:lstStyle/>
          <a:p>
            <a:pPr indent="-495300" lvl="0" marL="514350" marR="0" rtl="0" algn="ctr">
              <a:lnSpc>
                <a:spcPct val="100000"/>
              </a:lnSpc>
              <a:spcBef>
                <a:spcPts val="0"/>
              </a:spcBef>
              <a:spcAft>
                <a:spcPts val="0"/>
              </a:spcAft>
              <a:buClr>
                <a:schemeClr val="lt1"/>
              </a:buClr>
              <a:buSzPts val="3700"/>
              <a:buFont typeface="Patrick Hand"/>
              <a:buAutoNum type="arabicPeriod"/>
            </a:pPr>
            <a:r>
              <a:rPr b="0" i="0" lang="es-ES" sz="3700" u="none" cap="none" strike="noStrike">
                <a:solidFill>
                  <a:schemeClr val="lt1"/>
                </a:solidFill>
                <a:highlight>
                  <a:srgbClr val="009287"/>
                </a:highlight>
                <a:latin typeface="Patrick Hand"/>
                <a:ea typeface="Patrick Hand"/>
                <a:cs typeface="Patrick Hand"/>
                <a:sym typeface="Patrick Hand"/>
              </a:rPr>
              <a:t>Multiplicación por decenas y centenas </a:t>
            </a:r>
            <a:endParaRPr b="0" i="0" sz="3700" u="none" cap="none" strike="noStrike">
              <a:solidFill>
                <a:schemeClr val="lt1"/>
              </a:solidFill>
              <a:highlight>
                <a:srgbClr val="009287"/>
              </a:highlight>
              <a:latin typeface="Patrick Hand"/>
              <a:ea typeface="Patrick Hand"/>
              <a:cs typeface="Patrick Hand"/>
              <a:sym typeface="Patrick Hand"/>
            </a:endParaRPr>
          </a:p>
          <a:p>
            <a:pPr indent="0" lvl="0" marL="45720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highlight>
                <a:srgbClr val="009287"/>
              </a:highlight>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2900"/>
              <a:buFont typeface="Arial"/>
              <a:buNone/>
            </a:pPr>
            <a:r>
              <a:rPr b="0" i="0" lang="es-ES" sz="2900" u="none" cap="none" strike="noStrike">
                <a:solidFill>
                  <a:srgbClr val="040C28"/>
                </a:solidFill>
                <a:latin typeface="Patrick Hand"/>
                <a:ea typeface="Patrick Hand"/>
                <a:cs typeface="Patrick Hand"/>
                <a:sym typeface="Patrick Hand"/>
              </a:rPr>
              <a:t>Cuando multiplicamos por un n° como 10, 100, 200, etc.</a:t>
            </a:r>
            <a:r>
              <a:rPr lang="es-ES" sz="2900">
                <a:solidFill>
                  <a:srgbClr val="040C28"/>
                </a:solidFill>
                <a:latin typeface="Patrick Hand"/>
                <a:ea typeface="Patrick Hand"/>
                <a:cs typeface="Patrick Hand"/>
                <a:sym typeface="Patrick Hand"/>
              </a:rPr>
              <a:t>, d</a:t>
            </a:r>
            <a:r>
              <a:rPr b="0" i="0" lang="es-ES" sz="2900" u="none" cap="none" strike="noStrike">
                <a:solidFill>
                  <a:srgbClr val="040C28"/>
                </a:solidFill>
                <a:latin typeface="Patrick Hand"/>
                <a:ea typeface="Patrick Hand"/>
                <a:cs typeface="Patrick Hand"/>
                <a:sym typeface="Patrick Hand"/>
              </a:rPr>
              <a:t>ebemos multiplicar los n° distintos a 0 y agregar la cantidad de 0 que tenga la decena o centena.</a:t>
            </a:r>
            <a:endParaRPr b="0" i="0" sz="29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2900"/>
              <a:buFont typeface="Arial"/>
              <a:buNone/>
            </a:pPr>
            <a:r>
              <a:t/>
            </a:r>
            <a:endParaRPr b="1" i="0" sz="3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2900"/>
              <a:buFont typeface="Arial"/>
              <a:buNone/>
            </a:pPr>
            <a:r>
              <a:t/>
            </a:r>
            <a:endParaRPr b="1" i="0" sz="3000" u="none" cap="none" strike="noStrike">
              <a:solidFill>
                <a:schemeClr val="dk1"/>
              </a:solidFill>
              <a:latin typeface="Patrick Hand"/>
              <a:ea typeface="Patrick Hand"/>
              <a:cs typeface="Patrick Hand"/>
              <a:sym typeface="Patrick Hand"/>
            </a:endParaRPr>
          </a:p>
          <a:p>
            <a:pPr indent="-419100" lvl="4" marL="2743200" marR="0" rtl="0" algn="l">
              <a:lnSpc>
                <a:spcPct val="100000"/>
              </a:lnSpc>
              <a:spcBef>
                <a:spcPts val="0"/>
              </a:spcBef>
              <a:spcAft>
                <a:spcPts val="0"/>
              </a:spcAft>
              <a:buClr>
                <a:schemeClr val="dk1"/>
              </a:buClr>
              <a:buSzPts val="3000"/>
              <a:buFont typeface="Patrick Hand"/>
              <a:buChar char="○"/>
            </a:pPr>
            <a:r>
              <a:rPr b="1" i="0" lang="es-ES" sz="3000" u="none" cap="none" strike="noStrike">
                <a:solidFill>
                  <a:schemeClr val="dk1"/>
                </a:solidFill>
                <a:latin typeface="Patrick Hand"/>
                <a:ea typeface="Patrick Hand"/>
                <a:cs typeface="Patrick Hand"/>
                <a:sym typeface="Patrick Hand"/>
              </a:rPr>
              <a:t> 2  x  10 = 2</a:t>
            </a:r>
            <a:r>
              <a:rPr b="1" i="0" lang="es-ES" sz="3000" u="none" cap="none" strike="noStrike">
                <a:solidFill>
                  <a:srgbClr val="009287"/>
                </a:solidFill>
                <a:latin typeface="Patrick Hand"/>
                <a:ea typeface="Patrick Hand"/>
                <a:cs typeface="Patrick Hand"/>
                <a:sym typeface="Patrick Hand"/>
              </a:rPr>
              <a:t>0</a:t>
            </a:r>
            <a:r>
              <a:rPr b="1" i="0" lang="es-ES" sz="3000" u="none" cap="none" strike="noStrike">
                <a:solidFill>
                  <a:schemeClr val="dk1"/>
                </a:solidFill>
                <a:latin typeface="Patrick Hand"/>
                <a:ea typeface="Patrick Hand"/>
                <a:cs typeface="Patrick Hand"/>
                <a:sym typeface="Patrick Hand"/>
              </a:rPr>
              <a:t>    → multiplicamos 2 x 1 y le agrego 1 cero.</a:t>
            </a:r>
            <a:endParaRPr b="1" i="0" sz="3000" u="none" cap="none" strike="noStrike">
              <a:solidFill>
                <a:schemeClr val="dk1"/>
              </a:solidFill>
              <a:latin typeface="Patrick Hand"/>
              <a:ea typeface="Patrick Hand"/>
              <a:cs typeface="Patrick Hand"/>
              <a:sym typeface="Patrick Hand"/>
            </a:endParaRPr>
          </a:p>
          <a:p>
            <a:pPr indent="0" lvl="0" marL="2743200" marR="0" rtl="0" algn="l">
              <a:lnSpc>
                <a:spcPct val="100000"/>
              </a:lnSpc>
              <a:spcBef>
                <a:spcPts val="0"/>
              </a:spcBef>
              <a:spcAft>
                <a:spcPts val="0"/>
              </a:spcAft>
              <a:buClr>
                <a:srgbClr val="000000"/>
              </a:buClr>
              <a:buSzPts val="3000"/>
              <a:buFont typeface="Arial"/>
              <a:buNone/>
            </a:pPr>
            <a:r>
              <a:t/>
            </a:r>
            <a:endParaRPr b="1" i="0" sz="3000" u="none" cap="none" strike="noStrike">
              <a:solidFill>
                <a:schemeClr val="dk1"/>
              </a:solidFill>
              <a:latin typeface="Patrick Hand"/>
              <a:ea typeface="Patrick Hand"/>
              <a:cs typeface="Patrick Hand"/>
              <a:sym typeface="Patrick Hand"/>
            </a:endParaRPr>
          </a:p>
          <a:p>
            <a:pPr indent="0" lvl="0" marL="2743200" marR="0" rtl="0" algn="l">
              <a:lnSpc>
                <a:spcPct val="100000"/>
              </a:lnSpc>
              <a:spcBef>
                <a:spcPts val="0"/>
              </a:spcBef>
              <a:spcAft>
                <a:spcPts val="0"/>
              </a:spcAft>
              <a:buClr>
                <a:srgbClr val="000000"/>
              </a:buClr>
              <a:buSzPts val="3000"/>
              <a:buFont typeface="Arial"/>
              <a:buNone/>
            </a:pPr>
            <a:r>
              <a:t/>
            </a:r>
            <a:endParaRPr b="1" i="0" sz="3000" u="none" cap="none" strike="noStrike">
              <a:solidFill>
                <a:schemeClr val="dk1"/>
              </a:solidFill>
              <a:latin typeface="Patrick Hand"/>
              <a:ea typeface="Patrick Hand"/>
              <a:cs typeface="Patrick Hand"/>
              <a:sym typeface="Patrick Hand"/>
            </a:endParaRPr>
          </a:p>
          <a:p>
            <a:pPr indent="-419100" lvl="4" marL="2743200" marR="0" rtl="0" algn="l">
              <a:lnSpc>
                <a:spcPct val="100000"/>
              </a:lnSpc>
              <a:spcBef>
                <a:spcPts val="0"/>
              </a:spcBef>
              <a:spcAft>
                <a:spcPts val="0"/>
              </a:spcAft>
              <a:buClr>
                <a:schemeClr val="dk1"/>
              </a:buClr>
              <a:buSzPts val="3000"/>
              <a:buFont typeface="Patrick Hand"/>
              <a:buChar char="○"/>
            </a:pPr>
            <a:r>
              <a:rPr b="1" i="0" lang="es-ES" sz="3000" u="none" cap="none" strike="noStrike">
                <a:solidFill>
                  <a:schemeClr val="dk1"/>
                </a:solidFill>
                <a:latin typeface="Patrick Hand"/>
                <a:ea typeface="Patrick Hand"/>
                <a:cs typeface="Patrick Hand"/>
                <a:sym typeface="Patrick Hand"/>
              </a:rPr>
              <a:t>2 x 100 =2</a:t>
            </a:r>
            <a:r>
              <a:rPr b="1" i="0" lang="es-ES" sz="3000" u="none" cap="none" strike="noStrike">
                <a:solidFill>
                  <a:srgbClr val="009287"/>
                </a:solidFill>
                <a:latin typeface="Patrick Hand"/>
                <a:ea typeface="Patrick Hand"/>
                <a:cs typeface="Patrick Hand"/>
                <a:sym typeface="Patrick Hand"/>
              </a:rPr>
              <a:t>00</a:t>
            </a:r>
            <a:r>
              <a:rPr b="1" i="0" lang="es-ES" sz="3000" u="none" cap="none" strike="noStrike">
                <a:solidFill>
                  <a:schemeClr val="dk1"/>
                </a:solidFill>
                <a:latin typeface="Patrick Hand"/>
                <a:ea typeface="Patrick Hand"/>
                <a:cs typeface="Patrick Hand"/>
                <a:sym typeface="Patrick Hand"/>
              </a:rPr>
              <a:t> → multiplicamos 2 x 1 y le agrego 2 ceros.</a:t>
            </a:r>
            <a:endParaRPr b="1" i="0" sz="3000" u="none" cap="none" strike="noStrike">
              <a:solidFill>
                <a:schemeClr val="dk1"/>
              </a:solidFill>
              <a:latin typeface="Patrick Hand"/>
              <a:ea typeface="Patrick Hand"/>
              <a:cs typeface="Patrick Hand"/>
              <a:sym typeface="Patrick Hand"/>
            </a:endParaRPr>
          </a:p>
          <a:p>
            <a:pPr indent="0" lvl="0" marL="2743200" marR="0" rtl="0" algn="l">
              <a:lnSpc>
                <a:spcPct val="100000"/>
              </a:lnSpc>
              <a:spcBef>
                <a:spcPts val="0"/>
              </a:spcBef>
              <a:spcAft>
                <a:spcPts val="0"/>
              </a:spcAft>
              <a:buClr>
                <a:srgbClr val="000000"/>
              </a:buClr>
              <a:buSzPts val="3000"/>
              <a:buFont typeface="Arial"/>
              <a:buNone/>
            </a:pPr>
            <a:r>
              <a:t/>
            </a:r>
            <a:endParaRPr b="1" i="0" sz="3000" u="none" cap="none" strike="noStrike">
              <a:solidFill>
                <a:schemeClr val="dk1"/>
              </a:solidFill>
              <a:latin typeface="Patrick Hand"/>
              <a:ea typeface="Patrick Hand"/>
              <a:cs typeface="Patrick Hand"/>
              <a:sym typeface="Patrick Hand"/>
            </a:endParaRPr>
          </a:p>
          <a:p>
            <a:pPr indent="0" lvl="0" marL="2743200" marR="0" rtl="0" algn="l">
              <a:lnSpc>
                <a:spcPct val="100000"/>
              </a:lnSpc>
              <a:spcBef>
                <a:spcPts val="0"/>
              </a:spcBef>
              <a:spcAft>
                <a:spcPts val="0"/>
              </a:spcAft>
              <a:buClr>
                <a:srgbClr val="000000"/>
              </a:buClr>
              <a:buSzPts val="3000"/>
              <a:buFont typeface="Arial"/>
              <a:buNone/>
            </a:pPr>
            <a:r>
              <a:t/>
            </a:r>
            <a:endParaRPr b="1" i="0" sz="3000" u="none" cap="none" strike="noStrike">
              <a:solidFill>
                <a:schemeClr val="dk1"/>
              </a:solidFill>
              <a:latin typeface="Patrick Hand"/>
              <a:ea typeface="Patrick Hand"/>
              <a:cs typeface="Patrick Hand"/>
              <a:sym typeface="Patrick Hand"/>
            </a:endParaRPr>
          </a:p>
          <a:p>
            <a:pPr indent="-419100" lvl="4" marL="2743200" marR="0" rtl="0" algn="l">
              <a:lnSpc>
                <a:spcPct val="100000"/>
              </a:lnSpc>
              <a:spcBef>
                <a:spcPts val="0"/>
              </a:spcBef>
              <a:spcAft>
                <a:spcPts val="0"/>
              </a:spcAft>
              <a:buClr>
                <a:schemeClr val="dk1"/>
              </a:buClr>
              <a:buSzPts val="3000"/>
              <a:buFont typeface="Patrick Hand"/>
              <a:buChar char="○"/>
            </a:pPr>
            <a:r>
              <a:rPr b="1" i="0" lang="es-ES" sz="3000" u="none" cap="none" strike="noStrike">
                <a:solidFill>
                  <a:schemeClr val="dk1"/>
                </a:solidFill>
                <a:latin typeface="Patrick Hand"/>
                <a:ea typeface="Patrick Hand"/>
                <a:cs typeface="Patrick Hand"/>
                <a:sym typeface="Patrick Hand"/>
              </a:rPr>
              <a:t>2 x 200 =4</a:t>
            </a:r>
            <a:r>
              <a:rPr b="1" i="0" lang="es-ES" sz="3000" u="none" cap="none" strike="noStrike">
                <a:solidFill>
                  <a:srgbClr val="009287"/>
                </a:solidFill>
                <a:latin typeface="Patrick Hand"/>
                <a:ea typeface="Patrick Hand"/>
                <a:cs typeface="Patrick Hand"/>
                <a:sym typeface="Patrick Hand"/>
              </a:rPr>
              <a:t>00 </a:t>
            </a:r>
            <a:r>
              <a:rPr b="1" i="0" lang="es-ES" sz="3000" u="none" cap="none" strike="noStrike">
                <a:solidFill>
                  <a:schemeClr val="dk1"/>
                </a:solidFill>
                <a:latin typeface="Patrick Hand"/>
                <a:ea typeface="Patrick Hand"/>
                <a:cs typeface="Patrick Hand"/>
                <a:sym typeface="Patrick Hand"/>
              </a:rPr>
              <a:t>→ multiplicamos 2 x 2 y agregamos 2 ceros.</a:t>
            </a:r>
            <a:endParaRPr b="1" i="0" sz="3000" u="none" cap="none" strike="noStrike">
              <a:solidFill>
                <a:schemeClr val="dk1"/>
              </a:solidFill>
              <a:latin typeface="Patrick Hand"/>
              <a:ea typeface="Patrick Hand"/>
              <a:cs typeface="Patrick Hand"/>
              <a:sym typeface="Patrick Hand"/>
            </a:endParaRPr>
          </a:p>
        </p:txBody>
      </p:sp>
      <p:sp>
        <p:nvSpPr>
          <p:cNvPr id="217" name="Google Shape;217;g28d68822c6a_0_6"/>
          <p:cNvSpPr/>
          <p:nvPr/>
        </p:nvSpPr>
        <p:spPr>
          <a:xfrm>
            <a:off x="3005550" y="2583050"/>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28d68822c6a_0_6"/>
          <p:cNvSpPr txBox="1"/>
          <p:nvPr/>
        </p:nvSpPr>
        <p:spPr>
          <a:xfrm>
            <a:off x="1159375" y="2200100"/>
            <a:ext cx="3000000" cy="477000"/>
          </a:xfrm>
          <a:prstGeom prst="rect">
            <a:avLst/>
          </a:prstGeom>
          <a:noFill/>
          <a:ln>
            <a:noFill/>
          </a:ln>
        </p:spPr>
        <p:txBody>
          <a:bodyPr anchorCtr="0" anchor="t" bIns="91425" lIns="91425" spcFirstLastPara="1" rIns="91425" wrap="square" tIns="91425">
            <a:spAutoFit/>
          </a:bodyPr>
          <a:lstStyle/>
          <a:p>
            <a:pPr indent="0" lvl="0" marL="1828800" marR="0" rtl="0" algn="l">
              <a:lnSpc>
                <a:spcPct val="100000"/>
              </a:lnSpc>
              <a:spcBef>
                <a:spcPts val="0"/>
              </a:spcBef>
              <a:spcAft>
                <a:spcPts val="0"/>
              </a:spcAft>
              <a:buClr>
                <a:srgbClr val="000000"/>
              </a:buClr>
              <a:buSzPts val="1900"/>
              <a:buFont typeface="Arial"/>
              <a:buNone/>
            </a:pPr>
            <a:r>
              <a:rPr b="1" i="0" lang="es-ES" sz="1900" u="none" cap="none" strike="noStrike">
                <a:solidFill>
                  <a:schemeClr val="dk1"/>
                </a:solidFill>
                <a:latin typeface="Patrick Hand"/>
                <a:ea typeface="Patrick Hand"/>
                <a:cs typeface="Patrick Hand"/>
                <a:sym typeface="Patrick Hand"/>
              </a:rPr>
              <a:t>2  x  1</a:t>
            </a:r>
            <a:endParaRPr b="0" i="0" sz="300" u="none" cap="none" strike="noStrike">
              <a:solidFill>
                <a:srgbClr val="000000"/>
              </a:solidFill>
              <a:latin typeface="Arial"/>
              <a:ea typeface="Arial"/>
              <a:cs typeface="Arial"/>
              <a:sym typeface="Arial"/>
            </a:endParaRPr>
          </a:p>
        </p:txBody>
      </p:sp>
      <p:sp>
        <p:nvSpPr>
          <p:cNvPr id="219" name="Google Shape;219;g28d68822c6a_0_6"/>
          <p:cNvSpPr/>
          <p:nvPr/>
        </p:nvSpPr>
        <p:spPr>
          <a:xfrm>
            <a:off x="2825525" y="5372101"/>
            <a:ext cx="638456"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28d68822c6a_0_6"/>
          <p:cNvSpPr txBox="1"/>
          <p:nvPr/>
        </p:nvSpPr>
        <p:spPr>
          <a:xfrm>
            <a:off x="944700" y="3636900"/>
            <a:ext cx="3000000" cy="477000"/>
          </a:xfrm>
          <a:prstGeom prst="rect">
            <a:avLst/>
          </a:prstGeom>
          <a:noFill/>
          <a:ln>
            <a:noFill/>
          </a:ln>
        </p:spPr>
        <p:txBody>
          <a:bodyPr anchorCtr="0" anchor="t" bIns="91425" lIns="91425" spcFirstLastPara="1" rIns="91425" wrap="square" tIns="91425">
            <a:spAutoFit/>
          </a:bodyPr>
          <a:lstStyle/>
          <a:p>
            <a:pPr indent="0" lvl="0" marL="1828800" marR="0" rtl="0" algn="l">
              <a:lnSpc>
                <a:spcPct val="100000"/>
              </a:lnSpc>
              <a:spcBef>
                <a:spcPts val="0"/>
              </a:spcBef>
              <a:spcAft>
                <a:spcPts val="0"/>
              </a:spcAft>
              <a:buClr>
                <a:srgbClr val="000000"/>
              </a:buClr>
              <a:buSzPts val="1900"/>
              <a:buFont typeface="Arial"/>
              <a:buNone/>
            </a:pPr>
            <a:r>
              <a:rPr b="1" i="0" lang="es-ES" sz="1900" u="none" cap="none" strike="noStrike">
                <a:solidFill>
                  <a:schemeClr val="dk1"/>
                </a:solidFill>
                <a:latin typeface="Patrick Hand"/>
                <a:ea typeface="Patrick Hand"/>
                <a:cs typeface="Patrick Hand"/>
                <a:sym typeface="Patrick Hand"/>
              </a:rPr>
              <a:t>2  x  1</a:t>
            </a:r>
            <a:endParaRPr b="0" i="0" sz="300" u="none" cap="none" strike="noStrike">
              <a:solidFill>
                <a:srgbClr val="000000"/>
              </a:solidFill>
              <a:latin typeface="Arial"/>
              <a:ea typeface="Arial"/>
              <a:cs typeface="Arial"/>
              <a:sym typeface="Arial"/>
            </a:endParaRPr>
          </a:p>
        </p:txBody>
      </p:sp>
      <p:sp>
        <p:nvSpPr>
          <p:cNvPr id="221" name="Google Shape;221;g28d68822c6a_0_6"/>
          <p:cNvSpPr/>
          <p:nvPr/>
        </p:nvSpPr>
        <p:spPr>
          <a:xfrm>
            <a:off x="2825525" y="3977575"/>
            <a:ext cx="638456"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28d68822c6a_0_6"/>
          <p:cNvSpPr txBox="1"/>
          <p:nvPr/>
        </p:nvSpPr>
        <p:spPr>
          <a:xfrm>
            <a:off x="944700" y="5013675"/>
            <a:ext cx="3000000" cy="477000"/>
          </a:xfrm>
          <a:prstGeom prst="rect">
            <a:avLst/>
          </a:prstGeom>
          <a:noFill/>
          <a:ln>
            <a:noFill/>
          </a:ln>
        </p:spPr>
        <p:txBody>
          <a:bodyPr anchorCtr="0" anchor="t" bIns="91425" lIns="91425" spcFirstLastPara="1" rIns="91425" wrap="square" tIns="91425">
            <a:spAutoFit/>
          </a:bodyPr>
          <a:lstStyle/>
          <a:p>
            <a:pPr indent="0" lvl="0" marL="1828800" marR="0" rtl="0" algn="l">
              <a:lnSpc>
                <a:spcPct val="100000"/>
              </a:lnSpc>
              <a:spcBef>
                <a:spcPts val="0"/>
              </a:spcBef>
              <a:spcAft>
                <a:spcPts val="0"/>
              </a:spcAft>
              <a:buClr>
                <a:srgbClr val="000000"/>
              </a:buClr>
              <a:buSzPts val="1900"/>
              <a:buFont typeface="Arial"/>
              <a:buNone/>
            </a:pPr>
            <a:r>
              <a:rPr b="1" i="0" lang="es-ES" sz="1900" u="none" cap="none" strike="noStrike">
                <a:solidFill>
                  <a:schemeClr val="dk1"/>
                </a:solidFill>
                <a:latin typeface="Patrick Hand"/>
                <a:ea typeface="Patrick Hand"/>
                <a:cs typeface="Patrick Hand"/>
                <a:sym typeface="Patrick Hand"/>
              </a:rPr>
              <a:t>2  x  2</a:t>
            </a:r>
            <a:endParaRPr b="0" i="0" sz="300" u="none" cap="none" strike="noStrike">
              <a:solidFill>
                <a:srgbClr val="000000"/>
              </a:solidFill>
              <a:latin typeface="Arial"/>
              <a:ea typeface="Arial"/>
              <a:cs typeface="Arial"/>
              <a:sym typeface="Arial"/>
            </a:endParaRPr>
          </a:p>
        </p:txBody>
      </p:sp>
      <p:sp>
        <p:nvSpPr>
          <p:cNvPr id="223" name="Google Shape;223;g28d68822c6a_0_6"/>
          <p:cNvSpPr txBox="1"/>
          <p:nvPr/>
        </p:nvSpPr>
        <p:spPr>
          <a:xfrm>
            <a:off x="12125" y="2115350"/>
            <a:ext cx="3000000" cy="646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000"/>
              <a:buFont typeface="Arial"/>
              <a:buNone/>
            </a:pPr>
            <a:r>
              <a:rPr b="1" i="0" lang="es-ES" sz="3000" u="none" cap="none" strike="noStrike">
                <a:solidFill>
                  <a:schemeClr val="dk1"/>
                </a:solidFill>
                <a:latin typeface="Patrick Hand"/>
                <a:ea typeface="Patrick Hand"/>
                <a:cs typeface="Patrick Hand"/>
                <a:sym typeface="Patrick Hand"/>
              </a:rPr>
              <a:t>Ejemplos: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Forma&#10;&#10;Descripción generada automáticamente con confianza media" id="228" name="Google Shape;228;g25c689ae274_0_23"/>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29" name="Google Shape;229;g25c689ae274_0_23"/>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30" name="Google Shape;230;g25c689ae274_0_23"/>
          <p:cNvSpPr txBox="1"/>
          <p:nvPr/>
        </p:nvSpPr>
        <p:spPr>
          <a:xfrm>
            <a:off x="238375" y="247850"/>
            <a:ext cx="12192000" cy="115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s-ES" sz="3900" u="none" cap="none" strike="noStrike">
                <a:solidFill>
                  <a:srgbClr val="040C28"/>
                </a:solidFill>
                <a:latin typeface="Patrick Hand"/>
                <a:ea typeface="Patrick Hand"/>
                <a:cs typeface="Patrick Hand"/>
                <a:sym typeface="Patrick Hand"/>
              </a:rPr>
              <a:t>Ejercicios:</a:t>
            </a:r>
            <a:endParaRPr b="1" i="0" sz="39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rgbClr val="040C28"/>
                </a:solidFill>
                <a:latin typeface="Patrick Hand"/>
                <a:ea typeface="Patrick Hand"/>
                <a:cs typeface="Patrick Hand"/>
                <a:sym typeface="Patrick Hand"/>
              </a:rPr>
              <a:t>Abre tu cuaderno y practiquemos lo anterior</a:t>
            </a:r>
            <a:endParaRPr b="0" i="0" sz="3000" u="none" cap="none" strike="noStrike">
              <a:solidFill>
                <a:srgbClr val="040C28"/>
              </a:solidFill>
              <a:latin typeface="Patrick Hand"/>
              <a:ea typeface="Patrick Hand"/>
              <a:cs typeface="Patrick Hand"/>
              <a:sym typeface="Patrick Hand"/>
            </a:endParaRPr>
          </a:p>
        </p:txBody>
      </p:sp>
      <p:sp>
        <p:nvSpPr>
          <p:cNvPr id="231" name="Google Shape;231;g25c689ae274_0_23"/>
          <p:cNvSpPr txBox="1"/>
          <p:nvPr/>
        </p:nvSpPr>
        <p:spPr>
          <a:xfrm>
            <a:off x="1929475" y="1622675"/>
            <a:ext cx="3000000" cy="4756200"/>
          </a:xfrm>
          <a:prstGeom prst="rect">
            <a:avLst/>
          </a:prstGeom>
          <a:noFill/>
          <a:ln>
            <a:noFill/>
          </a:ln>
        </p:spPr>
        <p:txBody>
          <a:bodyPr anchorCtr="0" anchor="t" bIns="91425" lIns="91425" spcFirstLastPara="1" rIns="91425" wrap="square" tIns="91425">
            <a:spAutoFit/>
          </a:bodyPr>
          <a:lstStyle/>
          <a:p>
            <a:pPr indent="-438150" lvl="0" marL="457200" marR="0" rtl="0" algn="l">
              <a:lnSpc>
                <a:spcPct val="100000"/>
              </a:lnSpc>
              <a:spcBef>
                <a:spcPts val="0"/>
              </a:spcBef>
              <a:spcAft>
                <a:spcPts val="0"/>
              </a:spcAft>
              <a:buClr>
                <a:srgbClr val="000000"/>
              </a:buClr>
              <a:buSzPts val="3300"/>
              <a:buFont typeface="Patrick Hand"/>
              <a:buChar char="●"/>
            </a:pPr>
            <a:r>
              <a:rPr b="0" i="0" lang="es-ES" sz="3300" u="none" cap="none" strike="noStrike">
                <a:solidFill>
                  <a:srgbClr val="040C28"/>
                </a:solidFill>
                <a:latin typeface="Patrick Hand"/>
                <a:ea typeface="Patrick Hand"/>
                <a:cs typeface="Patrick Hand"/>
                <a:sym typeface="Patrick Hand"/>
              </a:rPr>
              <a:t>4 x 200 =</a:t>
            </a:r>
            <a:endParaRPr b="0" i="0" sz="33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300"/>
              <a:buFont typeface="Arial"/>
              <a:buNone/>
            </a:pPr>
            <a:r>
              <a:t/>
            </a:r>
            <a:endParaRPr b="0" i="0" sz="3300" u="none" cap="none" strike="noStrike">
              <a:solidFill>
                <a:srgbClr val="040C28"/>
              </a:solidFill>
              <a:latin typeface="Patrick Hand"/>
              <a:ea typeface="Patrick Hand"/>
              <a:cs typeface="Patrick Hand"/>
              <a:sym typeface="Patrick Hand"/>
            </a:endParaRPr>
          </a:p>
          <a:p>
            <a:pPr indent="-438150" lvl="0" marL="457200" marR="0" rtl="0" algn="l">
              <a:lnSpc>
                <a:spcPct val="100000"/>
              </a:lnSpc>
              <a:spcBef>
                <a:spcPts val="0"/>
              </a:spcBef>
              <a:spcAft>
                <a:spcPts val="0"/>
              </a:spcAft>
              <a:buClr>
                <a:srgbClr val="040C28"/>
              </a:buClr>
              <a:buSzPts val="3300"/>
              <a:buFont typeface="Patrick Hand"/>
              <a:buChar char="●"/>
            </a:pPr>
            <a:r>
              <a:rPr b="0" i="0" lang="es-ES" sz="3300" u="none" cap="none" strike="noStrike">
                <a:solidFill>
                  <a:srgbClr val="040C28"/>
                </a:solidFill>
                <a:latin typeface="Patrick Hand"/>
                <a:ea typeface="Patrick Hand"/>
                <a:cs typeface="Patrick Hand"/>
                <a:sym typeface="Patrick Hand"/>
              </a:rPr>
              <a:t>6 x 100 =</a:t>
            </a:r>
            <a:endParaRPr b="0" i="0" sz="33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300"/>
              <a:buFont typeface="Arial"/>
              <a:buNone/>
            </a:pPr>
            <a:r>
              <a:t/>
            </a:r>
            <a:endParaRPr b="0" i="0" sz="3300" u="none" cap="none" strike="noStrike">
              <a:solidFill>
                <a:srgbClr val="040C28"/>
              </a:solidFill>
              <a:latin typeface="Patrick Hand"/>
              <a:ea typeface="Patrick Hand"/>
              <a:cs typeface="Patrick Hand"/>
              <a:sym typeface="Patrick Hand"/>
            </a:endParaRPr>
          </a:p>
          <a:p>
            <a:pPr indent="-438150" lvl="0" marL="457200" marR="0" rtl="0" algn="l">
              <a:lnSpc>
                <a:spcPct val="100000"/>
              </a:lnSpc>
              <a:spcBef>
                <a:spcPts val="0"/>
              </a:spcBef>
              <a:spcAft>
                <a:spcPts val="0"/>
              </a:spcAft>
              <a:buClr>
                <a:srgbClr val="040C28"/>
              </a:buClr>
              <a:buSzPts val="3300"/>
              <a:buFont typeface="Patrick Hand"/>
              <a:buChar char="●"/>
            </a:pPr>
            <a:r>
              <a:rPr b="0" i="0" lang="es-ES" sz="3300" u="none" cap="none" strike="noStrike">
                <a:solidFill>
                  <a:srgbClr val="040C28"/>
                </a:solidFill>
                <a:latin typeface="Patrick Hand"/>
                <a:ea typeface="Patrick Hand"/>
                <a:cs typeface="Patrick Hand"/>
                <a:sym typeface="Patrick Hand"/>
              </a:rPr>
              <a:t>5 x 300 =</a:t>
            </a:r>
            <a:endParaRPr b="0" i="0" sz="33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300"/>
              <a:buFont typeface="Arial"/>
              <a:buNone/>
            </a:pPr>
            <a:r>
              <a:t/>
            </a:r>
            <a:endParaRPr b="0" i="0" sz="3300" u="none" cap="none" strike="noStrike">
              <a:solidFill>
                <a:srgbClr val="040C28"/>
              </a:solidFill>
              <a:latin typeface="Patrick Hand"/>
              <a:ea typeface="Patrick Hand"/>
              <a:cs typeface="Patrick Hand"/>
              <a:sym typeface="Patrick Hand"/>
            </a:endParaRPr>
          </a:p>
          <a:p>
            <a:pPr indent="-438150" lvl="0" marL="457200" marR="0" rtl="0" algn="l">
              <a:lnSpc>
                <a:spcPct val="100000"/>
              </a:lnSpc>
              <a:spcBef>
                <a:spcPts val="0"/>
              </a:spcBef>
              <a:spcAft>
                <a:spcPts val="0"/>
              </a:spcAft>
              <a:buClr>
                <a:srgbClr val="040C28"/>
              </a:buClr>
              <a:buSzPts val="3300"/>
              <a:buFont typeface="Patrick Hand"/>
              <a:buChar char="●"/>
            </a:pPr>
            <a:r>
              <a:rPr b="0" i="0" lang="es-ES" sz="3300" u="none" cap="none" strike="noStrike">
                <a:solidFill>
                  <a:srgbClr val="040C28"/>
                </a:solidFill>
                <a:latin typeface="Patrick Hand"/>
                <a:ea typeface="Patrick Hand"/>
                <a:cs typeface="Patrick Hand"/>
                <a:sym typeface="Patrick Hand"/>
              </a:rPr>
              <a:t>7 x 100 =</a:t>
            </a:r>
            <a:endParaRPr b="0" i="0" sz="33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300"/>
              <a:buFont typeface="Arial"/>
              <a:buNone/>
            </a:pPr>
            <a:r>
              <a:t/>
            </a:r>
            <a:endParaRPr b="0" i="0" sz="3300" u="none" cap="none" strike="noStrike">
              <a:solidFill>
                <a:srgbClr val="040C28"/>
              </a:solidFill>
              <a:latin typeface="Patrick Hand"/>
              <a:ea typeface="Patrick Hand"/>
              <a:cs typeface="Patrick Hand"/>
              <a:sym typeface="Patrick Hand"/>
            </a:endParaRPr>
          </a:p>
          <a:p>
            <a:pPr indent="-438150" lvl="0" marL="457200" marR="0" rtl="0" algn="l">
              <a:lnSpc>
                <a:spcPct val="100000"/>
              </a:lnSpc>
              <a:spcBef>
                <a:spcPts val="0"/>
              </a:spcBef>
              <a:spcAft>
                <a:spcPts val="0"/>
              </a:spcAft>
              <a:buClr>
                <a:srgbClr val="040C28"/>
              </a:buClr>
              <a:buSzPts val="3300"/>
              <a:buFont typeface="Patrick Hand"/>
              <a:buChar char="●"/>
            </a:pPr>
            <a:r>
              <a:rPr b="0" i="0" lang="es-ES" sz="3300" u="none" cap="none" strike="noStrike">
                <a:solidFill>
                  <a:srgbClr val="040C28"/>
                </a:solidFill>
                <a:latin typeface="Patrick Hand"/>
                <a:ea typeface="Patrick Hand"/>
                <a:cs typeface="Patrick Hand"/>
                <a:sym typeface="Patrick Hand"/>
              </a:rPr>
              <a:t>2 x 300 =</a:t>
            </a:r>
            <a:endParaRPr b="0" i="0" sz="3300" u="none" cap="none" strike="noStrike">
              <a:solidFill>
                <a:srgbClr val="040C28"/>
              </a:solidFill>
              <a:latin typeface="Patrick Hand"/>
              <a:ea typeface="Patrick Hand"/>
              <a:cs typeface="Patrick Hand"/>
              <a:sym typeface="Patrick Hand"/>
            </a:endParaRPr>
          </a:p>
        </p:txBody>
      </p:sp>
      <p:sp>
        <p:nvSpPr>
          <p:cNvPr id="232" name="Google Shape;232;g25c689ae274_0_23"/>
          <p:cNvSpPr/>
          <p:nvPr/>
        </p:nvSpPr>
        <p:spPr>
          <a:xfrm>
            <a:off x="2525750" y="2469050"/>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25c689ae274_0_23"/>
          <p:cNvSpPr/>
          <p:nvPr/>
        </p:nvSpPr>
        <p:spPr>
          <a:xfrm>
            <a:off x="2525750" y="1481825"/>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25c689ae274_0_23"/>
          <p:cNvSpPr/>
          <p:nvPr/>
        </p:nvSpPr>
        <p:spPr>
          <a:xfrm>
            <a:off x="2525750" y="3456275"/>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25c689ae274_0_23"/>
          <p:cNvSpPr/>
          <p:nvPr/>
        </p:nvSpPr>
        <p:spPr>
          <a:xfrm>
            <a:off x="2525750" y="4443500"/>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25c689ae274_0_23"/>
          <p:cNvSpPr/>
          <p:nvPr/>
        </p:nvSpPr>
        <p:spPr>
          <a:xfrm>
            <a:off x="2525750" y="5545425"/>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25c689ae274_0_23"/>
          <p:cNvSpPr txBox="1"/>
          <p:nvPr/>
        </p:nvSpPr>
        <p:spPr>
          <a:xfrm>
            <a:off x="4220925" y="1622675"/>
            <a:ext cx="749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40C28"/>
                </a:solidFill>
                <a:latin typeface="Patrick Hand"/>
                <a:ea typeface="Patrick Hand"/>
                <a:cs typeface="Patrick Hand"/>
                <a:sym typeface="Patrick Hand"/>
              </a:rPr>
              <a:t>800 </a:t>
            </a:r>
            <a:endParaRPr b="0" i="0" sz="1400" u="none" cap="none" strike="noStrike">
              <a:solidFill>
                <a:srgbClr val="000000"/>
              </a:solidFill>
              <a:latin typeface="Arial"/>
              <a:ea typeface="Arial"/>
              <a:cs typeface="Arial"/>
              <a:sym typeface="Arial"/>
            </a:endParaRPr>
          </a:p>
        </p:txBody>
      </p:sp>
      <p:sp>
        <p:nvSpPr>
          <p:cNvPr id="238" name="Google Shape;238;g25c689ae274_0_23"/>
          <p:cNvSpPr txBox="1"/>
          <p:nvPr/>
        </p:nvSpPr>
        <p:spPr>
          <a:xfrm>
            <a:off x="4220925" y="2649800"/>
            <a:ext cx="749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40C28"/>
                </a:solidFill>
                <a:latin typeface="Patrick Hand"/>
                <a:ea typeface="Patrick Hand"/>
                <a:cs typeface="Patrick Hand"/>
                <a:sym typeface="Patrick Hand"/>
              </a:rPr>
              <a:t>600 </a:t>
            </a:r>
            <a:endParaRPr b="0" i="0" sz="1400" u="none" cap="none" strike="noStrike">
              <a:solidFill>
                <a:srgbClr val="000000"/>
              </a:solidFill>
              <a:latin typeface="Arial"/>
              <a:ea typeface="Arial"/>
              <a:cs typeface="Arial"/>
              <a:sym typeface="Arial"/>
            </a:endParaRPr>
          </a:p>
        </p:txBody>
      </p:sp>
      <p:sp>
        <p:nvSpPr>
          <p:cNvPr id="239" name="Google Shape;239;g25c689ae274_0_23"/>
          <p:cNvSpPr txBox="1"/>
          <p:nvPr/>
        </p:nvSpPr>
        <p:spPr>
          <a:xfrm>
            <a:off x="4220925" y="3676925"/>
            <a:ext cx="10725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40C28"/>
                </a:solidFill>
                <a:latin typeface="Patrick Hand"/>
                <a:ea typeface="Patrick Hand"/>
                <a:cs typeface="Patrick Hand"/>
                <a:sym typeface="Patrick Hand"/>
              </a:rPr>
              <a:t>1500 </a:t>
            </a:r>
            <a:endParaRPr b="0" i="0" sz="1400" u="none" cap="none" strike="noStrike">
              <a:solidFill>
                <a:srgbClr val="000000"/>
              </a:solidFill>
              <a:latin typeface="Arial"/>
              <a:ea typeface="Arial"/>
              <a:cs typeface="Arial"/>
              <a:sym typeface="Arial"/>
            </a:endParaRPr>
          </a:p>
        </p:txBody>
      </p:sp>
      <p:sp>
        <p:nvSpPr>
          <p:cNvPr id="240" name="Google Shape;240;g25c689ae274_0_23"/>
          <p:cNvSpPr txBox="1"/>
          <p:nvPr/>
        </p:nvSpPr>
        <p:spPr>
          <a:xfrm>
            <a:off x="4220925" y="4704050"/>
            <a:ext cx="10725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40C28"/>
                </a:solidFill>
                <a:latin typeface="Patrick Hand"/>
                <a:ea typeface="Patrick Hand"/>
                <a:cs typeface="Patrick Hand"/>
                <a:sym typeface="Patrick Hand"/>
              </a:rPr>
              <a:t>700 </a:t>
            </a:r>
            <a:endParaRPr b="0" i="0" sz="1400" u="none" cap="none" strike="noStrike">
              <a:solidFill>
                <a:srgbClr val="000000"/>
              </a:solidFill>
              <a:latin typeface="Arial"/>
              <a:ea typeface="Arial"/>
              <a:cs typeface="Arial"/>
              <a:sym typeface="Arial"/>
            </a:endParaRPr>
          </a:p>
        </p:txBody>
      </p:sp>
      <p:sp>
        <p:nvSpPr>
          <p:cNvPr id="241" name="Google Shape;241;g25c689ae274_0_23"/>
          <p:cNvSpPr txBox="1"/>
          <p:nvPr/>
        </p:nvSpPr>
        <p:spPr>
          <a:xfrm>
            <a:off x="4220925" y="5654975"/>
            <a:ext cx="749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40C28"/>
                </a:solidFill>
                <a:latin typeface="Patrick Hand"/>
                <a:ea typeface="Patrick Hand"/>
                <a:cs typeface="Patrick Hand"/>
                <a:sym typeface="Patrick Hand"/>
              </a:rPr>
              <a:t>600 </a:t>
            </a:r>
            <a:endParaRPr b="0" i="0" sz="1400" u="none" cap="none" strike="noStrike">
              <a:solidFill>
                <a:srgbClr val="000000"/>
              </a:solidFill>
              <a:latin typeface="Arial"/>
              <a:ea typeface="Arial"/>
              <a:cs typeface="Arial"/>
              <a:sym typeface="Arial"/>
            </a:endParaRPr>
          </a:p>
        </p:txBody>
      </p:sp>
      <p:sp>
        <p:nvSpPr>
          <p:cNvPr id="242" name="Google Shape;242;g25c689ae274_0_23"/>
          <p:cNvSpPr/>
          <p:nvPr/>
        </p:nvSpPr>
        <p:spPr>
          <a:xfrm>
            <a:off x="6799675" y="1393100"/>
            <a:ext cx="3927300" cy="4875000"/>
          </a:xfrm>
          <a:prstGeom prst="roundRect">
            <a:avLst>
              <a:gd fmla="val 16667" name="adj"/>
            </a:avLst>
          </a:prstGeom>
          <a:noFill/>
          <a:ln cap="flat" cmpd="sng" w="28575">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g25c689ae274_0_23"/>
          <p:cNvSpPr txBox="1"/>
          <p:nvPr/>
        </p:nvSpPr>
        <p:spPr>
          <a:xfrm>
            <a:off x="7104475" y="1543100"/>
            <a:ext cx="3000000" cy="4756200"/>
          </a:xfrm>
          <a:prstGeom prst="rect">
            <a:avLst/>
          </a:prstGeom>
          <a:noFill/>
          <a:ln>
            <a:noFill/>
          </a:ln>
        </p:spPr>
        <p:txBody>
          <a:bodyPr anchorCtr="0" anchor="t" bIns="91425" lIns="91425" spcFirstLastPara="1" rIns="91425" wrap="square" tIns="91425">
            <a:spAutoFit/>
          </a:bodyPr>
          <a:lstStyle/>
          <a:p>
            <a:pPr indent="-438150" lvl="0" marL="457200" marR="0" rtl="0" algn="l">
              <a:lnSpc>
                <a:spcPct val="100000"/>
              </a:lnSpc>
              <a:spcBef>
                <a:spcPts val="0"/>
              </a:spcBef>
              <a:spcAft>
                <a:spcPts val="0"/>
              </a:spcAft>
              <a:buClr>
                <a:srgbClr val="000000"/>
              </a:buClr>
              <a:buSzPts val="3300"/>
              <a:buFont typeface="Patrick Hand"/>
              <a:buChar char="●"/>
            </a:pPr>
            <a:r>
              <a:rPr b="0" i="0" lang="es-ES" sz="3300" u="none" cap="none" strike="noStrike">
                <a:solidFill>
                  <a:srgbClr val="040C28"/>
                </a:solidFill>
                <a:latin typeface="Patrick Hand"/>
                <a:ea typeface="Patrick Hand"/>
                <a:cs typeface="Patrick Hand"/>
                <a:sym typeface="Patrick Hand"/>
              </a:rPr>
              <a:t>4 x 400 =</a:t>
            </a:r>
            <a:endParaRPr b="0" i="0" sz="33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300"/>
              <a:buFont typeface="Arial"/>
              <a:buNone/>
            </a:pPr>
            <a:r>
              <a:t/>
            </a:r>
            <a:endParaRPr b="0" i="0" sz="3300" u="none" cap="none" strike="noStrike">
              <a:solidFill>
                <a:srgbClr val="040C28"/>
              </a:solidFill>
              <a:latin typeface="Patrick Hand"/>
              <a:ea typeface="Patrick Hand"/>
              <a:cs typeface="Patrick Hand"/>
              <a:sym typeface="Patrick Hand"/>
            </a:endParaRPr>
          </a:p>
          <a:p>
            <a:pPr indent="-438150" lvl="0" marL="457200" marR="0" rtl="0" algn="l">
              <a:lnSpc>
                <a:spcPct val="100000"/>
              </a:lnSpc>
              <a:spcBef>
                <a:spcPts val="0"/>
              </a:spcBef>
              <a:spcAft>
                <a:spcPts val="0"/>
              </a:spcAft>
              <a:buClr>
                <a:srgbClr val="040C28"/>
              </a:buClr>
              <a:buSzPts val="3300"/>
              <a:buFont typeface="Patrick Hand"/>
              <a:buChar char="●"/>
            </a:pPr>
            <a:r>
              <a:rPr b="0" i="0" lang="es-ES" sz="3300" u="none" cap="none" strike="noStrike">
                <a:solidFill>
                  <a:srgbClr val="040C28"/>
                </a:solidFill>
                <a:latin typeface="Patrick Hand"/>
                <a:ea typeface="Patrick Hand"/>
                <a:cs typeface="Patrick Hand"/>
                <a:sym typeface="Patrick Hand"/>
              </a:rPr>
              <a:t>9 x 200 =</a:t>
            </a:r>
            <a:endParaRPr b="0" i="0" sz="33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300"/>
              <a:buFont typeface="Arial"/>
              <a:buNone/>
            </a:pPr>
            <a:r>
              <a:t/>
            </a:r>
            <a:endParaRPr b="0" i="0" sz="3300" u="none" cap="none" strike="noStrike">
              <a:solidFill>
                <a:srgbClr val="040C28"/>
              </a:solidFill>
              <a:latin typeface="Patrick Hand"/>
              <a:ea typeface="Patrick Hand"/>
              <a:cs typeface="Patrick Hand"/>
              <a:sym typeface="Patrick Hand"/>
            </a:endParaRPr>
          </a:p>
          <a:p>
            <a:pPr indent="-438150" lvl="0" marL="457200" marR="0" rtl="0" algn="l">
              <a:lnSpc>
                <a:spcPct val="100000"/>
              </a:lnSpc>
              <a:spcBef>
                <a:spcPts val="0"/>
              </a:spcBef>
              <a:spcAft>
                <a:spcPts val="0"/>
              </a:spcAft>
              <a:buClr>
                <a:srgbClr val="040C28"/>
              </a:buClr>
              <a:buSzPts val="3300"/>
              <a:buFont typeface="Patrick Hand"/>
              <a:buChar char="●"/>
            </a:pPr>
            <a:r>
              <a:rPr b="0" i="0" lang="es-ES" sz="3300" u="none" cap="none" strike="noStrike">
                <a:solidFill>
                  <a:srgbClr val="040C28"/>
                </a:solidFill>
                <a:latin typeface="Patrick Hand"/>
                <a:ea typeface="Patrick Hand"/>
                <a:cs typeface="Patrick Hand"/>
                <a:sym typeface="Patrick Hand"/>
              </a:rPr>
              <a:t>5 x 500 =</a:t>
            </a:r>
            <a:endParaRPr b="0" i="0" sz="33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300"/>
              <a:buFont typeface="Arial"/>
              <a:buNone/>
            </a:pPr>
            <a:r>
              <a:t/>
            </a:r>
            <a:endParaRPr b="0" i="0" sz="3300" u="none" cap="none" strike="noStrike">
              <a:solidFill>
                <a:srgbClr val="040C28"/>
              </a:solidFill>
              <a:latin typeface="Patrick Hand"/>
              <a:ea typeface="Patrick Hand"/>
              <a:cs typeface="Patrick Hand"/>
              <a:sym typeface="Patrick Hand"/>
            </a:endParaRPr>
          </a:p>
          <a:p>
            <a:pPr indent="-438150" lvl="0" marL="457200" marR="0" rtl="0" algn="l">
              <a:lnSpc>
                <a:spcPct val="100000"/>
              </a:lnSpc>
              <a:spcBef>
                <a:spcPts val="0"/>
              </a:spcBef>
              <a:spcAft>
                <a:spcPts val="0"/>
              </a:spcAft>
              <a:buClr>
                <a:srgbClr val="040C28"/>
              </a:buClr>
              <a:buSzPts val="3300"/>
              <a:buFont typeface="Patrick Hand"/>
              <a:buChar char="●"/>
            </a:pPr>
            <a:r>
              <a:rPr b="0" i="0" lang="es-ES" sz="3300" u="none" cap="none" strike="noStrike">
                <a:solidFill>
                  <a:srgbClr val="040C28"/>
                </a:solidFill>
                <a:latin typeface="Patrick Hand"/>
                <a:ea typeface="Patrick Hand"/>
                <a:cs typeface="Patrick Hand"/>
                <a:sym typeface="Patrick Hand"/>
              </a:rPr>
              <a:t>3 x 600 =</a:t>
            </a:r>
            <a:endParaRPr b="0" i="0" sz="3300" u="none" cap="none" strike="noStrike">
              <a:solidFill>
                <a:srgbClr val="040C28"/>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300"/>
              <a:buFont typeface="Arial"/>
              <a:buNone/>
            </a:pPr>
            <a:r>
              <a:t/>
            </a:r>
            <a:endParaRPr b="0" i="0" sz="3300" u="none" cap="none" strike="noStrike">
              <a:solidFill>
                <a:srgbClr val="040C28"/>
              </a:solidFill>
              <a:latin typeface="Patrick Hand"/>
              <a:ea typeface="Patrick Hand"/>
              <a:cs typeface="Patrick Hand"/>
              <a:sym typeface="Patrick Hand"/>
            </a:endParaRPr>
          </a:p>
          <a:p>
            <a:pPr indent="-438150" lvl="0" marL="457200" marR="0" rtl="0" algn="l">
              <a:lnSpc>
                <a:spcPct val="100000"/>
              </a:lnSpc>
              <a:spcBef>
                <a:spcPts val="0"/>
              </a:spcBef>
              <a:spcAft>
                <a:spcPts val="0"/>
              </a:spcAft>
              <a:buClr>
                <a:srgbClr val="040C28"/>
              </a:buClr>
              <a:buSzPts val="3300"/>
              <a:buFont typeface="Patrick Hand"/>
              <a:buChar char="●"/>
            </a:pPr>
            <a:r>
              <a:rPr b="0" i="0" lang="es-ES" sz="3300" u="none" cap="none" strike="noStrike">
                <a:solidFill>
                  <a:srgbClr val="040C28"/>
                </a:solidFill>
                <a:latin typeface="Patrick Hand"/>
                <a:ea typeface="Patrick Hand"/>
                <a:cs typeface="Patrick Hand"/>
                <a:sym typeface="Patrick Hand"/>
              </a:rPr>
              <a:t>8 x 200 =</a:t>
            </a:r>
            <a:endParaRPr b="0" i="0" sz="3300" u="none" cap="none" strike="noStrike">
              <a:solidFill>
                <a:srgbClr val="040C28"/>
              </a:solidFill>
              <a:latin typeface="Patrick Hand"/>
              <a:ea typeface="Patrick Hand"/>
              <a:cs typeface="Patrick Hand"/>
              <a:sym typeface="Patrick Hand"/>
            </a:endParaRPr>
          </a:p>
        </p:txBody>
      </p:sp>
      <p:sp>
        <p:nvSpPr>
          <p:cNvPr id="244" name="Google Shape;244;g25c689ae274_0_23"/>
          <p:cNvSpPr/>
          <p:nvPr/>
        </p:nvSpPr>
        <p:spPr>
          <a:xfrm>
            <a:off x="7548350" y="2389475"/>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25c689ae274_0_23"/>
          <p:cNvSpPr/>
          <p:nvPr/>
        </p:nvSpPr>
        <p:spPr>
          <a:xfrm>
            <a:off x="7548350" y="1469600"/>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25c689ae274_0_23"/>
          <p:cNvSpPr/>
          <p:nvPr/>
        </p:nvSpPr>
        <p:spPr>
          <a:xfrm>
            <a:off x="7548350" y="3376700"/>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25c689ae274_0_23"/>
          <p:cNvSpPr/>
          <p:nvPr/>
        </p:nvSpPr>
        <p:spPr>
          <a:xfrm>
            <a:off x="7548350" y="4363925"/>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25c689ae274_0_23"/>
          <p:cNvSpPr/>
          <p:nvPr/>
        </p:nvSpPr>
        <p:spPr>
          <a:xfrm>
            <a:off x="7548350" y="5465850"/>
            <a:ext cx="749625" cy="349903"/>
          </a:xfrm>
          <a:custGeom>
            <a:rect b="b" l="l" r="r" t="t"/>
            <a:pathLst>
              <a:path extrusionOk="0" h="26161" w="29985">
                <a:moveTo>
                  <a:pt x="594" y="26161"/>
                </a:moveTo>
                <a:cubicBezTo>
                  <a:pt x="594" y="21263"/>
                  <a:pt x="-594" y="16218"/>
                  <a:pt x="594" y="11466"/>
                </a:cubicBezTo>
                <a:cubicBezTo>
                  <a:pt x="2180" y="5126"/>
                  <a:pt x="10242" y="-806"/>
                  <a:pt x="16689" y="269"/>
                </a:cubicBezTo>
                <a:cubicBezTo>
                  <a:pt x="23645" y="1429"/>
                  <a:pt x="28586" y="10712"/>
                  <a:pt x="28586" y="17764"/>
                </a:cubicBezTo>
                <a:cubicBezTo>
                  <a:pt x="28586" y="19413"/>
                  <a:pt x="29451" y="22141"/>
                  <a:pt x="27886" y="22662"/>
                </a:cubicBezTo>
                <a:cubicBezTo>
                  <a:pt x="25798" y="23357"/>
                  <a:pt x="24488" y="19164"/>
                  <a:pt x="22288" y="19164"/>
                </a:cubicBezTo>
                <a:cubicBezTo>
                  <a:pt x="21958" y="19164"/>
                  <a:pt x="22754" y="19630"/>
                  <a:pt x="22987" y="19863"/>
                </a:cubicBezTo>
                <a:cubicBezTo>
                  <a:pt x="24636" y="21513"/>
                  <a:pt x="29985" y="22196"/>
                  <a:pt x="29985" y="19863"/>
                </a:cubicBezTo>
                <a:cubicBezTo>
                  <a:pt x="29985" y="17997"/>
                  <a:pt x="26253" y="19863"/>
                  <a:pt x="24387" y="19863"/>
                </a:cubicBezTo>
              </a:path>
            </a:pathLst>
          </a:cu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25c689ae274_0_23"/>
          <p:cNvSpPr txBox="1"/>
          <p:nvPr/>
        </p:nvSpPr>
        <p:spPr>
          <a:xfrm>
            <a:off x="9243525" y="1543100"/>
            <a:ext cx="10725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40C28"/>
                </a:solidFill>
                <a:latin typeface="Patrick Hand"/>
                <a:ea typeface="Patrick Hand"/>
                <a:cs typeface="Patrick Hand"/>
                <a:sym typeface="Patrick Hand"/>
              </a:rPr>
              <a:t>1600 </a:t>
            </a:r>
            <a:endParaRPr b="0" i="0" sz="1400" u="none" cap="none" strike="noStrike">
              <a:solidFill>
                <a:srgbClr val="000000"/>
              </a:solidFill>
              <a:latin typeface="Arial"/>
              <a:ea typeface="Arial"/>
              <a:cs typeface="Arial"/>
              <a:sym typeface="Arial"/>
            </a:endParaRPr>
          </a:p>
        </p:txBody>
      </p:sp>
      <p:sp>
        <p:nvSpPr>
          <p:cNvPr id="250" name="Google Shape;250;g25c689ae274_0_23"/>
          <p:cNvSpPr txBox="1"/>
          <p:nvPr/>
        </p:nvSpPr>
        <p:spPr>
          <a:xfrm>
            <a:off x="9243525" y="2570225"/>
            <a:ext cx="9036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40C28"/>
                </a:solidFill>
                <a:latin typeface="Patrick Hand"/>
                <a:ea typeface="Patrick Hand"/>
                <a:cs typeface="Patrick Hand"/>
                <a:sym typeface="Patrick Hand"/>
              </a:rPr>
              <a:t>1800 </a:t>
            </a:r>
            <a:endParaRPr b="0" i="0" sz="1400" u="none" cap="none" strike="noStrike">
              <a:solidFill>
                <a:srgbClr val="000000"/>
              </a:solidFill>
              <a:latin typeface="Arial"/>
              <a:ea typeface="Arial"/>
              <a:cs typeface="Arial"/>
              <a:sym typeface="Arial"/>
            </a:endParaRPr>
          </a:p>
        </p:txBody>
      </p:sp>
      <p:sp>
        <p:nvSpPr>
          <p:cNvPr id="251" name="Google Shape;251;g25c689ae274_0_23"/>
          <p:cNvSpPr txBox="1"/>
          <p:nvPr/>
        </p:nvSpPr>
        <p:spPr>
          <a:xfrm>
            <a:off x="9243525" y="3597350"/>
            <a:ext cx="10725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40C28"/>
                </a:solidFill>
                <a:latin typeface="Patrick Hand"/>
                <a:ea typeface="Patrick Hand"/>
                <a:cs typeface="Patrick Hand"/>
                <a:sym typeface="Patrick Hand"/>
              </a:rPr>
              <a:t>2500 </a:t>
            </a:r>
            <a:endParaRPr b="0" i="0" sz="1400" u="none" cap="none" strike="noStrike">
              <a:solidFill>
                <a:srgbClr val="000000"/>
              </a:solidFill>
              <a:latin typeface="Arial"/>
              <a:ea typeface="Arial"/>
              <a:cs typeface="Arial"/>
              <a:sym typeface="Arial"/>
            </a:endParaRPr>
          </a:p>
        </p:txBody>
      </p:sp>
      <p:sp>
        <p:nvSpPr>
          <p:cNvPr id="252" name="Google Shape;252;g25c689ae274_0_23"/>
          <p:cNvSpPr txBox="1"/>
          <p:nvPr/>
        </p:nvSpPr>
        <p:spPr>
          <a:xfrm>
            <a:off x="9243525" y="4624475"/>
            <a:ext cx="10725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40C28"/>
                </a:solidFill>
                <a:latin typeface="Patrick Hand"/>
                <a:ea typeface="Patrick Hand"/>
                <a:cs typeface="Patrick Hand"/>
                <a:sym typeface="Patrick Hand"/>
              </a:rPr>
              <a:t>1800 </a:t>
            </a:r>
            <a:endParaRPr b="0" i="0" sz="1400" u="none" cap="none" strike="noStrike">
              <a:solidFill>
                <a:srgbClr val="000000"/>
              </a:solidFill>
              <a:latin typeface="Arial"/>
              <a:ea typeface="Arial"/>
              <a:cs typeface="Arial"/>
              <a:sym typeface="Arial"/>
            </a:endParaRPr>
          </a:p>
        </p:txBody>
      </p:sp>
      <p:sp>
        <p:nvSpPr>
          <p:cNvPr id="253" name="Google Shape;253;g25c689ae274_0_23"/>
          <p:cNvSpPr txBox="1"/>
          <p:nvPr/>
        </p:nvSpPr>
        <p:spPr>
          <a:xfrm>
            <a:off x="9243525" y="5575400"/>
            <a:ext cx="9909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s-ES" sz="3300" u="none" cap="none" strike="noStrike">
                <a:solidFill>
                  <a:srgbClr val="040C28"/>
                </a:solidFill>
                <a:latin typeface="Patrick Hand"/>
                <a:ea typeface="Patrick Hand"/>
                <a:cs typeface="Patrick Hand"/>
                <a:sym typeface="Patrick Hand"/>
              </a:rPr>
              <a:t>1600 </a:t>
            </a:r>
            <a:endParaRPr b="0" i="0" sz="1400" u="none" cap="none" strike="noStrike">
              <a:solidFill>
                <a:srgbClr val="000000"/>
              </a:solidFill>
              <a:latin typeface="Arial"/>
              <a:ea typeface="Arial"/>
              <a:cs typeface="Arial"/>
              <a:sym typeface="Arial"/>
            </a:endParaRPr>
          </a:p>
        </p:txBody>
      </p:sp>
      <p:sp>
        <p:nvSpPr>
          <p:cNvPr id="254" name="Google Shape;254;g25c689ae274_0_23"/>
          <p:cNvSpPr/>
          <p:nvPr/>
        </p:nvSpPr>
        <p:spPr>
          <a:xfrm>
            <a:off x="1619275" y="1393100"/>
            <a:ext cx="3927300" cy="4875000"/>
          </a:xfrm>
          <a:prstGeom prst="roundRect">
            <a:avLst>
              <a:gd fmla="val 16667" name="adj"/>
            </a:avLst>
          </a:prstGeom>
          <a:noFill/>
          <a:ln cap="flat" cmpd="sng" w="28575">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5" name="Google Shape;255;g25c689ae274_0_23"/>
          <p:cNvPicPr preferRelativeResize="0"/>
          <p:nvPr/>
        </p:nvPicPr>
        <p:blipFill>
          <a:blip r:embed="rId4">
            <a:alphaModFix/>
          </a:blip>
          <a:stretch>
            <a:fillRect/>
          </a:stretch>
        </p:blipFill>
        <p:spPr>
          <a:xfrm>
            <a:off x="11099150" y="5139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237f15b63d7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261" name="Google Shape;261;g237f15b63d7_0_0"/>
          <p:cNvPicPr preferRelativeResize="0"/>
          <p:nvPr>
            <p:ph idx="1" type="body"/>
          </p:nvPr>
        </p:nvPicPr>
        <p:blipFill rotWithShape="1">
          <a:blip r:embed="rId3">
            <a:alphaModFix/>
          </a:blip>
          <a:srcRect b="0" l="0" r="0" t="0"/>
          <a:stretch/>
        </p:blipFill>
        <p:spPr>
          <a:xfrm>
            <a:off x="12125" y="0"/>
            <a:ext cx="12192000" cy="6858000"/>
          </a:xfrm>
          <a:prstGeom prst="rect">
            <a:avLst/>
          </a:prstGeom>
          <a:noFill/>
          <a:ln>
            <a:noFill/>
          </a:ln>
        </p:spPr>
      </p:pic>
      <p:sp>
        <p:nvSpPr>
          <p:cNvPr id="262" name="Google Shape;262;g237f15b63d7_0_0"/>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63" name="Google Shape;263;g237f15b63d7_0_0"/>
          <p:cNvSpPr txBox="1"/>
          <p:nvPr/>
        </p:nvSpPr>
        <p:spPr>
          <a:xfrm>
            <a:off x="12125" y="423925"/>
            <a:ext cx="12192000" cy="20625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4000"/>
              <a:buFont typeface="Arial"/>
              <a:buNone/>
            </a:pPr>
            <a:r>
              <a:rPr b="0" i="0" lang="es-ES" sz="4000" u="none" cap="none" strike="noStrike">
                <a:solidFill>
                  <a:schemeClr val="lt1"/>
                </a:solidFill>
                <a:highlight>
                  <a:srgbClr val="009287"/>
                </a:highlight>
                <a:latin typeface="Patrick Hand"/>
                <a:ea typeface="Patrick Hand"/>
                <a:cs typeface="Patrick Hand"/>
                <a:sym typeface="Patrick Hand"/>
              </a:rPr>
              <a:t>2. Multiplicar descomponiendo </a:t>
            </a:r>
            <a:endParaRPr b="0" i="0" sz="800" u="none" cap="none" strike="noStrike">
              <a:solidFill>
                <a:schemeClr val="lt1"/>
              </a:solidFill>
              <a:highlight>
                <a:srgbClr val="009287"/>
              </a:highlight>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2900"/>
              <a:buFont typeface="Arial"/>
              <a:buNone/>
            </a:pPr>
            <a:r>
              <a:rPr b="0" i="0" lang="es-ES" sz="2900" u="none" cap="none" strike="noStrike">
                <a:solidFill>
                  <a:srgbClr val="040C28"/>
                </a:solidFill>
                <a:latin typeface="Patrick Hand"/>
                <a:ea typeface="Patrick Hand"/>
                <a:cs typeface="Patrick Hand"/>
                <a:sym typeface="Patrick Hand"/>
              </a:rPr>
              <a:t>Para facilitar una multiplicación, podemos usar la técnica de descomponer</a:t>
            </a:r>
            <a:r>
              <a:rPr lang="es-ES" sz="2900">
                <a:solidFill>
                  <a:srgbClr val="040C28"/>
                </a:solidFill>
                <a:latin typeface="Patrick Hand"/>
                <a:ea typeface="Patrick Hand"/>
                <a:cs typeface="Patrick Hand"/>
                <a:sym typeface="Patrick Hand"/>
              </a:rPr>
              <a:t>. L</a:t>
            </a:r>
            <a:r>
              <a:rPr b="0" i="0" lang="es-ES" sz="2900" u="none" cap="none" strike="noStrike">
                <a:solidFill>
                  <a:srgbClr val="040C28"/>
                </a:solidFill>
                <a:latin typeface="Patrick Hand"/>
                <a:ea typeface="Patrick Hand"/>
                <a:cs typeface="Patrick Hand"/>
                <a:sym typeface="Patrick Hand"/>
              </a:rPr>
              <a:t>o hacemos de la siguiente manera.</a:t>
            </a:r>
            <a:endParaRPr b="0" i="1" sz="3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000"/>
              <a:buFont typeface="Arial"/>
              <a:buNone/>
            </a:pPr>
            <a:r>
              <a:rPr b="1" i="0" lang="es-ES" sz="3000" u="none" cap="none" strike="noStrike">
                <a:solidFill>
                  <a:schemeClr val="dk1"/>
                </a:solidFill>
                <a:latin typeface="Patrick Hand"/>
                <a:ea typeface="Patrick Hand"/>
                <a:cs typeface="Patrick Hand"/>
                <a:sym typeface="Patrick Hand"/>
              </a:rPr>
              <a:t>Ejemplos: </a:t>
            </a:r>
            <a:endParaRPr b="0" i="0" sz="4000" u="none" cap="none" strike="noStrike">
              <a:solidFill>
                <a:schemeClr val="dk1"/>
              </a:solidFill>
              <a:latin typeface="Patrick Hand"/>
              <a:ea typeface="Patrick Hand"/>
              <a:cs typeface="Patrick Hand"/>
              <a:sym typeface="Patrick Hand"/>
            </a:endParaRPr>
          </a:p>
        </p:txBody>
      </p:sp>
      <p:sp>
        <p:nvSpPr>
          <p:cNvPr id="264" name="Google Shape;264;g237f15b63d7_0_0"/>
          <p:cNvSpPr txBox="1"/>
          <p:nvPr/>
        </p:nvSpPr>
        <p:spPr>
          <a:xfrm>
            <a:off x="1561750" y="3080850"/>
            <a:ext cx="4601100" cy="1085100"/>
          </a:xfrm>
          <a:prstGeom prst="rect">
            <a:avLst/>
          </a:prstGeom>
          <a:noFill/>
          <a:ln>
            <a:noFill/>
          </a:ln>
        </p:spPr>
        <p:txBody>
          <a:bodyPr anchorCtr="0" anchor="t" bIns="45700" lIns="91425" spcFirstLastPara="1" rIns="91425" wrap="square" tIns="45700">
            <a:spAutoFit/>
          </a:bodyPr>
          <a:lstStyle/>
          <a:p>
            <a:pPr indent="-400050" lvl="0" marL="457200" marR="0" rtl="0" algn="l">
              <a:lnSpc>
                <a:spcPct val="115000"/>
              </a:lnSpc>
              <a:spcBef>
                <a:spcPts val="0"/>
              </a:spcBef>
              <a:spcAft>
                <a:spcPts val="0"/>
              </a:spcAft>
              <a:buClr>
                <a:schemeClr val="dk1"/>
              </a:buClr>
              <a:buSzPts val="2700"/>
              <a:buFont typeface="Patrick Hand"/>
              <a:buChar char="●"/>
            </a:pPr>
            <a:r>
              <a:rPr b="0" i="0" lang="es-ES" sz="3000" u="none" cap="none" strike="noStrike">
                <a:solidFill>
                  <a:schemeClr val="dk1"/>
                </a:solidFill>
                <a:latin typeface="Patrick Hand"/>
                <a:ea typeface="Patrick Hand"/>
                <a:cs typeface="Patrick Hand"/>
                <a:sym typeface="Patrick Hand"/>
              </a:rPr>
              <a:t>12  x  5</a:t>
            </a:r>
            <a:endParaRPr b="0" i="0" sz="3000" u="none" cap="none" strike="noStrike">
              <a:solidFill>
                <a:schemeClr val="dk1"/>
              </a:solidFill>
              <a:latin typeface="Patrick Hand"/>
              <a:ea typeface="Patrick Hand"/>
              <a:cs typeface="Patrick Hand"/>
              <a:sym typeface="Patrick Hand"/>
            </a:endParaRPr>
          </a:p>
          <a:p>
            <a:pPr indent="0" lvl="0" marL="914400" marR="0" rtl="0" algn="l">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p:txBody>
      </p:sp>
      <p:sp>
        <p:nvSpPr>
          <p:cNvPr id="265" name="Google Shape;265;g237f15b63d7_0_0"/>
          <p:cNvSpPr txBox="1"/>
          <p:nvPr/>
        </p:nvSpPr>
        <p:spPr>
          <a:xfrm>
            <a:off x="4809525" y="1899650"/>
            <a:ext cx="5844900" cy="4423800"/>
          </a:xfrm>
          <a:prstGeom prst="rect">
            <a:avLst/>
          </a:prstGeom>
          <a:noFill/>
          <a:ln>
            <a:noFill/>
          </a:ln>
        </p:spPr>
        <p:txBody>
          <a:bodyPr anchorCtr="0" anchor="t" bIns="91425" lIns="91425" spcFirstLastPara="1" rIns="91425" wrap="square" tIns="91425">
            <a:spAutoFit/>
          </a:bodyPr>
          <a:lstStyle/>
          <a:p>
            <a:pPr indent="-400050" lvl="0" marL="457200" marR="0" rtl="0" algn="l">
              <a:lnSpc>
                <a:spcPct val="115000"/>
              </a:lnSpc>
              <a:spcBef>
                <a:spcPts val="0"/>
              </a:spcBef>
              <a:spcAft>
                <a:spcPts val="0"/>
              </a:spcAft>
              <a:buClr>
                <a:schemeClr val="dk1"/>
              </a:buClr>
              <a:buSzPts val="2700"/>
              <a:buFont typeface="Patrick Hand"/>
              <a:buAutoNum type="arabicPeriod"/>
            </a:pPr>
            <a:r>
              <a:rPr b="0" i="0" lang="es-ES" sz="2700" u="none" cap="none" strike="noStrike">
                <a:solidFill>
                  <a:schemeClr val="dk1"/>
                </a:solidFill>
                <a:latin typeface="Patrick Hand"/>
                <a:ea typeface="Patrick Hand"/>
                <a:cs typeface="Patrick Hand"/>
                <a:sym typeface="Patrick Hand"/>
              </a:rPr>
              <a:t>Puedes descomponer el 12 en 6 y 6.</a:t>
            </a:r>
            <a:endParaRPr b="0" i="0" sz="2700" u="none" cap="none" strike="noStrike">
              <a:solidFill>
                <a:schemeClr val="dk1"/>
              </a:solidFill>
              <a:latin typeface="Patrick Hand"/>
              <a:ea typeface="Patrick Hand"/>
              <a:cs typeface="Patrick Hand"/>
              <a:sym typeface="Patrick Hand"/>
            </a:endParaRPr>
          </a:p>
          <a:p>
            <a:pPr indent="-400050" lvl="1" marL="914400" marR="0" rtl="0" algn="l">
              <a:lnSpc>
                <a:spcPct val="115000"/>
              </a:lnSpc>
              <a:spcBef>
                <a:spcPts val="0"/>
              </a:spcBef>
              <a:spcAft>
                <a:spcPts val="0"/>
              </a:spcAft>
              <a:buClr>
                <a:schemeClr val="dk1"/>
              </a:buClr>
              <a:buSzPts val="2700"/>
              <a:buFont typeface="Patrick Hand"/>
              <a:buChar char="○"/>
            </a:pPr>
            <a:r>
              <a:rPr b="0" i="0" lang="es-ES" sz="2700" u="none" cap="none" strike="noStrike">
                <a:solidFill>
                  <a:schemeClr val="dk1"/>
                </a:solidFill>
                <a:latin typeface="Patrick Hand"/>
                <a:ea typeface="Patrick Hand"/>
                <a:cs typeface="Patrick Hand"/>
                <a:sym typeface="Patrick Hand"/>
              </a:rPr>
              <a:t>12 x 5  →   6    x   5 = 30</a:t>
            </a:r>
            <a:endParaRPr b="0" i="0" sz="2700" u="none" cap="none" strike="noStrike">
              <a:solidFill>
                <a:schemeClr val="dk1"/>
              </a:solidFill>
              <a:latin typeface="Patrick Hand"/>
              <a:ea typeface="Patrick Hand"/>
              <a:cs typeface="Patrick Hand"/>
              <a:sym typeface="Patrick Hand"/>
            </a:endParaRPr>
          </a:p>
          <a:p>
            <a:pPr indent="457200" lvl="0" marL="1371600" marR="0" rtl="0" algn="l">
              <a:lnSpc>
                <a:spcPct val="115000"/>
              </a:lnSpc>
              <a:spcBef>
                <a:spcPts val="0"/>
              </a:spcBef>
              <a:spcAft>
                <a:spcPts val="0"/>
              </a:spcAft>
              <a:buClr>
                <a:srgbClr val="000000"/>
              </a:buClr>
              <a:buSzPts val="2700"/>
              <a:buFont typeface="Arial"/>
              <a:buNone/>
            </a:pPr>
            <a:r>
              <a:rPr b="0" i="0" lang="es-ES" sz="2700" u="none" cap="none" strike="noStrike">
                <a:solidFill>
                  <a:schemeClr val="dk1"/>
                </a:solidFill>
                <a:latin typeface="Patrick Hand"/>
                <a:ea typeface="Patrick Hand"/>
                <a:cs typeface="Patrick Hand"/>
                <a:sym typeface="Patrick Hand"/>
              </a:rPr>
              <a:t>→   6    x   5 = 30</a:t>
            </a:r>
            <a:endParaRPr b="0" i="0" sz="2700" u="none" cap="none" strike="noStrike">
              <a:solidFill>
                <a:schemeClr val="dk1"/>
              </a:solidFill>
              <a:latin typeface="Patrick Hand"/>
              <a:ea typeface="Patrick Hand"/>
              <a:cs typeface="Patrick Hand"/>
              <a:sym typeface="Patrick Hand"/>
            </a:endParaRPr>
          </a:p>
          <a:p>
            <a:pPr indent="457200" lvl="0" marL="1828800" marR="0" rtl="0" algn="l">
              <a:lnSpc>
                <a:spcPct val="115000"/>
              </a:lnSpc>
              <a:spcBef>
                <a:spcPts val="0"/>
              </a:spcBef>
              <a:spcAft>
                <a:spcPts val="0"/>
              </a:spcAft>
              <a:buClr>
                <a:srgbClr val="000000"/>
              </a:buClr>
              <a:buSzPts val="2700"/>
              <a:buFont typeface="Arial"/>
              <a:buNone/>
            </a:pPr>
            <a:r>
              <a:rPr b="0" i="0" lang="es-ES" sz="2700" u="none" cap="none" strike="noStrike">
                <a:solidFill>
                  <a:schemeClr val="dk1"/>
                </a:solidFill>
                <a:latin typeface="Patrick Hand"/>
                <a:ea typeface="Patrick Hand"/>
                <a:cs typeface="Patrick Hand"/>
                <a:sym typeface="Patrick Hand"/>
              </a:rPr>
              <a:t>    Total   =  60</a:t>
            </a:r>
            <a:endParaRPr b="0" i="0" sz="2700" u="none" cap="none" strike="noStrike">
              <a:solidFill>
                <a:schemeClr val="dk1"/>
              </a:solidFill>
              <a:latin typeface="Patrick Hand"/>
              <a:ea typeface="Patrick Hand"/>
              <a:cs typeface="Patrick Hand"/>
              <a:sym typeface="Patrick Hand"/>
            </a:endParaRPr>
          </a:p>
          <a:p>
            <a:pPr indent="457200" lvl="0" marL="1828800" marR="0" rtl="0" algn="l">
              <a:lnSpc>
                <a:spcPct val="115000"/>
              </a:lnSpc>
              <a:spcBef>
                <a:spcPts val="0"/>
              </a:spcBef>
              <a:spcAft>
                <a:spcPts val="0"/>
              </a:spcAft>
              <a:buClr>
                <a:srgbClr val="000000"/>
              </a:buClr>
              <a:buSzPts val="2700"/>
              <a:buFont typeface="Arial"/>
              <a:buNone/>
            </a:pPr>
            <a:r>
              <a:t/>
            </a:r>
            <a:endParaRPr b="0" i="0" sz="27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None/>
            </a:pPr>
            <a:r>
              <a:rPr lang="es-ES" sz="2700">
                <a:solidFill>
                  <a:schemeClr val="dk1"/>
                </a:solidFill>
                <a:latin typeface="Patrick Hand"/>
                <a:ea typeface="Patrick Hand"/>
                <a:cs typeface="Patrick Hand"/>
                <a:sym typeface="Patrick Hand"/>
              </a:rPr>
              <a:t> 2.  </a:t>
            </a:r>
            <a:r>
              <a:rPr b="0" i="0" lang="es-ES" sz="2700" u="none" cap="none" strike="noStrike">
                <a:solidFill>
                  <a:schemeClr val="dk1"/>
                </a:solidFill>
                <a:latin typeface="Patrick Hand"/>
                <a:ea typeface="Patrick Hand"/>
                <a:cs typeface="Patrick Hand"/>
                <a:sym typeface="Patrick Hand"/>
              </a:rPr>
              <a:t>Puedes descomponer el 12 en 10 y 2</a:t>
            </a:r>
            <a:endParaRPr b="0" i="0" sz="2700" u="none" cap="none" strike="noStrike">
              <a:solidFill>
                <a:schemeClr val="dk1"/>
              </a:solidFill>
              <a:latin typeface="Patrick Hand"/>
              <a:ea typeface="Patrick Hand"/>
              <a:cs typeface="Patrick Hand"/>
              <a:sym typeface="Patrick Hand"/>
            </a:endParaRPr>
          </a:p>
          <a:p>
            <a:pPr indent="-400050" lvl="1" marL="914400" marR="0" rtl="0" algn="l">
              <a:lnSpc>
                <a:spcPct val="115000"/>
              </a:lnSpc>
              <a:spcBef>
                <a:spcPts val="0"/>
              </a:spcBef>
              <a:spcAft>
                <a:spcPts val="0"/>
              </a:spcAft>
              <a:buClr>
                <a:schemeClr val="dk1"/>
              </a:buClr>
              <a:buSzPts val="2700"/>
              <a:buFont typeface="Patrick Hand"/>
              <a:buChar char="○"/>
            </a:pPr>
            <a:r>
              <a:rPr b="0" i="0" lang="es-ES" sz="2700" u="none" cap="none" strike="noStrike">
                <a:solidFill>
                  <a:schemeClr val="dk1"/>
                </a:solidFill>
                <a:latin typeface="Patrick Hand"/>
                <a:ea typeface="Patrick Hand"/>
                <a:cs typeface="Patrick Hand"/>
                <a:sym typeface="Patrick Hand"/>
              </a:rPr>
              <a:t>12 x 5  → 10    x    5 = 50</a:t>
            </a:r>
            <a:endParaRPr b="0" i="0" sz="2700" u="none" cap="none" strike="noStrike">
              <a:solidFill>
                <a:schemeClr val="dk1"/>
              </a:solidFill>
              <a:latin typeface="Patrick Hand"/>
              <a:ea typeface="Patrick Hand"/>
              <a:cs typeface="Patrick Hand"/>
              <a:sym typeface="Patrick Hand"/>
            </a:endParaRPr>
          </a:p>
          <a:p>
            <a:pPr indent="0" lvl="0" marL="1371600" marR="0" rtl="0" algn="l">
              <a:lnSpc>
                <a:spcPct val="115000"/>
              </a:lnSpc>
              <a:spcBef>
                <a:spcPts val="0"/>
              </a:spcBef>
              <a:spcAft>
                <a:spcPts val="0"/>
              </a:spcAft>
              <a:buClr>
                <a:srgbClr val="000000"/>
              </a:buClr>
              <a:buSzPts val="2700"/>
              <a:buFont typeface="Arial"/>
              <a:buNone/>
            </a:pPr>
            <a:r>
              <a:rPr b="0" i="0" lang="es-ES" sz="2700" u="none" cap="none" strike="noStrike">
                <a:solidFill>
                  <a:schemeClr val="dk1"/>
                </a:solidFill>
                <a:latin typeface="Patrick Hand"/>
                <a:ea typeface="Patrick Hand"/>
                <a:cs typeface="Patrick Hand"/>
                <a:sym typeface="Patrick Hand"/>
              </a:rPr>
              <a:t>      → 2     x    5 = 10</a:t>
            </a:r>
            <a:endParaRPr b="0" i="0" sz="2700" u="none" cap="none" strike="noStrike">
              <a:solidFill>
                <a:schemeClr val="dk1"/>
              </a:solidFill>
              <a:latin typeface="Patrick Hand"/>
              <a:ea typeface="Patrick Hand"/>
              <a:cs typeface="Patrick Hand"/>
              <a:sym typeface="Patrick Hand"/>
            </a:endParaRPr>
          </a:p>
          <a:p>
            <a:pPr indent="0" lvl="0" marL="1371600" marR="0" rtl="0" algn="l">
              <a:lnSpc>
                <a:spcPct val="115000"/>
              </a:lnSpc>
              <a:spcBef>
                <a:spcPts val="0"/>
              </a:spcBef>
              <a:spcAft>
                <a:spcPts val="0"/>
              </a:spcAft>
              <a:buClr>
                <a:srgbClr val="000000"/>
              </a:buClr>
              <a:buSzPts val="2700"/>
              <a:buFont typeface="Arial"/>
              <a:buNone/>
            </a:pPr>
            <a:r>
              <a:rPr b="0" i="0" lang="es-ES" sz="2700" u="none" cap="none" strike="noStrike">
                <a:solidFill>
                  <a:schemeClr val="dk1"/>
                </a:solidFill>
                <a:latin typeface="Patrick Hand"/>
                <a:ea typeface="Patrick Hand"/>
                <a:cs typeface="Patrick Hand"/>
                <a:sym typeface="Patrick Hand"/>
              </a:rPr>
              <a:t>		      Total  = 60</a:t>
            </a:r>
            <a:endParaRPr b="0" i="0" sz="2700" u="none" cap="none" strike="noStrike">
              <a:solidFill>
                <a:schemeClr val="dk1"/>
              </a:solidFill>
              <a:latin typeface="Patrick Hand"/>
              <a:ea typeface="Patrick Hand"/>
              <a:cs typeface="Patrick Hand"/>
              <a:sym typeface="Patrick Hand"/>
            </a:endParaRPr>
          </a:p>
        </p:txBody>
      </p:sp>
      <p:sp>
        <p:nvSpPr>
          <p:cNvPr id="266" name="Google Shape;266;g237f15b63d7_0_0"/>
          <p:cNvSpPr/>
          <p:nvPr/>
        </p:nvSpPr>
        <p:spPr>
          <a:xfrm rot="-366343">
            <a:off x="3441492" y="2293542"/>
            <a:ext cx="1424373" cy="2004386"/>
          </a:xfrm>
          <a:custGeom>
            <a:rect b="b" l="l" r="r" t="t"/>
            <a:pathLst>
              <a:path extrusionOk="0" h="113367" w="62282">
                <a:moveTo>
                  <a:pt x="62282" y="0"/>
                </a:moveTo>
                <a:lnTo>
                  <a:pt x="0" y="40588"/>
                </a:lnTo>
                <a:lnTo>
                  <a:pt x="58083" y="113367"/>
                </a:lnTo>
                <a:lnTo>
                  <a:pt x="16095" y="46886"/>
                </a:lnTo>
                <a:close/>
              </a:path>
            </a:pathLst>
          </a:custGeom>
          <a:solidFill>
            <a:srgbClr val="009287"/>
          </a:solidFill>
          <a:ln cap="flat" cmpd="sng" w="9525">
            <a:solidFill>
              <a:srgbClr val="009287"/>
            </a:solidFill>
            <a:prstDash val="solid"/>
            <a:round/>
            <a:headEnd len="sm" w="sm" type="none"/>
            <a:tailEnd len="sm" w="sm" type="none"/>
          </a:ln>
        </p:spPr>
      </p:sp>
      <p:pic>
        <p:nvPicPr>
          <p:cNvPr id="267" name="Google Shape;267;g237f15b63d7_0_0"/>
          <p:cNvPicPr preferRelativeResize="0"/>
          <p:nvPr/>
        </p:nvPicPr>
        <p:blipFill>
          <a:blip r:embed="rId4">
            <a:alphaModFix/>
          </a:blip>
          <a:stretch>
            <a:fillRect/>
          </a:stretch>
        </p:blipFill>
        <p:spPr>
          <a:xfrm>
            <a:off x="11081375" y="5341287"/>
            <a:ext cx="975700" cy="102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237f15b63d7_0_6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273" name="Google Shape;273;g237f15b63d7_0_68"/>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74" name="Google Shape;274;g237f15b63d7_0_68"/>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75" name="Google Shape;275;g237f15b63d7_0_68"/>
          <p:cNvSpPr txBox="1"/>
          <p:nvPr/>
        </p:nvSpPr>
        <p:spPr>
          <a:xfrm>
            <a:off x="0" y="212725"/>
            <a:ext cx="12192000" cy="1000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s-ES" sz="3100" u="none" cap="none" strike="noStrike">
                <a:solidFill>
                  <a:schemeClr val="dk1"/>
                </a:solidFill>
                <a:latin typeface="Patrick Hand"/>
                <a:ea typeface="Patrick Hand"/>
                <a:cs typeface="Patrick Hand"/>
                <a:sym typeface="Patrick Hand"/>
              </a:rPr>
              <a:t>Ejercicios: </a:t>
            </a:r>
            <a:endParaRPr b="1"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Resuelve los siguientes ejercicios en tu cuaderno</a:t>
            </a:r>
            <a:endParaRPr b="0" i="0" sz="2800" u="none" cap="none" strike="noStrike">
              <a:solidFill>
                <a:schemeClr val="dk1"/>
              </a:solidFill>
              <a:latin typeface="Patrick Hand"/>
              <a:ea typeface="Patrick Hand"/>
              <a:cs typeface="Patrick Hand"/>
              <a:sym typeface="Patrick Hand"/>
            </a:endParaRPr>
          </a:p>
        </p:txBody>
      </p:sp>
      <p:sp>
        <p:nvSpPr>
          <p:cNvPr id="276" name="Google Shape;276;g237f15b63d7_0_68"/>
          <p:cNvSpPr txBox="1"/>
          <p:nvPr/>
        </p:nvSpPr>
        <p:spPr>
          <a:xfrm>
            <a:off x="3219500" y="1690825"/>
            <a:ext cx="4601100" cy="5333400"/>
          </a:xfrm>
          <a:prstGeom prst="rect">
            <a:avLst/>
          </a:prstGeom>
          <a:noFill/>
          <a:ln>
            <a:noFill/>
          </a:ln>
        </p:spPr>
        <p:txBody>
          <a:bodyPr anchorCtr="0" anchor="t" bIns="45700" lIns="91425" spcFirstLastPara="1" rIns="91425" wrap="square" tIns="45700">
            <a:spAutoFit/>
          </a:bodyPr>
          <a:lstStyle/>
          <a:p>
            <a:pPr indent="-400050" lvl="0" marL="457200" marR="0" rtl="0" algn="l">
              <a:lnSpc>
                <a:spcPct val="115000"/>
              </a:lnSpc>
              <a:spcBef>
                <a:spcPts val="0"/>
              </a:spcBef>
              <a:spcAft>
                <a:spcPts val="0"/>
              </a:spcAft>
              <a:buClr>
                <a:schemeClr val="dk1"/>
              </a:buClr>
              <a:buSzPts val="2700"/>
              <a:buFont typeface="Patrick Hand"/>
              <a:buChar char="●"/>
            </a:pPr>
            <a:r>
              <a:rPr b="0" i="0" lang="es-ES" sz="3000" u="none" cap="none" strike="noStrike">
                <a:solidFill>
                  <a:schemeClr val="dk1"/>
                </a:solidFill>
                <a:latin typeface="Patrick Hand"/>
                <a:ea typeface="Patrick Hand"/>
                <a:cs typeface="Patrick Hand"/>
                <a:sym typeface="Patrick Hand"/>
              </a:rPr>
              <a:t>18  x  3 =</a:t>
            </a:r>
            <a:endParaRPr b="0" i="0" sz="3000" u="none" cap="none" strike="noStrike">
              <a:solidFill>
                <a:schemeClr val="dk1"/>
              </a:solidFill>
              <a:latin typeface="Patrick Hand"/>
              <a:ea typeface="Patrick Hand"/>
              <a:cs typeface="Patrick Hand"/>
              <a:sym typeface="Patrick Hand"/>
            </a:endParaRPr>
          </a:p>
          <a:p>
            <a:pPr indent="0" lvl="0" marL="457200" marR="0" rtl="0" algn="l">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a:p>
            <a:pPr indent="-419100" lvl="0" marL="457200" marR="0" rtl="0" algn="l">
              <a:lnSpc>
                <a:spcPct val="115000"/>
              </a:lnSpc>
              <a:spcBef>
                <a:spcPts val="0"/>
              </a:spcBef>
              <a:spcAft>
                <a:spcPts val="0"/>
              </a:spcAft>
              <a:buClr>
                <a:schemeClr val="dk1"/>
              </a:buClr>
              <a:buSzPts val="3000"/>
              <a:buFont typeface="Patrick Hand"/>
              <a:buChar char="●"/>
            </a:pPr>
            <a:r>
              <a:rPr b="0" i="0" lang="es-ES" sz="3000" u="none" cap="none" strike="noStrike">
                <a:solidFill>
                  <a:schemeClr val="dk1"/>
                </a:solidFill>
                <a:latin typeface="Patrick Hand"/>
                <a:ea typeface="Patrick Hand"/>
                <a:cs typeface="Patrick Hand"/>
                <a:sym typeface="Patrick Hand"/>
              </a:rPr>
              <a:t>13  x 2 =</a:t>
            </a:r>
            <a:endParaRPr b="0" i="0" sz="3000" u="none" cap="none" strike="noStrike">
              <a:solidFill>
                <a:schemeClr val="dk1"/>
              </a:solidFill>
              <a:latin typeface="Patrick Hand"/>
              <a:ea typeface="Patrick Hand"/>
              <a:cs typeface="Patrick Hand"/>
              <a:sym typeface="Patrick Hand"/>
            </a:endParaRPr>
          </a:p>
          <a:p>
            <a:pPr indent="0" lvl="0" marL="457200" marR="0" rtl="0" algn="l">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a:p>
            <a:pPr indent="0" lvl="0" marL="457200" marR="0" rtl="0" algn="l">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a:p>
            <a:pPr indent="-419100" lvl="0" marL="457200" marR="0" rtl="0" algn="l">
              <a:lnSpc>
                <a:spcPct val="115000"/>
              </a:lnSpc>
              <a:spcBef>
                <a:spcPts val="0"/>
              </a:spcBef>
              <a:spcAft>
                <a:spcPts val="0"/>
              </a:spcAft>
              <a:buClr>
                <a:schemeClr val="dk1"/>
              </a:buClr>
              <a:buSzPts val="3000"/>
              <a:buFont typeface="Patrick Hand"/>
              <a:buChar char="●"/>
            </a:pPr>
            <a:r>
              <a:rPr b="0" i="0" lang="es-ES" sz="3000" u="none" cap="none" strike="noStrike">
                <a:solidFill>
                  <a:schemeClr val="dk1"/>
                </a:solidFill>
                <a:latin typeface="Patrick Hand"/>
                <a:ea typeface="Patrick Hand"/>
                <a:cs typeface="Patrick Hand"/>
                <a:sym typeface="Patrick Hand"/>
              </a:rPr>
              <a:t>11 x  7 =</a:t>
            </a:r>
            <a:endParaRPr b="0" i="0" sz="3000" u="none" cap="none" strike="noStrike">
              <a:solidFill>
                <a:schemeClr val="dk1"/>
              </a:solidFill>
              <a:latin typeface="Patrick Hand"/>
              <a:ea typeface="Patrick Hand"/>
              <a:cs typeface="Patrick Hand"/>
              <a:sym typeface="Patrick Hand"/>
            </a:endParaRPr>
          </a:p>
          <a:p>
            <a:pPr indent="0" lvl="0" marL="457200" marR="0" rtl="0" algn="l">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a:p>
            <a:pPr indent="0" lvl="0" marL="914400" marR="0" rtl="0" algn="l">
              <a:lnSpc>
                <a:spcPct val="115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p:txBody>
      </p:sp>
      <p:sp>
        <p:nvSpPr>
          <p:cNvPr id="277" name="Google Shape;277;g237f15b63d7_0_68"/>
          <p:cNvSpPr txBox="1"/>
          <p:nvPr/>
        </p:nvSpPr>
        <p:spPr>
          <a:xfrm>
            <a:off x="8420500" y="482725"/>
            <a:ext cx="3958800" cy="2031900"/>
          </a:xfrm>
          <a:prstGeom prst="rect">
            <a:avLst/>
          </a:prstGeom>
          <a:noFill/>
          <a:ln>
            <a:noFill/>
          </a:ln>
        </p:spPr>
        <p:txBody>
          <a:bodyPr anchorCtr="0" anchor="t" bIns="91425" lIns="91425" spcFirstLastPara="1" rIns="91425" wrap="square" tIns="91425">
            <a:spAutoFit/>
          </a:bodyPr>
          <a:lstStyle/>
          <a:p>
            <a:pPr indent="0" lvl="0" marL="457200" marR="0" rtl="0" algn="ctr">
              <a:lnSpc>
                <a:spcPct val="100000"/>
              </a:lnSpc>
              <a:spcBef>
                <a:spcPts val="0"/>
              </a:spcBef>
              <a:spcAft>
                <a:spcPts val="0"/>
              </a:spcAft>
              <a:buClr>
                <a:srgbClr val="000000"/>
              </a:buClr>
              <a:buSzPts val="3000"/>
              <a:buFont typeface="Arial"/>
              <a:buNone/>
            </a:pPr>
            <a:r>
              <a:rPr b="1" i="0" lang="es-ES" sz="3000" u="none" cap="none" strike="noStrike">
                <a:solidFill>
                  <a:schemeClr val="dk1"/>
                </a:solidFill>
                <a:latin typeface="Patrick Hand"/>
                <a:ea typeface="Patrick Hand"/>
                <a:cs typeface="Patrick Hand"/>
                <a:sym typeface="Patrick Hand"/>
              </a:rPr>
              <a:t>Recuerda: puedes descomponer de la forma que te parezca más fácil. </a:t>
            </a:r>
            <a:endParaRPr b="0" i="0" sz="1400" u="none" cap="none" strike="noStrike">
              <a:solidFill>
                <a:srgbClr val="000000"/>
              </a:solidFill>
              <a:latin typeface="Patrick Hand"/>
              <a:ea typeface="Patrick Hand"/>
              <a:cs typeface="Patrick Hand"/>
              <a:sym typeface="Patrick Hand"/>
            </a:endParaRPr>
          </a:p>
        </p:txBody>
      </p:sp>
      <p:sp>
        <p:nvSpPr>
          <p:cNvPr id="278" name="Google Shape;278;g237f15b63d7_0_68"/>
          <p:cNvSpPr/>
          <p:nvPr/>
        </p:nvSpPr>
        <p:spPr>
          <a:xfrm>
            <a:off x="8852700" y="482725"/>
            <a:ext cx="3339300" cy="2111100"/>
          </a:xfrm>
          <a:prstGeom prst="wedgeRoundRectCallout">
            <a:avLst>
              <a:gd fmla="val -20833" name="adj1"/>
              <a:gd fmla="val 62500" name="adj2"/>
              <a:gd fmla="val 0" name="adj3"/>
            </a:avLst>
          </a:prstGeom>
          <a:noFill/>
          <a:ln cap="flat" cmpd="sng" w="28575">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237f15b63d7_0_68"/>
          <p:cNvSpPr txBox="1"/>
          <p:nvPr/>
        </p:nvSpPr>
        <p:spPr>
          <a:xfrm>
            <a:off x="5309125" y="1103750"/>
            <a:ext cx="3813900" cy="189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Ejemplo de respuesta: </a:t>
            </a:r>
            <a:endParaRPr b="0" i="0" sz="2500" u="none" cap="none" strike="noStrike">
              <a:solidFill>
                <a:schemeClr val="dk1"/>
              </a:solidFill>
              <a:latin typeface="Patrick Hand"/>
              <a:ea typeface="Patrick Hand"/>
              <a:cs typeface="Patrick Hand"/>
              <a:sym typeface="Patrick Hand"/>
            </a:endParaRPr>
          </a:p>
          <a:p>
            <a:pPr indent="457200" lvl="0" marL="91440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10 x 3 = 30</a:t>
            </a:r>
            <a:endParaRPr b="0" i="0" sz="2500" u="none" cap="none" strike="noStrike">
              <a:solidFill>
                <a:schemeClr val="dk1"/>
              </a:solidFill>
              <a:latin typeface="Patrick Hand"/>
              <a:ea typeface="Patrick Hand"/>
              <a:cs typeface="Patrick Hand"/>
              <a:sym typeface="Patrick Hand"/>
            </a:endParaRPr>
          </a:p>
          <a:p>
            <a:pPr indent="0" lvl="0" marL="137160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8   x 3 = 24</a:t>
            </a:r>
            <a:endParaRPr b="0" i="0" sz="2500" u="none" cap="none" strike="noStrike">
              <a:solidFill>
                <a:schemeClr val="dk1"/>
              </a:solidFill>
              <a:latin typeface="Patrick Hand"/>
              <a:ea typeface="Patrick Hand"/>
              <a:cs typeface="Patrick Hand"/>
              <a:sym typeface="Patrick Hand"/>
            </a:endParaRPr>
          </a:p>
          <a:p>
            <a:pPr indent="0" lvl="0" marL="137160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total = 54 </a:t>
            </a:r>
            <a:endParaRPr b="0" i="0" sz="900" u="none" cap="none" strike="noStrike">
              <a:solidFill>
                <a:srgbClr val="000000"/>
              </a:solidFill>
              <a:latin typeface="Arial"/>
              <a:ea typeface="Arial"/>
              <a:cs typeface="Arial"/>
              <a:sym typeface="Arial"/>
            </a:endParaRPr>
          </a:p>
        </p:txBody>
      </p:sp>
      <p:sp>
        <p:nvSpPr>
          <p:cNvPr id="280" name="Google Shape;280;g237f15b63d7_0_68"/>
          <p:cNvSpPr txBox="1"/>
          <p:nvPr/>
        </p:nvSpPr>
        <p:spPr>
          <a:xfrm>
            <a:off x="5309125" y="2848550"/>
            <a:ext cx="3813900" cy="189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Ejemplo de respuesta: </a:t>
            </a:r>
            <a:endParaRPr b="0" i="0" sz="2500" u="none" cap="none" strike="noStrike">
              <a:solidFill>
                <a:schemeClr val="dk1"/>
              </a:solidFill>
              <a:latin typeface="Patrick Hand"/>
              <a:ea typeface="Patrick Hand"/>
              <a:cs typeface="Patrick Hand"/>
              <a:sym typeface="Patrick Hand"/>
            </a:endParaRPr>
          </a:p>
          <a:p>
            <a:pPr indent="457200" lvl="0" marL="91440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10 x 2 = 20</a:t>
            </a:r>
            <a:endParaRPr b="0" i="0" sz="2500" u="none" cap="none" strike="noStrike">
              <a:solidFill>
                <a:schemeClr val="dk1"/>
              </a:solidFill>
              <a:latin typeface="Patrick Hand"/>
              <a:ea typeface="Patrick Hand"/>
              <a:cs typeface="Patrick Hand"/>
              <a:sym typeface="Patrick Hand"/>
            </a:endParaRPr>
          </a:p>
          <a:p>
            <a:pPr indent="0" lvl="0" marL="137160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3   x 2 = 6</a:t>
            </a:r>
            <a:endParaRPr b="0" i="0" sz="2500" u="none" cap="none" strike="noStrike">
              <a:solidFill>
                <a:schemeClr val="dk1"/>
              </a:solidFill>
              <a:latin typeface="Patrick Hand"/>
              <a:ea typeface="Patrick Hand"/>
              <a:cs typeface="Patrick Hand"/>
              <a:sym typeface="Patrick Hand"/>
            </a:endParaRPr>
          </a:p>
          <a:p>
            <a:pPr indent="0" lvl="0" marL="137160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total = 26</a:t>
            </a:r>
            <a:endParaRPr b="0" i="0" sz="900" u="none" cap="none" strike="noStrike">
              <a:solidFill>
                <a:srgbClr val="000000"/>
              </a:solidFill>
              <a:latin typeface="Arial"/>
              <a:ea typeface="Arial"/>
              <a:cs typeface="Arial"/>
              <a:sym typeface="Arial"/>
            </a:endParaRPr>
          </a:p>
        </p:txBody>
      </p:sp>
      <p:sp>
        <p:nvSpPr>
          <p:cNvPr id="281" name="Google Shape;281;g237f15b63d7_0_68"/>
          <p:cNvSpPr txBox="1"/>
          <p:nvPr/>
        </p:nvSpPr>
        <p:spPr>
          <a:xfrm>
            <a:off x="5216600" y="4595675"/>
            <a:ext cx="3813900" cy="189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Ejemplo de respuesta: </a:t>
            </a:r>
            <a:endParaRPr b="0" i="0" sz="2500" u="none" cap="none" strike="noStrike">
              <a:solidFill>
                <a:schemeClr val="dk1"/>
              </a:solidFill>
              <a:latin typeface="Patrick Hand"/>
              <a:ea typeface="Patrick Hand"/>
              <a:cs typeface="Patrick Hand"/>
              <a:sym typeface="Patrick Hand"/>
            </a:endParaRPr>
          </a:p>
          <a:p>
            <a:pPr indent="457200" lvl="0" marL="91440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10 x 7 = 70</a:t>
            </a:r>
            <a:endParaRPr b="0" i="0" sz="2500" u="none" cap="none" strike="noStrike">
              <a:solidFill>
                <a:schemeClr val="dk1"/>
              </a:solidFill>
              <a:latin typeface="Patrick Hand"/>
              <a:ea typeface="Patrick Hand"/>
              <a:cs typeface="Patrick Hand"/>
              <a:sym typeface="Patrick Hand"/>
            </a:endParaRPr>
          </a:p>
          <a:p>
            <a:pPr indent="0" lvl="0" marL="137160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1   x 7 = 7</a:t>
            </a:r>
            <a:endParaRPr b="0" i="0" sz="2500" u="none" cap="none" strike="noStrike">
              <a:solidFill>
                <a:schemeClr val="dk1"/>
              </a:solidFill>
              <a:latin typeface="Patrick Hand"/>
              <a:ea typeface="Patrick Hand"/>
              <a:cs typeface="Patrick Hand"/>
              <a:sym typeface="Patrick Hand"/>
            </a:endParaRPr>
          </a:p>
          <a:p>
            <a:pPr indent="0" lvl="0" marL="1371600" marR="0" rtl="0" algn="l">
              <a:lnSpc>
                <a:spcPct val="115000"/>
              </a:lnSpc>
              <a:spcBef>
                <a:spcPts val="0"/>
              </a:spcBef>
              <a:spcAft>
                <a:spcPts val="0"/>
              </a:spcAft>
              <a:buClr>
                <a:srgbClr val="000000"/>
              </a:buClr>
              <a:buSzPts val="2500"/>
              <a:buFont typeface="Arial"/>
              <a:buNone/>
            </a:pPr>
            <a:r>
              <a:rPr b="0" i="0" lang="es-ES" sz="2500" u="none" cap="none" strike="noStrike">
                <a:solidFill>
                  <a:schemeClr val="dk1"/>
                </a:solidFill>
                <a:latin typeface="Patrick Hand"/>
                <a:ea typeface="Patrick Hand"/>
                <a:cs typeface="Patrick Hand"/>
                <a:sym typeface="Patrick Hand"/>
              </a:rPr>
              <a:t>  total = 77</a:t>
            </a:r>
            <a:endParaRPr b="0" i="0" sz="900" u="none" cap="none" strike="noStrike">
              <a:solidFill>
                <a:srgbClr val="000000"/>
              </a:solidFill>
              <a:latin typeface="Arial"/>
              <a:ea typeface="Arial"/>
              <a:cs typeface="Arial"/>
              <a:sym typeface="Arial"/>
            </a:endParaRPr>
          </a:p>
        </p:txBody>
      </p:sp>
      <p:pic>
        <p:nvPicPr>
          <p:cNvPr id="282" name="Google Shape;282;g237f15b63d7_0_68"/>
          <p:cNvPicPr preferRelativeResize="0"/>
          <p:nvPr/>
        </p:nvPicPr>
        <p:blipFill>
          <a:blip r:embed="rId4">
            <a:alphaModFix/>
          </a:blip>
          <a:stretch>
            <a:fillRect/>
          </a:stretch>
        </p:blipFill>
        <p:spPr>
          <a:xfrm>
            <a:off x="11081375" y="53412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237f15b63d7_0_16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88" name="Google Shape;288;g237f15b63d7_0_16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89" name="Google Shape;289;g237f15b63d7_0_165"/>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90" name="Google Shape;290;g237f15b63d7_0_165"/>
          <p:cNvSpPr txBox="1"/>
          <p:nvPr/>
        </p:nvSpPr>
        <p:spPr>
          <a:xfrm>
            <a:off x="212275" y="457200"/>
            <a:ext cx="3000000" cy="263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900"/>
              <a:buFont typeface="Arial"/>
              <a:buNone/>
            </a:pPr>
            <a:r>
              <a:rPr b="1" i="0" lang="es-ES" sz="3900" u="none" cap="none" strike="noStrike">
                <a:solidFill>
                  <a:schemeClr val="dk1"/>
                </a:solidFill>
                <a:latin typeface="Patrick Hand"/>
                <a:ea typeface="Patrick Hand"/>
                <a:cs typeface="Patrick Hand"/>
                <a:sym typeface="Patrick Hand"/>
              </a:rPr>
              <a:t>¡Tarea!</a:t>
            </a:r>
            <a:endParaRPr b="1" i="0" sz="3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Recuerda seguir aprendiendo las tablas de multiplicar.</a:t>
            </a:r>
            <a:endParaRPr b="0" i="0" sz="1200" u="none" cap="none" strike="noStrike">
              <a:solidFill>
                <a:srgbClr val="000000"/>
              </a:solidFill>
              <a:latin typeface="Arial"/>
              <a:ea typeface="Arial"/>
              <a:cs typeface="Arial"/>
              <a:sym typeface="Arial"/>
            </a:endParaRPr>
          </a:p>
        </p:txBody>
      </p:sp>
      <p:sp>
        <p:nvSpPr>
          <p:cNvPr id="291" name="Google Shape;291;g237f15b63d7_0_165"/>
          <p:cNvSpPr txBox="1"/>
          <p:nvPr/>
        </p:nvSpPr>
        <p:spPr>
          <a:xfrm>
            <a:off x="506845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1 = 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2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3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4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5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6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7 = 14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8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9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10 = 20</a:t>
            </a:r>
            <a:endParaRPr b="1" i="0" sz="1900" u="none" cap="none" strike="noStrike">
              <a:solidFill>
                <a:srgbClr val="000000"/>
              </a:solidFill>
              <a:latin typeface="Patrick Hand"/>
              <a:ea typeface="Patrick Hand"/>
              <a:cs typeface="Patrick Hand"/>
              <a:sym typeface="Patrick Hand"/>
            </a:endParaRPr>
          </a:p>
        </p:txBody>
      </p:sp>
      <p:sp>
        <p:nvSpPr>
          <p:cNvPr id="292" name="Google Shape;292;g237f15b63d7_0_165"/>
          <p:cNvSpPr txBox="1"/>
          <p:nvPr/>
        </p:nvSpPr>
        <p:spPr>
          <a:xfrm>
            <a:off x="3856225"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1 = 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2 = 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3 = 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4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5 = 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6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7 = 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8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9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10 = 10</a:t>
            </a:r>
            <a:endParaRPr b="1" i="0" sz="1900" u="none" cap="none" strike="noStrike">
              <a:solidFill>
                <a:srgbClr val="000000"/>
              </a:solidFill>
              <a:latin typeface="Patrick Hand"/>
              <a:ea typeface="Patrick Hand"/>
              <a:cs typeface="Patrick Hand"/>
              <a:sym typeface="Patrick Hand"/>
            </a:endParaRPr>
          </a:p>
        </p:txBody>
      </p:sp>
      <p:sp>
        <p:nvSpPr>
          <p:cNvPr id="293" name="Google Shape;293;g237f15b63d7_0_165"/>
          <p:cNvSpPr txBox="1"/>
          <p:nvPr/>
        </p:nvSpPr>
        <p:spPr>
          <a:xfrm>
            <a:off x="634560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1 = 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2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3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4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5 = 15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6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7 = 21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8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9 = 27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10 = 30</a:t>
            </a:r>
            <a:endParaRPr b="1" i="0" sz="1900" u="none" cap="none" strike="noStrike">
              <a:solidFill>
                <a:srgbClr val="000000"/>
              </a:solidFill>
              <a:latin typeface="Patrick Hand"/>
              <a:ea typeface="Patrick Hand"/>
              <a:cs typeface="Patrick Hand"/>
              <a:sym typeface="Patrick Hand"/>
            </a:endParaRPr>
          </a:p>
        </p:txBody>
      </p:sp>
      <p:sp>
        <p:nvSpPr>
          <p:cNvPr id="294" name="Google Shape;294;g237f15b63d7_0_165"/>
          <p:cNvSpPr txBox="1"/>
          <p:nvPr/>
        </p:nvSpPr>
        <p:spPr>
          <a:xfrm>
            <a:off x="7570225"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1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2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3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4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5 =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6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7 = 28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8 = 32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9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10 = 40</a:t>
            </a:r>
            <a:endParaRPr b="1" i="0" sz="1900" u="none" cap="none" strike="noStrike">
              <a:solidFill>
                <a:srgbClr val="000000"/>
              </a:solidFill>
              <a:latin typeface="Patrick Hand"/>
              <a:ea typeface="Patrick Hand"/>
              <a:cs typeface="Patrick Hand"/>
              <a:sym typeface="Patrick Hand"/>
            </a:endParaRPr>
          </a:p>
        </p:txBody>
      </p:sp>
      <p:sp>
        <p:nvSpPr>
          <p:cNvPr id="295" name="Google Shape;295;g237f15b63d7_0_165"/>
          <p:cNvSpPr txBox="1"/>
          <p:nvPr/>
        </p:nvSpPr>
        <p:spPr>
          <a:xfrm>
            <a:off x="878245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1 = 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2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3 = 15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4 =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5 = 25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6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7 = 35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8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9 = 45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10 = 50</a:t>
            </a:r>
            <a:endParaRPr b="1" i="0" sz="1900" u="none" cap="none" strike="noStrike">
              <a:solidFill>
                <a:srgbClr val="000000"/>
              </a:solidFill>
              <a:latin typeface="Patrick Hand"/>
              <a:ea typeface="Patrick Hand"/>
              <a:cs typeface="Patrick Hand"/>
              <a:sym typeface="Patrick Hand"/>
            </a:endParaRPr>
          </a:p>
        </p:txBody>
      </p:sp>
      <p:sp>
        <p:nvSpPr>
          <p:cNvPr id="296" name="Google Shape;296;g237f15b63d7_0_165"/>
          <p:cNvSpPr txBox="1"/>
          <p:nvPr/>
        </p:nvSpPr>
        <p:spPr>
          <a:xfrm>
            <a:off x="3839950"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1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2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3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4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5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6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7 = 42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8 = 48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9 = 54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10 = 60</a:t>
            </a:r>
            <a:endParaRPr b="1" i="0" sz="1900" u="none" cap="none" strike="noStrike">
              <a:solidFill>
                <a:srgbClr val="000000"/>
              </a:solidFill>
              <a:latin typeface="Patrick Hand"/>
              <a:ea typeface="Patrick Hand"/>
              <a:cs typeface="Patrick Hand"/>
              <a:sym typeface="Patrick Hand"/>
            </a:endParaRPr>
          </a:p>
        </p:txBody>
      </p:sp>
      <p:sp>
        <p:nvSpPr>
          <p:cNvPr id="297" name="Google Shape;297;g237f15b63d7_0_165"/>
          <p:cNvSpPr txBox="1"/>
          <p:nvPr/>
        </p:nvSpPr>
        <p:spPr>
          <a:xfrm>
            <a:off x="5068450"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1 = 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2 = 14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3 = 21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4 = 28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5 = 35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6 = 42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7 = 49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8 = 56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9 = 63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10 = 70</a:t>
            </a:r>
            <a:endParaRPr b="1" i="0" sz="1900" u="none" cap="none" strike="noStrike">
              <a:solidFill>
                <a:srgbClr val="000000"/>
              </a:solidFill>
              <a:latin typeface="Patrick Hand"/>
              <a:ea typeface="Patrick Hand"/>
              <a:cs typeface="Patrick Hand"/>
              <a:sym typeface="Patrick Hand"/>
            </a:endParaRPr>
          </a:p>
        </p:txBody>
      </p:sp>
      <p:sp>
        <p:nvSpPr>
          <p:cNvPr id="298" name="Google Shape;298;g237f15b63d7_0_165"/>
          <p:cNvSpPr txBox="1"/>
          <p:nvPr/>
        </p:nvSpPr>
        <p:spPr>
          <a:xfrm>
            <a:off x="6421800" y="3363350"/>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1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2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3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4 = 32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5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6 = 48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7 = 56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8 = 64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9 = 72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10 = 80</a:t>
            </a:r>
            <a:endParaRPr b="1" i="0" sz="1900" u="none" cap="none" strike="noStrike">
              <a:solidFill>
                <a:srgbClr val="000000"/>
              </a:solidFill>
              <a:latin typeface="Patrick Hand"/>
              <a:ea typeface="Patrick Hand"/>
              <a:cs typeface="Patrick Hand"/>
              <a:sym typeface="Patrick Hand"/>
            </a:endParaRPr>
          </a:p>
        </p:txBody>
      </p:sp>
      <p:sp>
        <p:nvSpPr>
          <p:cNvPr id="299" name="Google Shape;299;g237f15b63d7_0_165"/>
          <p:cNvSpPr txBox="1"/>
          <p:nvPr/>
        </p:nvSpPr>
        <p:spPr>
          <a:xfrm>
            <a:off x="7646425"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1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2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3 = 27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4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5 = 45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6 = 54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7 = 63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8 = 72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9 = 81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10 = 90</a:t>
            </a:r>
            <a:endParaRPr b="1" i="0" sz="1900" u="none" cap="none" strike="noStrike">
              <a:solidFill>
                <a:srgbClr val="000000"/>
              </a:solidFill>
              <a:latin typeface="Patrick Hand"/>
              <a:ea typeface="Patrick Hand"/>
              <a:cs typeface="Patrick Hand"/>
              <a:sym typeface="Patrick Hand"/>
            </a:endParaRPr>
          </a:p>
        </p:txBody>
      </p:sp>
      <p:sp>
        <p:nvSpPr>
          <p:cNvPr id="300" name="Google Shape;300;g237f15b63d7_0_165"/>
          <p:cNvSpPr txBox="1"/>
          <p:nvPr/>
        </p:nvSpPr>
        <p:spPr>
          <a:xfrm>
            <a:off x="8782450" y="3363350"/>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1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2=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3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4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5 = 50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6= 60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7 = 70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8 = 80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9 = 90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10 = 100</a:t>
            </a:r>
            <a:endParaRPr b="1" i="0" sz="1900" u="none" cap="none" strike="noStrike">
              <a:solidFill>
                <a:srgbClr val="000000"/>
              </a:solidFill>
              <a:latin typeface="Patrick Hand"/>
              <a:ea typeface="Patrick Hand"/>
              <a:cs typeface="Patrick Hand"/>
              <a:sym typeface="Patrick Hand"/>
            </a:endParaRPr>
          </a:p>
        </p:txBody>
      </p:sp>
      <p:sp>
        <p:nvSpPr>
          <p:cNvPr id="301" name="Google Shape;301;g237f15b63d7_0_165"/>
          <p:cNvSpPr/>
          <p:nvPr/>
        </p:nvSpPr>
        <p:spPr>
          <a:xfrm>
            <a:off x="3638950" y="457200"/>
            <a:ext cx="6595500" cy="5939400"/>
          </a:xfrm>
          <a:prstGeom prst="roundRect">
            <a:avLst>
              <a:gd fmla="val 4913" name="adj"/>
            </a:avLst>
          </a:prstGeom>
          <a:noFill/>
          <a:ln cap="flat" cmpd="sng" w="3810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02" name="Google Shape;302;g237f15b63d7_0_165"/>
          <p:cNvCxnSpPr/>
          <p:nvPr/>
        </p:nvCxnSpPr>
        <p:spPr>
          <a:xfrm>
            <a:off x="5003550" y="4898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03" name="Google Shape;303;g237f15b63d7_0_165"/>
          <p:cNvCxnSpPr/>
          <p:nvPr/>
        </p:nvCxnSpPr>
        <p:spPr>
          <a:xfrm>
            <a:off x="6286888" y="4898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04" name="Google Shape;304;g237f15b63d7_0_165"/>
          <p:cNvCxnSpPr/>
          <p:nvPr/>
        </p:nvCxnSpPr>
        <p:spPr>
          <a:xfrm>
            <a:off x="7534675" y="4615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05" name="Google Shape;305;g237f15b63d7_0_165"/>
          <p:cNvCxnSpPr/>
          <p:nvPr/>
        </p:nvCxnSpPr>
        <p:spPr>
          <a:xfrm>
            <a:off x="8747350" y="4615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06" name="Google Shape;306;g237f15b63d7_0_165"/>
          <p:cNvCxnSpPr>
            <a:stCxn id="301" idx="1"/>
            <a:endCxn id="301" idx="3"/>
          </p:cNvCxnSpPr>
          <p:nvPr/>
        </p:nvCxnSpPr>
        <p:spPr>
          <a:xfrm>
            <a:off x="3638950" y="3426900"/>
            <a:ext cx="6595500" cy="0"/>
          </a:xfrm>
          <a:prstGeom prst="straightConnector1">
            <a:avLst/>
          </a:prstGeom>
          <a:noFill/>
          <a:ln cap="flat" cmpd="sng" w="9525">
            <a:solidFill>
              <a:srgbClr val="009287"/>
            </a:solidFill>
            <a:prstDash val="solid"/>
            <a:round/>
            <a:headEnd len="sm" w="sm" type="none"/>
            <a:tailEnd len="sm" w="sm" type="none"/>
          </a:ln>
        </p:spPr>
      </p:cxnSp>
      <p:pic>
        <p:nvPicPr>
          <p:cNvPr id="307" name="Google Shape;307;g237f15b63d7_0_165"/>
          <p:cNvPicPr preferRelativeResize="0"/>
          <p:nvPr/>
        </p:nvPicPr>
        <p:blipFill>
          <a:blip r:embed="rId4">
            <a:alphaModFix/>
          </a:blip>
          <a:stretch>
            <a:fillRect/>
          </a:stretch>
        </p:blipFill>
        <p:spPr>
          <a:xfrm>
            <a:off x="11081375" y="5341287"/>
            <a:ext cx="975700" cy="1029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descr="Forma&#10;&#10;Descripción generada automáticamente con confianza media" id="312" name="Google Shape;312;g2b5202b5fc3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13" name="Google Shape;313;g2b5202b5fc3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314" name="Google Shape;314;g2b5202b5fc3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15" name="Google Shape;315;g2b5202b5fc3_0_0" title="Resumen - Multiplicación (12) - Decenas y Descomposición">
            <a:hlinkClick r:id="rId4"/>
          </p:cNvPr>
          <p:cNvPicPr preferRelativeResize="0"/>
          <p:nvPr/>
        </p:nvPicPr>
        <p:blipFill>
          <a:blip r:embed="rId5">
            <a:alphaModFix/>
          </a:blip>
          <a:stretch>
            <a:fillRect/>
          </a:stretch>
        </p:blipFill>
        <p:spPr>
          <a:xfrm>
            <a:off x="1656450" y="1398450"/>
            <a:ext cx="8879300" cy="4994600"/>
          </a:xfrm>
          <a:prstGeom prst="rect">
            <a:avLst/>
          </a:prstGeom>
          <a:noFill/>
          <a:ln cap="flat" cmpd="sng" w="28575">
            <a:solidFill>
              <a:schemeClr val="dk2"/>
            </a:solidFill>
            <a:prstDash val="solid"/>
            <a:round/>
            <a:headEnd len="sm" w="sm" type="none"/>
            <a:tailEnd len="sm" w="sm" type="none"/>
          </a:ln>
        </p:spPr>
      </p:pic>
      <p:pic>
        <p:nvPicPr>
          <p:cNvPr id="316" name="Google Shape;316;g2b5202b5fc3_0_0"/>
          <p:cNvPicPr preferRelativeResize="0"/>
          <p:nvPr/>
        </p:nvPicPr>
        <p:blipFill>
          <a:blip r:embed="rId6">
            <a:alphaModFix/>
          </a:blip>
          <a:stretch>
            <a:fillRect/>
          </a:stretch>
        </p:blipFill>
        <p:spPr>
          <a:xfrm>
            <a:off x="11081375" y="53412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265bf75732d_0_55"/>
          <p:cNvSpPr txBox="1"/>
          <p:nvPr/>
        </p:nvSpPr>
        <p:spPr>
          <a:xfrm>
            <a:off x="2842767" y="1219767"/>
            <a:ext cx="6506400" cy="30783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999 x 100</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2)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1.235 x 1.000</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SzPts val="1500"/>
              <a:buNone/>
            </a:pPr>
            <a:r>
              <a:rPr lang="es-ES" sz="3200">
                <a:solidFill>
                  <a:schemeClr val="dk1"/>
                </a:solidFill>
                <a:latin typeface="Patrick Hand"/>
                <a:ea typeface="Patrick Hand"/>
                <a:cs typeface="Patrick Hand"/>
                <a:sym typeface="Patrick Hand"/>
              </a:rPr>
              <a:t>3)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SzPts val="1500"/>
              <a:buNone/>
            </a:pPr>
            <a:r>
              <a:rPr lang="es-ES" sz="3200">
                <a:solidFill>
                  <a:schemeClr val="dk1"/>
                </a:solidFill>
                <a:latin typeface="Patrick Hand"/>
                <a:ea typeface="Patrick Hand"/>
                <a:cs typeface="Patrick Hand"/>
                <a:sym typeface="Patrick Hand"/>
              </a:rPr>
              <a:t>17 x 3</a:t>
            </a:r>
            <a:endParaRPr sz="3200">
              <a:solidFill>
                <a:schemeClr val="dk1"/>
              </a:solidFill>
              <a:latin typeface="Patrick Hand"/>
              <a:ea typeface="Patrick Hand"/>
              <a:cs typeface="Patrick Hand"/>
              <a:sym typeface="Patrick Hand"/>
            </a:endParaRPr>
          </a:p>
        </p:txBody>
      </p:sp>
      <p:sp>
        <p:nvSpPr>
          <p:cNvPr id="322" name="Google Shape;322;g265bf75732d_0_55"/>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23" name="Google Shape;323;g265bf75732d_0_55"/>
          <p:cNvSpPr txBox="1"/>
          <p:nvPr/>
        </p:nvSpPr>
        <p:spPr>
          <a:xfrm>
            <a:off x="3047983" y="4298159"/>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https://forms.gle/uSk6QkxZoqcaiXhC8</a:t>
            </a:r>
            <a:r>
              <a:rPr b="1" lang="es-ES" sz="1900">
                <a:latin typeface="Calibri"/>
                <a:ea typeface="Calibri"/>
                <a:cs typeface="Calibri"/>
                <a:sym typeface="Calibri"/>
              </a:rPr>
              <a:t> </a:t>
            </a:r>
            <a:endParaRPr sz="1900"/>
          </a:p>
        </p:txBody>
      </p:sp>
      <p:pic>
        <p:nvPicPr>
          <p:cNvPr id="324" name="Google Shape;324;g265bf75732d_0_55"/>
          <p:cNvPicPr preferRelativeResize="0"/>
          <p:nvPr/>
        </p:nvPicPr>
        <p:blipFill rotWithShape="1">
          <a:blip r:embed="rId4">
            <a:alphaModFix/>
          </a:blip>
          <a:srcRect b="8424" l="8415" r="8424" t="8415"/>
          <a:stretch/>
        </p:blipFill>
        <p:spPr>
          <a:xfrm>
            <a:off x="8842133" y="3656367"/>
            <a:ext cx="2493167" cy="2493167"/>
          </a:xfrm>
          <a:prstGeom prst="rect">
            <a:avLst/>
          </a:prstGeom>
          <a:noFill/>
          <a:ln>
            <a:noFill/>
          </a:ln>
        </p:spPr>
      </p:pic>
      <p:pic>
        <p:nvPicPr>
          <p:cNvPr id="325" name="Google Shape;325;g265bf75732d_0_55"/>
          <p:cNvPicPr preferRelativeResize="0"/>
          <p:nvPr/>
        </p:nvPicPr>
        <p:blipFill>
          <a:blip r:embed="rId5">
            <a:alphaModFix/>
          </a:blip>
          <a:stretch>
            <a:fillRect/>
          </a:stretch>
        </p:blipFill>
        <p:spPr>
          <a:xfrm>
            <a:off x="11144975" y="488812"/>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descr="Forma&#10;&#10;Descripción generada automáticamente con confianza media" id="330" name="Google Shape;330;g2b5202b5fc3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31" name="Google Shape;331;g2b5202b5fc3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32" name="Google Shape;332;g2b5202b5fc3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33" name="Google Shape;333;g2b5202b5fc3_0_7" title="Reforzamiento - Multiplicación (12) - Decenas y Descomposición">
            <a:hlinkClick r:id="rId4"/>
          </p:cNvPr>
          <p:cNvPicPr preferRelativeResize="0"/>
          <p:nvPr/>
        </p:nvPicPr>
        <p:blipFill>
          <a:blip r:embed="rId5">
            <a:alphaModFix/>
          </a:blip>
          <a:stretch>
            <a:fillRect/>
          </a:stretch>
        </p:blipFill>
        <p:spPr>
          <a:xfrm>
            <a:off x="1690225" y="1398450"/>
            <a:ext cx="8811750" cy="4956600"/>
          </a:xfrm>
          <a:prstGeom prst="rect">
            <a:avLst/>
          </a:prstGeom>
          <a:noFill/>
          <a:ln cap="flat" cmpd="sng" w="28575">
            <a:solidFill>
              <a:schemeClr val="dk2"/>
            </a:solidFill>
            <a:prstDash val="solid"/>
            <a:round/>
            <a:headEnd len="sm" w="sm" type="none"/>
            <a:tailEnd len="sm" w="sm" type="none"/>
          </a:ln>
        </p:spPr>
      </p:pic>
      <p:pic>
        <p:nvPicPr>
          <p:cNvPr id="334" name="Google Shape;334;g2b5202b5fc3_0_7"/>
          <p:cNvPicPr preferRelativeResize="0"/>
          <p:nvPr/>
        </p:nvPicPr>
        <p:blipFill>
          <a:blip r:embed="rId6">
            <a:alphaModFix/>
          </a:blip>
          <a:stretch>
            <a:fillRect/>
          </a:stretch>
        </p:blipFill>
        <p:spPr>
          <a:xfrm>
            <a:off x="11081375" y="53412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