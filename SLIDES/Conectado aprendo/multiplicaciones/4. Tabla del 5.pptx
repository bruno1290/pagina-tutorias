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Patrick Hand"/>
      <p:regular r:id="rId24"/>
    </p:embeddedFont>
    <p:embeddedFont>
      <p:font typeface="Poppins"/>
      <p:regular r:id="rId25"/>
      <p:bold r:id="rId26"/>
      <p:italic r:id="rId27"/>
      <p:boldItalic r:id="rId28"/>
    </p:embeddedFont>
    <p:embeddedFont>
      <p:font typeface="Poppins Light"/>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3" roundtripDataSignature="AMtx7mjWmXzPx8CVX8gNgu7TsagOYmZ8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atrickHand-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bold.fntdata"/><Relationship Id="rId25" Type="http://schemas.openxmlformats.org/officeDocument/2006/relationships/font" Target="fonts/Poppins-regular.fntdata"/><Relationship Id="rId28" Type="http://schemas.openxmlformats.org/officeDocument/2006/relationships/font" Target="fonts/Poppins-boldItalic.fntdata"/><Relationship Id="rId27" Type="http://schemas.openxmlformats.org/officeDocument/2006/relationships/font" Target="fonts/Poppins-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italic.fntdata"/><Relationship Id="rId30" Type="http://schemas.openxmlformats.org/officeDocument/2006/relationships/font" Target="fonts/PoppinsLight-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PoppinsLight-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0cd55bed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0cd55be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30cd55bedf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30cd55bed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30cd55bedf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30cd55bedf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30cd55bedf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30cd55bedf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1a16ba04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1a16ba0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7be27922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37be27922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5bf4f088c3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25bf4f088c3_1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37be279222_0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37be27922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37be279222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g237be27922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5bfa879b46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25bfa879b46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5bf4f088c3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25bf4f088c3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37be27922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6" name="Google Shape;336;g237be27922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37be279222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g237be279222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af07e7ba54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CL"/>
              <a:t>&lt;a href="https://www.flaticon.es/iconos-gratis/caja" title="caja iconos"&gt;Caja iconos creados por Good Ware - Flaticon&lt;/a&gt;</a:t>
            </a:r>
            <a:endParaRPr/>
          </a:p>
          <a:p>
            <a:pPr indent="0" lvl="0" marL="0" rtl="0" algn="l">
              <a:lnSpc>
                <a:spcPct val="100000"/>
              </a:lnSpc>
              <a:spcBef>
                <a:spcPts val="0"/>
              </a:spcBef>
              <a:spcAft>
                <a:spcPts val="0"/>
              </a:spcAft>
              <a:buSzPts val="1100"/>
              <a:buNone/>
            </a:pPr>
            <a:r>
              <a:rPr lang="es-CL"/>
              <a:t>&lt;a href="https://www.flaticon.es/iconos-gratis/pastel-de-frutas" title="pastel de frutas iconos"&gt;Pastel de frutas iconos creados por Freepik - Flaticon&lt;/a&gt;</a:t>
            </a:r>
            <a:endParaRPr/>
          </a:p>
        </p:txBody>
      </p:sp>
      <p:sp>
        <p:nvSpPr>
          <p:cNvPr id="356" name="Google Shape;356;g2af07e7ba54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b525a4ec7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2b525a4ec7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p:nvPr>
            <p:ph idx="2" type="pic"/>
          </p:nvPr>
        </p:nvSpPr>
        <p:spPr>
          <a:xfrm>
            <a:off x="5183188" y="987425"/>
            <a:ext cx="6172200" cy="4873625"/>
          </a:xfrm>
          <a:prstGeom prst="rect">
            <a:avLst/>
          </a:prstGeom>
          <a:noFill/>
          <a:ln>
            <a:noFill/>
          </a:ln>
        </p:spPr>
      </p:sp>
      <p:sp>
        <p:nvSpPr>
          <p:cNvPr id="64" name="Google Shape;6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af07e7ba54_0_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af07e7ba54_0_7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af07e7ba54_0_75"/>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af07e7ba54_0_75"/>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af07e7ba54_0_75"/>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af07e7ba54_0_81"/>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af07e7ba54_0_81"/>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af07e7ba54_0_8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af07e7ba54_0_85"/>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af07e7ba54_0_8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af07e7ba54_0_8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af07e7ba54_0_8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af07e7ba54_0_8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af07e7ba54_0_8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af07e7ba54_0_9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af07e7ba54_0_9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af07e7ba54_0_96"/>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af07e7ba54_0_96"/>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af07e7ba54_0_9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af07e7ba54_0_100"/>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af07e7ba54_0_100"/>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af07e7ba54_0_103"/>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af07e7ba54_0_103"/>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af07e7ba54_0_103"/>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af07e7ba54_0_103"/>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af07e7ba54_0_10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af07e7ba54_0_109"/>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af07e7ba54_0_10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af07e7ba54_0_112"/>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af07e7ba54_0_112"/>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af07e7ba54_0_11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af07e7ba54_0_11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3.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af07e7ba54_0_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af07e7ba54_0_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af07e7ba54_0_7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n9.cl/tablasmultiplicar" TargetMode="External"/><Relationship Id="rId4" Type="http://schemas.openxmlformats.org/officeDocument/2006/relationships/hyperlink" Target="http://n9.cl/visualizartablas" TargetMode="External"/><Relationship Id="rId5" Type="http://schemas.openxmlformats.org/officeDocument/2006/relationships/hyperlink" Target="http://n9.cl/dbu4p" TargetMode="External"/><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hyperlink" Target="https://es.khanacademy.org/" TargetMode="External"/><Relationship Id="rId5" Type="http://schemas.openxmlformats.org/officeDocument/2006/relationships/hyperlink" Target="https://mateslibres.com/" TargetMode="External"/><Relationship Id="rId6" Type="http://schemas.openxmlformats.org/officeDocument/2006/relationships/hyperlink" Target="https://www.cokitos.com/" TargetMode="External"/><Relationship Id="rId7" Type="http://schemas.openxmlformats.org/officeDocument/2006/relationships/hyperlink" Target="http://www.teachy.app" TargetMode="External"/><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10.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hyperlink" Target="https://youtube.com/shorts/h8x-bhxRCSU?feature=share" TargetMode="External"/><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forms.gle/YjrsBtNbrgvizmna6" TargetMode="External"/><Relationship Id="rId4" Type="http://schemas.openxmlformats.org/officeDocument/2006/relationships/image" Target="../media/image17.png"/><Relationship Id="rId5" Type="http://schemas.openxmlformats.org/officeDocument/2006/relationships/image" Target="../media/image16.png"/><Relationship Id="rId6"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5.jpg"/><Relationship Id="rId4" Type="http://schemas.openxmlformats.org/officeDocument/2006/relationships/hyperlink" Target="http://www.youtube.com/watch?v=RHsYLA2lZ9A" TargetMode="External"/><Relationship Id="rId5" Type="http://schemas.openxmlformats.org/officeDocument/2006/relationships/image" Target="../media/image18.jp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t/>
            </a:r>
            <a:endParaRPr/>
          </a:p>
        </p:txBody>
      </p:sp>
      <p:sp>
        <p:nvSpPr>
          <p:cNvPr id="132" name="Google Shape;132;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Imagen que contiene Escala de tiempo&#10;&#10;Descripción generada automáticamente" id="133" name="Google Shape;133;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4" name="Google Shape;134;p1"/>
          <p:cNvPicPr preferRelativeResize="0"/>
          <p:nvPr/>
        </p:nvPicPr>
        <p:blipFill>
          <a:blip r:embed="rId4">
            <a:alphaModFix/>
          </a:blip>
          <a:stretch>
            <a:fillRect/>
          </a:stretch>
        </p:blipFill>
        <p:spPr>
          <a:xfrm>
            <a:off x="11032500" y="5619225"/>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
          <p:cNvPicPr preferRelativeResize="0"/>
          <p:nvPr/>
        </p:nvPicPr>
        <p:blipFill rotWithShape="1">
          <a:blip r:embed="rId3">
            <a:alphaModFix/>
          </a:blip>
          <a:srcRect b="0" l="0" r="0" t="0"/>
          <a:stretch/>
        </p:blipFill>
        <p:spPr>
          <a:xfrm>
            <a:off x="0" y="5"/>
            <a:ext cx="12192043" cy="6858000"/>
          </a:xfrm>
          <a:prstGeom prst="rect">
            <a:avLst/>
          </a:prstGeom>
          <a:noFill/>
          <a:ln>
            <a:noFill/>
          </a:ln>
        </p:spPr>
      </p:pic>
      <p:pic>
        <p:nvPicPr>
          <p:cNvPr id="140" name="Google Shape;140;p2"/>
          <p:cNvPicPr preferRelativeResize="0"/>
          <p:nvPr/>
        </p:nvPicPr>
        <p:blipFill>
          <a:blip r:embed="rId4">
            <a:alphaModFix/>
          </a:blip>
          <a:stretch>
            <a:fillRect/>
          </a:stretch>
        </p:blipFill>
        <p:spPr>
          <a:xfrm>
            <a:off x="11032500" y="5281650"/>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30cd55bedf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700">
                <a:solidFill>
                  <a:srgbClr val="3259A4"/>
                </a:solidFill>
                <a:latin typeface="Poppins"/>
                <a:ea typeface="Poppins"/>
                <a:cs typeface="Poppins"/>
                <a:sym typeface="Poppins"/>
              </a:rPr>
              <a:t>Sesión 3 a 11: Tablas del 2 al 10</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t/>
            </a:r>
            <a:endParaRPr b="1" sz="1700">
              <a:solidFill>
                <a:srgbClr val="3259A4"/>
              </a:solidFill>
              <a:latin typeface="Poppins"/>
              <a:ea typeface="Poppins"/>
              <a:cs typeface="Poppins"/>
              <a:sym typeface="Poppins"/>
            </a:endParaRPr>
          </a:p>
          <a:p>
            <a:pPr indent="0" lvl="0" marL="0" rtl="0" algn="ctr">
              <a:spcBef>
                <a:spcPts val="0"/>
              </a:spcBef>
              <a:spcAft>
                <a:spcPts val="0"/>
              </a:spcAft>
              <a:buNone/>
            </a:pPr>
            <a:r>
              <a:rPr b="1" lang="es-CL" sz="1600">
                <a:solidFill>
                  <a:srgbClr val="3259A4"/>
                </a:solidFill>
                <a:latin typeface="Poppins"/>
                <a:ea typeface="Poppins"/>
                <a:cs typeface="Poppins"/>
                <a:sym typeface="Poppins"/>
              </a:rPr>
              <a:t>Propósito</a:t>
            </a:r>
            <a:r>
              <a:rPr b="1" lang="es-CL" sz="1600">
                <a:solidFill>
                  <a:schemeClr val="dk1"/>
                </a:solidFill>
                <a:latin typeface="Poppins"/>
                <a:ea typeface="Poppins"/>
                <a:cs typeface="Poppins"/>
                <a:sym typeface="Poppins"/>
              </a:rPr>
              <a:t>:</a:t>
            </a:r>
            <a:r>
              <a:rPr lang="es-CL" sz="1800">
                <a:solidFill>
                  <a:schemeClr val="dk1"/>
                </a:solidFill>
                <a:latin typeface="Poppins Light"/>
                <a:ea typeface="Poppins Light"/>
                <a:cs typeface="Poppins Light"/>
                <a:sym typeface="Poppins Light"/>
              </a:rPr>
              <a:t> </a:t>
            </a:r>
            <a:r>
              <a:rPr lang="es-CL" sz="1450">
                <a:solidFill>
                  <a:schemeClr val="dk1"/>
                </a:solidFill>
                <a:latin typeface="Poppins"/>
                <a:ea typeface="Poppins"/>
                <a:cs typeface="Poppins"/>
                <a:sym typeface="Poppins"/>
              </a:rPr>
              <a:t>Enseñar las tablas de multiplicar del 2 al 10 de manera progresiva, utilizando estrategias de</a:t>
            </a:r>
            <a:endParaRPr sz="145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sz="1450">
                <a:solidFill>
                  <a:schemeClr val="dk1"/>
                </a:solidFill>
                <a:latin typeface="Poppins"/>
                <a:ea typeface="Poppins"/>
                <a:cs typeface="Poppins"/>
                <a:sym typeface="Poppins"/>
              </a:rPr>
              <a:t>comprensión y memorización que permitan a tu estudiante adquirir fluidez en la multiplicación.</a:t>
            </a:r>
            <a:endParaRPr sz="145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a:ea typeface="Poppins"/>
              <a:cs typeface="Poppins"/>
              <a:sym typeface="Poppins"/>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6" name="Google Shape;146;g330cd55bedf_0_0"/>
          <p:cNvSpPr txBox="1"/>
          <p:nvPr/>
        </p:nvSpPr>
        <p:spPr>
          <a:xfrm>
            <a:off x="1148550" y="2902000"/>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Enseñar las tablas del 2 al 10.</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7" name="Google Shape;147;g330cd55bedf_0_0"/>
          <p:cNvSpPr txBox="1"/>
          <p:nvPr/>
        </p:nvSpPr>
        <p:spPr>
          <a:xfrm>
            <a:off x="6346950" y="2900925"/>
            <a:ext cx="4698900" cy="32391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CL"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1. Patrones específicos de cada tabla.</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800">
                <a:solidFill>
                  <a:schemeClr val="dk1"/>
                </a:solidFill>
                <a:latin typeface="Poppins"/>
                <a:ea typeface="Poppins"/>
                <a:cs typeface="Poppins"/>
                <a:sym typeface="Poppins"/>
              </a:rPr>
              <a:t>2. Estrategias de memorización.</a:t>
            </a:r>
            <a:endParaRPr sz="18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2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8" name="Google Shape;148;g330cd55bedf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49" name="Google Shape;149;g330cd55bedf_0_0"/>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0" name="Google Shape;150;g330cd55bedf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51" name="Google Shape;151;g330cd55bedf_0_0"/>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30cd55bedf_0_85"/>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57" name="Google Shape;157;g330cd55bedf_0_85"/>
          <p:cNvSpPr txBox="1"/>
          <p:nvPr/>
        </p:nvSpPr>
        <p:spPr>
          <a:xfrm>
            <a:off x="786350" y="2131575"/>
            <a:ext cx="10500000" cy="52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A lo largo de las siguientes sesiones, explorarás una tabla de multiplicar específica, enfocándote en enseñar patrones y estrategias que faciliten la memorización y comprensión.</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a:solidFill>
                  <a:schemeClr val="dk1"/>
                </a:solidFill>
                <a:latin typeface="Poppins"/>
                <a:ea typeface="Poppins"/>
                <a:cs typeface="Poppins"/>
                <a:sym typeface="Poppins"/>
              </a:rPr>
              <a:t>Esta guía te ofrece recomendaciones generales para cada tabla, así como técnicas para superar las dificultades comunes y reforzar la aplicación de las tablas en distintos contextos. Utiliza esta guía para mantener una estructura coherente y progresiva a lo largo de las sesiones.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De ese modo, cada sesión se estructura de la siguiente manera la cual te recomendamos </a:t>
            </a:r>
            <a:r>
              <a:rPr b="1" lang="es-CL">
                <a:solidFill>
                  <a:schemeClr val="dk1"/>
                </a:solidFill>
                <a:latin typeface="Poppins"/>
                <a:ea typeface="Poppins"/>
                <a:cs typeface="Poppins"/>
                <a:sym typeface="Poppins"/>
              </a:rPr>
              <a:t>revisar de antemano</a:t>
            </a:r>
            <a:r>
              <a:rPr lang="es-CL">
                <a:solidFill>
                  <a:schemeClr val="dk1"/>
                </a:solidFill>
                <a:latin typeface="Poppins"/>
                <a:ea typeface="Poppins"/>
                <a:cs typeface="Poppins"/>
                <a:sym typeface="Poppins"/>
              </a:rPr>
              <a:t> para saber cómo explicar cada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1. </a:t>
            </a:r>
            <a:r>
              <a:rPr b="1" lang="es-CL">
                <a:solidFill>
                  <a:schemeClr val="dk1"/>
                </a:solidFill>
                <a:latin typeface="Poppins"/>
                <a:ea typeface="Poppins"/>
                <a:cs typeface="Poppins"/>
                <a:sym typeface="Poppins"/>
              </a:rPr>
              <a:t>Presentarás la tabla de multiplicación </a:t>
            </a:r>
            <a:r>
              <a:rPr lang="es-CL">
                <a:solidFill>
                  <a:schemeClr val="dk1"/>
                </a:solidFill>
                <a:latin typeface="Poppins"/>
                <a:ea typeface="Poppins"/>
                <a:cs typeface="Poppins"/>
                <a:sym typeface="Poppins"/>
              </a:rPr>
              <a:t>y cómo hay que contar para representarla como </a:t>
            </a:r>
            <a:r>
              <a:rPr b="1" lang="es-CL">
                <a:solidFill>
                  <a:schemeClr val="dk1"/>
                </a:solidFill>
                <a:latin typeface="Poppins"/>
                <a:ea typeface="Poppins"/>
                <a:cs typeface="Poppins"/>
                <a:sym typeface="Poppins"/>
              </a:rPr>
              <a:t>suma iterada.</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2. Vincularán la</a:t>
            </a:r>
            <a:r>
              <a:rPr b="1" lang="es-CL">
                <a:solidFill>
                  <a:schemeClr val="dk1"/>
                </a:solidFill>
                <a:latin typeface="Poppins"/>
                <a:ea typeface="Poppins"/>
                <a:cs typeface="Poppins"/>
                <a:sym typeface="Poppins"/>
              </a:rPr>
              <a:t> noción de “grupo x elementos”</a:t>
            </a:r>
            <a:r>
              <a:rPr lang="es-CL">
                <a:solidFill>
                  <a:schemeClr val="dk1"/>
                </a:solidFill>
                <a:latin typeface="Poppins"/>
                <a:ea typeface="Poppins"/>
                <a:cs typeface="Poppins"/>
                <a:sym typeface="Poppins"/>
              </a:rPr>
              <a:t>, donde los “elementos” serán los de la tabla que estén revisando.</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3. </a:t>
            </a:r>
            <a:r>
              <a:rPr b="1" lang="es-CL">
                <a:solidFill>
                  <a:schemeClr val="dk1"/>
                </a:solidFill>
                <a:latin typeface="Poppins"/>
                <a:ea typeface="Poppins"/>
                <a:cs typeface="Poppins"/>
                <a:sym typeface="Poppins"/>
              </a:rPr>
              <a:t>Ordenarán en matrices </a:t>
            </a:r>
            <a:r>
              <a:rPr lang="es-CL">
                <a:solidFill>
                  <a:schemeClr val="dk1"/>
                </a:solidFill>
                <a:latin typeface="Poppins"/>
                <a:ea typeface="Poppins"/>
                <a:cs typeface="Poppins"/>
                <a:sym typeface="Poppins"/>
              </a:rPr>
              <a:t>ejemplos de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4. Finalizarán con un </a:t>
            </a:r>
            <a:r>
              <a:rPr b="1" lang="es-CL">
                <a:solidFill>
                  <a:schemeClr val="dk1"/>
                </a:solidFill>
                <a:latin typeface="Poppins"/>
                <a:ea typeface="Poppins"/>
                <a:cs typeface="Poppins"/>
                <a:sym typeface="Poppins"/>
              </a:rPr>
              <a:t>problema aplicado </a:t>
            </a:r>
            <a:r>
              <a:rPr lang="es-CL">
                <a:solidFill>
                  <a:schemeClr val="dk1"/>
                </a:solidFill>
                <a:latin typeface="Poppins"/>
                <a:ea typeface="Poppins"/>
                <a:cs typeface="Poppins"/>
                <a:sym typeface="Poppins"/>
              </a:rPr>
              <a:t>que involucre la tabla.</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a:p>
            <a:pPr indent="0" lvl="0" marL="0" rtl="0" algn="just">
              <a:lnSpc>
                <a:spcPct val="150000"/>
              </a:lnSpc>
              <a:spcBef>
                <a:spcPts val="0"/>
              </a:spcBef>
              <a:spcAft>
                <a:spcPts val="0"/>
              </a:spcAft>
              <a:buNone/>
            </a:pPr>
            <a:r>
              <a:t/>
            </a:r>
            <a:endParaRPr sz="1500">
              <a:latin typeface="Poppins"/>
              <a:ea typeface="Poppins"/>
              <a:cs typeface="Poppins"/>
              <a:sym typeface="Poppins"/>
            </a:endParaRPr>
          </a:p>
        </p:txBody>
      </p:sp>
      <p:sp>
        <p:nvSpPr>
          <p:cNvPr id="158" name="Google Shape;158;g330cd55bedf_0_85"/>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0cd55bedf_0_85"/>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0" name="Google Shape;160;g330cd55bedf_0_85"/>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61" name="Google Shape;161;g330cd55bedf_0_85"/>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30cd55bedf_0_169"/>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CL"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67" name="Google Shape;167;g330cd55bedf_0_169"/>
          <p:cNvSpPr txBox="1"/>
          <p:nvPr/>
        </p:nvSpPr>
        <p:spPr>
          <a:xfrm>
            <a:off x="786350" y="2283975"/>
            <a:ext cx="10500000" cy="4265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Al término de cada sesión, es fundamental pedirle a tu estudiante que </a:t>
            </a:r>
            <a:r>
              <a:rPr b="1" lang="es-CL">
                <a:solidFill>
                  <a:schemeClr val="dk1"/>
                </a:solidFill>
                <a:latin typeface="Poppins"/>
                <a:ea typeface="Poppins"/>
                <a:cs typeface="Poppins"/>
                <a:sym typeface="Poppins"/>
              </a:rPr>
              <a:t>construya su propia tabla </a:t>
            </a:r>
            <a:r>
              <a:rPr lang="es-CL">
                <a:solidFill>
                  <a:schemeClr val="dk1"/>
                </a:solidFill>
                <a:latin typeface="Poppins"/>
                <a:ea typeface="Poppins"/>
                <a:cs typeface="Poppins"/>
                <a:sym typeface="Poppins"/>
              </a:rPr>
              <a:t>para que progresivamente las vaya interiorizando. Es por eso que, al comienzo de la siguiente sesión, </a:t>
            </a:r>
            <a:r>
              <a:rPr b="1" lang="es-CL">
                <a:solidFill>
                  <a:schemeClr val="dk1"/>
                </a:solidFill>
                <a:latin typeface="Poppins"/>
                <a:ea typeface="Poppins"/>
                <a:cs typeface="Poppins"/>
                <a:sym typeface="Poppins"/>
              </a:rPr>
              <a:t>deben hacer un repaso de las tablas que han revisado hasta ese momento mediante preguntas del tipo: “Cuánto es___ por ___”</a:t>
            </a:r>
            <a:r>
              <a:rPr lang="es-CL">
                <a:solidFill>
                  <a:schemeClr val="dk1"/>
                </a:solidFill>
                <a:latin typeface="Poppins"/>
                <a:ea typeface="Poppins"/>
                <a:cs typeface="Poppins"/>
                <a:sym typeface="Poppins"/>
              </a:rPr>
              <a:t>. Te recomendamos </a:t>
            </a:r>
            <a:r>
              <a:rPr b="1" lang="es-CL">
                <a:solidFill>
                  <a:schemeClr val="dk1"/>
                </a:solidFill>
                <a:latin typeface="Poppins"/>
                <a:ea typeface="Poppins"/>
                <a:cs typeface="Poppins"/>
                <a:sym typeface="Poppins"/>
              </a:rPr>
              <a:t>preguntar de forma desordenada </a:t>
            </a:r>
            <a:r>
              <a:rPr lang="es-CL">
                <a:solidFill>
                  <a:schemeClr val="dk1"/>
                </a:solidFill>
                <a:latin typeface="Poppins"/>
                <a:ea typeface="Poppins"/>
                <a:cs typeface="Poppins"/>
                <a:sym typeface="Poppins"/>
              </a:rPr>
              <a:t>distintos ejemplos, ya que es común que los estudiantes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s-CL">
                <a:solidFill>
                  <a:schemeClr val="dk1"/>
                </a:solidFill>
                <a:latin typeface="Poppins"/>
                <a:ea typeface="Poppins"/>
                <a:cs typeface="Poppins"/>
                <a:sym typeface="Poppins"/>
              </a:rPr>
              <a:t>memoricen los resultados de forma creciente </a:t>
            </a:r>
            <a:r>
              <a:rPr lang="es-CL">
                <a:solidFill>
                  <a:schemeClr val="dk1"/>
                </a:solidFill>
                <a:latin typeface="Poppins"/>
                <a:ea typeface="Poppins"/>
                <a:cs typeface="Poppins"/>
                <a:sym typeface="Poppins"/>
              </a:rPr>
              <a:t>en una misma tabla, pero al cambiar el orden, cometan más errores.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Otro error común en la memorización de las tablas es que los estudiantes </a:t>
            </a:r>
            <a:r>
              <a:rPr b="1" lang="es-CL">
                <a:solidFill>
                  <a:schemeClr val="dk1"/>
                </a:solidFill>
                <a:latin typeface="Poppins"/>
                <a:ea typeface="Poppins"/>
                <a:cs typeface="Poppins"/>
                <a:sym typeface="Poppins"/>
              </a:rPr>
              <a:t>confundan el patrón de multiplicación entre ellas</a:t>
            </a:r>
            <a:r>
              <a:rPr lang="es-CL">
                <a:solidFill>
                  <a:schemeClr val="dk1"/>
                </a:solidFill>
                <a:latin typeface="Poppins"/>
                <a:ea typeface="Poppins"/>
                <a:cs typeface="Poppins"/>
                <a:sym typeface="Poppins"/>
              </a:rPr>
              <a:t>. Por eso es fundamental repasar todas las tablas vistas al comienzo de cada sesión, haciendo todas las preguntas necesarias para asegurarse de que el estudiante vaya interiorizando los conocimientos.</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lang="es-CL">
                <a:solidFill>
                  <a:schemeClr val="dk1"/>
                </a:solidFill>
                <a:latin typeface="Poppins"/>
                <a:ea typeface="Poppins"/>
                <a:cs typeface="Poppins"/>
                <a:sym typeface="Poppins"/>
              </a:rPr>
              <a:t>Existen</a:t>
            </a:r>
            <a:r>
              <a:rPr b="1" lang="es-CL">
                <a:solidFill>
                  <a:schemeClr val="dk1"/>
                </a:solidFill>
                <a:latin typeface="Poppins"/>
                <a:ea typeface="Poppins"/>
                <a:cs typeface="Poppins"/>
                <a:sym typeface="Poppins"/>
              </a:rPr>
              <a:t> recursos en interne</a:t>
            </a:r>
            <a:r>
              <a:rPr lang="es-CL">
                <a:solidFill>
                  <a:schemeClr val="dk1"/>
                </a:solidFill>
                <a:latin typeface="Poppins"/>
                <a:ea typeface="Poppins"/>
                <a:cs typeface="Poppins"/>
                <a:sym typeface="Poppins"/>
              </a:rPr>
              <a:t>t que pueden ser de gran utilidad: lista de </a:t>
            </a:r>
            <a:r>
              <a:rPr b="1" lang="es-CL">
                <a:solidFill>
                  <a:schemeClr val="dk1"/>
                </a:solidFill>
                <a:latin typeface="Poppins"/>
                <a:ea typeface="Poppins"/>
                <a:cs typeface="Poppins"/>
                <a:sym typeface="Poppins"/>
              </a:rPr>
              <a:t>videos con trucos </a:t>
            </a:r>
            <a:r>
              <a:rPr lang="es-CL">
                <a:solidFill>
                  <a:schemeClr val="dk1"/>
                </a:solidFill>
                <a:latin typeface="Poppins"/>
                <a:ea typeface="Poppins"/>
                <a:cs typeface="Poppins"/>
                <a:sym typeface="Poppins"/>
              </a:rPr>
              <a:t>para facilitar la memorización [</a:t>
            </a:r>
            <a:r>
              <a:rPr lang="es-CL" u="sng">
                <a:solidFill>
                  <a:schemeClr val="hlink"/>
                </a:solidFill>
                <a:latin typeface="Poppins"/>
                <a:ea typeface="Poppins"/>
                <a:cs typeface="Poppins"/>
                <a:sym typeface="Poppins"/>
                <a:hlinkClick r:id="rId3"/>
              </a:rPr>
              <a:t>n9.cl/tablasmultiplicar] </a:t>
            </a:r>
            <a:r>
              <a:rPr lang="es-CL">
                <a:solidFill>
                  <a:schemeClr val="dk1"/>
                </a:solidFill>
                <a:latin typeface="Poppins"/>
                <a:ea typeface="Poppins"/>
                <a:cs typeface="Poppins"/>
                <a:sym typeface="Poppins"/>
              </a:rPr>
              <a:t>, interactivo para</a:t>
            </a:r>
            <a:r>
              <a:rPr b="1" lang="es-CL">
                <a:solidFill>
                  <a:schemeClr val="dk1"/>
                </a:solidFill>
                <a:latin typeface="Poppins"/>
                <a:ea typeface="Poppins"/>
                <a:cs typeface="Poppins"/>
                <a:sym typeface="Poppins"/>
              </a:rPr>
              <a:t> visualizar multiplicaciones</a:t>
            </a:r>
            <a:r>
              <a:rPr lang="es-CL">
                <a:solidFill>
                  <a:schemeClr val="dk1"/>
                </a:solidFill>
                <a:latin typeface="Poppins"/>
                <a:ea typeface="Poppins"/>
                <a:cs typeface="Poppins"/>
                <a:sym typeface="Poppins"/>
              </a:rPr>
              <a:t> [</a:t>
            </a:r>
            <a:r>
              <a:rPr lang="es-CL" u="sng">
                <a:solidFill>
                  <a:schemeClr val="hlink"/>
                </a:solidFill>
                <a:latin typeface="Poppins"/>
                <a:ea typeface="Poppins"/>
                <a:cs typeface="Poppins"/>
                <a:sym typeface="Poppins"/>
                <a:hlinkClick r:id="rId4"/>
              </a:rPr>
              <a:t>n9.cl/visualizartablas] </a:t>
            </a:r>
            <a:r>
              <a:rPr lang="es-CL">
                <a:solidFill>
                  <a:schemeClr val="dk1"/>
                </a:solidFill>
                <a:latin typeface="Poppins"/>
                <a:ea typeface="Poppins"/>
                <a:cs typeface="Poppins"/>
                <a:sym typeface="Poppins"/>
              </a:rPr>
              <a:t>y un “repasador” de cada tabla </a:t>
            </a:r>
            <a:r>
              <a:rPr lang="es-CL" u="sng">
                <a:solidFill>
                  <a:schemeClr val="hlink"/>
                </a:solidFill>
                <a:latin typeface="Poppins"/>
                <a:ea typeface="Poppins"/>
                <a:cs typeface="Poppins"/>
                <a:sym typeface="Poppins"/>
                <a:hlinkClick r:id="rId5"/>
              </a:rPr>
              <a:t>[n9.cl/dbu4p]</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750">
              <a:solidFill>
                <a:schemeClr val="dk1"/>
              </a:solidFill>
            </a:endParaRPr>
          </a:p>
        </p:txBody>
      </p:sp>
      <p:sp>
        <p:nvSpPr>
          <p:cNvPr id="168" name="Google Shape;168;g330cd55bedf_0_16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69" name="Google Shape;169;g330cd55bedf_0_169"/>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70" name="Google Shape;170;g330cd55bedf_0_16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71" name="Google Shape;171;g330cd55bedf_0_169"/>
          <p:cNvPicPr preferRelativeResize="0"/>
          <p:nvPr/>
        </p:nvPicPr>
        <p:blipFill>
          <a:blip r:embed="rId6">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30cd55bedf_0_253"/>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77" name="Google Shape;177;g330cd55bedf_0_253"/>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t/>
            </a:r>
            <a:endParaRPr b="1">
              <a:solidFill>
                <a:srgbClr val="3259A4"/>
              </a:solidFill>
              <a:latin typeface="Poppins"/>
              <a:ea typeface="Poppins"/>
              <a:cs typeface="Poppins"/>
              <a:sym typeface="Poppins"/>
            </a:endParaRPr>
          </a:p>
          <a:p>
            <a:pPr indent="0" lvl="0" marL="0" rtl="0" algn="l">
              <a:lnSpc>
                <a:spcPct val="115000"/>
              </a:lnSpc>
              <a:spcBef>
                <a:spcPts val="0"/>
              </a:spcBef>
              <a:spcAft>
                <a:spcPts val="0"/>
              </a:spcAft>
              <a:buNone/>
            </a:pPr>
            <a:r>
              <a:rPr lang="es-CL" sz="1600">
                <a:solidFill>
                  <a:schemeClr val="dk1"/>
                </a:solidFill>
                <a:latin typeface="Poppins"/>
                <a:ea typeface="Poppins"/>
                <a:cs typeface="Poppins"/>
                <a:sym typeface="Poppins"/>
              </a:rPr>
              <a:t>Pídele a tu estudiante que practique en casa recitando cada tabla y haciendo ejercicios en los que identifique patrones, como los múltiplos que terminan en un mismo número.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8" name="Google Shape;178;g330cd55bedf_0_253"/>
          <p:cNvSpPr txBox="1"/>
          <p:nvPr/>
        </p:nvSpPr>
        <p:spPr>
          <a:xfrm>
            <a:off x="197050" y="362630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600">
              <a:solidFill>
                <a:srgbClr val="3259A4"/>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1. ¿Cómo puedes representar la multiplicación como suma repetida?</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2. ¿Qué patrones ves en las tablas?</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CL" sz="1600">
                <a:solidFill>
                  <a:schemeClr val="dk1"/>
                </a:solidFill>
                <a:latin typeface="Poppins"/>
                <a:ea typeface="Poppins"/>
                <a:cs typeface="Poppins"/>
                <a:sym typeface="Poppins"/>
              </a:rPr>
              <a:t>3. ¿Cuántos elementos tenemos por grupo?</a:t>
            </a:r>
            <a:endParaRPr sz="1600">
              <a:solidFill>
                <a:schemeClr val="dk1"/>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79" name="Google Shape;179;g330cd55bedf_0_253"/>
          <p:cNvSpPr/>
          <p:nvPr/>
        </p:nvSpPr>
        <p:spPr>
          <a:xfrm>
            <a:off x="2538175" y="630575"/>
            <a:ext cx="7727100" cy="6303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0" name="Google Shape;180;g330cd55bedf_0_253"/>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CL" sz="2800">
                <a:solidFill>
                  <a:srgbClr val="FFFFFF"/>
                </a:solidFill>
                <a:latin typeface="Poppins"/>
                <a:ea typeface="Poppins"/>
                <a:cs typeface="Poppins"/>
                <a:sym typeface="Poppins"/>
              </a:rPr>
              <a:t>PLANIFICACIÓN TUTORÍA</a:t>
            </a:r>
            <a:endParaRPr sz="2800">
              <a:solidFill>
                <a:srgbClr val="FFFFFF"/>
              </a:solidFill>
              <a:latin typeface="Poppins"/>
              <a:ea typeface="Poppins"/>
              <a:cs typeface="Poppins"/>
              <a:sym typeface="Poppins"/>
            </a:endParaRPr>
          </a:p>
        </p:txBody>
      </p:sp>
      <p:pic>
        <p:nvPicPr>
          <p:cNvPr id="181" name="Google Shape;181;g330cd55bedf_0_253"/>
          <p:cNvPicPr preferRelativeResize="0"/>
          <p:nvPr/>
        </p:nvPicPr>
        <p:blipFill>
          <a:blip r:embed="rId3">
            <a:alphaModFix/>
          </a:blip>
          <a:stretch>
            <a:fillRect/>
          </a:stretch>
        </p:blipFill>
        <p:spPr>
          <a:xfrm>
            <a:off x="11045850" y="231700"/>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31a16ba041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187" name="Google Shape;187;g331a16ba041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descr="Forma&#10;&#10;Descripción generada automáticamente con confianza media" id="188" name="Google Shape;188;g331a16ba041_0_0"/>
          <p:cNvPicPr preferRelativeResize="0"/>
          <p:nvPr>
            <p:ph idx="1" type="body"/>
          </p:nvPr>
        </p:nvPicPr>
        <p:blipFill rotWithShape="1">
          <a:blip r:embed="rId3">
            <a:alphaModFix/>
          </a:blip>
          <a:srcRect b="0" l="0" r="0" t="0"/>
          <a:stretch/>
        </p:blipFill>
        <p:spPr>
          <a:xfrm>
            <a:off x="78750" y="0"/>
            <a:ext cx="12113100" cy="6966600"/>
          </a:xfrm>
          <a:prstGeom prst="rect">
            <a:avLst/>
          </a:prstGeom>
          <a:noFill/>
          <a:ln>
            <a:noFill/>
          </a:ln>
        </p:spPr>
      </p:pic>
      <p:sp>
        <p:nvSpPr>
          <p:cNvPr id="189" name="Google Shape;189;g331a16ba041_0_0"/>
          <p:cNvSpPr txBox="1"/>
          <p:nvPr/>
        </p:nvSpPr>
        <p:spPr>
          <a:xfrm>
            <a:off x="1308900" y="528175"/>
            <a:ext cx="95742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CL" sz="3200">
                <a:solidFill>
                  <a:schemeClr val="lt1"/>
                </a:solidFill>
                <a:highlight>
                  <a:srgbClr val="009287"/>
                </a:highlight>
                <a:latin typeface="Patrick Hand"/>
                <a:ea typeface="Patrick Hand"/>
                <a:cs typeface="Patrick Hand"/>
                <a:sym typeface="Patrick Hand"/>
              </a:rPr>
              <a:t> Algunas recomendaciones </a:t>
            </a:r>
            <a:endParaRPr/>
          </a:p>
        </p:txBody>
      </p:sp>
      <p:sp>
        <p:nvSpPr>
          <p:cNvPr id="190" name="Google Shape;190;g331a16ba041_0_0"/>
          <p:cNvSpPr txBox="1"/>
          <p:nvPr/>
        </p:nvSpPr>
        <p:spPr>
          <a:xfrm>
            <a:off x="1025025" y="1205275"/>
            <a:ext cx="10515600" cy="4001700"/>
          </a:xfrm>
          <a:prstGeom prst="rect">
            <a:avLst/>
          </a:prstGeom>
          <a:noFill/>
          <a:ln>
            <a:noFill/>
          </a:ln>
        </p:spPr>
        <p:txBody>
          <a:bodyPr anchorCtr="0" anchor="t" bIns="91425" lIns="91425" spcFirstLastPara="1" rIns="91425" wrap="square" tIns="91425">
            <a:spAutoFit/>
          </a:bodyPr>
          <a:lstStyle/>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Antes de comenzar recuerda revisar el Planificador de Tutorías que se encuentra en las diapositivas previas. Este planificador te permite organizar el contenido de esta ruta para guiar el desarrollo de cada sesión.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Ejercicios: Si quieres obtener más ejercicios para practicar con tu alumno te recomendamos las siguientes páginas web: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Khan Academy : </a:t>
            </a:r>
            <a:r>
              <a:rPr lang="es-CL" sz="1300" u="sng">
                <a:solidFill>
                  <a:srgbClr val="0097A7"/>
                </a:solidFill>
                <a:latin typeface="Poppins"/>
                <a:ea typeface="Poppins"/>
                <a:cs typeface="Poppins"/>
                <a:sym typeface="Poppins"/>
                <a:hlinkClick r:id="rId4">
                  <a:extLst>
                    <a:ext uri="{A12FA001-AC4F-418D-AE19-62706E023703}">
                      <ahyp:hlinkClr val="tx"/>
                    </a:ext>
                  </a:extLst>
                </a:hlinkClick>
              </a:rPr>
              <a:t>https://es.khanacademy.org/</a:t>
            </a:r>
            <a:r>
              <a:rPr lang="es-CL" sz="1300">
                <a:solidFill>
                  <a:schemeClr val="dk1"/>
                </a:solidFill>
                <a:latin typeface="Poppins"/>
                <a:ea typeface="Poppins"/>
                <a:cs typeface="Poppins"/>
                <a:sym typeface="Poppins"/>
              </a:rPr>
              <a:t> : Pagina gratuita. Es una página fácil de manejar y de buscar. Contiene numerosos ejercicios, videos y evaluaciones.  </a:t>
            </a:r>
            <a:endParaRPr sz="13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Matematicas libre: </a:t>
            </a:r>
            <a:r>
              <a:rPr lang="es-CL" sz="1300" u="sng">
                <a:solidFill>
                  <a:srgbClr val="0097A7"/>
                </a:solidFill>
                <a:latin typeface="Poppins"/>
                <a:ea typeface="Poppins"/>
                <a:cs typeface="Poppins"/>
                <a:sym typeface="Poppins"/>
                <a:hlinkClick r:id="rId5">
                  <a:extLst>
                    <a:ext uri="{A12FA001-AC4F-418D-AE19-62706E023703}">
                      <ahyp:hlinkClr val="tx"/>
                    </a:ext>
                  </a:extLst>
                </a:hlinkClick>
              </a:rPr>
              <a:t>https://mateslibres.com/</a:t>
            </a:r>
            <a:r>
              <a:rPr lang="es-CL" sz="1300">
                <a:solidFill>
                  <a:schemeClr val="dk1"/>
                </a:solidFill>
                <a:latin typeface="Poppins"/>
                <a:ea typeface="Poppins"/>
                <a:cs typeface="Poppins"/>
                <a:sym typeface="Poppins"/>
              </a:rPr>
              <a:t> : Pagina gratuita , con ejercicios variados.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Char char="-"/>
            </a:pPr>
            <a:r>
              <a:rPr lang="es-CL" sz="1300">
                <a:solidFill>
                  <a:schemeClr val="dk1"/>
                </a:solidFill>
                <a:latin typeface="Poppins"/>
                <a:ea typeface="Poppins"/>
                <a:cs typeface="Poppins"/>
                <a:sym typeface="Poppins"/>
              </a:rPr>
              <a:t>Cokitos:  </a:t>
            </a:r>
            <a:r>
              <a:rPr lang="es-CL" sz="1300" u="sng">
                <a:solidFill>
                  <a:srgbClr val="0097A7"/>
                </a:solidFill>
                <a:latin typeface="Poppins"/>
                <a:ea typeface="Poppins"/>
                <a:cs typeface="Poppins"/>
                <a:sym typeface="Poppins"/>
                <a:hlinkClick r:id="rId6">
                  <a:extLst>
                    <a:ext uri="{A12FA001-AC4F-418D-AE19-62706E023703}">
                      <ahyp:hlinkClr val="tx"/>
                    </a:ext>
                  </a:extLst>
                </a:hlinkClick>
              </a:rPr>
              <a:t>https://www.cokitos.com/</a:t>
            </a:r>
            <a:r>
              <a:rPr lang="es-CL" sz="1300">
                <a:solidFill>
                  <a:schemeClr val="dk1"/>
                </a:solidFill>
                <a:latin typeface="Poppins"/>
                <a:ea typeface="Poppins"/>
                <a:cs typeface="Poppins"/>
                <a:sym typeface="Poppins"/>
              </a:rPr>
              <a:t> : Página con juegos educativos. Orientación a diversos contenidos, pero muy útil en matemáticas. No requiere inscribirse. Abundante publicidad.  </a:t>
            </a:r>
            <a:endParaRPr sz="1300">
              <a:solidFill>
                <a:schemeClr val="dk1"/>
              </a:solidFill>
              <a:latin typeface="Poppins"/>
              <a:ea typeface="Poppins"/>
              <a:cs typeface="Poppins"/>
              <a:sym typeface="Poppins"/>
            </a:endParaRPr>
          </a:p>
          <a:p>
            <a:pPr indent="-311150" lvl="0" marL="457200" rtl="0" algn="just">
              <a:lnSpc>
                <a:spcPct val="115000"/>
              </a:lnSpc>
              <a:spcBef>
                <a:spcPts val="0"/>
              </a:spcBef>
              <a:spcAft>
                <a:spcPts val="0"/>
              </a:spcAft>
              <a:buClr>
                <a:schemeClr val="dk1"/>
              </a:buClr>
              <a:buSzPts val="1300"/>
              <a:buFont typeface="Poppins"/>
              <a:buChar char="-"/>
            </a:pPr>
            <a:r>
              <a:rPr lang="es-CL" sz="1300">
                <a:solidFill>
                  <a:schemeClr val="dk1"/>
                </a:solidFill>
                <a:latin typeface="Poppins"/>
                <a:ea typeface="Poppins"/>
                <a:cs typeface="Poppins"/>
                <a:sym typeface="Poppins"/>
              </a:rPr>
              <a:t>Teachy: </a:t>
            </a:r>
            <a:r>
              <a:rPr lang="es-CL" sz="1300" u="sng">
                <a:solidFill>
                  <a:srgbClr val="0097A7"/>
                </a:solidFill>
                <a:latin typeface="Poppins"/>
                <a:ea typeface="Poppins"/>
                <a:cs typeface="Poppins"/>
                <a:sym typeface="Poppins"/>
                <a:hlinkClick r:id="rId7">
                  <a:extLst>
                    <a:ext uri="{A12FA001-AC4F-418D-AE19-62706E023703}">
                      <ahyp:hlinkClr val="tx"/>
                    </a:ext>
                  </a:extLst>
                </a:hlinkClick>
              </a:rPr>
              <a:t>www.Teachy.app</a:t>
            </a:r>
            <a:r>
              <a:rPr lang="es-CL" sz="1300">
                <a:solidFill>
                  <a:schemeClr val="dk1"/>
                </a:solidFill>
                <a:latin typeface="Poppins"/>
                <a:ea typeface="Poppins"/>
                <a:cs typeface="Poppins"/>
                <a:sym typeface="Poppins"/>
              </a:rPr>
              <a:t> : Pagina de inteligencia artificial, muy buena para crear ejercicios y juegos. Requiere inscribirse. En la opción herramientas de IA encontrarás variado contenido para crear y utilizar en tu sesión.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0"/>
              </a:spcAft>
              <a:buNone/>
            </a:pPr>
            <a:r>
              <a:t/>
            </a:r>
            <a:endParaRPr sz="1300">
              <a:solidFill>
                <a:schemeClr val="dk1"/>
              </a:solidFill>
              <a:latin typeface="Poppins"/>
              <a:ea typeface="Poppins"/>
              <a:cs typeface="Poppins"/>
              <a:sym typeface="Poppins"/>
            </a:endParaRPr>
          </a:p>
          <a:p>
            <a:pPr indent="0" lvl="0" marL="457200" rtl="0" algn="just">
              <a:lnSpc>
                <a:spcPct val="115000"/>
              </a:lnSpc>
              <a:spcBef>
                <a:spcPts val="800"/>
              </a:spcBef>
              <a:spcAft>
                <a:spcPts val="800"/>
              </a:spcAft>
              <a:buNone/>
            </a:pPr>
            <a:r>
              <a:rPr b="1" lang="es-CL" sz="1300">
                <a:solidFill>
                  <a:schemeClr val="dk1"/>
                </a:solidFill>
                <a:latin typeface="Poppins"/>
                <a:ea typeface="Poppins"/>
                <a:cs typeface="Poppins"/>
                <a:sym typeface="Poppins"/>
              </a:rPr>
              <a:t>Importante: </a:t>
            </a:r>
            <a:r>
              <a:rPr lang="es-CL" sz="1300">
                <a:solidFill>
                  <a:schemeClr val="dk1"/>
                </a:solidFill>
                <a:latin typeface="Poppins"/>
                <a:ea typeface="Poppins"/>
                <a:cs typeface="Poppins"/>
                <a:sym typeface="Poppins"/>
              </a:rPr>
              <a:t>Te recomendamos  mirar estas páginas antes de la tutoría, para que puedas buscar y familiarizarte con la página web.</a:t>
            </a:r>
            <a:endParaRPr/>
          </a:p>
        </p:txBody>
      </p:sp>
      <p:pic>
        <p:nvPicPr>
          <p:cNvPr id="191" name="Google Shape;191;g331a16ba041_0_0"/>
          <p:cNvPicPr preferRelativeResize="0"/>
          <p:nvPr/>
        </p:nvPicPr>
        <p:blipFill>
          <a:blip r:embed="rId8">
            <a:alphaModFix/>
          </a:blip>
          <a:stretch>
            <a:fillRect/>
          </a:stretch>
        </p:blipFill>
        <p:spPr>
          <a:xfrm>
            <a:off x="11063625" y="5348550"/>
            <a:ext cx="975700" cy="1029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37be279222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7" name="Google Shape;197;g237be279222_0_0"/>
          <p:cNvSpPr txBox="1"/>
          <p:nvPr/>
        </p:nvSpPr>
        <p:spPr>
          <a:xfrm>
            <a:off x="-1" y="41282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5</a:t>
            </a:r>
            <a:endParaRPr b="1" i="0" sz="4400" u="none" cap="none" strike="noStrike">
              <a:solidFill>
                <a:schemeClr val="dk1"/>
              </a:solidFill>
              <a:latin typeface="Patrick Hand"/>
              <a:ea typeface="Patrick Hand"/>
              <a:cs typeface="Patrick Hand"/>
              <a:sym typeface="Patrick Hand"/>
            </a:endParaRPr>
          </a:p>
        </p:txBody>
      </p:sp>
      <p:sp>
        <p:nvSpPr>
          <p:cNvPr id="198" name="Google Shape;198;g237be279222_0_0"/>
          <p:cNvSpPr txBox="1"/>
          <p:nvPr/>
        </p:nvSpPr>
        <p:spPr>
          <a:xfrm>
            <a:off x="1781125" y="5488775"/>
            <a:ext cx="36264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3 grupos de 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Patrick Hand"/>
              <a:ea typeface="Patrick Hand"/>
              <a:cs typeface="Patrick Hand"/>
              <a:sym typeface="Patrick Hand"/>
            </a:endParaRPr>
          </a:p>
        </p:txBody>
      </p:sp>
      <p:sp>
        <p:nvSpPr>
          <p:cNvPr id="199" name="Google Shape;199;g237be279222_0_0"/>
          <p:cNvSpPr txBox="1"/>
          <p:nvPr/>
        </p:nvSpPr>
        <p:spPr>
          <a:xfrm>
            <a:off x="6517275" y="5488775"/>
            <a:ext cx="444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15                  en total.</a:t>
            </a:r>
            <a:endParaRPr b="1" i="0" sz="2800" u="none" cap="none" strike="noStrike">
              <a:solidFill>
                <a:schemeClr val="dk1"/>
              </a:solidFill>
              <a:latin typeface="Patrick Hand"/>
              <a:ea typeface="Patrick Hand"/>
              <a:cs typeface="Patrick Hand"/>
              <a:sym typeface="Patrick Hand"/>
            </a:endParaRPr>
          </a:p>
        </p:txBody>
      </p:sp>
      <p:sp>
        <p:nvSpPr>
          <p:cNvPr id="200" name="Google Shape;200;g237be279222_0_0"/>
          <p:cNvSpPr txBox="1"/>
          <p:nvPr/>
        </p:nvSpPr>
        <p:spPr>
          <a:xfrm>
            <a:off x="1862400" y="4242725"/>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s-CL" sz="2800" u="none" cap="none" strike="noStrike">
                <a:solidFill>
                  <a:schemeClr val="dk1"/>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201" name="Google Shape;201;g237be279222_0_0"/>
          <p:cNvSpPr txBox="1"/>
          <p:nvPr/>
        </p:nvSpPr>
        <p:spPr>
          <a:xfrm>
            <a:off x="5951150" y="4242725"/>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10</a:t>
            </a:r>
            <a:endParaRPr b="1" i="0" sz="2800" u="none" cap="none" strike="noStrike">
              <a:solidFill>
                <a:schemeClr val="dk1"/>
              </a:solidFill>
              <a:latin typeface="Patrick Hand"/>
              <a:ea typeface="Patrick Hand"/>
              <a:cs typeface="Patrick Hand"/>
              <a:sym typeface="Patrick Hand"/>
            </a:endParaRPr>
          </a:p>
        </p:txBody>
      </p:sp>
      <p:sp>
        <p:nvSpPr>
          <p:cNvPr id="202" name="Google Shape;202;g237be279222_0_0"/>
          <p:cNvSpPr txBox="1"/>
          <p:nvPr/>
        </p:nvSpPr>
        <p:spPr>
          <a:xfrm>
            <a:off x="10039900" y="4242725"/>
            <a:ext cx="657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15</a:t>
            </a:r>
            <a:endParaRPr b="1" i="0" sz="2800" u="none" cap="none" strike="noStrike">
              <a:solidFill>
                <a:schemeClr val="dk1"/>
              </a:solidFill>
              <a:latin typeface="Patrick Hand"/>
              <a:ea typeface="Patrick Hand"/>
              <a:cs typeface="Patrick Hand"/>
              <a:sym typeface="Patrick Hand"/>
            </a:endParaRPr>
          </a:p>
        </p:txBody>
      </p:sp>
      <p:cxnSp>
        <p:nvCxnSpPr>
          <p:cNvPr id="203" name="Google Shape;203;g237be279222_0_0"/>
          <p:cNvCxnSpPr>
            <a:endCxn id="199" idx="1"/>
          </p:cNvCxnSpPr>
          <p:nvPr/>
        </p:nvCxnSpPr>
        <p:spPr>
          <a:xfrm flipH="1" rot="10800000">
            <a:off x="4478775" y="5796575"/>
            <a:ext cx="2038500" cy="11700"/>
          </a:xfrm>
          <a:prstGeom prst="straightConnector1">
            <a:avLst/>
          </a:prstGeom>
          <a:noFill/>
          <a:ln cap="flat" cmpd="sng" w="38100">
            <a:solidFill>
              <a:srgbClr val="009287"/>
            </a:solidFill>
            <a:prstDash val="solid"/>
            <a:round/>
            <a:headEnd len="sm" w="sm" type="none"/>
            <a:tailEnd len="med" w="med" type="triangle"/>
          </a:ln>
        </p:spPr>
      </p:cxnSp>
      <p:sp>
        <p:nvSpPr>
          <p:cNvPr id="204" name="Google Shape;204;g237be279222_0_0"/>
          <p:cNvSpPr txBox="1"/>
          <p:nvPr/>
        </p:nvSpPr>
        <p:spPr>
          <a:xfrm>
            <a:off x="177725" y="1007375"/>
            <a:ext cx="1108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Para multiplicar por 5, hay que contar de 5 en 5 cada grupo de elementos.</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Ejemplo: </a:t>
            </a:r>
            <a:endParaRPr b="1" i="0" sz="2800" u="none" cap="none" strike="noStrike">
              <a:solidFill>
                <a:schemeClr val="dk1"/>
              </a:solidFill>
              <a:latin typeface="Patrick Hand"/>
              <a:ea typeface="Patrick Hand"/>
              <a:cs typeface="Patrick Hand"/>
              <a:sym typeface="Patrick Hand"/>
            </a:endParaRPr>
          </a:p>
        </p:txBody>
      </p:sp>
      <p:pic>
        <p:nvPicPr>
          <p:cNvPr id="205" name="Google Shape;205;g237be279222_0_0"/>
          <p:cNvPicPr preferRelativeResize="0"/>
          <p:nvPr/>
        </p:nvPicPr>
        <p:blipFill rotWithShape="1">
          <a:blip r:embed="rId4">
            <a:alphaModFix/>
          </a:blip>
          <a:srcRect b="0" l="10082" r="14955" t="20229"/>
          <a:stretch/>
        </p:blipFill>
        <p:spPr>
          <a:xfrm>
            <a:off x="7557775" y="5273225"/>
            <a:ext cx="1224650" cy="1046700"/>
          </a:xfrm>
          <a:prstGeom prst="rect">
            <a:avLst/>
          </a:prstGeom>
          <a:noFill/>
          <a:ln>
            <a:noFill/>
          </a:ln>
        </p:spPr>
      </p:pic>
      <p:sp>
        <p:nvSpPr>
          <p:cNvPr id="206" name="Google Shape;206;g237be279222_0_0"/>
          <p:cNvSpPr/>
          <p:nvPr/>
        </p:nvSpPr>
        <p:spPr>
          <a:xfrm>
            <a:off x="647300" y="2134375"/>
            <a:ext cx="3288900" cy="1982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37be279222_0_0"/>
          <p:cNvSpPr/>
          <p:nvPr/>
        </p:nvSpPr>
        <p:spPr>
          <a:xfrm>
            <a:off x="4503575" y="2111000"/>
            <a:ext cx="3288900" cy="1982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37be279222_0_0"/>
          <p:cNvSpPr/>
          <p:nvPr/>
        </p:nvSpPr>
        <p:spPr>
          <a:xfrm>
            <a:off x="8334950" y="2111000"/>
            <a:ext cx="3288900" cy="1982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9" name="Google Shape;209;g237be279222_0_0"/>
          <p:cNvPicPr preferRelativeResize="0"/>
          <p:nvPr/>
        </p:nvPicPr>
        <p:blipFill>
          <a:blip r:embed="rId5">
            <a:alphaModFix/>
          </a:blip>
          <a:stretch>
            <a:fillRect/>
          </a:stretch>
        </p:blipFill>
        <p:spPr>
          <a:xfrm>
            <a:off x="11081400" y="658100"/>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3"/>
          <p:cNvPicPr preferRelativeResize="0"/>
          <p:nvPr/>
        </p:nvPicPr>
        <p:blipFill rotWithShape="1">
          <a:blip r:embed="rId3">
            <a:alphaModFix/>
          </a:blip>
          <a:srcRect b="0" l="0" r="0" t="0"/>
          <a:stretch/>
        </p:blipFill>
        <p:spPr>
          <a:xfrm>
            <a:off x="0" y="0"/>
            <a:ext cx="12191966" cy="6858000"/>
          </a:xfrm>
          <a:prstGeom prst="rect">
            <a:avLst/>
          </a:prstGeom>
          <a:noFill/>
          <a:ln>
            <a:noFill/>
          </a:ln>
        </p:spPr>
      </p:pic>
      <p:sp>
        <p:nvSpPr>
          <p:cNvPr id="215" name="Google Shape;215;p3"/>
          <p:cNvSpPr txBox="1"/>
          <p:nvPr/>
        </p:nvSpPr>
        <p:spPr>
          <a:xfrm>
            <a:off x="-1"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5 </a:t>
            </a:r>
            <a:endParaRPr b="1" i="0" sz="4400" u="none" cap="none" strike="noStrike">
              <a:solidFill>
                <a:schemeClr val="dk1"/>
              </a:solidFill>
              <a:latin typeface="Patrick Hand"/>
              <a:ea typeface="Patrick Hand"/>
              <a:cs typeface="Patrick Hand"/>
              <a:sym typeface="Patrick Hand"/>
            </a:endParaRPr>
          </a:p>
        </p:txBody>
      </p:sp>
      <p:sp>
        <p:nvSpPr>
          <p:cNvPr id="216" name="Google Shape;216;p3"/>
          <p:cNvSpPr txBox="1"/>
          <p:nvPr/>
        </p:nvSpPr>
        <p:spPr>
          <a:xfrm>
            <a:off x="1522050" y="53452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5							Hay ___             en total.</a:t>
            </a:r>
            <a:endParaRPr b="1" i="0" sz="2800" u="none" cap="none" strike="noStrike">
              <a:solidFill>
                <a:schemeClr val="dk1"/>
              </a:solidFill>
              <a:latin typeface="Patrick Hand"/>
              <a:ea typeface="Patrick Hand"/>
              <a:cs typeface="Patrick Hand"/>
              <a:sym typeface="Patrick Hand"/>
            </a:endParaRPr>
          </a:p>
        </p:txBody>
      </p:sp>
      <p:sp>
        <p:nvSpPr>
          <p:cNvPr id="217" name="Google Shape;217;p3"/>
          <p:cNvSpPr txBox="1"/>
          <p:nvPr/>
        </p:nvSpPr>
        <p:spPr>
          <a:xfrm>
            <a:off x="551550" y="123880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Ejercicio: Contemos juntos de cinco en cinco para obtener el resultado.</a:t>
            </a:r>
            <a:endParaRPr b="1" i="0" sz="2800" u="none" cap="none" strike="noStrike">
              <a:solidFill>
                <a:schemeClr val="dk1"/>
              </a:solidFill>
              <a:latin typeface="Patrick Hand"/>
              <a:ea typeface="Patrick Hand"/>
              <a:cs typeface="Patrick Hand"/>
              <a:sym typeface="Patrick Hand"/>
            </a:endParaRPr>
          </a:p>
        </p:txBody>
      </p:sp>
      <p:sp>
        <p:nvSpPr>
          <p:cNvPr id="218" name="Google Shape;218;p3"/>
          <p:cNvSpPr txBox="1"/>
          <p:nvPr/>
        </p:nvSpPr>
        <p:spPr>
          <a:xfrm>
            <a:off x="122937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5</a:t>
            </a:r>
            <a:endParaRPr b="1" i="0" sz="2700" u="none" cap="none" strike="noStrike">
              <a:solidFill>
                <a:srgbClr val="000000"/>
              </a:solidFill>
              <a:latin typeface="Patrick Hand"/>
              <a:ea typeface="Patrick Hand"/>
              <a:cs typeface="Patrick Hand"/>
              <a:sym typeface="Patrick Hand"/>
            </a:endParaRPr>
          </a:p>
        </p:txBody>
      </p:sp>
      <p:sp>
        <p:nvSpPr>
          <p:cNvPr id="219" name="Google Shape;219;p3"/>
          <p:cNvSpPr txBox="1"/>
          <p:nvPr/>
        </p:nvSpPr>
        <p:spPr>
          <a:xfrm>
            <a:off x="3616000"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10</a:t>
            </a:r>
            <a:endParaRPr b="1" i="0" sz="2700" u="none" cap="none" strike="noStrike">
              <a:solidFill>
                <a:srgbClr val="000000"/>
              </a:solidFill>
              <a:latin typeface="Patrick Hand"/>
              <a:ea typeface="Patrick Hand"/>
              <a:cs typeface="Patrick Hand"/>
              <a:sym typeface="Patrick Hand"/>
            </a:endParaRPr>
          </a:p>
        </p:txBody>
      </p:sp>
      <p:sp>
        <p:nvSpPr>
          <p:cNvPr id="220" name="Google Shape;220;p3"/>
          <p:cNvSpPr txBox="1"/>
          <p:nvPr/>
        </p:nvSpPr>
        <p:spPr>
          <a:xfrm>
            <a:off x="5920250"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15</a:t>
            </a:r>
            <a:endParaRPr b="1" i="0" sz="2700" u="none" cap="none" strike="noStrike">
              <a:solidFill>
                <a:srgbClr val="000000"/>
              </a:solidFill>
              <a:latin typeface="Patrick Hand"/>
              <a:ea typeface="Patrick Hand"/>
              <a:cs typeface="Patrick Hand"/>
              <a:sym typeface="Patrick Hand"/>
            </a:endParaRPr>
          </a:p>
        </p:txBody>
      </p:sp>
      <p:sp>
        <p:nvSpPr>
          <p:cNvPr id="221" name="Google Shape;221;p3"/>
          <p:cNvSpPr txBox="1"/>
          <p:nvPr/>
        </p:nvSpPr>
        <p:spPr>
          <a:xfrm>
            <a:off x="836447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20</a:t>
            </a:r>
            <a:endParaRPr b="1" i="0" sz="2700" u="none" cap="none" strike="noStrike">
              <a:solidFill>
                <a:srgbClr val="000000"/>
              </a:solidFill>
              <a:latin typeface="Patrick Hand"/>
              <a:ea typeface="Patrick Hand"/>
              <a:cs typeface="Patrick Hand"/>
              <a:sym typeface="Patrick Hand"/>
            </a:endParaRPr>
          </a:p>
        </p:txBody>
      </p:sp>
      <p:sp>
        <p:nvSpPr>
          <p:cNvPr id="222" name="Google Shape;222;p3"/>
          <p:cNvSpPr txBox="1"/>
          <p:nvPr/>
        </p:nvSpPr>
        <p:spPr>
          <a:xfrm>
            <a:off x="10808700"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25</a:t>
            </a:r>
            <a:endParaRPr b="1" i="0" sz="2700" u="none" cap="none" strike="noStrike">
              <a:solidFill>
                <a:srgbClr val="000000"/>
              </a:solidFill>
              <a:latin typeface="Patrick Hand"/>
              <a:ea typeface="Patrick Hand"/>
              <a:cs typeface="Patrick Hand"/>
              <a:sym typeface="Patrick Hand"/>
            </a:endParaRPr>
          </a:p>
        </p:txBody>
      </p:sp>
      <p:sp>
        <p:nvSpPr>
          <p:cNvPr id="223" name="Google Shape;223;p3"/>
          <p:cNvSpPr txBox="1"/>
          <p:nvPr/>
        </p:nvSpPr>
        <p:spPr>
          <a:xfrm>
            <a:off x="11014725" y="3936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14</a:t>
            </a:r>
            <a:endParaRPr b="1" i="0" sz="2700" u="none" cap="none" strike="noStrike">
              <a:solidFill>
                <a:srgbClr val="000000"/>
              </a:solidFill>
              <a:latin typeface="Patrick Hand"/>
              <a:ea typeface="Patrick Hand"/>
              <a:cs typeface="Patrick Hand"/>
              <a:sym typeface="Patrick Hand"/>
            </a:endParaRPr>
          </a:p>
        </p:txBody>
      </p:sp>
      <p:sp>
        <p:nvSpPr>
          <p:cNvPr id="224" name="Google Shape;224;p3"/>
          <p:cNvSpPr txBox="1"/>
          <p:nvPr/>
        </p:nvSpPr>
        <p:spPr>
          <a:xfrm>
            <a:off x="2203975" y="53452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5</a:t>
            </a:r>
            <a:endParaRPr b="1" i="0" sz="2700" u="none" cap="none" strike="noStrike">
              <a:solidFill>
                <a:srgbClr val="000000"/>
              </a:solidFill>
              <a:latin typeface="Patrick Hand"/>
              <a:ea typeface="Patrick Hand"/>
              <a:cs typeface="Patrick Hand"/>
              <a:sym typeface="Patrick Hand"/>
            </a:endParaRPr>
          </a:p>
        </p:txBody>
      </p:sp>
      <p:sp>
        <p:nvSpPr>
          <p:cNvPr id="225" name="Google Shape;225;p3"/>
          <p:cNvSpPr txBox="1"/>
          <p:nvPr/>
        </p:nvSpPr>
        <p:spPr>
          <a:xfrm>
            <a:off x="7604850" y="5238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25</a:t>
            </a:r>
            <a:endParaRPr b="1" i="0" sz="2700" u="none" cap="none" strike="noStrike">
              <a:solidFill>
                <a:srgbClr val="000000"/>
              </a:solidFill>
              <a:latin typeface="Patrick Hand"/>
              <a:ea typeface="Patrick Hand"/>
              <a:cs typeface="Patrick Hand"/>
              <a:sym typeface="Patrick Hand"/>
            </a:endParaRPr>
          </a:p>
        </p:txBody>
      </p:sp>
      <p:cxnSp>
        <p:nvCxnSpPr>
          <p:cNvPr id="226" name="Google Shape;226;p3"/>
          <p:cNvCxnSpPr/>
          <p:nvPr/>
        </p:nvCxnSpPr>
        <p:spPr>
          <a:xfrm>
            <a:off x="4618650" y="5615850"/>
            <a:ext cx="1924500" cy="0"/>
          </a:xfrm>
          <a:prstGeom prst="straightConnector1">
            <a:avLst/>
          </a:prstGeom>
          <a:noFill/>
          <a:ln cap="flat" cmpd="sng" w="28575">
            <a:solidFill>
              <a:srgbClr val="009287"/>
            </a:solidFill>
            <a:prstDash val="solid"/>
            <a:round/>
            <a:headEnd len="sm" w="sm" type="none"/>
            <a:tailEnd len="med" w="med" type="triangle"/>
          </a:ln>
        </p:spPr>
      </p:cxnSp>
      <p:pic>
        <p:nvPicPr>
          <p:cNvPr id="227" name="Google Shape;227;p3"/>
          <p:cNvPicPr preferRelativeResize="0"/>
          <p:nvPr/>
        </p:nvPicPr>
        <p:blipFill rotWithShape="1">
          <a:blip r:embed="rId4">
            <a:alphaModFix/>
          </a:blip>
          <a:srcRect b="0" l="0" r="0" t="0"/>
          <a:stretch/>
        </p:blipFill>
        <p:spPr>
          <a:xfrm>
            <a:off x="8582500" y="5024400"/>
            <a:ext cx="466725" cy="1257300"/>
          </a:xfrm>
          <a:prstGeom prst="rect">
            <a:avLst/>
          </a:prstGeom>
          <a:noFill/>
          <a:ln>
            <a:noFill/>
          </a:ln>
        </p:spPr>
      </p:pic>
      <p:sp>
        <p:nvSpPr>
          <p:cNvPr id="228" name="Google Shape;228;p3"/>
          <p:cNvSpPr/>
          <p:nvPr/>
        </p:nvSpPr>
        <p:spPr>
          <a:xfrm>
            <a:off x="139950" y="1904175"/>
            <a:ext cx="2466900" cy="2762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
          <p:cNvSpPr/>
          <p:nvPr/>
        </p:nvSpPr>
        <p:spPr>
          <a:xfrm>
            <a:off x="2791223" y="1910675"/>
            <a:ext cx="2175300" cy="2762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
          <p:cNvSpPr/>
          <p:nvPr/>
        </p:nvSpPr>
        <p:spPr>
          <a:xfrm>
            <a:off x="5220050" y="1857225"/>
            <a:ext cx="2175300" cy="2762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
          <p:cNvSpPr/>
          <p:nvPr/>
        </p:nvSpPr>
        <p:spPr>
          <a:xfrm>
            <a:off x="7531499" y="1904175"/>
            <a:ext cx="2280600" cy="2762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
          <p:cNvSpPr/>
          <p:nvPr/>
        </p:nvSpPr>
        <p:spPr>
          <a:xfrm>
            <a:off x="9948250" y="1857225"/>
            <a:ext cx="2175300" cy="27627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3" name="Google Shape;233;p3"/>
          <p:cNvPicPr preferRelativeResize="0"/>
          <p:nvPr/>
        </p:nvPicPr>
        <p:blipFill>
          <a:blip r:embed="rId5">
            <a:alphaModFix/>
          </a:blip>
          <a:stretch>
            <a:fillRect/>
          </a:stretch>
        </p:blipFill>
        <p:spPr>
          <a:xfrm>
            <a:off x="11081400" y="65810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g25bf4f088c3_1_12"/>
          <p:cNvPicPr preferRelativeResize="0"/>
          <p:nvPr/>
        </p:nvPicPr>
        <p:blipFill rotWithShape="1">
          <a:blip r:embed="rId3">
            <a:alphaModFix/>
          </a:blip>
          <a:srcRect b="0" l="0" r="0" t="0"/>
          <a:stretch/>
        </p:blipFill>
        <p:spPr>
          <a:xfrm>
            <a:off x="0" y="0"/>
            <a:ext cx="12191976" cy="6858000"/>
          </a:xfrm>
          <a:prstGeom prst="rect">
            <a:avLst/>
          </a:prstGeom>
          <a:noFill/>
          <a:ln>
            <a:noFill/>
          </a:ln>
        </p:spPr>
      </p:pic>
      <p:sp>
        <p:nvSpPr>
          <p:cNvPr id="239" name="Google Shape;239;g25bf4f088c3_1_12"/>
          <p:cNvSpPr txBox="1"/>
          <p:nvPr/>
        </p:nvSpPr>
        <p:spPr>
          <a:xfrm>
            <a:off x="-1" y="469301"/>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5 </a:t>
            </a:r>
            <a:endParaRPr b="1" i="0" sz="4400" u="none" cap="none" strike="noStrike">
              <a:solidFill>
                <a:schemeClr val="dk1"/>
              </a:solidFill>
              <a:latin typeface="Patrick Hand"/>
              <a:ea typeface="Patrick Hand"/>
              <a:cs typeface="Patrick Hand"/>
              <a:sym typeface="Patrick Hand"/>
            </a:endParaRPr>
          </a:p>
        </p:txBody>
      </p:sp>
      <p:sp>
        <p:nvSpPr>
          <p:cNvPr id="240" name="Google Shape;240;g25bf4f088c3_1_12"/>
          <p:cNvSpPr txBox="1"/>
          <p:nvPr/>
        </p:nvSpPr>
        <p:spPr>
          <a:xfrm>
            <a:off x="1522050" y="5345250"/>
            <a:ext cx="10670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Hay ___ grupos de 5							Hay ___             en total.</a:t>
            </a:r>
            <a:endParaRPr b="1" i="0" sz="2800" u="none" cap="none" strike="noStrike">
              <a:solidFill>
                <a:schemeClr val="dk1"/>
              </a:solidFill>
              <a:latin typeface="Patrick Hand"/>
              <a:ea typeface="Patrick Hand"/>
              <a:cs typeface="Patrick Hand"/>
              <a:sym typeface="Patrick Hand"/>
            </a:endParaRPr>
          </a:p>
        </p:txBody>
      </p:sp>
      <p:sp>
        <p:nvSpPr>
          <p:cNvPr id="241" name="Google Shape;241;g25bf4f088c3_1_12"/>
          <p:cNvSpPr txBox="1"/>
          <p:nvPr/>
        </p:nvSpPr>
        <p:spPr>
          <a:xfrm>
            <a:off x="805700" y="1396250"/>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¡Ahora te toca a ti! Cuenta de cinco en cinco para obtener el resultado.</a:t>
            </a:r>
            <a:endParaRPr b="1" i="0" sz="2800" u="none" cap="none" strike="noStrike">
              <a:solidFill>
                <a:schemeClr val="dk1"/>
              </a:solidFill>
              <a:latin typeface="Patrick Hand"/>
              <a:ea typeface="Patrick Hand"/>
              <a:cs typeface="Patrick Hand"/>
              <a:sym typeface="Patrick Hand"/>
            </a:endParaRPr>
          </a:p>
        </p:txBody>
      </p:sp>
      <p:sp>
        <p:nvSpPr>
          <p:cNvPr id="242" name="Google Shape;242;g25bf4f088c3_1_12"/>
          <p:cNvSpPr txBox="1"/>
          <p:nvPr/>
        </p:nvSpPr>
        <p:spPr>
          <a:xfrm>
            <a:off x="114762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5</a:t>
            </a:r>
            <a:endParaRPr b="1" i="0" sz="2700" u="none" cap="none" strike="noStrike">
              <a:solidFill>
                <a:srgbClr val="000000"/>
              </a:solidFill>
              <a:latin typeface="Patrick Hand"/>
              <a:ea typeface="Patrick Hand"/>
              <a:cs typeface="Patrick Hand"/>
              <a:sym typeface="Patrick Hand"/>
            </a:endParaRPr>
          </a:p>
        </p:txBody>
      </p:sp>
      <p:sp>
        <p:nvSpPr>
          <p:cNvPr id="243" name="Google Shape;243;g25bf4f088c3_1_12"/>
          <p:cNvSpPr txBox="1"/>
          <p:nvPr/>
        </p:nvSpPr>
        <p:spPr>
          <a:xfrm>
            <a:off x="436827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10</a:t>
            </a:r>
            <a:endParaRPr b="1" i="0" sz="2700" u="none" cap="none" strike="noStrike">
              <a:solidFill>
                <a:srgbClr val="000000"/>
              </a:solidFill>
              <a:latin typeface="Patrick Hand"/>
              <a:ea typeface="Patrick Hand"/>
              <a:cs typeface="Patrick Hand"/>
              <a:sym typeface="Patrick Hand"/>
            </a:endParaRPr>
          </a:p>
        </p:txBody>
      </p:sp>
      <p:sp>
        <p:nvSpPr>
          <p:cNvPr id="244" name="Google Shape;244;g25bf4f088c3_1_12"/>
          <p:cNvSpPr txBox="1"/>
          <p:nvPr/>
        </p:nvSpPr>
        <p:spPr>
          <a:xfrm>
            <a:off x="721487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15</a:t>
            </a:r>
            <a:endParaRPr b="1" i="0" sz="2700" u="none" cap="none" strike="noStrike">
              <a:solidFill>
                <a:srgbClr val="000000"/>
              </a:solidFill>
              <a:latin typeface="Patrick Hand"/>
              <a:ea typeface="Patrick Hand"/>
              <a:cs typeface="Patrick Hand"/>
              <a:sym typeface="Patrick Hand"/>
            </a:endParaRPr>
          </a:p>
        </p:txBody>
      </p:sp>
      <p:sp>
        <p:nvSpPr>
          <p:cNvPr id="245" name="Google Shape;245;g25bf4f088c3_1_12"/>
          <p:cNvSpPr txBox="1"/>
          <p:nvPr/>
        </p:nvSpPr>
        <p:spPr>
          <a:xfrm>
            <a:off x="10603825" y="45519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20</a:t>
            </a:r>
            <a:endParaRPr b="1" i="0" sz="2700" u="none" cap="none" strike="noStrike">
              <a:solidFill>
                <a:srgbClr val="000000"/>
              </a:solidFill>
              <a:latin typeface="Patrick Hand"/>
              <a:ea typeface="Patrick Hand"/>
              <a:cs typeface="Patrick Hand"/>
              <a:sym typeface="Patrick Hand"/>
            </a:endParaRPr>
          </a:p>
        </p:txBody>
      </p:sp>
      <p:sp>
        <p:nvSpPr>
          <p:cNvPr id="246" name="Google Shape;246;g25bf4f088c3_1_12"/>
          <p:cNvSpPr txBox="1"/>
          <p:nvPr/>
        </p:nvSpPr>
        <p:spPr>
          <a:xfrm>
            <a:off x="2203975" y="53452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4</a:t>
            </a:r>
            <a:endParaRPr b="1" i="0" sz="2700" u="none" cap="none" strike="noStrike">
              <a:solidFill>
                <a:srgbClr val="000000"/>
              </a:solidFill>
              <a:latin typeface="Patrick Hand"/>
              <a:ea typeface="Patrick Hand"/>
              <a:cs typeface="Patrick Hand"/>
              <a:sym typeface="Patrick Hand"/>
            </a:endParaRPr>
          </a:p>
        </p:txBody>
      </p:sp>
      <p:sp>
        <p:nvSpPr>
          <p:cNvPr id="247" name="Google Shape;247;g25bf4f088c3_1_12"/>
          <p:cNvSpPr txBox="1"/>
          <p:nvPr/>
        </p:nvSpPr>
        <p:spPr>
          <a:xfrm>
            <a:off x="7604850" y="5238350"/>
            <a:ext cx="594900" cy="615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Patrick Hand"/>
                <a:ea typeface="Patrick Hand"/>
                <a:cs typeface="Patrick Hand"/>
                <a:sym typeface="Patrick Hand"/>
              </a:rPr>
              <a:t>20</a:t>
            </a:r>
            <a:endParaRPr b="1" i="0" sz="2700" u="none" cap="none" strike="noStrike">
              <a:solidFill>
                <a:srgbClr val="000000"/>
              </a:solidFill>
              <a:latin typeface="Patrick Hand"/>
              <a:ea typeface="Patrick Hand"/>
              <a:cs typeface="Patrick Hand"/>
              <a:sym typeface="Patrick Hand"/>
            </a:endParaRPr>
          </a:p>
        </p:txBody>
      </p:sp>
      <p:cxnSp>
        <p:nvCxnSpPr>
          <p:cNvPr id="248" name="Google Shape;248;g25bf4f088c3_1_12"/>
          <p:cNvCxnSpPr/>
          <p:nvPr/>
        </p:nvCxnSpPr>
        <p:spPr>
          <a:xfrm>
            <a:off x="4618650" y="5615850"/>
            <a:ext cx="1924500" cy="0"/>
          </a:xfrm>
          <a:prstGeom prst="straightConnector1">
            <a:avLst/>
          </a:prstGeom>
          <a:noFill/>
          <a:ln cap="flat" cmpd="sng" w="28575">
            <a:solidFill>
              <a:srgbClr val="009287"/>
            </a:solidFill>
            <a:prstDash val="solid"/>
            <a:round/>
            <a:headEnd len="sm" w="sm" type="none"/>
            <a:tailEnd len="med" w="med" type="triangle"/>
          </a:ln>
        </p:spPr>
      </p:cxnSp>
      <p:sp>
        <p:nvSpPr>
          <p:cNvPr id="249" name="Google Shape;249;g25bf4f088c3_1_12"/>
          <p:cNvSpPr/>
          <p:nvPr/>
        </p:nvSpPr>
        <p:spPr>
          <a:xfrm>
            <a:off x="113675" y="2076900"/>
            <a:ext cx="2493000" cy="259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25bf4f088c3_1_12"/>
          <p:cNvSpPr/>
          <p:nvPr/>
        </p:nvSpPr>
        <p:spPr>
          <a:xfrm>
            <a:off x="3275200" y="1994825"/>
            <a:ext cx="2493000" cy="259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25bf4f088c3_1_12"/>
          <p:cNvSpPr/>
          <p:nvPr/>
        </p:nvSpPr>
        <p:spPr>
          <a:xfrm>
            <a:off x="6436725" y="1994825"/>
            <a:ext cx="2493000" cy="259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g25bf4f088c3_1_12"/>
          <p:cNvSpPr/>
          <p:nvPr/>
        </p:nvSpPr>
        <p:spPr>
          <a:xfrm>
            <a:off x="9598250" y="2014700"/>
            <a:ext cx="2493000" cy="259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3" name="Google Shape;253;g25bf4f088c3_1_12"/>
          <p:cNvPicPr preferRelativeResize="0"/>
          <p:nvPr/>
        </p:nvPicPr>
        <p:blipFill>
          <a:blip r:embed="rId4">
            <a:alphaModFix/>
          </a:blip>
          <a:stretch>
            <a:fillRect/>
          </a:stretch>
        </p:blipFill>
        <p:spPr>
          <a:xfrm>
            <a:off x="11081400" y="65810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g237be279222_0_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9" name="Google Shape;259;g237be279222_0_60"/>
          <p:cNvSpPr txBox="1"/>
          <p:nvPr/>
        </p:nvSpPr>
        <p:spPr>
          <a:xfrm>
            <a:off x="99224" y="53927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5</a:t>
            </a:r>
            <a:endParaRPr b="1" i="0" sz="4400" u="none" cap="none" strike="noStrike">
              <a:solidFill>
                <a:schemeClr val="dk1"/>
              </a:solidFill>
              <a:latin typeface="Patrick Hand"/>
              <a:ea typeface="Patrick Hand"/>
              <a:cs typeface="Patrick Hand"/>
              <a:sym typeface="Patrick Hand"/>
            </a:endParaRPr>
          </a:p>
        </p:txBody>
      </p:sp>
      <p:sp>
        <p:nvSpPr>
          <p:cNvPr id="260" name="Google Shape;260;g237be279222_0_60"/>
          <p:cNvSpPr txBox="1"/>
          <p:nvPr/>
        </p:nvSpPr>
        <p:spPr>
          <a:xfrm>
            <a:off x="7930525" y="1413750"/>
            <a:ext cx="38247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000" u="none" cap="none" strike="noStrike">
                <a:solidFill>
                  <a:schemeClr val="dk1"/>
                </a:solidFill>
                <a:latin typeface="Patrick Hand"/>
                <a:ea typeface="Patrick Hand"/>
                <a:cs typeface="Patrick Hand"/>
                <a:sym typeface="Patrick Hand"/>
              </a:rPr>
              <a:t>1      x       5   =	 5</a:t>
            </a:r>
            <a:endParaRPr b="1" i="0" sz="4000" u="none" cap="none" strike="noStrike">
              <a:solidFill>
                <a:schemeClr val="dk1"/>
              </a:solidFill>
              <a:latin typeface="Patrick Hand"/>
              <a:ea typeface="Patrick Hand"/>
              <a:cs typeface="Patrick Hand"/>
              <a:sym typeface="Patrick Hand"/>
            </a:endParaRPr>
          </a:p>
        </p:txBody>
      </p:sp>
      <p:sp>
        <p:nvSpPr>
          <p:cNvPr id="261" name="Google Shape;261;g237be279222_0_60"/>
          <p:cNvSpPr txBox="1"/>
          <p:nvPr/>
        </p:nvSpPr>
        <p:spPr>
          <a:xfrm>
            <a:off x="8034825" y="2698825"/>
            <a:ext cx="4071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000" u="none" cap="none" strike="noStrike">
                <a:solidFill>
                  <a:schemeClr val="dk1"/>
                </a:solidFill>
                <a:latin typeface="Patrick Hand"/>
                <a:ea typeface="Patrick Hand"/>
                <a:cs typeface="Patrick Hand"/>
                <a:sym typeface="Patrick Hand"/>
              </a:rPr>
              <a:t>2     x       5    =	10</a:t>
            </a:r>
            <a:endParaRPr b="1" i="0" sz="4000" u="none" cap="none" strike="noStrike">
              <a:solidFill>
                <a:schemeClr val="dk1"/>
              </a:solidFill>
              <a:latin typeface="Patrick Hand"/>
              <a:ea typeface="Patrick Hand"/>
              <a:cs typeface="Patrick Hand"/>
              <a:sym typeface="Patrick Hand"/>
            </a:endParaRPr>
          </a:p>
        </p:txBody>
      </p:sp>
      <p:sp>
        <p:nvSpPr>
          <p:cNvPr id="262" name="Google Shape;262;g237be279222_0_60"/>
          <p:cNvSpPr txBox="1"/>
          <p:nvPr/>
        </p:nvSpPr>
        <p:spPr>
          <a:xfrm>
            <a:off x="8187225" y="4508775"/>
            <a:ext cx="42501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000" u="none" cap="none" strike="noStrike">
                <a:solidFill>
                  <a:schemeClr val="dk1"/>
                </a:solidFill>
                <a:latin typeface="Patrick Hand"/>
                <a:ea typeface="Patrick Hand"/>
                <a:cs typeface="Patrick Hand"/>
                <a:sym typeface="Patrick Hand"/>
              </a:rPr>
              <a:t>__     x     __   =	__</a:t>
            </a:r>
            <a:endParaRPr b="1" i="0" sz="4000" u="none" cap="none" strike="noStrike">
              <a:solidFill>
                <a:schemeClr val="dk1"/>
              </a:solidFill>
              <a:latin typeface="Patrick Hand"/>
              <a:ea typeface="Patrick Hand"/>
              <a:cs typeface="Patrick Hand"/>
              <a:sym typeface="Patrick Hand"/>
            </a:endParaRPr>
          </a:p>
        </p:txBody>
      </p:sp>
      <p:sp>
        <p:nvSpPr>
          <p:cNvPr id="263" name="Google Shape;263;g237be279222_0_60"/>
          <p:cNvSpPr txBox="1"/>
          <p:nvPr/>
        </p:nvSpPr>
        <p:spPr>
          <a:xfrm>
            <a:off x="8429175" y="4453238"/>
            <a:ext cx="40710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000" u="none" cap="none" strike="noStrike">
                <a:solidFill>
                  <a:schemeClr val="dk1"/>
                </a:solidFill>
                <a:latin typeface="Patrick Hand"/>
                <a:ea typeface="Patrick Hand"/>
                <a:cs typeface="Patrick Hand"/>
                <a:sym typeface="Patrick Hand"/>
              </a:rPr>
              <a:t>3     	       5          15</a:t>
            </a:r>
            <a:endParaRPr b="1" i="0" sz="4000" u="none" cap="none" strike="noStrike">
              <a:solidFill>
                <a:schemeClr val="dk1"/>
              </a:solidFill>
              <a:latin typeface="Patrick Hand"/>
              <a:ea typeface="Patrick Hand"/>
              <a:cs typeface="Patrick Hand"/>
              <a:sym typeface="Patrick Hand"/>
            </a:endParaRPr>
          </a:p>
        </p:txBody>
      </p:sp>
      <p:sp>
        <p:nvSpPr>
          <p:cNvPr id="264" name="Google Shape;264;g237be279222_0_60"/>
          <p:cNvSpPr txBox="1"/>
          <p:nvPr/>
        </p:nvSpPr>
        <p:spPr>
          <a:xfrm>
            <a:off x="8034825" y="2121750"/>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65" name="Google Shape;265;g237be279222_0_60"/>
          <p:cNvSpPr txBox="1"/>
          <p:nvPr/>
        </p:nvSpPr>
        <p:spPr>
          <a:xfrm>
            <a:off x="8128375" y="3241950"/>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66" name="Google Shape;266;g237be279222_0_60"/>
          <p:cNvSpPr txBox="1"/>
          <p:nvPr/>
        </p:nvSpPr>
        <p:spPr>
          <a:xfrm>
            <a:off x="8280775" y="5216775"/>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267" name="Google Shape;267;g237be279222_0_60"/>
          <p:cNvSpPr/>
          <p:nvPr/>
        </p:nvSpPr>
        <p:spPr>
          <a:xfrm>
            <a:off x="332400" y="1207150"/>
            <a:ext cx="2501700" cy="136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g237be279222_0_60"/>
          <p:cNvSpPr/>
          <p:nvPr/>
        </p:nvSpPr>
        <p:spPr>
          <a:xfrm>
            <a:off x="332400" y="2714013"/>
            <a:ext cx="2501700" cy="136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237be279222_0_60"/>
          <p:cNvSpPr/>
          <p:nvPr/>
        </p:nvSpPr>
        <p:spPr>
          <a:xfrm>
            <a:off x="2981525" y="2714025"/>
            <a:ext cx="2501700" cy="136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37be279222_0_60"/>
          <p:cNvSpPr/>
          <p:nvPr/>
        </p:nvSpPr>
        <p:spPr>
          <a:xfrm>
            <a:off x="332400" y="4220900"/>
            <a:ext cx="2501700" cy="136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237be279222_0_60"/>
          <p:cNvSpPr/>
          <p:nvPr/>
        </p:nvSpPr>
        <p:spPr>
          <a:xfrm>
            <a:off x="2981525" y="4180575"/>
            <a:ext cx="2501700" cy="136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237be279222_0_60"/>
          <p:cNvSpPr/>
          <p:nvPr/>
        </p:nvSpPr>
        <p:spPr>
          <a:xfrm>
            <a:off x="5706850" y="4125050"/>
            <a:ext cx="2501700" cy="13644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3" name="Google Shape;273;g237be279222_0_60"/>
          <p:cNvPicPr preferRelativeResize="0"/>
          <p:nvPr/>
        </p:nvPicPr>
        <p:blipFill>
          <a:blip r:embed="rId4">
            <a:alphaModFix/>
          </a:blip>
          <a:stretch>
            <a:fillRect/>
          </a:stretch>
        </p:blipFill>
        <p:spPr>
          <a:xfrm>
            <a:off x="11385880" y="658100"/>
            <a:ext cx="671219" cy="70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g237be279222_0_98"/>
          <p:cNvPicPr preferRelativeResize="0"/>
          <p:nvPr/>
        </p:nvPicPr>
        <p:blipFill rotWithShape="1">
          <a:blip r:embed="rId3">
            <a:alphaModFix/>
          </a:blip>
          <a:srcRect b="0" l="0" r="0" t="0"/>
          <a:stretch/>
        </p:blipFill>
        <p:spPr>
          <a:xfrm>
            <a:off x="0" y="-12"/>
            <a:ext cx="12192000" cy="6858024"/>
          </a:xfrm>
          <a:prstGeom prst="rect">
            <a:avLst/>
          </a:prstGeom>
          <a:noFill/>
          <a:ln>
            <a:noFill/>
          </a:ln>
        </p:spPr>
      </p:pic>
      <p:sp>
        <p:nvSpPr>
          <p:cNvPr id="279" name="Google Shape;279;g237be279222_0_98"/>
          <p:cNvSpPr txBox="1"/>
          <p:nvPr/>
        </p:nvSpPr>
        <p:spPr>
          <a:xfrm>
            <a:off x="2719349" y="2079626"/>
            <a:ext cx="60984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1" i="0" lang="es-CL" sz="3500" u="none" cap="none" strike="noStrike">
                <a:solidFill>
                  <a:schemeClr val="dk1"/>
                </a:solidFill>
                <a:latin typeface="Patrick Hand"/>
                <a:ea typeface="Patrick Hand"/>
                <a:cs typeface="Patrick Hand"/>
                <a:sym typeface="Patrick Hand"/>
              </a:rPr>
              <a:t>__     x     __   =	__</a:t>
            </a:r>
            <a:endParaRPr b="1" i="0" sz="3500" u="none" cap="none" strike="noStrike">
              <a:solidFill>
                <a:schemeClr val="dk1"/>
              </a:solidFill>
              <a:latin typeface="Patrick Hand"/>
              <a:ea typeface="Patrick Hand"/>
              <a:cs typeface="Patrick Hand"/>
              <a:sym typeface="Patrick Hand"/>
            </a:endParaRPr>
          </a:p>
        </p:txBody>
      </p:sp>
      <p:cxnSp>
        <p:nvCxnSpPr>
          <p:cNvPr id="280" name="Google Shape;280;g237be279222_0_98"/>
          <p:cNvCxnSpPr/>
          <p:nvPr/>
        </p:nvCxnSpPr>
        <p:spPr>
          <a:xfrm flipH="1" rot="10800000">
            <a:off x="11179250" y="4793450"/>
            <a:ext cx="332400" cy="525000"/>
          </a:xfrm>
          <a:prstGeom prst="straightConnector1">
            <a:avLst/>
          </a:prstGeom>
          <a:noFill/>
          <a:ln cap="flat" cmpd="sng" w="28575">
            <a:solidFill>
              <a:srgbClr val="009287"/>
            </a:solidFill>
            <a:prstDash val="solid"/>
            <a:round/>
            <a:headEnd len="sm" w="sm" type="none"/>
            <a:tailEnd len="med" w="med" type="triangle"/>
          </a:ln>
        </p:spPr>
      </p:cxnSp>
      <p:sp>
        <p:nvSpPr>
          <p:cNvPr id="281" name="Google Shape;281;g237be279222_0_98"/>
          <p:cNvSpPr txBox="1"/>
          <p:nvPr/>
        </p:nvSpPr>
        <p:spPr>
          <a:xfrm>
            <a:off x="2719349" y="3666576"/>
            <a:ext cx="60984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1" i="0" lang="es-CL" sz="3500" u="none" cap="none" strike="noStrike">
                <a:solidFill>
                  <a:schemeClr val="dk1"/>
                </a:solidFill>
                <a:latin typeface="Patrick Hand"/>
                <a:ea typeface="Patrick Hand"/>
                <a:cs typeface="Patrick Hand"/>
                <a:sym typeface="Patrick Hand"/>
              </a:rPr>
              <a:t>__     x     __   =	__</a:t>
            </a:r>
            <a:endParaRPr b="1" i="0" sz="3500" u="none" cap="none" strike="noStrike">
              <a:solidFill>
                <a:schemeClr val="dk1"/>
              </a:solidFill>
              <a:latin typeface="Patrick Hand"/>
              <a:ea typeface="Patrick Hand"/>
              <a:cs typeface="Patrick Hand"/>
              <a:sym typeface="Patrick Hand"/>
            </a:endParaRPr>
          </a:p>
        </p:txBody>
      </p:sp>
      <p:sp>
        <p:nvSpPr>
          <p:cNvPr id="282" name="Google Shape;282;g237be279222_0_98"/>
          <p:cNvSpPr txBox="1"/>
          <p:nvPr/>
        </p:nvSpPr>
        <p:spPr>
          <a:xfrm>
            <a:off x="2719349" y="5608101"/>
            <a:ext cx="6098400" cy="630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500"/>
              <a:buFont typeface="Arial"/>
              <a:buNone/>
            </a:pPr>
            <a:r>
              <a:rPr b="1" i="0" lang="es-CL" sz="3500" u="none" cap="none" strike="noStrike">
                <a:solidFill>
                  <a:schemeClr val="dk1"/>
                </a:solidFill>
                <a:latin typeface="Patrick Hand"/>
                <a:ea typeface="Patrick Hand"/>
                <a:cs typeface="Patrick Hand"/>
                <a:sym typeface="Patrick Hand"/>
              </a:rPr>
              <a:t>__     x     __   =	__</a:t>
            </a:r>
            <a:endParaRPr b="1" i="0" sz="3500" u="none" cap="none" strike="noStrike">
              <a:solidFill>
                <a:schemeClr val="dk1"/>
              </a:solidFill>
              <a:latin typeface="Patrick Hand"/>
              <a:ea typeface="Patrick Hand"/>
              <a:cs typeface="Patrick Hand"/>
              <a:sym typeface="Patrick Hand"/>
            </a:endParaRPr>
          </a:p>
        </p:txBody>
      </p:sp>
      <p:sp>
        <p:nvSpPr>
          <p:cNvPr id="283" name="Google Shape;283;g237be279222_0_98"/>
          <p:cNvSpPr txBox="1"/>
          <p:nvPr/>
        </p:nvSpPr>
        <p:spPr>
          <a:xfrm>
            <a:off x="0" y="386175"/>
            <a:ext cx="112842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CL" sz="2600" u="none" cap="none" strike="noStrike">
                <a:solidFill>
                  <a:schemeClr val="dk1"/>
                </a:solidFill>
                <a:latin typeface="Patrick Hand"/>
                <a:ea typeface="Patrick Hand"/>
                <a:cs typeface="Patrick Hand"/>
                <a:sym typeface="Patrick Hand"/>
              </a:rPr>
              <a:t>¡Ahora te toca ati! ¿Cuántos grupos son? ¿Cuántas estrellas hay por grupo? </a:t>
            </a:r>
            <a:endParaRPr b="1" i="0" sz="2600" u="none" cap="none" strike="noStrike">
              <a:solidFill>
                <a:schemeClr val="dk1"/>
              </a:solidFill>
              <a:latin typeface="Patrick Hand"/>
              <a:ea typeface="Patrick Hand"/>
              <a:cs typeface="Patrick Hand"/>
              <a:sym typeface="Patrick Hand"/>
            </a:endParaRPr>
          </a:p>
        </p:txBody>
      </p:sp>
      <p:sp>
        <p:nvSpPr>
          <p:cNvPr id="284" name="Google Shape;284;g237be279222_0_98"/>
          <p:cNvSpPr txBox="1"/>
          <p:nvPr/>
        </p:nvSpPr>
        <p:spPr>
          <a:xfrm>
            <a:off x="2719350" y="2087275"/>
            <a:ext cx="42786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s-CL" sz="3400">
                <a:solidFill>
                  <a:schemeClr val="dk1"/>
                </a:solidFill>
                <a:latin typeface="Patrick Hand"/>
                <a:ea typeface="Patrick Hand"/>
                <a:cs typeface="Patrick Hand"/>
                <a:sym typeface="Patrick Hand"/>
              </a:rPr>
              <a:t>4</a:t>
            </a:r>
            <a:r>
              <a:rPr b="0" i="0" lang="es-CL" sz="3400" u="none" cap="none" strike="noStrike">
                <a:solidFill>
                  <a:schemeClr val="dk1"/>
                </a:solidFill>
                <a:latin typeface="Patrick Hand"/>
                <a:ea typeface="Patrick Hand"/>
                <a:cs typeface="Patrick Hand"/>
                <a:sym typeface="Patrick Hand"/>
              </a:rPr>
              <a:t>               </a:t>
            </a:r>
            <a:r>
              <a:rPr lang="es-CL" sz="3400">
                <a:solidFill>
                  <a:schemeClr val="dk1"/>
                </a:solidFill>
                <a:latin typeface="Patrick Hand"/>
                <a:ea typeface="Patrick Hand"/>
                <a:cs typeface="Patrick Hand"/>
                <a:sym typeface="Patrick Hand"/>
              </a:rPr>
              <a:t>  5</a:t>
            </a:r>
            <a:r>
              <a:rPr b="0" i="0" lang="es-CL" sz="3400" u="none" cap="none" strike="noStrike">
                <a:solidFill>
                  <a:schemeClr val="dk1"/>
                </a:solidFill>
                <a:latin typeface="Patrick Hand"/>
                <a:ea typeface="Patrick Hand"/>
                <a:cs typeface="Patrick Hand"/>
                <a:sym typeface="Patrick Hand"/>
              </a:rPr>
              <a:t>            20</a:t>
            </a:r>
            <a:endParaRPr b="0" i="0" sz="3400" u="none" cap="none" strike="noStrike">
              <a:solidFill>
                <a:schemeClr val="dk1"/>
              </a:solidFill>
              <a:latin typeface="Patrick Hand"/>
              <a:ea typeface="Patrick Hand"/>
              <a:cs typeface="Patrick Hand"/>
              <a:sym typeface="Patrick Hand"/>
            </a:endParaRPr>
          </a:p>
        </p:txBody>
      </p:sp>
      <p:sp>
        <p:nvSpPr>
          <p:cNvPr id="285" name="Google Shape;285;g237be279222_0_98"/>
          <p:cNvSpPr txBox="1"/>
          <p:nvPr/>
        </p:nvSpPr>
        <p:spPr>
          <a:xfrm>
            <a:off x="2719350" y="3666575"/>
            <a:ext cx="42786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b="0" i="0" lang="es-CL" sz="3400" u="none" cap="none" strike="noStrike">
                <a:solidFill>
                  <a:schemeClr val="dk1"/>
                </a:solidFill>
                <a:latin typeface="Patrick Hand"/>
                <a:ea typeface="Patrick Hand"/>
                <a:cs typeface="Patrick Hand"/>
                <a:sym typeface="Patrick Hand"/>
              </a:rPr>
              <a:t>5                 5             25</a:t>
            </a:r>
            <a:endParaRPr b="0" i="0" sz="3400" u="none" cap="none" strike="noStrike">
              <a:solidFill>
                <a:schemeClr val="dk1"/>
              </a:solidFill>
              <a:latin typeface="Patrick Hand"/>
              <a:ea typeface="Patrick Hand"/>
              <a:cs typeface="Patrick Hand"/>
              <a:sym typeface="Patrick Hand"/>
            </a:endParaRPr>
          </a:p>
        </p:txBody>
      </p:sp>
      <p:sp>
        <p:nvSpPr>
          <p:cNvPr id="286" name="Google Shape;286;g237be279222_0_98"/>
          <p:cNvSpPr txBox="1"/>
          <p:nvPr/>
        </p:nvSpPr>
        <p:spPr>
          <a:xfrm>
            <a:off x="2719350" y="5615750"/>
            <a:ext cx="4278600" cy="61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400"/>
              <a:buFont typeface="Arial"/>
              <a:buNone/>
            </a:pPr>
            <a:r>
              <a:rPr lang="es-CL" sz="3400">
                <a:solidFill>
                  <a:schemeClr val="dk1"/>
                </a:solidFill>
                <a:latin typeface="Patrick Hand"/>
                <a:ea typeface="Patrick Hand"/>
                <a:cs typeface="Patrick Hand"/>
                <a:sym typeface="Patrick Hand"/>
              </a:rPr>
              <a:t>6</a:t>
            </a:r>
            <a:r>
              <a:rPr b="0" i="0" lang="es-CL" sz="3400" u="none" cap="none" strike="noStrike">
                <a:solidFill>
                  <a:schemeClr val="dk1"/>
                </a:solidFill>
                <a:latin typeface="Patrick Hand"/>
                <a:ea typeface="Patrick Hand"/>
                <a:cs typeface="Patrick Hand"/>
                <a:sym typeface="Patrick Hand"/>
              </a:rPr>
              <a:t>                 </a:t>
            </a:r>
            <a:r>
              <a:rPr lang="es-CL" sz="3400">
                <a:solidFill>
                  <a:schemeClr val="dk1"/>
                </a:solidFill>
                <a:latin typeface="Patrick Hand"/>
                <a:ea typeface="Patrick Hand"/>
                <a:cs typeface="Patrick Hand"/>
                <a:sym typeface="Patrick Hand"/>
              </a:rPr>
              <a:t>5</a:t>
            </a:r>
            <a:r>
              <a:rPr b="0" i="0" lang="es-CL" sz="3400" u="none" cap="none" strike="noStrike">
                <a:solidFill>
                  <a:schemeClr val="dk1"/>
                </a:solidFill>
                <a:latin typeface="Patrick Hand"/>
                <a:ea typeface="Patrick Hand"/>
                <a:cs typeface="Patrick Hand"/>
                <a:sym typeface="Patrick Hand"/>
              </a:rPr>
              <a:t>             30</a:t>
            </a:r>
            <a:endParaRPr b="0" i="0" sz="3400" u="none" cap="none" strike="noStrike">
              <a:solidFill>
                <a:schemeClr val="dk1"/>
              </a:solidFill>
              <a:latin typeface="Patrick Hand"/>
              <a:ea typeface="Patrick Hand"/>
              <a:cs typeface="Patrick Hand"/>
              <a:sym typeface="Patrick Hand"/>
            </a:endParaRPr>
          </a:p>
        </p:txBody>
      </p:sp>
      <p:sp>
        <p:nvSpPr>
          <p:cNvPr id="287" name="Google Shape;287;g237be279222_0_98"/>
          <p:cNvSpPr/>
          <p:nvPr/>
        </p:nvSpPr>
        <p:spPr>
          <a:xfrm>
            <a:off x="94875" y="1049000"/>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237be279222_0_98"/>
          <p:cNvSpPr/>
          <p:nvPr/>
        </p:nvSpPr>
        <p:spPr>
          <a:xfrm>
            <a:off x="2136725" y="1049000"/>
            <a:ext cx="19284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g237be279222_0_98"/>
          <p:cNvSpPr/>
          <p:nvPr/>
        </p:nvSpPr>
        <p:spPr>
          <a:xfrm>
            <a:off x="4137475" y="1049000"/>
            <a:ext cx="19284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237be279222_0_98"/>
          <p:cNvSpPr/>
          <p:nvPr/>
        </p:nvSpPr>
        <p:spPr>
          <a:xfrm>
            <a:off x="6138225" y="1049000"/>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237be279222_0_98"/>
          <p:cNvSpPr/>
          <p:nvPr/>
        </p:nvSpPr>
        <p:spPr>
          <a:xfrm>
            <a:off x="94875" y="27028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237be279222_0_98"/>
          <p:cNvSpPr/>
          <p:nvPr/>
        </p:nvSpPr>
        <p:spPr>
          <a:xfrm>
            <a:off x="2116175" y="27044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237be279222_0_98"/>
          <p:cNvSpPr/>
          <p:nvPr/>
        </p:nvSpPr>
        <p:spPr>
          <a:xfrm>
            <a:off x="4137475" y="2702875"/>
            <a:ext cx="19284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237be279222_0_98"/>
          <p:cNvSpPr/>
          <p:nvPr/>
        </p:nvSpPr>
        <p:spPr>
          <a:xfrm>
            <a:off x="6082575" y="27028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237be279222_0_98"/>
          <p:cNvSpPr/>
          <p:nvPr/>
        </p:nvSpPr>
        <p:spPr>
          <a:xfrm>
            <a:off x="8062775" y="27044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237be279222_0_98"/>
          <p:cNvSpPr/>
          <p:nvPr/>
        </p:nvSpPr>
        <p:spPr>
          <a:xfrm>
            <a:off x="0" y="4356750"/>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237be279222_0_98"/>
          <p:cNvSpPr/>
          <p:nvPr/>
        </p:nvSpPr>
        <p:spPr>
          <a:xfrm>
            <a:off x="2116175" y="4359950"/>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237be279222_0_98"/>
          <p:cNvSpPr/>
          <p:nvPr/>
        </p:nvSpPr>
        <p:spPr>
          <a:xfrm>
            <a:off x="4116925" y="43583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237be279222_0_98"/>
          <p:cNvSpPr/>
          <p:nvPr/>
        </p:nvSpPr>
        <p:spPr>
          <a:xfrm>
            <a:off x="6193875" y="43583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g237be279222_0_98"/>
          <p:cNvSpPr/>
          <p:nvPr/>
        </p:nvSpPr>
        <p:spPr>
          <a:xfrm>
            <a:off x="8233850" y="43583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237be279222_0_98"/>
          <p:cNvSpPr/>
          <p:nvPr/>
        </p:nvSpPr>
        <p:spPr>
          <a:xfrm>
            <a:off x="10279550" y="4358375"/>
            <a:ext cx="1969500" cy="1038300"/>
          </a:xfrm>
          <a:prstGeom prst="roundRect">
            <a:avLst>
              <a:gd fmla="val 16667" name="adj"/>
            </a:avLst>
          </a:prstGeom>
          <a:noFill/>
          <a:ln cap="flat" cmpd="sng" w="19050">
            <a:solidFill>
              <a:srgbClr val="0092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2" name="Google Shape;302;g237be279222_0_98"/>
          <p:cNvPicPr preferRelativeResize="0"/>
          <p:nvPr/>
        </p:nvPicPr>
        <p:blipFill>
          <a:blip r:embed="rId4">
            <a:alphaModFix/>
          </a:blip>
          <a:stretch>
            <a:fillRect/>
          </a:stretch>
        </p:blipFill>
        <p:spPr>
          <a:xfrm>
            <a:off x="11081400" y="658100"/>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g25bfa879b46_0_47"/>
          <p:cNvPicPr preferRelativeResize="0"/>
          <p:nvPr/>
        </p:nvPicPr>
        <p:blipFill rotWithShape="1">
          <a:blip r:embed="rId3">
            <a:alphaModFix/>
          </a:blip>
          <a:srcRect b="0" l="0" r="0" t="0"/>
          <a:stretch/>
        </p:blipFill>
        <p:spPr>
          <a:xfrm>
            <a:off x="0" y="0"/>
            <a:ext cx="12191971" cy="6858000"/>
          </a:xfrm>
          <a:prstGeom prst="rect">
            <a:avLst/>
          </a:prstGeom>
          <a:noFill/>
          <a:ln>
            <a:noFill/>
          </a:ln>
        </p:spPr>
      </p:pic>
      <p:sp>
        <p:nvSpPr>
          <p:cNvPr id="308" name="Google Shape;308;g25bfa879b46_0_47"/>
          <p:cNvSpPr txBox="1"/>
          <p:nvPr/>
        </p:nvSpPr>
        <p:spPr>
          <a:xfrm>
            <a:off x="0" y="442850"/>
            <a:ext cx="11966400" cy="2601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100"/>
              <a:buFont typeface="Arial"/>
              <a:buNone/>
            </a:pPr>
            <a:r>
              <a:rPr b="1" i="0" lang="es-CL" sz="3100" u="none" cap="none" strike="noStrike">
                <a:solidFill>
                  <a:schemeClr val="dk1"/>
                </a:solidFill>
                <a:latin typeface="Patrick Hand"/>
                <a:ea typeface="Patrick Hand"/>
                <a:cs typeface="Patrick Hand"/>
                <a:sym typeface="Patrick Hand"/>
              </a:rPr>
              <a:t>Ejercitemos: </a:t>
            </a:r>
            <a:endParaRPr b="1"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chemeClr val="dk1"/>
                </a:solidFill>
                <a:latin typeface="Patrick Hand"/>
                <a:ea typeface="Patrick Hand"/>
                <a:cs typeface="Patrick Hand"/>
                <a:sym typeface="Patrick Hand"/>
              </a:rPr>
              <a:t>Resolvamos estos ejercicios, recordando que no importa el orden de los n°</a:t>
            </a:r>
            <a:r>
              <a:rPr lang="es-CL" sz="2600">
                <a:solidFill>
                  <a:schemeClr val="dk1"/>
                </a:solidFill>
                <a:latin typeface="Patrick Hand"/>
                <a:ea typeface="Patrick Hand"/>
                <a:cs typeface="Patrick Hand"/>
                <a:sym typeface="Patrick Hand"/>
              </a:rPr>
              <a:t>; l</a:t>
            </a:r>
            <a:r>
              <a:rPr b="0" i="0" lang="es-CL" sz="2600" u="none" cap="none" strike="noStrike">
                <a:solidFill>
                  <a:schemeClr val="dk1"/>
                </a:solidFill>
                <a:latin typeface="Patrick Hand"/>
                <a:ea typeface="Patrick Hand"/>
                <a:cs typeface="Patrick Hand"/>
                <a:sym typeface="Patrick Hand"/>
              </a:rPr>
              <a:t>a respuesta debe ser la misma.</a:t>
            </a:r>
            <a:endParaRPr b="0"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600"/>
              <a:buFont typeface="Arial"/>
              <a:buNone/>
            </a:pPr>
            <a:r>
              <a:t/>
            </a:r>
            <a:endParaRPr b="0" i="0" sz="2600" u="none" cap="none" strike="noStrike">
              <a:solidFill>
                <a:schemeClr val="dk1"/>
              </a:solidFill>
              <a:latin typeface="Patrick Hand"/>
              <a:ea typeface="Patrick Hand"/>
              <a:cs typeface="Patrick Hand"/>
              <a:sym typeface="Patrick Hand"/>
            </a:endParaRPr>
          </a:p>
          <a:p>
            <a:pPr indent="-406400" lvl="0" marL="9144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5	x 	2 =			</a:t>
            </a:r>
            <a:endParaRPr b="1" i="0" sz="2800" u="none" cap="none" strike="noStrike">
              <a:solidFill>
                <a:schemeClr val="dk1"/>
              </a:solidFill>
              <a:latin typeface="Patrick Hand"/>
              <a:ea typeface="Patrick Hand"/>
              <a:cs typeface="Patrick Hand"/>
              <a:sym typeface="Patrick Hand"/>
            </a:endParaRPr>
          </a:p>
        </p:txBody>
      </p:sp>
      <p:sp>
        <p:nvSpPr>
          <p:cNvPr id="309" name="Google Shape;309;g25bfa879b46_0_47"/>
          <p:cNvSpPr txBox="1"/>
          <p:nvPr/>
        </p:nvSpPr>
        <p:spPr>
          <a:xfrm>
            <a:off x="9704500" y="1932750"/>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2	x 	5 =		</a:t>
            </a:r>
            <a:endParaRPr b="0" i="0" sz="1400" u="none" cap="none" strike="noStrike">
              <a:solidFill>
                <a:srgbClr val="000000"/>
              </a:solidFill>
              <a:latin typeface="Arial"/>
              <a:ea typeface="Arial"/>
              <a:cs typeface="Arial"/>
              <a:sym typeface="Arial"/>
            </a:endParaRPr>
          </a:p>
        </p:txBody>
      </p:sp>
      <p:sp>
        <p:nvSpPr>
          <p:cNvPr id="310" name="Google Shape;310;g25bfa879b46_0_47"/>
          <p:cNvSpPr txBox="1"/>
          <p:nvPr/>
        </p:nvSpPr>
        <p:spPr>
          <a:xfrm>
            <a:off x="673725" y="5269200"/>
            <a:ext cx="3000000" cy="615600"/>
          </a:xfrm>
          <a:prstGeom prst="rect">
            <a:avLst/>
          </a:prstGeom>
          <a:noFill/>
          <a:ln>
            <a:noFill/>
          </a:ln>
        </p:spPr>
        <p:txBody>
          <a:bodyPr anchorCtr="0" anchor="t" bIns="91425" lIns="91425" spcFirstLastPara="1" rIns="91425" wrap="square" tIns="91425">
            <a:spAutoFit/>
          </a:bodyPr>
          <a:lstStyle/>
          <a:p>
            <a:pPr indent="-406400" lvl="0" marL="914400" marR="0" rtl="0" algn="l">
              <a:lnSpc>
                <a:spcPct val="100000"/>
              </a:lnSpc>
              <a:spcBef>
                <a:spcPts val="0"/>
              </a:spcBef>
              <a:spcAft>
                <a:spcPts val="0"/>
              </a:spcAft>
              <a:buClr>
                <a:schemeClr val="dk1"/>
              </a:buClr>
              <a:buSzPts val="2800"/>
              <a:buFont typeface="Patrick Hand"/>
              <a:buChar char="●"/>
            </a:pPr>
            <a:r>
              <a:rPr b="1" i="0" lang="es-CL" sz="2800" u="none" cap="none" strike="noStrike">
                <a:solidFill>
                  <a:schemeClr val="dk1"/>
                </a:solidFill>
                <a:latin typeface="Patrick Hand"/>
                <a:ea typeface="Patrick Hand"/>
                <a:cs typeface="Patrick Hand"/>
                <a:sym typeface="Patrick Hand"/>
              </a:rPr>
              <a:t>5  x  4  =		</a:t>
            </a:r>
            <a:endParaRPr b="0" i="0" sz="1400" u="none" cap="none" strike="noStrike">
              <a:solidFill>
                <a:srgbClr val="000000"/>
              </a:solidFill>
              <a:latin typeface="Arial"/>
              <a:ea typeface="Arial"/>
              <a:cs typeface="Arial"/>
              <a:sym typeface="Arial"/>
            </a:endParaRPr>
          </a:p>
        </p:txBody>
      </p:sp>
      <p:sp>
        <p:nvSpPr>
          <p:cNvPr id="311" name="Google Shape;311;g25bfa879b46_0_47"/>
          <p:cNvSpPr txBox="1"/>
          <p:nvPr/>
        </p:nvSpPr>
        <p:spPr>
          <a:xfrm>
            <a:off x="9066850" y="4989300"/>
            <a:ext cx="3000000" cy="615600"/>
          </a:xfrm>
          <a:prstGeom prst="rect">
            <a:avLst/>
          </a:prstGeom>
          <a:noFill/>
          <a:ln>
            <a:noFill/>
          </a:ln>
        </p:spPr>
        <p:txBody>
          <a:bodyPr anchorCtr="0" anchor="t" bIns="91425" lIns="91425" spcFirstLastPara="1" rIns="91425" wrap="square" tIns="91425">
            <a:spAutoFit/>
          </a:bodyPr>
          <a:lstStyle/>
          <a:p>
            <a:pPr indent="0" lvl="0" marL="91440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4	x 	5 =		</a:t>
            </a:r>
            <a:endParaRPr b="0" i="0" sz="1400" u="none" cap="none" strike="noStrike">
              <a:solidFill>
                <a:srgbClr val="000000"/>
              </a:solidFill>
              <a:latin typeface="Arial"/>
              <a:ea typeface="Arial"/>
              <a:cs typeface="Arial"/>
              <a:sym typeface="Arial"/>
            </a:endParaRPr>
          </a:p>
        </p:txBody>
      </p:sp>
      <p:sp>
        <p:nvSpPr>
          <p:cNvPr id="312" name="Google Shape;312;g25bfa879b46_0_47"/>
          <p:cNvSpPr txBox="1"/>
          <p:nvPr/>
        </p:nvSpPr>
        <p:spPr>
          <a:xfrm>
            <a:off x="2636725" y="2028350"/>
            <a:ext cx="4773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10</a:t>
            </a:r>
            <a:endParaRPr b="0" i="0" sz="1400" u="none" cap="none" strike="noStrike">
              <a:solidFill>
                <a:schemeClr val="lt1"/>
              </a:solidFill>
              <a:highlight>
                <a:srgbClr val="009287"/>
              </a:highlight>
              <a:latin typeface="Arial"/>
              <a:ea typeface="Arial"/>
              <a:cs typeface="Arial"/>
              <a:sym typeface="Arial"/>
            </a:endParaRPr>
          </a:p>
        </p:txBody>
      </p:sp>
      <p:sp>
        <p:nvSpPr>
          <p:cNvPr id="313" name="Google Shape;313;g25bfa879b46_0_47"/>
          <p:cNvSpPr txBox="1"/>
          <p:nvPr/>
        </p:nvSpPr>
        <p:spPr>
          <a:xfrm>
            <a:off x="11405050" y="1582850"/>
            <a:ext cx="4773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10</a:t>
            </a:r>
            <a:endParaRPr b="0" i="0" sz="1400" u="none" cap="none" strike="noStrike">
              <a:solidFill>
                <a:schemeClr val="lt1"/>
              </a:solidFill>
              <a:highlight>
                <a:srgbClr val="009287"/>
              </a:highlight>
              <a:latin typeface="Arial"/>
              <a:ea typeface="Arial"/>
              <a:cs typeface="Arial"/>
              <a:sym typeface="Arial"/>
            </a:endParaRPr>
          </a:p>
        </p:txBody>
      </p:sp>
      <p:sp>
        <p:nvSpPr>
          <p:cNvPr id="314" name="Google Shape;314;g25bfa879b46_0_47"/>
          <p:cNvSpPr txBox="1"/>
          <p:nvPr/>
        </p:nvSpPr>
        <p:spPr>
          <a:xfrm>
            <a:off x="2874225" y="5269200"/>
            <a:ext cx="6471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20</a:t>
            </a:r>
            <a:endParaRPr b="0" i="0" sz="1400" u="none" cap="none" strike="noStrike">
              <a:solidFill>
                <a:schemeClr val="lt1"/>
              </a:solidFill>
              <a:highlight>
                <a:srgbClr val="009287"/>
              </a:highlight>
              <a:latin typeface="Arial"/>
              <a:ea typeface="Arial"/>
              <a:cs typeface="Arial"/>
              <a:sym typeface="Arial"/>
            </a:endParaRPr>
          </a:p>
        </p:txBody>
      </p:sp>
      <p:sp>
        <p:nvSpPr>
          <p:cNvPr id="315" name="Google Shape;315;g25bfa879b46_0_47"/>
          <p:cNvSpPr txBox="1"/>
          <p:nvPr/>
        </p:nvSpPr>
        <p:spPr>
          <a:xfrm>
            <a:off x="11468700" y="4989300"/>
            <a:ext cx="647100" cy="615600"/>
          </a:xfrm>
          <a:prstGeom prst="rect">
            <a:avLst/>
          </a:prstGeom>
          <a:solidFill>
            <a:srgbClr val="009287"/>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lt1"/>
                </a:solidFill>
                <a:highlight>
                  <a:srgbClr val="009287"/>
                </a:highlight>
                <a:latin typeface="Patrick Hand"/>
                <a:ea typeface="Patrick Hand"/>
                <a:cs typeface="Patrick Hand"/>
                <a:sym typeface="Patrick Hand"/>
              </a:rPr>
              <a:t>20</a:t>
            </a:r>
            <a:endParaRPr b="0" i="0" sz="1400" u="none" cap="none" strike="noStrike">
              <a:solidFill>
                <a:schemeClr val="lt1"/>
              </a:solidFill>
              <a:highlight>
                <a:srgbClr val="009287"/>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g25bf4f088c3_1_4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1" name="Google Shape;321;g25bf4f088c3_1_43"/>
          <p:cNvSpPr txBox="1"/>
          <p:nvPr/>
        </p:nvSpPr>
        <p:spPr>
          <a:xfrm>
            <a:off x="116724" y="486801"/>
            <a:ext cx="60984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s-CL" sz="4000" u="none" cap="none" strike="noStrike">
                <a:solidFill>
                  <a:schemeClr val="dk1"/>
                </a:solidFill>
                <a:latin typeface="Patrick Hand"/>
                <a:ea typeface="Patrick Hand"/>
                <a:cs typeface="Patrick Hand"/>
                <a:sym typeface="Patrick Hand"/>
              </a:rPr>
              <a:t>¡Desafío!</a:t>
            </a:r>
            <a:endParaRPr b="1" i="0" sz="4000" u="none" cap="none" strike="noStrike">
              <a:solidFill>
                <a:schemeClr val="dk1"/>
              </a:solidFill>
              <a:latin typeface="Patrick Hand"/>
              <a:ea typeface="Patrick Hand"/>
              <a:cs typeface="Patrick Hand"/>
              <a:sym typeface="Patrick Hand"/>
            </a:endParaRPr>
          </a:p>
        </p:txBody>
      </p:sp>
      <p:sp>
        <p:nvSpPr>
          <p:cNvPr id="322" name="Google Shape;322;g25bf4f088c3_1_43"/>
          <p:cNvSpPr txBox="1"/>
          <p:nvPr/>
        </p:nvSpPr>
        <p:spPr>
          <a:xfrm>
            <a:off x="1714500" y="1011350"/>
            <a:ext cx="10729800" cy="150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Resolvamos lo siguiente: </a:t>
            </a:r>
            <a:endParaRPr b="0"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Patrick Hand"/>
              <a:ea typeface="Patrick Hand"/>
              <a:cs typeface="Patrick Hand"/>
              <a:sym typeface="Patrick Hand"/>
            </a:endParaRPr>
          </a:p>
          <a:p>
            <a:pPr indent="-406400" lvl="0" marL="457200" marR="0" rtl="0" algn="l">
              <a:lnSpc>
                <a:spcPct val="100000"/>
              </a:lnSpc>
              <a:spcBef>
                <a:spcPts val="0"/>
              </a:spcBef>
              <a:spcAft>
                <a:spcPts val="0"/>
              </a:spcAft>
              <a:buClr>
                <a:schemeClr val="dk1"/>
              </a:buClr>
              <a:buSzPts val="2800"/>
              <a:buFont typeface="Patrick Hand"/>
              <a:buChar char="-"/>
            </a:pPr>
            <a:r>
              <a:rPr b="0" i="0" lang="es-CL" sz="2800" u="none" cap="none" strike="noStrike">
                <a:solidFill>
                  <a:schemeClr val="dk1"/>
                </a:solidFill>
                <a:latin typeface="Patrick Hand"/>
                <a:ea typeface="Patrick Hand"/>
                <a:cs typeface="Patrick Hand"/>
                <a:sym typeface="Patrick Hand"/>
              </a:rPr>
              <a:t>3 casas de mi vecindario tienen 5 mascotas cada una. ¿Cuántos mascotas tienen en total las 3 casas de mi vecindario? </a:t>
            </a:r>
            <a:endParaRPr b="0" i="0" sz="2800" u="none" cap="none" strike="noStrike">
              <a:solidFill>
                <a:schemeClr val="dk1"/>
              </a:solidFill>
              <a:latin typeface="Patrick Hand"/>
              <a:ea typeface="Patrick Hand"/>
              <a:cs typeface="Patrick Hand"/>
              <a:sym typeface="Patrick Hand"/>
            </a:endParaRPr>
          </a:p>
        </p:txBody>
      </p:sp>
      <p:sp>
        <p:nvSpPr>
          <p:cNvPr id="323" name="Google Shape;323;g25bf4f088c3_1_43"/>
          <p:cNvSpPr/>
          <p:nvPr/>
        </p:nvSpPr>
        <p:spPr>
          <a:xfrm>
            <a:off x="1084800" y="1011350"/>
            <a:ext cx="11107200" cy="5269200"/>
          </a:xfrm>
          <a:prstGeom prst="roundRect">
            <a:avLst>
              <a:gd fmla="val 16667" name="adj"/>
            </a:avLst>
          </a:prstGeom>
          <a:noFill/>
          <a:ln cap="flat" cmpd="sng" w="19050">
            <a:solidFill>
              <a:srgbClr val="009287"/>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5bf4f088c3_1_43"/>
          <p:cNvSpPr txBox="1"/>
          <p:nvPr/>
        </p:nvSpPr>
        <p:spPr>
          <a:xfrm>
            <a:off x="2016600" y="5590150"/>
            <a:ext cx="3714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 ___  x ___  =</a:t>
            </a:r>
            <a:endParaRPr b="0" i="0" sz="2800" u="none" cap="none" strike="noStrike">
              <a:solidFill>
                <a:schemeClr val="dk1"/>
              </a:solidFill>
              <a:latin typeface="Patrick Hand"/>
              <a:ea typeface="Patrick Hand"/>
              <a:cs typeface="Patrick Hand"/>
              <a:sym typeface="Patrick Hand"/>
            </a:endParaRPr>
          </a:p>
        </p:txBody>
      </p:sp>
      <p:sp>
        <p:nvSpPr>
          <p:cNvPr id="325" name="Google Shape;325;g25bf4f088c3_1_43"/>
          <p:cNvSpPr txBox="1"/>
          <p:nvPr/>
        </p:nvSpPr>
        <p:spPr>
          <a:xfrm>
            <a:off x="6366650" y="5361550"/>
            <a:ext cx="4461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Tienen  ___ mascotas en total.</a:t>
            </a:r>
            <a:endParaRPr b="0" i="0" sz="2800" u="none" cap="none" strike="noStrike">
              <a:solidFill>
                <a:schemeClr val="dk1"/>
              </a:solidFill>
              <a:latin typeface="Patrick Hand"/>
              <a:ea typeface="Patrick Hand"/>
              <a:cs typeface="Patrick Hand"/>
              <a:sym typeface="Patrick Hand"/>
            </a:endParaRPr>
          </a:p>
        </p:txBody>
      </p:sp>
      <p:sp>
        <p:nvSpPr>
          <p:cNvPr id="326" name="Google Shape;326;g25bf4f088c3_1_43"/>
          <p:cNvSpPr txBox="1"/>
          <p:nvPr/>
        </p:nvSpPr>
        <p:spPr>
          <a:xfrm>
            <a:off x="1911650" y="5132550"/>
            <a:ext cx="371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CL" sz="2600" u="none" cap="none" strike="noStrike">
                <a:solidFill>
                  <a:srgbClr val="000000"/>
                </a:solidFill>
                <a:latin typeface="Patrick Hand"/>
                <a:ea typeface="Patrick Hand"/>
                <a:cs typeface="Patrick Hand"/>
                <a:sym typeface="Patrick Hand"/>
              </a:rPr>
              <a:t> ___  veces ___ </a:t>
            </a:r>
            <a:endParaRPr b="0" i="0" sz="2400" u="none" cap="none" strike="noStrike">
              <a:solidFill>
                <a:srgbClr val="000000"/>
              </a:solidFill>
              <a:latin typeface="Patrick Hand"/>
              <a:ea typeface="Patrick Hand"/>
              <a:cs typeface="Patrick Hand"/>
              <a:sym typeface="Patrick Hand"/>
            </a:endParaRPr>
          </a:p>
        </p:txBody>
      </p:sp>
      <p:sp>
        <p:nvSpPr>
          <p:cNvPr id="327" name="Google Shape;327;g25bf4f088c3_1_43"/>
          <p:cNvSpPr txBox="1"/>
          <p:nvPr/>
        </p:nvSpPr>
        <p:spPr>
          <a:xfrm>
            <a:off x="2054150" y="5960613"/>
            <a:ext cx="3429000" cy="37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CL" sz="1600" u="none" cap="none" strike="noStrike">
                <a:solidFill>
                  <a:srgbClr val="000000"/>
                </a:solidFill>
                <a:latin typeface="Patrick Hand"/>
                <a:ea typeface="Patrick Hand"/>
                <a:cs typeface="Patrick Hand"/>
                <a:sym typeface="Patrick Hand"/>
              </a:rPr>
              <a:t>grupos           elementos</a:t>
            </a:r>
            <a:endParaRPr b="0" i="0" sz="1600" u="none" cap="none" strike="noStrike">
              <a:solidFill>
                <a:srgbClr val="000000"/>
              </a:solidFill>
              <a:latin typeface="Patrick Hand"/>
              <a:ea typeface="Patrick Hand"/>
              <a:cs typeface="Patrick Hand"/>
              <a:sym typeface="Patrick Hand"/>
            </a:endParaRPr>
          </a:p>
        </p:txBody>
      </p:sp>
      <p:sp>
        <p:nvSpPr>
          <p:cNvPr id="328" name="Google Shape;328;g25bf4f088c3_1_43"/>
          <p:cNvSpPr txBox="1"/>
          <p:nvPr/>
        </p:nvSpPr>
        <p:spPr>
          <a:xfrm>
            <a:off x="3477500" y="4974550"/>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rgbClr val="000000"/>
                </a:solidFill>
                <a:latin typeface="Patrick Hand"/>
                <a:ea typeface="Patrick Hand"/>
                <a:cs typeface="Patrick Hand"/>
                <a:sym typeface="Patrick Hand"/>
              </a:rPr>
              <a:t>5 </a:t>
            </a:r>
            <a:endParaRPr b="0" i="0" sz="1400" u="none" cap="none" strike="noStrike">
              <a:solidFill>
                <a:srgbClr val="000000"/>
              </a:solidFill>
              <a:latin typeface="Arial"/>
              <a:ea typeface="Arial"/>
              <a:cs typeface="Arial"/>
              <a:sym typeface="Arial"/>
            </a:endParaRPr>
          </a:p>
        </p:txBody>
      </p:sp>
      <p:sp>
        <p:nvSpPr>
          <p:cNvPr id="329" name="Google Shape;329;g25bf4f088c3_1_43"/>
          <p:cNvSpPr txBox="1"/>
          <p:nvPr/>
        </p:nvSpPr>
        <p:spPr>
          <a:xfrm>
            <a:off x="3287475" y="5513950"/>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rgbClr val="000000"/>
                </a:solidFill>
                <a:latin typeface="Patrick Hand"/>
                <a:ea typeface="Patrick Hand"/>
                <a:cs typeface="Patrick Hand"/>
                <a:sym typeface="Patrick Hand"/>
              </a:rPr>
              <a:t>5 </a:t>
            </a:r>
            <a:endParaRPr b="0" i="0" sz="1400" u="none" cap="none" strike="noStrike">
              <a:solidFill>
                <a:srgbClr val="000000"/>
              </a:solidFill>
              <a:latin typeface="Arial"/>
              <a:ea typeface="Arial"/>
              <a:cs typeface="Arial"/>
              <a:sym typeface="Arial"/>
            </a:endParaRPr>
          </a:p>
        </p:txBody>
      </p:sp>
      <p:sp>
        <p:nvSpPr>
          <p:cNvPr id="330" name="Google Shape;330;g25bf4f088c3_1_43"/>
          <p:cNvSpPr txBox="1"/>
          <p:nvPr/>
        </p:nvSpPr>
        <p:spPr>
          <a:xfrm>
            <a:off x="2180250" y="5025875"/>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rgbClr val="000000"/>
                </a:solidFill>
                <a:latin typeface="Patrick Hand"/>
                <a:ea typeface="Patrick Hand"/>
                <a:cs typeface="Patrick Hand"/>
                <a:sym typeface="Patrick Hand"/>
              </a:rPr>
              <a:t>3</a:t>
            </a:r>
            <a:endParaRPr b="0" i="0" sz="2800" u="none" cap="none" strike="noStrike">
              <a:solidFill>
                <a:srgbClr val="000000"/>
              </a:solidFill>
              <a:latin typeface="Patrick Hand"/>
              <a:ea typeface="Patrick Hand"/>
              <a:cs typeface="Patrick Hand"/>
              <a:sym typeface="Patrick Hand"/>
            </a:endParaRPr>
          </a:p>
        </p:txBody>
      </p:sp>
      <p:sp>
        <p:nvSpPr>
          <p:cNvPr id="331" name="Google Shape;331;g25bf4f088c3_1_43"/>
          <p:cNvSpPr txBox="1"/>
          <p:nvPr/>
        </p:nvSpPr>
        <p:spPr>
          <a:xfrm>
            <a:off x="2180250" y="5497650"/>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rgbClr val="000000"/>
                </a:solidFill>
                <a:latin typeface="Patrick Hand"/>
                <a:ea typeface="Patrick Hand"/>
                <a:cs typeface="Patrick Hand"/>
                <a:sym typeface="Patrick Hand"/>
              </a:rPr>
              <a:t>3</a:t>
            </a:r>
            <a:endParaRPr b="0" i="0" sz="1400" u="none" cap="none" strike="noStrike">
              <a:solidFill>
                <a:srgbClr val="000000"/>
              </a:solidFill>
              <a:latin typeface="Arial"/>
              <a:ea typeface="Arial"/>
              <a:cs typeface="Arial"/>
              <a:sym typeface="Arial"/>
            </a:endParaRPr>
          </a:p>
        </p:txBody>
      </p:sp>
      <p:sp>
        <p:nvSpPr>
          <p:cNvPr id="332" name="Google Shape;332;g25bf4f088c3_1_43"/>
          <p:cNvSpPr txBox="1"/>
          <p:nvPr/>
        </p:nvSpPr>
        <p:spPr>
          <a:xfrm>
            <a:off x="4394700" y="5513950"/>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rgbClr val="000000"/>
                </a:solidFill>
                <a:latin typeface="Patrick Hand"/>
                <a:ea typeface="Patrick Hand"/>
                <a:cs typeface="Patrick Hand"/>
                <a:sym typeface="Patrick Hand"/>
              </a:rPr>
              <a:t>15 </a:t>
            </a:r>
            <a:endParaRPr b="0" i="0" sz="1400" u="none" cap="none" strike="noStrike">
              <a:solidFill>
                <a:srgbClr val="000000"/>
              </a:solidFill>
              <a:latin typeface="Arial"/>
              <a:ea typeface="Arial"/>
              <a:cs typeface="Arial"/>
              <a:sym typeface="Arial"/>
            </a:endParaRPr>
          </a:p>
        </p:txBody>
      </p:sp>
      <p:sp>
        <p:nvSpPr>
          <p:cNvPr id="333" name="Google Shape;333;g25bf4f088c3_1_43"/>
          <p:cNvSpPr txBox="1"/>
          <p:nvPr/>
        </p:nvSpPr>
        <p:spPr>
          <a:xfrm>
            <a:off x="7433750" y="5285350"/>
            <a:ext cx="582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rgbClr val="000000"/>
                </a:solidFill>
                <a:latin typeface="Patrick Hand"/>
                <a:ea typeface="Patrick Hand"/>
                <a:cs typeface="Patrick Hand"/>
                <a:sym typeface="Patrick Hand"/>
              </a:rPr>
              <a:t>15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pic>
        <p:nvPicPr>
          <p:cNvPr descr="Forma&#10;&#10;Descripción generada automáticamente con confianza media" id="338" name="Google Shape;338;g237be279222_0_130"/>
          <p:cNvPicPr preferRelativeResize="0"/>
          <p:nvPr>
            <p:ph idx="1" type="body"/>
          </p:nvPr>
        </p:nvPicPr>
        <p:blipFill rotWithShape="1">
          <a:blip r:embed="rId3">
            <a:alphaModFix/>
          </a:blip>
          <a:srcRect b="0" l="0" r="0" t="0"/>
          <a:stretch/>
        </p:blipFill>
        <p:spPr>
          <a:xfrm>
            <a:off x="-7" y="0"/>
            <a:ext cx="12192000" cy="6858000"/>
          </a:xfrm>
          <a:prstGeom prst="rect">
            <a:avLst/>
          </a:prstGeom>
          <a:noFill/>
          <a:ln>
            <a:noFill/>
          </a:ln>
        </p:spPr>
      </p:pic>
      <p:sp>
        <p:nvSpPr>
          <p:cNvPr id="339" name="Google Shape;339;g237be279222_0_130"/>
          <p:cNvSpPr txBox="1"/>
          <p:nvPr/>
        </p:nvSpPr>
        <p:spPr>
          <a:xfrm>
            <a:off x="545124" y="71422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5</a:t>
            </a:r>
            <a:endParaRPr b="1" i="0" sz="4400" u="none" cap="none" strike="noStrike">
              <a:solidFill>
                <a:schemeClr val="dk1"/>
              </a:solidFill>
              <a:latin typeface="Patrick Hand"/>
              <a:ea typeface="Patrick Hand"/>
              <a:cs typeface="Patrick Hand"/>
              <a:sym typeface="Patrick Hand"/>
            </a:endParaRPr>
          </a:p>
        </p:txBody>
      </p:sp>
      <p:sp>
        <p:nvSpPr>
          <p:cNvPr id="340" name="Google Shape;340;g237be279222_0_130"/>
          <p:cNvSpPr txBox="1"/>
          <p:nvPr/>
        </p:nvSpPr>
        <p:spPr>
          <a:xfrm>
            <a:off x="623450" y="1689675"/>
            <a:ext cx="110982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Patrick Hand"/>
              <a:ea typeface="Patrick Hand"/>
              <a:cs typeface="Patrick Hand"/>
              <a:sym typeface="Patrick Hand"/>
            </a:endParaRPr>
          </a:p>
        </p:txBody>
      </p:sp>
      <p:sp>
        <p:nvSpPr>
          <p:cNvPr id="341" name="Google Shape;341;g237be279222_0_130"/>
          <p:cNvSpPr txBox="1"/>
          <p:nvPr/>
        </p:nvSpPr>
        <p:spPr>
          <a:xfrm>
            <a:off x="2511900" y="3013625"/>
            <a:ext cx="7168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sng" cap="none" strike="noStrike">
                <a:solidFill>
                  <a:schemeClr val="hlink"/>
                </a:solidFill>
                <a:latin typeface="Patrick Hand"/>
                <a:ea typeface="Patrick Hand"/>
                <a:cs typeface="Patrick Hand"/>
                <a:sym typeface="Patrick Hand"/>
                <a:hlinkClick r:id="rId4"/>
              </a:rPr>
              <a:t>Truco Matemático ✅ Truco TABLA Del 5 - YouTube</a:t>
            </a:r>
            <a:endParaRPr b="0" i="0" sz="1400" u="none" cap="none" strike="noStrike">
              <a:solidFill>
                <a:srgbClr val="000000"/>
              </a:solidFill>
              <a:latin typeface="Patrick Hand"/>
              <a:ea typeface="Patrick Hand"/>
              <a:cs typeface="Patrick Hand"/>
              <a:sym typeface="Patrick Hand"/>
            </a:endParaRPr>
          </a:p>
        </p:txBody>
      </p:sp>
      <p:sp>
        <p:nvSpPr>
          <p:cNvPr id="342" name="Google Shape;342;g237be279222_0_130"/>
          <p:cNvSpPr txBox="1"/>
          <p:nvPr/>
        </p:nvSpPr>
        <p:spPr>
          <a:xfrm>
            <a:off x="1246850" y="1643475"/>
            <a:ext cx="8935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Revisemos el siguiente truco para aprender la tabla del 5</a:t>
            </a:r>
            <a:endParaRPr b="0" i="0" sz="1400" u="none" cap="none" strike="noStrike">
              <a:solidFill>
                <a:srgbClr val="000000"/>
              </a:solidFill>
              <a:latin typeface="Arial"/>
              <a:ea typeface="Arial"/>
              <a:cs typeface="Arial"/>
              <a:sym typeface="Arial"/>
            </a:endParaRPr>
          </a:p>
        </p:txBody>
      </p:sp>
      <p:pic>
        <p:nvPicPr>
          <p:cNvPr id="343" name="Google Shape;343;g237be279222_0_130"/>
          <p:cNvPicPr preferRelativeResize="0"/>
          <p:nvPr/>
        </p:nvPicPr>
        <p:blipFill>
          <a:blip r:embed="rId5">
            <a:alphaModFix/>
          </a:blip>
          <a:stretch>
            <a:fillRect/>
          </a:stretch>
        </p:blipFill>
        <p:spPr>
          <a:xfrm>
            <a:off x="10992550" y="454550"/>
            <a:ext cx="975700" cy="1029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descr="Forma&#10;&#10;Descripción generada automáticamente con confianza media" id="348" name="Google Shape;348;g237be279222_0_119"/>
          <p:cNvPicPr preferRelativeResize="0"/>
          <p:nvPr>
            <p:ph idx="1" type="body"/>
          </p:nvPr>
        </p:nvPicPr>
        <p:blipFill rotWithShape="1">
          <a:blip r:embed="rId3">
            <a:alphaModFix/>
          </a:blip>
          <a:srcRect b="0" l="0" r="0" t="0"/>
          <a:stretch/>
        </p:blipFill>
        <p:spPr>
          <a:xfrm>
            <a:off x="-26457" y="15875"/>
            <a:ext cx="12192000" cy="6858000"/>
          </a:xfrm>
          <a:prstGeom prst="rect">
            <a:avLst/>
          </a:prstGeom>
          <a:noFill/>
          <a:ln>
            <a:noFill/>
          </a:ln>
        </p:spPr>
      </p:pic>
      <p:sp>
        <p:nvSpPr>
          <p:cNvPr id="349" name="Google Shape;349;g237be279222_0_119"/>
          <p:cNvSpPr txBox="1"/>
          <p:nvPr/>
        </p:nvSpPr>
        <p:spPr>
          <a:xfrm>
            <a:off x="99224" y="465326"/>
            <a:ext cx="60984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atrick Hand"/>
                <a:ea typeface="Patrick Hand"/>
                <a:cs typeface="Patrick Hand"/>
                <a:sym typeface="Patrick Hand"/>
              </a:rPr>
              <a:t>Tabla del 5</a:t>
            </a:r>
            <a:endParaRPr b="1" i="0" sz="4400" u="none" cap="none" strike="noStrike">
              <a:solidFill>
                <a:schemeClr val="dk1"/>
              </a:solidFill>
              <a:latin typeface="Patrick Hand"/>
              <a:ea typeface="Patrick Hand"/>
              <a:cs typeface="Patrick Hand"/>
              <a:sym typeface="Patrick Hand"/>
            </a:endParaRPr>
          </a:p>
        </p:txBody>
      </p:sp>
      <p:sp>
        <p:nvSpPr>
          <p:cNvPr id="350" name="Google Shape;350;g237be279222_0_119"/>
          <p:cNvSpPr txBox="1"/>
          <p:nvPr/>
        </p:nvSpPr>
        <p:spPr>
          <a:xfrm>
            <a:off x="251000" y="1234825"/>
            <a:ext cx="1108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none" cap="none" strike="noStrike">
                <a:solidFill>
                  <a:schemeClr val="dk1"/>
                </a:solidFill>
                <a:latin typeface="Patrick Hand"/>
                <a:ea typeface="Patrick Hand"/>
                <a:cs typeface="Patrick Hand"/>
                <a:sym typeface="Patrick Hand"/>
              </a:rPr>
              <a:t>¡Tarea</a:t>
            </a:r>
            <a:r>
              <a:rPr lang="es-CL" sz="2800">
                <a:solidFill>
                  <a:schemeClr val="dk1"/>
                </a:solidFill>
                <a:latin typeface="Patrick Hand"/>
                <a:ea typeface="Patrick Hand"/>
                <a:cs typeface="Patrick Hand"/>
                <a:sym typeface="Patrick Hand"/>
              </a:rPr>
              <a:t>!</a:t>
            </a:r>
            <a:r>
              <a:rPr b="0" i="0" lang="es-CL" sz="2800" u="none" cap="none" strike="noStrike">
                <a:solidFill>
                  <a:schemeClr val="dk1"/>
                </a:solidFill>
                <a:latin typeface="Patrick Hand"/>
                <a:ea typeface="Patrick Hand"/>
                <a:cs typeface="Patrick Hand"/>
                <a:sym typeface="Patrick Hand"/>
              </a:rPr>
              <a:t> ¡</a:t>
            </a:r>
            <a:r>
              <a:rPr lang="es-CL" sz="2800">
                <a:solidFill>
                  <a:schemeClr val="dk1"/>
                </a:solidFill>
                <a:latin typeface="Patrick Hand"/>
                <a:ea typeface="Patrick Hand"/>
                <a:cs typeface="Patrick Hand"/>
                <a:sym typeface="Patrick Hand"/>
              </a:rPr>
              <a:t>A</a:t>
            </a:r>
            <a:r>
              <a:rPr b="0" i="0" lang="es-CL" sz="2800" u="none" cap="none" strike="noStrike">
                <a:solidFill>
                  <a:schemeClr val="dk1"/>
                </a:solidFill>
                <a:latin typeface="Patrick Hand"/>
                <a:ea typeface="Patrick Hand"/>
                <a:cs typeface="Patrick Hand"/>
                <a:sym typeface="Patrick Hand"/>
              </a:rPr>
              <a:t>prendamos la tabla de 5!</a:t>
            </a:r>
            <a:endParaRPr b="0" i="0" sz="2800" u="none" cap="none" strike="noStrike">
              <a:solidFill>
                <a:schemeClr val="dk1"/>
              </a:solidFill>
              <a:latin typeface="Patrick Hand"/>
              <a:ea typeface="Patrick Hand"/>
              <a:cs typeface="Patrick Hand"/>
              <a:sym typeface="Patrick Hand"/>
            </a:endParaRPr>
          </a:p>
        </p:txBody>
      </p:sp>
      <p:sp>
        <p:nvSpPr>
          <p:cNvPr id="351" name="Google Shape;351;g237be279222_0_119"/>
          <p:cNvSpPr/>
          <p:nvPr/>
        </p:nvSpPr>
        <p:spPr>
          <a:xfrm>
            <a:off x="4675000" y="1758025"/>
            <a:ext cx="2606700" cy="4494600"/>
          </a:xfrm>
          <a:prstGeom prst="roundRect">
            <a:avLst>
              <a:gd fmla="val 16667" name="adj"/>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237be279222_0_119"/>
          <p:cNvSpPr txBox="1"/>
          <p:nvPr/>
        </p:nvSpPr>
        <p:spPr>
          <a:xfrm>
            <a:off x="5214625" y="1758025"/>
            <a:ext cx="3714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1 = 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2 = 10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3 = 15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4 = 20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5 = 25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6 = 30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7 = 35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8 = 40</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9 = 45</a:t>
            </a:r>
            <a:endParaRPr b="1" i="0" sz="2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800"/>
              <a:buFont typeface="Arial"/>
              <a:buNone/>
            </a:pPr>
            <a:r>
              <a:rPr b="1" i="0" lang="es-CL" sz="2800" u="none" cap="none" strike="noStrike">
                <a:solidFill>
                  <a:schemeClr val="dk1"/>
                </a:solidFill>
                <a:latin typeface="Patrick Hand"/>
                <a:ea typeface="Patrick Hand"/>
                <a:cs typeface="Patrick Hand"/>
                <a:sym typeface="Patrick Hand"/>
              </a:rPr>
              <a:t>5 x 10 = 50</a:t>
            </a:r>
            <a:endParaRPr b="1" i="0" sz="2800" u="none" cap="none" strike="noStrike">
              <a:solidFill>
                <a:schemeClr val="dk1"/>
              </a:solidFill>
              <a:latin typeface="Patrick Hand"/>
              <a:ea typeface="Patrick Hand"/>
              <a:cs typeface="Patrick Hand"/>
              <a:sym typeface="Patrick Hand"/>
            </a:endParaRPr>
          </a:p>
        </p:txBody>
      </p:sp>
      <p:pic>
        <p:nvPicPr>
          <p:cNvPr id="353" name="Google Shape;353;g237be279222_0_119"/>
          <p:cNvPicPr preferRelativeResize="0"/>
          <p:nvPr/>
        </p:nvPicPr>
        <p:blipFill>
          <a:blip r:embed="rId4">
            <a:alphaModFix/>
          </a:blip>
          <a:stretch>
            <a:fillRect/>
          </a:stretch>
        </p:blipFill>
        <p:spPr>
          <a:xfrm>
            <a:off x="10992550" y="454550"/>
            <a:ext cx="975700" cy="1029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2af07e7ba54_0_59"/>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59" name="Google Shape;359;g2af07e7ba54_0_59"/>
          <p:cNvSpPr txBox="1"/>
          <p:nvPr/>
        </p:nvSpPr>
        <p:spPr>
          <a:xfrm>
            <a:off x="1027967" y="1312067"/>
            <a:ext cx="10136100" cy="20934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Miguel ha comprado cuatro cajas de cinco lápices cada una para poder dibujar durante sus vacaciones.</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1) ¿Qué multiplicación se representa?</a:t>
            </a:r>
            <a:endParaRPr sz="3200">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lang="es-CL" sz="3200">
                <a:solidFill>
                  <a:schemeClr val="dk1"/>
                </a:solidFill>
                <a:latin typeface="Patrick Hand"/>
                <a:ea typeface="Patrick Hand"/>
                <a:cs typeface="Patrick Hand"/>
                <a:sym typeface="Patrick Hand"/>
              </a:rPr>
              <a:t>2) ¿Cuántos lápices tiene Miguel?</a:t>
            </a:r>
            <a:endParaRPr sz="1900"/>
          </a:p>
        </p:txBody>
      </p:sp>
      <p:sp>
        <p:nvSpPr>
          <p:cNvPr id="360" name="Google Shape;360;g2af07e7ba54_0_59"/>
          <p:cNvSpPr txBox="1"/>
          <p:nvPr/>
        </p:nvSpPr>
        <p:spPr>
          <a:xfrm>
            <a:off x="6861283" y="3405275"/>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CL"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CL" sz="1900" u="sng">
                <a:solidFill>
                  <a:schemeClr val="hlink"/>
                </a:solidFill>
                <a:latin typeface="Calibri"/>
                <a:ea typeface="Calibri"/>
                <a:cs typeface="Calibri"/>
                <a:sym typeface="Calibri"/>
                <a:hlinkClick r:id="rId3"/>
              </a:rPr>
              <a:t>https://forms.gle/YjrsBtNbrgvizmna6</a:t>
            </a:r>
            <a:r>
              <a:rPr b="1" lang="es-CL" sz="1900">
                <a:latin typeface="Calibri"/>
                <a:ea typeface="Calibri"/>
                <a:cs typeface="Calibri"/>
                <a:sym typeface="Calibri"/>
              </a:rPr>
              <a:t> </a:t>
            </a:r>
            <a:endParaRPr sz="1900"/>
          </a:p>
        </p:txBody>
      </p:sp>
      <p:pic>
        <p:nvPicPr>
          <p:cNvPr id="361" name="Google Shape;361;g2af07e7ba54_0_59"/>
          <p:cNvPicPr preferRelativeResize="0"/>
          <p:nvPr/>
        </p:nvPicPr>
        <p:blipFill>
          <a:blip r:embed="rId4">
            <a:alphaModFix/>
          </a:blip>
          <a:stretch>
            <a:fillRect/>
          </a:stretch>
        </p:blipFill>
        <p:spPr>
          <a:xfrm>
            <a:off x="607967" y="4148417"/>
            <a:ext cx="1746217" cy="1746234"/>
          </a:xfrm>
          <a:prstGeom prst="rect">
            <a:avLst/>
          </a:prstGeom>
          <a:noFill/>
          <a:ln>
            <a:noFill/>
          </a:ln>
        </p:spPr>
      </p:pic>
      <p:pic>
        <p:nvPicPr>
          <p:cNvPr id="362" name="Google Shape;362;g2af07e7ba54_0_59"/>
          <p:cNvPicPr preferRelativeResize="0"/>
          <p:nvPr/>
        </p:nvPicPr>
        <p:blipFill>
          <a:blip r:embed="rId4">
            <a:alphaModFix/>
          </a:blip>
          <a:stretch>
            <a:fillRect/>
          </a:stretch>
        </p:blipFill>
        <p:spPr>
          <a:xfrm>
            <a:off x="2354183" y="4148417"/>
            <a:ext cx="1746217" cy="1746234"/>
          </a:xfrm>
          <a:prstGeom prst="rect">
            <a:avLst/>
          </a:prstGeom>
          <a:noFill/>
          <a:ln>
            <a:noFill/>
          </a:ln>
        </p:spPr>
      </p:pic>
      <p:pic>
        <p:nvPicPr>
          <p:cNvPr id="363" name="Google Shape;363;g2af07e7ba54_0_59"/>
          <p:cNvPicPr preferRelativeResize="0"/>
          <p:nvPr/>
        </p:nvPicPr>
        <p:blipFill>
          <a:blip r:embed="rId4">
            <a:alphaModFix/>
          </a:blip>
          <a:stretch>
            <a:fillRect/>
          </a:stretch>
        </p:blipFill>
        <p:spPr>
          <a:xfrm>
            <a:off x="4100400" y="4148417"/>
            <a:ext cx="1746217" cy="1746234"/>
          </a:xfrm>
          <a:prstGeom prst="rect">
            <a:avLst/>
          </a:prstGeom>
          <a:noFill/>
          <a:ln>
            <a:noFill/>
          </a:ln>
        </p:spPr>
      </p:pic>
      <p:pic>
        <p:nvPicPr>
          <p:cNvPr id="364" name="Google Shape;364;g2af07e7ba54_0_59"/>
          <p:cNvPicPr preferRelativeResize="0"/>
          <p:nvPr/>
        </p:nvPicPr>
        <p:blipFill>
          <a:blip r:embed="rId4">
            <a:alphaModFix/>
          </a:blip>
          <a:stretch>
            <a:fillRect/>
          </a:stretch>
        </p:blipFill>
        <p:spPr>
          <a:xfrm>
            <a:off x="5846617" y="4148417"/>
            <a:ext cx="1746217" cy="1746234"/>
          </a:xfrm>
          <a:prstGeom prst="rect">
            <a:avLst/>
          </a:prstGeom>
          <a:noFill/>
          <a:ln>
            <a:noFill/>
          </a:ln>
        </p:spPr>
      </p:pic>
      <p:pic>
        <p:nvPicPr>
          <p:cNvPr id="365" name="Google Shape;365;g2af07e7ba54_0_59"/>
          <p:cNvPicPr preferRelativeResize="0"/>
          <p:nvPr/>
        </p:nvPicPr>
        <p:blipFill rotWithShape="1">
          <a:blip r:embed="rId5">
            <a:alphaModFix/>
          </a:blip>
          <a:srcRect b="8402" l="8402" r="8402" t="8402"/>
          <a:stretch/>
        </p:blipFill>
        <p:spPr>
          <a:xfrm>
            <a:off x="8825667" y="4148400"/>
            <a:ext cx="2167201" cy="2167201"/>
          </a:xfrm>
          <a:prstGeom prst="rect">
            <a:avLst/>
          </a:prstGeom>
          <a:noFill/>
          <a:ln>
            <a:noFill/>
          </a:ln>
        </p:spPr>
      </p:pic>
      <p:pic>
        <p:nvPicPr>
          <p:cNvPr id="366" name="Google Shape;366;g2af07e7ba54_0_59"/>
          <p:cNvPicPr preferRelativeResize="0"/>
          <p:nvPr/>
        </p:nvPicPr>
        <p:blipFill>
          <a:blip r:embed="rId6">
            <a:alphaModFix/>
          </a:blip>
          <a:stretch>
            <a:fillRect/>
          </a:stretch>
        </p:blipFill>
        <p:spPr>
          <a:xfrm>
            <a:off x="10992550" y="45455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descr="Forma&#10;&#10;Descripción generada automáticamente con confianza media" id="371" name="Google Shape;371;g2b525a4ec71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72" name="Google Shape;372;g2b525a4ec71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CL"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73" name="Google Shape;373;g2b525a4ec71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multiplicacion" id="374" name="Google Shape;374;g2b525a4ec71_0_0" title="Reforzamiento - Multiplicación (4) - Tabla del 5">
            <a:hlinkClick r:id="rId4"/>
          </p:cNvPr>
          <p:cNvPicPr preferRelativeResize="0"/>
          <p:nvPr/>
        </p:nvPicPr>
        <p:blipFill>
          <a:blip r:embed="rId5">
            <a:alphaModFix/>
          </a:blip>
          <a:stretch>
            <a:fillRect/>
          </a:stretch>
        </p:blipFill>
        <p:spPr>
          <a:xfrm>
            <a:off x="1744175" y="1398450"/>
            <a:ext cx="8703550" cy="4895750"/>
          </a:xfrm>
          <a:prstGeom prst="rect">
            <a:avLst/>
          </a:prstGeom>
          <a:noFill/>
          <a:ln cap="flat" cmpd="sng" w="28575">
            <a:solidFill>
              <a:schemeClr val="dk2"/>
            </a:solidFill>
            <a:prstDash val="solid"/>
            <a:round/>
            <a:headEnd len="sm" w="sm" type="none"/>
            <a:tailEnd len="sm" w="sm" type="none"/>
          </a:ln>
        </p:spPr>
      </p:pic>
      <p:pic>
        <p:nvPicPr>
          <p:cNvPr id="375" name="Google Shape;375;g2b525a4ec71_0_0"/>
          <p:cNvPicPr preferRelativeResize="0"/>
          <p:nvPr/>
        </p:nvPicPr>
        <p:blipFill>
          <a:blip r:embed="rId6">
            <a:alphaModFix/>
          </a:blip>
          <a:stretch>
            <a:fillRect/>
          </a:stretch>
        </p:blipFill>
        <p:spPr>
          <a:xfrm>
            <a:off x="10992550" y="454550"/>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2023-07-24T15:52:01Z</dcterms:created>
  <dc:creator>Antonia  Hola</dc:creator>
</cp:coreProperties>
</file>