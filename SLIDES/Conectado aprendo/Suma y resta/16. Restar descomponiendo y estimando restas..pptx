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4"/>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Patrick Hand"/>
      <p:regular r:id="rId25"/>
    </p:embeddedFont>
    <p:embeddedFont>
      <p:font typeface="Poppins"/>
      <p:regular r:id="rId26"/>
      <p:bold r:id="rId27"/>
      <p:italic r:id="rId28"/>
      <p:boldItalic r:id="rId29"/>
    </p:embeddedFont>
    <p:embeddedFont>
      <p:font typeface="Poppins Light"/>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Poppins-regular.fntdata"/><Relationship Id="rId25" Type="http://schemas.openxmlformats.org/officeDocument/2006/relationships/font" Target="fonts/PatrickHand-regular.fntdata"/><Relationship Id="rId28" Type="http://schemas.openxmlformats.org/officeDocument/2006/relationships/font" Target="fonts/Poppins-italic.fntdata"/><Relationship Id="rId27" Type="http://schemas.openxmlformats.org/officeDocument/2006/relationships/font" Target="fonts/Poppins-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Poppins-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Light-bold.fntdata"/><Relationship Id="rId30" Type="http://schemas.openxmlformats.org/officeDocument/2006/relationships/font" Target="fonts/PoppinsLight-regular.fntdata"/><Relationship Id="rId11" Type="http://schemas.openxmlformats.org/officeDocument/2006/relationships/slide" Target="slides/slide5.xml"/><Relationship Id="rId33" Type="http://schemas.openxmlformats.org/officeDocument/2006/relationships/font" Target="fonts/PoppinsLight-boldItalic.fntdata"/><Relationship Id="rId10" Type="http://schemas.openxmlformats.org/officeDocument/2006/relationships/slide" Target="slides/slide4.xml"/><Relationship Id="rId32" Type="http://schemas.openxmlformats.org/officeDocument/2006/relationships/font" Target="fonts/PoppinsLight-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3be7c10232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g23be7c10232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343ef3029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343ef302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343ef3029a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343ef3029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343ef3029a_0_1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343ef3029a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343ef3029a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343ef3029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3be7c1023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3be7c1023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31a13502b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31a13502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3be7c10232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3be7c10232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3be7c10232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3be7c10232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3be7c10232_1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3be7c10232_1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3be7c10232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3be7c10232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3be7c10232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3be7c10232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3be7c10232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3be7c10232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3be7c10232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23be7c10232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b51d2ccba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g2b51d2ccba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aee10fe6f7_0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rPr lang="es"/>
              <a:t>Estimar y varias preugntas de si la descomposción está bien </a:t>
            </a:r>
            <a:endParaRPr/>
          </a:p>
        </p:txBody>
      </p:sp>
      <p:sp>
        <p:nvSpPr>
          <p:cNvPr id="355" name="Google Shape;355;g2aee10fe6f7_0_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2b51d2ccbad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4" name="Google Shape;364;g2b51d2ccbad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7482fc78f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27482fc78f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60" name="Shape 60"/>
        <p:cNvGrpSpPr/>
        <p:nvPr/>
      </p:nvGrpSpPr>
      <p:grpSpPr>
        <a:xfrm>
          <a:off x="0" y="0"/>
          <a:ext cx="0" cy="0"/>
          <a:chOff x="0" y="0"/>
          <a:chExt cx="0" cy="0"/>
        </a:xfrm>
      </p:grpSpPr>
      <p:sp>
        <p:nvSpPr>
          <p:cNvPr id="61" name="Google Shape;61;p1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62" name="Google Shape;62;p1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63" name="Google Shape;63;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64" name="Google Shape;64;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65" name="Google Shape;65;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6" name="Shape 66"/>
        <p:cNvGrpSpPr/>
        <p:nvPr/>
      </p:nvGrpSpPr>
      <p:grpSpPr>
        <a:xfrm>
          <a:off x="0" y="0"/>
          <a:ext cx="0" cy="0"/>
          <a:chOff x="0" y="0"/>
          <a:chExt cx="0" cy="0"/>
        </a:xfrm>
      </p:grpSpPr>
      <p:sp>
        <p:nvSpPr>
          <p:cNvPr id="67" name="Google Shape;67;p1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68" name="Google Shape;68;p1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9" name="Google Shape;6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0" name="Shape 70"/>
        <p:cNvGrpSpPr/>
        <p:nvPr/>
      </p:nvGrpSpPr>
      <p:grpSpPr>
        <a:xfrm>
          <a:off x="0" y="0"/>
          <a:ext cx="0" cy="0"/>
          <a:chOff x="0" y="0"/>
          <a:chExt cx="0" cy="0"/>
        </a:xfrm>
      </p:grpSpPr>
      <p:sp>
        <p:nvSpPr>
          <p:cNvPr id="71" name="Google Shape;71;p1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SzPts val="3600"/>
              <a:buNone/>
              <a:defRPr sz="3600"/>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
        <p:nvSpPr>
          <p:cNvPr id="72" name="Google Shape;72;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3" name="Shape 73"/>
        <p:cNvGrpSpPr/>
        <p:nvPr/>
      </p:nvGrpSpPr>
      <p:grpSpPr>
        <a:xfrm>
          <a:off x="0" y="0"/>
          <a:ext cx="0" cy="0"/>
          <a:chOff x="0" y="0"/>
          <a:chExt cx="0" cy="0"/>
        </a:xfrm>
      </p:grpSpPr>
      <p:sp>
        <p:nvSpPr>
          <p:cNvPr id="74" name="Google Shape;74;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75" name="Google Shape;75;p1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76" name="Google Shape;76;p1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77" name="Google Shape;7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8" name="Shape 78"/>
        <p:cNvGrpSpPr/>
        <p:nvPr/>
      </p:nvGrpSpPr>
      <p:grpSpPr>
        <a:xfrm>
          <a:off x="0" y="0"/>
          <a:ext cx="0" cy="0"/>
          <a:chOff x="0" y="0"/>
          <a:chExt cx="0" cy="0"/>
        </a:xfrm>
      </p:grpSpPr>
      <p:sp>
        <p:nvSpPr>
          <p:cNvPr id="79" name="Google Shape;79;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0" name="Google Shape;80;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1" name="Shape 81"/>
        <p:cNvGrpSpPr/>
        <p:nvPr/>
      </p:nvGrpSpPr>
      <p:grpSpPr>
        <a:xfrm>
          <a:off x="0" y="0"/>
          <a:ext cx="0" cy="0"/>
          <a:chOff x="0" y="0"/>
          <a:chExt cx="0" cy="0"/>
        </a:xfrm>
      </p:grpSpPr>
      <p:sp>
        <p:nvSpPr>
          <p:cNvPr id="82" name="Google Shape;82;p2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2400"/>
              <a:buNone/>
              <a:defRPr sz="24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83" name="Google Shape;83;p2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rtl="0" algn="l">
              <a:lnSpc>
                <a:spcPct val="115000"/>
              </a:lnSpc>
              <a:spcBef>
                <a:spcPts val="0"/>
              </a:spcBef>
              <a:spcAft>
                <a:spcPts val="0"/>
              </a:spcAft>
              <a:buSzPts val="1200"/>
              <a:buChar char="●"/>
              <a:defRPr sz="12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84" name="Google Shape;8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2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rtl="0" algn="l">
              <a:lnSpc>
                <a:spcPct val="100000"/>
              </a:lnSpc>
              <a:spcBef>
                <a:spcPts val="0"/>
              </a:spcBef>
              <a:spcAft>
                <a:spcPts val="0"/>
              </a:spcAft>
              <a:buSzPts val="4800"/>
              <a:buNone/>
              <a:defRPr sz="4800"/>
            </a:lvl1pPr>
            <a:lvl2pPr lvl="1" rtl="0" algn="l">
              <a:lnSpc>
                <a:spcPct val="100000"/>
              </a:lnSpc>
              <a:spcBef>
                <a:spcPts val="0"/>
              </a:spcBef>
              <a:spcAft>
                <a:spcPts val="0"/>
              </a:spcAft>
              <a:buSzPts val="4800"/>
              <a:buNone/>
              <a:defRPr sz="4800"/>
            </a:lvl2pPr>
            <a:lvl3pPr lvl="2" rtl="0" algn="l">
              <a:lnSpc>
                <a:spcPct val="100000"/>
              </a:lnSpc>
              <a:spcBef>
                <a:spcPts val="0"/>
              </a:spcBef>
              <a:spcAft>
                <a:spcPts val="0"/>
              </a:spcAft>
              <a:buSzPts val="4800"/>
              <a:buNone/>
              <a:defRPr sz="4800"/>
            </a:lvl3pPr>
            <a:lvl4pPr lvl="3" rtl="0" algn="l">
              <a:lnSpc>
                <a:spcPct val="100000"/>
              </a:lnSpc>
              <a:spcBef>
                <a:spcPts val="0"/>
              </a:spcBef>
              <a:spcAft>
                <a:spcPts val="0"/>
              </a:spcAft>
              <a:buSzPts val="4800"/>
              <a:buNone/>
              <a:defRPr sz="4800"/>
            </a:lvl4pPr>
            <a:lvl5pPr lvl="4" rtl="0" algn="l">
              <a:lnSpc>
                <a:spcPct val="100000"/>
              </a:lnSpc>
              <a:spcBef>
                <a:spcPts val="0"/>
              </a:spcBef>
              <a:spcAft>
                <a:spcPts val="0"/>
              </a:spcAft>
              <a:buSzPts val="4800"/>
              <a:buNone/>
              <a:defRPr sz="4800"/>
            </a:lvl5pPr>
            <a:lvl6pPr lvl="5" rtl="0" algn="l">
              <a:lnSpc>
                <a:spcPct val="100000"/>
              </a:lnSpc>
              <a:spcBef>
                <a:spcPts val="0"/>
              </a:spcBef>
              <a:spcAft>
                <a:spcPts val="0"/>
              </a:spcAft>
              <a:buSzPts val="4800"/>
              <a:buNone/>
              <a:defRPr sz="4800"/>
            </a:lvl6pPr>
            <a:lvl7pPr lvl="6" rtl="0" algn="l">
              <a:lnSpc>
                <a:spcPct val="100000"/>
              </a:lnSpc>
              <a:spcBef>
                <a:spcPts val="0"/>
              </a:spcBef>
              <a:spcAft>
                <a:spcPts val="0"/>
              </a:spcAft>
              <a:buSzPts val="4800"/>
              <a:buNone/>
              <a:defRPr sz="4800"/>
            </a:lvl7pPr>
            <a:lvl8pPr lvl="7" rtl="0" algn="l">
              <a:lnSpc>
                <a:spcPct val="100000"/>
              </a:lnSpc>
              <a:spcBef>
                <a:spcPts val="0"/>
              </a:spcBef>
              <a:spcAft>
                <a:spcPts val="0"/>
              </a:spcAft>
              <a:buSzPts val="4800"/>
              <a:buNone/>
              <a:defRPr sz="4800"/>
            </a:lvl8pPr>
            <a:lvl9pPr lvl="8" rtl="0" algn="l">
              <a:lnSpc>
                <a:spcPct val="100000"/>
              </a:lnSpc>
              <a:spcBef>
                <a:spcPts val="0"/>
              </a:spcBef>
              <a:spcAft>
                <a:spcPts val="0"/>
              </a:spcAft>
              <a:buSzPts val="4800"/>
              <a:buNone/>
              <a:defRPr sz="4800"/>
            </a:lvl9pPr>
          </a:lstStyle>
          <a:p/>
        </p:txBody>
      </p:sp>
      <p:sp>
        <p:nvSpPr>
          <p:cNvPr id="87" name="Google Shape;87;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8" name="Shape 88"/>
        <p:cNvGrpSpPr/>
        <p:nvPr/>
      </p:nvGrpSpPr>
      <p:grpSpPr>
        <a:xfrm>
          <a:off x="0" y="0"/>
          <a:ext cx="0" cy="0"/>
          <a:chOff x="0" y="0"/>
          <a:chExt cx="0" cy="0"/>
        </a:xfrm>
      </p:grpSpPr>
      <p:sp>
        <p:nvSpPr>
          <p:cNvPr id="89" name="Google Shape;89;p2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4200"/>
              <a:buNone/>
              <a:defRPr sz="4200"/>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91" name="Google Shape;91;p2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92" name="Google Shape;92;p2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93" name="Google Shape;9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2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rtl="0" algn="l">
              <a:lnSpc>
                <a:spcPct val="100000"/>
              </a:lnSpc>
              <a:spcBef>
                <a:spcPts val="0"/>
              </a:spcBef>
              <a:spcAft>
                <a:spcPts val="0"/>
              </a:spcAft>
              <a:buSzPts val="1800"/>
              <a:buNone/>
              <a:defRPr/>
            </a:lvl1pPr>
          </a:lstStyle>
          <a:p/>
        </p:txBody>
      </p:sp>
      <p:sp>
        <p:nvSpPr>
          <p:cNvPr id="96" name="Google Shape;96;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7" name="Shape 97"/>
        <p:cNvGrpSpPr/>
        <p:nvPr/>
      </p:nvGrpSpPr>
      <p:grpSpPr>
        <a:xfrm>
          <a:off x="0" y="0"/>
          <a:ext cx="0" cy="0"/>
          <a:chOff x="0" y="0"/>
          <a:chExt cx="0" cy="0"/>
        </a:xfrm>
      </p:grpSpPr>
      <p:sp>
        <p:nvSpPr>
          <p:cNvPr id="98" name="Google Shape;98;p2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12000"/>
              <a:buNone/>
              <a:defRPr sz="12000"/>
            </a:lvl1pPr>
            <a:lvl2pPr lvl="1" rtl="0" algn="ctr">
              <a:lnSpc>
                <a:spcPct val="100000"/>
              </a:lnSpc>
              <a:spcBef>
                <a:spcPts val="0"/>
              </a:spcBef>
              <a:spcAft>
                <a:spcPts val="0"/>
              </a:spcAft>
              <a:buSzPts val="12000"/>
              <a:buNone/>
              <a:defRPr sz="12000"/>
            </a:lvl2pPr>
            <a:lvl3pPr lvl="2" rtl="0" algn="ctr">
              <a:lnSpc>
                <a:spcPct val="100000"/>
              </a:lnSpc>
              <a:spcBef>
                <a:spcPts val="0"/>
              </a:spcBef>
              <a:spcAft>
                <a:spcPts val="0"/>
              </a:spcAft>
              <a:buSzPts val="12000"/>
              <a:buNone/>
              <a:defRPr sz="12000"/>
            </a:lvl3pPr>
            <a:lvl4pPr lvl="3" rtl="0" algn="ctr">
              <a:lnSpc>
                <a:spcPct val="100000"/>
              </a:lnSpc>
              <a:spcBef>
                <a:spcPts val="0"/>
              </a:spcBef>
              <a:spcAft>
                <a:spcPts val="0"/>
              </a:spcAft>
              <a:buSzPts val="12000"/>
              <a:buNone/>
              <a:defRPr sz="12000"/>
            </a:lvl4pPr>
            <a:lvl5pPr lvl="4" rtl="0" algn="ctr">
              <a:lnSpc>
                <a:spcPct val="100000"/>
              </a:lnSpc>
              <a:spcBef>
                <a:spcPts val="0"/>
              </a:spcBef>
              <a:spcAft>
                <a:spcPts val="0"/>
              </a:spcAft>
              <a:buSzPts val="12000"/>
              <a:buNone/>
              <a:defRPr sz="12000"/>
            </a:lvl5pPr>
            <a:lvl6pPr lvl="5" rtl="0" algn="ctr">
              <a:lnSpc>
                <a:spcPct val="100000"/>
              </a:lnSpc>
              <a:spcBef>
                <a:spcPts val="0"/>
              </a:spcBef>
              <a:spcAft>
                <a:spcPts val="0"/>
              </a:spcAft>
              <a:buSzPts val="12000"/>
              <a:buNone/>
              <a:defRPr sz="12000"/>
            </a:lvl6pPr>
            <a:lvl7pPr lvl="6" rtl="0" algn="ctr">
              <a:lnSpc>
                <a:spcPct val="100000"/>
              </a:lnSpc>
              <a:spcBef>
                <a:spcPts val="0"/>
              </a:spcBef>
              <a:spcAft>
                <a:spcPts val="0"/>
              </a:spcAft>
              <a:buSzPts val="12000"/>
              <a:buNone/>
              <a:defRPr sz="12000"/>
            </a:lvl7pPr>
            <a:lvl8pPr lvl="7" rtl="0" algn="ctr">
              <a:lnSpc>
                <a:spcPct val="100000"/>
              </a:lnSpc>
              <a:spcBef>
                <a:spcPts val="0"/>
              </a:spcBef>
              <a:spcAft>
                <a:spcPts val="0"/>
              </a:spcAft>
              <a:buSzPts val="12000"/>
              <a:buNone/>
              <a:defRPr sz="12000"/>
            </a:lvl8pPr>
            <a:lvl9pPr lvl="8" rtl="0" algn="ctr">
              <a:lnSpc>
                <a:spcPct val="100000"/>
              </a:lnSpc>
              <a:spcBef>
                <a:spcPts val="0"/>
              </a:spcBef>
              <a:spcAft>
                <a:spcPts val="0"/>
              </a:spcAft>
              <a:buSzPts val="12000"/>
              <a:buNone/>
              <a:defRPr sz="12000"/>
            </a:lvl9pPr>
          </a:lstStyle>
          <a:p>
            <a:r>
              <a:t>xx%</a:t>
            </a:r>
          </a:p>
        </p:txBody>
      </p:sp>
      <p:sp>
        <p:nvSpPr>
          <p:cNvPr id="99" name="Google Shape;99;p2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rtl="0" algn="ctr">
              <a:lnSpc>
                <a:spcPct val="115000"/>
              </a:lnSpc>
              <a:spcBef>
                <a:spcPts val="0"/>
              </a:spcBef>
              <a:spcAft>
                <a:spcPts val="0"/>
              </a:spcAft>
              <a:buSzPts val="1800"/>
              <a:buChar char="●"/>
              <a:defRPr/>
            </a:lvl1pPr>
            <a:lvl2pPr indent="-317500" lvl="1" marL="914400" rtl="0" algn="ctr">
              <a:lnSpc>
                <a:spcPct val="115000"/>
              </a:lnSpc>
              <a:spcBef>
                <a:spcPts val="0"/>
              </a:spcBef>
              <a:spcAft>
                <a:spcPts val="0"/>
              </a:spcAft>
              <a:buSzPts val="1400"/>
              <a:buChar char="○"/>
              <a:defRPr/>
            </a:lvl2pPr>
            <a:lvl3pPr indent="-317500" lvl="2" marL="1371600" rtl="0" algn="ctr">
              <a:lnSpc>
                <a:spcPct val="115000"/>
              </a:lnSpc>
              <a:spcBef>
                <a:spcPts val="0"/>
              </a:spcBef>
              <a:spcAft>
                <a:spcPts val="0"/>
              </a:spcAft>
              <a:buSzPts val="1400"/>
              <a:buChar char="■"/>
              <a:defRPr/>
            </a:lvl3pPr>
            <a:lvl4pPr indent="-317500" lvl="3" marL="1828800" rtl="0" algn="ctr">
              <a:lnSpc>
                <a:spcPct val="115000"/>
              </a:lnSpc>
              <a:spcBef>
                <a:spcPts val="0"/>
              </a:spcBef>
              <a:spcAft>
                <a:spcPts val="0"/>
              </a:spcAft>
              <a:buSzPts val="1400"/>
              <a:buChar char="●"/>
              <a:defRPr/>
            </a:lvl4pPr>
            <a:lvl5pPr indent="-317500" lvl="4" marL="2286000" rtl="0" algn="ctr">
              <a:lnSpc>
                <a:spcPct val="115000"/>
              </a:lnSpc>
              <a:spcBef>
                <a:spcPts val="0"/>
              </a:spcBef>
              <a:spcAft>
                <a:spcPts val="0"/>
              </a:spcAft>
              <a:buSzPts val="1400"/>
              <a:buChar char="○"/>
              <a:defRPr/>
            </a:lvl5pPr>
            <a:lvl6pPr indent="-317500" lvl="5" marL="2743200" rtl="0" algn="ctr">
              <a:lnSpc>
                <a:spcPct val="115000"/>
              </a:lnSpc>
              <a:spcBef>
                <a:spcPts val="0"/>
              </a:spcBef>
              <a:spcAft>
                <a:spcPts val="0"/>
              </a:spcAft>
              <a:buSzPts val="1400"/>
              <a:buChar char="■"/>
              <a:defRPr/>
            </a:lvl6pPr>
            <a:lvl7pPr indent="-317500" lvl="6" marL="3200400" rtl="0" algn="ctr">
              <a:lnSpc>
                <a:spcPct val="115000"/>
              </a:lnSpc>
              <a:spcBef>
                <a:spcPts val="0"/>
              </a:spcBef>
              <a:spcAft>
                <a:spcPts val="0"/>
              </a:spcAft>
              <a:buSzPts val="1400"/>
              <a:buChar char="●"/>
              <a:defRPr/>
            </a:lvl7pPr>
            <a:lvl8pPr indent="-317500" lvl="7" marL="3657600" rtl="0" algn="ctr">
              <a:lnSpc>
                <a:spcPct val="115000"/>
              </a:lnSpc>
              <a:spcBef>
                <a:spcPts val="0"/>
              </a:spcBef>
              <a:spcAft>
                <a:spcPts val="0"/>
              </a:spcAft>
              <a:buSzPts val="1400"/>
              <a:buChar char="○"/>
              <a:defRPr/>
            </a:lvl8pPr>
            <a:lvl9pPr indent="-317500" lvl="8" marL="4114800" rtl="0" algn="ctr">
              <a:lnSpc>
                <a:spcPct val="115000"/>
              </a:lnSpc>
              <a:spcBef>
                <a:spcPts val="0"/>
              </a:spcBef>
              <a:spcAft>
                <a:spcPts val="0"/>
              </a:spcAft>
              <a:buSzPts val="1400"/>
              <a:buChar char="■"/>
              <a:defRPr/>
            </a:lvl9pPr>
          </a:lstStyle>
          <a:p/>
        </p:txBody>
      </p:sp>
      <p:sp>
        <p:nvSpPr>
          <p:cNvPr id="100" name="Google Shape;100;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1" name="Shape 101"/>
        <p:cNvGrpSpPr/>
        <p:nvPr/>
      </p:nvGrpSpPr>
      <p:grpSpPr>
        <a:xfrm>
          <a:off x="0" y="0"/>
          <a:ext cx="0" cy="0"/>
          <a:chOff x="0" y="0"/>
          <a:chExt cx="0" cy="0"/>
        </a:xfrm>
      </p:grpSpPr>
      <p:sp>
        <p:nvSpPr>
          <p:cNvPr id="102" name="Google Shape;102;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3.xml"/><Relationship Id="rId12" Type="http://schemas.openxmlformats.org/officeDocument/2006/relationships/slideLayout" Target="../slideLayouts/slideLayout23.xml"/><Relationship Id="rId1" Type="http://schemas.openxmlformats.org/officeDocument/2006/relationships/image" Target="../media/image1.jp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6" name="Shape 56"/>
        <p:cNvGrpSpPr/>
        <p:nvPr/>
      </p:nvGrpSpPr>
      <p:grpSpPr>
        <a:xfrm>
          <a:off x="0" y="0"/>
          <a:ext cx="0" cy="0"/>
          <a:chOff x="0" y="0"/>
          <a:chExt cx="0" cy="0"/>
        </a:xfrm>
      </p:grpSpPr>
      <p:sp>
        <p:nvSpPr>
          <p:cNvPr id="57" name="Google Shape;57;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8" name="Google Shape;58;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9" name="Google Shape;59;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jp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jp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jp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jp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jp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jp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0.jpg"/><Relationship Id="rId4" Type="http://schemas.openxmlformats.org/officeDocument/2006/relationships/hyperlink" Target="http://www.youtube.com/watch?v=XuFQcNxV_tM" TargetMode="External"/><Relationship Id="rId5" Type="http://schemas.openxmlformats.org/officeDocument/2006/relationships/image" Target="../media/image9.jpg"/><Relationship Id="rId6"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hyperlink" Target="https://forms.gle/Gd9uGavZ28esQG3E6" TargetMode="External"/><Relationship Id="rId4" Type="http://schemas.openxmlformats.org/officeDocument/2006/relationships/image" Target="../media/image6.png"/><Relationship Id="rId5"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0.jpg"/><Relationship Id="rId4" Type="http://schemas.openxmlformats.org/officeDocument/2006/relationships/hyperlink" Target="http://www.youtube.com/watch?v=PqskowkQdhA" TargetMode="External"/><Relationship Id="rId5" Type="http://schemas.openxmlformats.org/officeDocument/2006/relationships/image" Target="../media/image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p26"/>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108" name="Google Shape;108;p26"/>
          <p:cNvPicPr preferRelativeResize="0"/>
          <p:nvPr/>
        </p:nvPicPr>
        <p:blipFill>
          <a:blip r:embed="rId4">
            <a:alphaModFix/>
          </a:blip>
          <a:stretch>
            <a:fillRect/>
          </a:stretch>
        </p:blipFill>
        <p:spPr>
          <a:xfrm>
            <a:off x="8204475" y="4170775"/>
            <a:ext cx="754750" cy="7961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7"/>
          <p:cNvSpPr/>
          <p:nvPr/>
        </p:nvSpPr>
        <p:spPr>
          <a:xfrm>
            <a:off x="1903631" y="472931"/>
            <a:ext cx="5795400" cy="4728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114" name="Google Shape;114;p27"/>
          <p:cNvSpPr txBox="1"/>
          <p:nvPr/>
        </p:nvSpPr>
        <p:spPr>
          <a:xfrm>
            <a:off x="2638650" y="507467"/>
            <a:ext cx="4318500" cy="472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s" sz="2100">
                <a:solidFill>
                  <a:schemeClr val="lt1"/>
                </a:solidFill>
                <a:latin typeface="Poppins"/>
                <a:ea typeface="Poppins"/>
                <a:cs typeface="Poppins"/>
                <a:sym typeface="Poppins"/>
              </a:rPr>
              <a:t>PLANIFICACIÓN TUTORÍA</a:t>
            </a:r>
            <a:endParaRPr sz="2100">
              <a:solidFill>
                <a:schemeClr val="lt1"/>
              </a:solidFill>
              <a:latin typeface="Poppins"/>
              <a:ea typeface="Poppins"/>
              <a:cs typeface="Poppins"/>
              <a:sym typeface="Poppins"/>
            </a:endParaRPr>
          </a:p>
        </p:txBody>
      </p:sp>
      <p:sp>
        <p:nvSpPr>
          <p:cNvPr id="115" name="Google Shape;115;p27"/>
          <p:cNvSpPr txBox="1"/>
          <p:nvPr/>
        </p:nvSpPr>
        <p:spPr>
          <a:xfrm>
            <a:off x="589763" y="1255031"/>
            <a:ext cx="8188800" cy="702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b="1" lang="es" sz="1200">
                <a:solidFill>
                  <a:srgbClr val="3259A4"/>
                </a:solidFill>
                <a:latin typeface="Poppins"/>
                <a:ea typeface="Poppins"/>
                <a:cs typeface="Poppins"/>
                <a:sym typeface="Poppins"/>
              </a:rPr>
              <a:t>Propósito</a:t>
            </a:r>
            <a:r>
              <a:rPr b="1" lang="es" sz="1200">
                <a:solidFill>
                  <a:schemeClr val="dk1"/>
                </a:solidFill>
                <a:latin typeface="Poppins"/>
                <a:ea typeface="Poppins"/>
                <a:cs typeface="Poppins"/>
                <a:sym typeface="Poppins"/>
              </a:rPr>
              <a:t>:</a:t>
            </a:r>
            <a:r>
              <a:rPr lang="es" sz="1200">
                <a:solidFill>
                  <a:schemeClr val="dk1"/>
                </a:solidFill>
                <a:latin typeface="Poppins Light"/>
                <a:ea typeface="Poppins Light"/>
                <a:cs typeface="Poppins Light"/>
                <a:sym typeface="Poppins Light"/>
              </a:rPr>
              <a:t> </a:t>
            </a:r>
            <a:r>
              <a:rPr lang="es" sz="1200">
                <a:solidFill>
                  <a:schemeClr val="dk1"/>
                </a:solidFill>
                <a:latin typeface="Poppins Light"/>
                <a:ea typeface="Poppins Light"/>
                <a:cs typeface="Poppins Light"/>
                <a:sym typeface="Poppins Light"/>
              </a:rPr>
              <a:t>Revisar y aplicar los conocimientos adquiridos sobre las divisiones inexactas por medio de</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Clr>
                <a:schemeClr val="dk1"/>
              </a:buClr>
              <a:buSzPts val="1100"/>
              <a:buFont typeface="Arial"/>
              <a:buNone/>
            </a:pPr>
            <a:r>
              <a:rPr lang="es" sz="1200">
                <a:solidFill>
                  <a:schemeClr val="dk1"/>
                </a:solidFill>
                <a:latin typeface="Poppins Light"/>
                <a:ea typeface="Poppins Light"/>
                <a:cs typeface="Poppins Light"/>
                <a:sym typeface="Poppins Light"/>
              </a:rPr>
              <a:t>distintos ejercicios.</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p:txBody>
      </p:sp>
      <p:sp>
        <p:nvSpPr>
          <p:cNvPr id="116" name="Google Shape;116;p27"/>
          <p:cNvSpPr txBox="1"/>
          <p:nvPr/>
        </p:nvSpPr>
        <p:spPr>
          <a:xfrm>
            <a:off x="868688" y="2322975"/>
            <a:ext cx="3524100" cy="2521200"/>
          </a:xfrm>
          <a:prstGeom prst="rect">
            <a:avLst/>
          </a:prstGeom>
          <a:noFill/>
          <a:ln cap="flat" cmpd="sng" w="28575">
            <a:solidFill>
              <a:srgbClr val="3259A4"/>
            </a:solidFill>
            <a:prstDash val="solid"/>
            <a:round/>
            <a:headEnd len="sm" w="sm" type="none"/>
            <a:tailEnd len="sm" w="sm" type="none"/>
          </a:ln>
        </p:spPr>
        <p:txBody>
          <a:bodyPr anchorCtr="0" anchor="t" bIns="68575" lIns="68575" spcFirstLastPara="1" rIns="68575" wrap="square" tIns="68575">
            <a:noAutofit/>
          </a:bodyPr>
          <a:lstStyle/>
          <a:p>
            <a:pPr indent="0" lvl="0" marL="0" rtl="0" algn="ctr">
              <a:spcBef>
                <a:spcPts val="0"/>
              </a:spcBef>
              <a:spcAft>
                <a:spcPts val="0"/>
              </a:spcAft>
              <a:buNone/>
            </a:pPr>
            <a:r>
              <a:rPr lang="es" sz="1900">
                <a:solidFill>
                  <a:schemeClr val="dk1"/>
                </a:solidFill>
                <a:latin typeface="Poppins"/>
                <a:ea typeface="Poppins"/>
                <a:cs typeface="Poppins"/>
                <a:sym typeface="Poppins"/>
              </a:rPr>
              <a:t>Objetivos de la Clase</a:t>
            </a:r>
            <a:endParaRPr sz="1900">
              <a:solidFill>
                <a:schemeClr val="dk1"/>
              </a:solidFill>
              <a:latin typeface="Poppins"/>
              <a:ea typeface="Poppins"/>
              <a:cs typeface="Poppins"/>
              <a:sym typeface="Poppins"/>
            </a:endParaRPr>
          </a:p>
          <a:p>
            <a:pPr indent="0" lvl="0" marL="0" rtl="0" algn="ctr">
              <a:spcBef>
                <a:spcPts val="0"/>
              </a:spcBef>
              <a:spcAft>
                <a:spcPts val="0"/>
              </a:spcAft>
              <a:buNone/>
            </a:pPr>
            <a:r>
              <a:t/>
            </a:r>
            <a:endParaRPr sz="19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1. Repasar la descomposición de número para aplicarla en la resta.</a:t>
            </a:r>
            <a:endParaRPr sz="12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2. Recordar cómo estimar números de dos dígitos para aplicarlo en la resta.</a:t>
            </a:r>
            <a:endParaRPr sz="12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3. Recordar cómo estimar números de tres dígitos para aplicarlo en la resta.</a:t>
            </a:r>
            <a:endParaRPr sz="12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ctr">
              <a:spcBef>
                <a:spcPts val="0"/>
              </a:spcBef>
              <a:spcAft>
                <a:spcPts val="0"/>
              </a:spcAft>
              <a:buNone/>
            </a:pPr>
            <a:r>
              <a:t/>
            </a:r>
            <a:endParaRPr sz="2100">
              <a:solidFill>
                <a:schemeClr val="dk1"/>
              </a:solidFill>
              <a:latin typeface="Poppins"/>
              <a:ea typeface="Poppins"/>
              <a:cs typeface="Poppins"/>
              <a:sym typeface="Poppins"/>
            </a:endParaRPr>
          </a:p>
        </p:txBody>
      </p:sp>
      <p:sp>
        <p:nvSpPr>
          <p:cNvPr id="117" name="Google Shape;117;p27"/>
          <p:cNvSpPr txBox="1"/>
          <p:nvPr/>
        </p:nvSpPr>
        <p:spPr>
          <a:xfrm>
            <a:off x="4782038" y="2322881"/>
            <a:ext cx="3524100" cy="2521200"/>
          </a:xfrm>
          <a:prstGeom prst="rect">
            <a:avLst/>
          </a:prstGeom>
          <a:noFill/>
          <a:ln cap="flat" cmpd="sng" w="28575">
            <a:solidFill>
              <a:srgbClr val="3259A4"/>
            </a:solidFill>
            <a:prstDash val="solid"/>
            <a:round/>
            <a:headEnd len="sm" w="sm" type="none"/>
            <a:tailEnd len="sm" w="sm" type="none"/>
          </a:ln>
        </p:spPr>
        <p:txBody>
          <a:bodyPr anchorCtr="0" anchor="t" bIns="68575" lIns="68575" spcFirstLastPara="1" rIns="68575" wrap="square" tIns="68575">
            <a:noAutofit/>
          </a:bodyPr>
          <a:lstStyle/>
          <a:p>
            <a:pPr indent="0" lvl="0" marL="0" rtl="0" algn="ctr">
              <a:spcBef>
                <a:spcPts val="0"/>
              </a:spcBef>
              <a:spcAft>
                <a:spcPts val="0"/>
              </a:spcAft>
              <a:buNone/>
            </a:pPr>
            <a:r>
              <a:rPr lang="es" sz="1900">
                <a:solidFill>
                  <a:schemeClr val="dk1"/>
                </a:solidFill>
                <a:latin typeface="Poppins"/>
                <a:ea typeface="Poppins"/>
                <a:cs typeface="Poppins"/>
                <a:sym typeface="Poppins"/>
              </a:rPr>
              <a:t>Conceptos Clave</a:t>
            </a:r>
            <a:endParaRPr sz="1900">
              <a:solidFill>
                <a:schemeClr val="dk1"/>
              </a:solidFill>
              <a:latin typeface="Poppins"/>
              <a:ea typeface="Poppins"/>
              <a:cs typeface="Poppins"/>
              <a:sym typeface="Poppins"/>
            </a:endParaRPr>
          </a:p>
          <a:p>
            <a:pPr indent="0" lvl="0" marL="0" rtl="0" algn="ctr">
              <a:spcBef>
                <a:spcPts val="0"/>
              </a:spcBef>
              <a:spcAft>
                <a:spcPts val="0"/>
              </a:spcAft>
              <a:buNone/>
            </a:pPr>
            <a:r>
              <a:t/>
            </a:r>
            <a:endParaRPr sz="21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1. Descomposición de números.</a:t>
            </a:r>
            <a:endParaRPr sz="12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2. Resta aproximada.</a:t>
            </a:r>
            <a:endParaRPr sz="12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3. Redondeo a la decena.</a:t>
            </a:r>
            <a:endParaRPr sz="12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4. Redondeo a la centena.</a:t>
            </a:r>
            <a:endParaRPr sz="12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800"/>
              <a:buFont typeface="Arial"/>
              <a:buNone/>
            </a:pPr>
            <a:r>
              <a:t/>
            </a:r>
            <a:endParaRPr>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400">
              <a:solidFill>
                <a:schemeClr val="dk1"/>
              </a:solidFill>
              <a:latin typeface="Poppins"/>
              <a:ea typeface="Poppins"/>
              <a:cs typeface="Poppins"/>
              <a:sym typeface="Poppins"/>
            </a:endParaRPr>
          </a:p>
          <a:p>
            <a:pPr indent="0" lvl="0" marL="0" rtl="0" algn="ctr">
              <a:spcBef>
                <a:spcPts val="0"/>
              </a:spcBef>
              <a:spcAft>
                <a:spcPts val="0"/>
              </a:spcAft>
              <a:buNone/>
            </a:pPr>
            <a:r>
              <a:t/>
            </a:r>
            <a:endParaRPr sz="2100">
              <a:solidFill>
                <a:schemeClr val="dk1"/>
              </a:solidFill>
              <a:latin typeface="Poppins"/>
              <a:ea typeface="Poppins"/>
              <a:cs typeface="Poppins"/>
              <a:sym typeface="Poppins"/>
            </a:endParaRPr>
          </a:p>
        </p:txBody>
      </p:sp>
      <p:sp>
        <p:nvSpPr>
          <p:cNvPr id="118" name="Google Shape;118;p27"/>
          <p:cNvSpPr txBox="1"/>
          <p:nvPr/>
        </p:nvSpPr>
        <p:spPr>
          <a:xfrm>
            <a:off x="147788" y="85331"/>
            <a:ext cx="3423300" cy="3273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s" sz="1400">
                <a:solidFill>
                  <a:schemeClr val="dk1"/>
                </a:solidFill>
                <a:latin typeface="Calibri"/>
                <a:ea typeface="Calibri"/>
                <a:cs typeface="Calibri"/>
                <a:sym typeface="Calibri"/>
              </a:rPr>
              <a:t>IMPORTANTE: Información sólo para tutor/a</a:t>
            </a:r>
            <a:endParaRPr sz="1400">
              <a:solidFill>
                <a:schemeClr val="dk1"/>
              </a:solidFill>
              <a:latin typeface="Calibri"/>
              <a:ea typeface="Calibri"/>
              <a:cs typeface="Calibri"/>
              <a:sym typeface="Calibri"/>
            </a:endParaRPr>
          </a:p>
        </p:txBody>
      </p:sp>
      <p:pic>
        <p:nvPicPr>
          <p:cNvPr id="119" name="Google Shape;119;p27"/>
          <p:cNvPicPr preferRelativeResize="0"/>
          <p:nvPr/>
        </p:nvPicPr>
        <p:blipFill>
          <a:blip r:embed="rId3">
            <a:alphaModFix/>
          </a:blip>
          <a:stretch>
            <a:fillRect/>
          </a:stretch>
        </p:blipFill>
        <p:spPr>
          <a:xfrm>
            <a:off x="8191150" y="184125"/>
            <a:ext cx="7547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8"/>
          <p:cNvSpPr txBox="1"/>
          <p:nvPr/>
        </p:nvSpPr>
        <p:spPr>
          <a:xfrm>
            <a:off x="589763" y="1197881"/>
            <a:ext cx="8188800" cy="702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b="1" lang="es" sz="1200">
                <a:solidFill>
                  <a:srgbClr val="3259A4"/>
                </a:solidFill>
                <a:latin typeface="Poppins"/>
                <a:ea typeface="Poppins"/>
                <a:cs typeface="Poppins"/>
                <a:sym typeface="Poppins"/>
              </a:rPr>
              <a:t>Consejos para realizar la sesión</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p:txBody>
      </p:sp>
      <p:sp>
        <p:nvSpPr>
          <p:cNvPr id="125" name="Google Shape;125;p28"/>
          <p:cNvSpPr txBox="1"/>
          <p:nvPr/>
        </p:nvSpPr>
        <p:spPr>
          <a:xfrm>
            <a:off x="704063" y="1598681"/>
            <a:ext cx="7801800" cy="8181000"/>
          </a:xfrm>
          <a:prstGeom prst="rect">
            <a:avLst/>
          </a:prstGeom>
          <a:noFill/>
          <a:ln>
            <a:noFill/>
          </a:ln>
        </p:spPr>
        <p:txBody>
          <a:bodyPr anchorCtr="0" anchor="t" bIns="68575" lIns="68575" spcFirstLastPara="1" rIns="68575" wrap="square" tIns="68575">
            <a:spAutoFit/>
          </a:bodyPr>
          <a:lstStyle/>
          <a:p>
            <a:pPr indent="0" lvl="0" marL="0" rtl="0" algn="just">
              <a:lnSpc>
                <a:spcPct val="150000"/>
              </a:lnSpc>
              <a:spcBef>
                <a:spcPts val="0"/>
              </a:spcBef>
              <a:spcAft>
                <a:spcPts val="0"/>
              </a:spcAft>
              <a:buClr>
                <a:schemeClr val="dk1"/>
              </a:buClr>
              <a:buSzPts val="1100"/>
              <a:buFont typeface="Arial"/>
              <a:buNone/>
            </a:pPr>
            <a:r>
              <a:rPr lang="es" sz="1100">
                <a:latin typeface="Poppins"/>
                <a:ea typeface="Poppins"/>
                <a:cs typeface="Poppins"/>
                <a:sym typeface="Poppins"/>
              </a:rPr>
              <a:t>En esta sesión recordarán conceptos que revisaron para la suma de número pero que ahora utilizarán para restar. En esa línea, prepara una recta numérica para recordarle a tu estudiante el proceso de redondeo y estimación de forma visual.</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sz="1100">
                <a:latin typeface="Poppins"/>
                <a:ea typeface="Poppins"/>
                <a:cs typeface="Poppins"/>
                <a:sym typeface="Poppins"/>
              </a:rPr>
              <a:t>Durante el proceso de </a:t>
            </a:r>
            <a:r>
              <a:rPr b="1" lang="es" sz="1100">
                <a:latin typeface="Poppins"/>
                <a:ea typeface="Poppins"/>
                <a:cs typeface="Poppins"/>
                <a:sym typeface="Poppins"/>
              </a:rPr>
              <a:t>descomposición</a:t>
            </a:r>
            <a:r>
              <a:rPr lang="es" sz="1100">
                <a:latin typeface="Poppins"/>
                <a:ea typeface="Poppins"/>
                <a:cs typeface="Poppins"/>
                <a:sym typeface="Poppins"/>
              </a:rPr>
              <a:t>, a diferencia de las sumas, </a:t>
            </a:r>
            <a:r>
              <a:rPr b="1" lang="es" sz="1100">
                <a:latin typeface="Poppins"/>
                <a:ea typeface="Poppins"/>
                <a:cs typeface="Poppins"/>
                <a:sym typeface="Poppins"/>
              </a:rPr>
              <a:t>solo lo harán para el minuendo</a:t>
            </a:r>
            <a:r>
              <a:rPr lang="es" sz="1100">
                <a:latin typeface="Poppins"/>
                <a:ea typeface="Poppins"/>
                <a:cs typeface="Poppins"/>
                <a:sym typeface="Poppins"/>
              </a:rPr>
              <a:t> y con este realizarán dos restas consecutivas. Al terminar de revisar el procedimiento, pídele a tu estudiante que </a:t>
            </a:r>
            <a:r>
              <a:rPr b="1" lang="es" sz="1100">
                <a:latin typeface="Poppins"/>
                <a:ea typeface="Poppins"/>
                <a:cs typeface="Poppins"/>
                <a:sym typeface="Poppins"/>
              </a:rPr>
              <a:t>resuelva algún ejemplo de la forma que han aprendido anteriormente de tal forma de mostrar la equivalencia en los desarrollos.</a:t>
            </a:r>
            <a:endParaRPr b="1"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b="1"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b="1" sz="1100">
              <a:latin typeface="Poppins"/>
              <a:ea typeface="Poppins"/>
              <a:cs typeface="Poppins"/>
              <a:sym typeface="Poppins"/>
            </a:endParaRPr>
          </a:p>
          <a:p>
            <a:pPr indent="0" lvl="0" marL="0" rtl="0" algn="just">
              <a:lnSpc>
                <a:spcPct val="150000"/>
              </a:lnSpc>
              <a:spcBef>
                <a:spcPts val="0"/>
              </a:spcBef>
              <a:spcAft>
                <a:spcPts val="0"/>
              </a:spcAft>
              <a:buNone/>
            </a:pPr>
            <a:r>
              <a:t/>
            </a:r>
            <a:endParaRPr i="1" sz="1100">
              <a:latin typeface="Poppins"/>
              <a:ea typeface="Poppins"/>
              <a:cs typeface="Poppins"/>
              <a:sym typeface="Poppins"/>
            </a:endParaRPr>
          </a:p>
        </p:txBody>
      </p:sp>
      <p:sp>
        <p:nvSpPr>
          <p:cNvPr id="126" name="Google Shape;126;p28"/>
          <p:cNvSpPr txBox="1"/>
          <p:nvPr/>
        </p:nvSpPr>
        <p:spPr>
          <a:xfrm>
            <a:off x="147788" y="85331"/>
            <a:ext cx="3423300" cy="3273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s" sz="1400">
                <a:solidFill>
                  <a:schemeClr val="dk1"/>
                </a:solidFill>
                <a:latin typeface="Calibri"/>
                <a:ea typeface="Calibri"/>
                <a:cs typeface="Calibri"/>
                <a:sym typeface="Calibri"/>
              </a:rPr>
              <a:t>IMPORTANTE: Información sólo para tutor/a</a:t>
            </a:r>
            <a:endParaRPr sz="1400">
              <a:solidFill>
                <a:schemeClr val="dk1"/>
              </a:solidFill>
              <a:latin typeface="Calibri"/>
              <a:ea typeface="Calibri"/>
              <a:cs typeface="Calibri"/>
              <a:sym typeface="Calibri"/>
            </a:endParaRPr>
          </a:p>
        </p:txBody>
      </p:sp>
      <p:sp>
        <p:nvSpPr>
          <p:cNvPr id="127" name="Google Shape;127;p28"/>
          <p:cNvSpPr/>
          <p:nvPr/>
        </p:nvSpPr>
        <p:spPr>
          <a:xfrm>
            <a:off x="1903631" y="472931"/>
            <a:ext cx="5795400" cy="4728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128" name="Google Shape;128;p28"/>
          <p:cNvSpPr txBox="1"/>
          <p:nvPr/>
        </p:nvSpPr>
        <p:spPr>
          <a:xfrm>
            <a:off x="2638650" y="507467"/>
            <a:ext cx="4318500" cy="472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s" sz="2100">
                <a:solidFill>
                  <a:schemeClr val="lt1"/>
                </a:solidFill>
                <a:latin typeface="Poppins"/>
                <a:ea typeface="Poppins"/>
                <a:cs typeface="Poppins"/>
                <a:sym typeface="Poppins"/>
              </a:rPr>
              <a:t>PLANIFICACIÓN TUTORÍA</a:t>
            </a:r>
            <a:endParaRPr sz="2100">
              <a:solidFill>
                <a:schemeClr val="lt1"/>
              </a:solidFill>
              <a:latin typeface="Poppins"/>
              <a:ea typeface="Poppins"/>
              <a:cs typeface="Poppins"/>
              <a:sym typeface="Poppins"/>
            </a:endParaRPr>
          </a:p>
        </p:txBody>
      </p:sp>
      <p:pic>
        <p:nvPicPr>
          <p:cNvPr id="129" name="Google Shape;129;p28"/>
          <p:cNvPicPr preferRelativeResize="0"/>
          <p:nvPr/>
        </p:nvPicPr>
        <p:blipFill>
          <a:blip r:embed="rId3">
            <a:alphaModFix/>
          </a:blip>
          <a:stretch>
            <a:fillRect/>
          </a:stretch>
        </p:blipFill>
        <p:spPr>
          <a:xfrm>
            <a:off x="8191150" y="184125"/>
            <a:ext cx="754750" cy="796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9"/>
          <p:cNvSpPr txBox="1"/>
          <p:nvPr/>
        </p:nvSpPr>
        <p:spPr>
          <a:xfrm>
            <a:off x="589763" y="1197881"/>
            <a:ext cx="8188800" cy="702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b="1" lang="es" sz="1200">
                <a:solidFill>
                  <a:srgbClr val="3259A4"/>
                </a:solidFill>
                <a:latin typeface="Poppins"/>
                <a:ea typeface="Poppins"/>
                <a:cs typeface="Poppins"/>
                <a:sym typeface="Poppins"/>
              </a:rPr>
              <a:t>Consejos para realizar la sesión</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p:txBody>
      </p:sp>
      <p:sp>
        <p:nvSpPr>
          <p:cNvPr id="135" name="Google Shape;135;p29"/>
          <p:cNvSpPr txBox="1"/>
          <p:nvPr/>
        </p:nvSpPr>
        <p:spPr>
          <a:xfrm>
            <a:off x="704063" y="1598681"/>
            <a:ext cx="7801800" cy="7927200"/>
          </a:xfrm>
          <a:prstGeom prst="rect">
            <a:avLst/>
          </a:prstGeom>
          <a:noFill/>
          <a:ln>
            <a:noFill/>
          </a:ln>
        </p:spPr>
        <p:txBody>
          <a:bodyPr anchorCtr="0" anchor="t" bIns="68575" lIns="68575" spcFirstLastPara="1" rIns="68575" wrap="square" tIns="68575">
            <a:spAutoFit/>
          </a:bodyPr>
          <a:lstStyle/>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sz="1100">
                <a:latin typeface="Poppins"/>
                <a:ea typeface="Poppins"/>
                <a:cs typeface="Poppins"/>
                <a:sym typeface="Poppins"/>
              </a:rPr>
              <a:t>A la hora de </a:t>
            </a:r>
            <a:r>
              <a:rPr b="1" lang="es" sz="1100">
                <a:latin typeface="Poppins"/>
                <a:ea typeface="Poppins"/>
                <a:cs typeface="Poppins"/>
                <a:sym typeface="Poppins"/>
              </a:rPr>
              <a:t>estimar números </a:t>
            </a:r>
            <a:r>
              <a:rPr lang="es" sz="1100">
                <a:latin typeface="Poppins"/>
                <a:ea typeface="Poppins"/>
                <a:cs typeface="Poppins"/>
                <a:sym typeface="Poppins"/>
              </a:rPr>
              <a:t>de dos dígitos, </a:t>
            </a:r>
            <a:r>
              <a:rPr b="1" lang="es" sz="1100">
                <a:latin typeface="Poppins"/>
                <a:ea typeface="Poppins"/>
                <a:cs typeface="Poppins"/>
                <a:sym typeface="Poppins"/>
              </a:rPr>
              <a:t>utiliza la recta numérica para mostrar cómo el número se aproxima al valor más cercano </a:t>
            </a:r>
            <a:r>
              <a:rPr lang="es" sz="1100">
                <a:latin typeface="Poppins"/>
                <a:ea typeface="Poppins"/>
                <a:cs typeface="Poppins"/>
                <a:sym typeface="Poppins"/>
              </a:rPr>
              <a:t>si su unidad es igual o mayor a 5. La regla vista en la suma es la misma y se mantiene para la resta. En el caso de </a:t>
            </a:r>
            <a:r>
              <a:rPr b="1" lang="es" sz="1100">
                <a:latin typeface="Poppins"/>
                <a:ea typeface="Poppins"/>
                <a:cs typeface="Poppins"/>
                <a:sym typeface="Poppins"/>
              </a:rPr>
              <a:t>tres dígitos</a:t>
            </a:r>
            <a:r>
              <a:rPr lang="es" sz="1100">
                <a:latin typeface="Poppins"/>
                <a:ea typeface="Poppins"/>
                <a:cs typeface="Poppins"/>
                <a:sym typeface="Poppins"/>
              </a:rPr>
              <a:t>, repite el mismo procedimiento anterior, solo que la </a:t>
            </a:r>
            <a:r>
              <a:rPr b="1" lang="es" sz="1100">
                <a:latin typeface="Poppins"/>
                <a:ea typeface="Poppins"/>
                <a:cs typeface="Poppins"/>
                <a:sym typeface="Poppins"/>
              </a:rPr>
              <a:t>regla de redondeo</a:t>
            </a:r>
            <a:r>
              <a:rPr lang="es" sz="1100">
                <a:latin typeface="Poppins"/>
                <a:ea typeface="Poppins"/>
                <a:cs typeface="Poppins"/>
                <a:sym typeface="Poppins"/>
              </a:rPr>
              <a:t> se aplica </a:t>
            </a:r>
            <a:r>
              <a:rPr b="1" lang="es" sz="1100">
                <a:latin typeface="Poppins"/>
                <a:ea typeface="Poppins"/>
                <a:cs typeface="Poppins"/>
                <a:sym typeface="Poppins"/>
              </a:rPr>
              <a:t>revisando las decenas</a:t>
            </a:r>
            <a:r>
              <a:rPr lang="es" sz="1100">
                <a:latin typeface="Poppins"/>
                <a:ea typeface="Poppins"/>
                <a:cs typeface="Poppins"/>
                <a:sym typeface="Poppins"/>
              </a:rPr>
              <a:t>.</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sz="1100">
                <a:latin typeface="Poppins"/>
                <a:ea typeface="Poppins"/>
                <a:cs typeface="Poppins"/>
                <a:sym typeface="Poppins"/>
              </a:rPr>
              <a:t>Al finalizar, después de practicar los distintos redondeos, </a:t>
            </a:r>
            <a:r>
              <a:rPr b="1" lang="es" sz="1100">
                <a:latin typeface="Poppins"/>
                <a:ea typeface="Poppins"/>
                <a:cs typeface="Poppins"/>
                <a:sym typeface="Poppins"/>
              </a:rPr>
              <a:t>pregúntale a tu estudiante si tuvo alguna confusión con lo revisado</a:t>
            </a:r>
            <a:r>
              <a:rPr lang="es" sz="1100">
                <a:latin typeface="Poppins"/>
                <a:ea typeface="Poppins"/>
                <a:cs typeface="Poppins"/>
                <a:sym typeface="Poppins"/>
              </a:rPr>
              <a:t>. Hazle notar que es muy parecido a lo que ya aprendieron con las sumas, tan solo que ahora se está aplicando en las restas.</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b="1"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b="1" sz="1100">
              <a:latin typeface="Poppins"/>
              <a:ea typeface="Poppins"/>
              <a:cs typeface="Poppins"/>
              <a:sym typeface="Poppins"/>
            </a:endParaRPr>
          </a:p>
          <a:p>
            <a:pPr indent="0" lvl="0" marL="0" rtl="0" algn="just">
              <a:lnSpc>
                <a:spcPct val="150000"/>
              </a:lnSpc>
              <a:spcBef>
                <a:spcPts val="0"/>
              </a:spcBef>
              <a:spcAft>
                <a:spcPts val="0"/>
              </a:spcAft>
              <a:buNone/>
            </a:pPr>
            <a:r>
              <a:t/>
            </a:r>
            <a:endParaRPr i="1" sz="1100">
              <a:latin typeface="Poppins"/>
              <a:ea typeface="Poppins"/>
              <a:cs typeface="Poppins"/>
              <a:sym typeface="Poppins"/>
            </a:endParaRPr>
          </a:p>
        </p:txBody>
      </p:sp>
      <p:sp>
        <p:nvSpPr>
          <p:cNvPr id="136" name="Google Shape;136;p29"/>
          <p:cNvSpPr txBox="1"/>
          <p:nvPr/>
        </p:nvSpPr>
        <p:spPr>
          <a:xfrm>
            <a:off x="147788" y="85331"/>
            <a:ext cx="3423300" cy="3273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s" sz="1400">
                <a:solidFill>
                  <a:schemeClr val="dk1"/>
                </a:solidFill>
                <a:latin typeface="Calibri"/>
                <a:ea typeface="Calibri"/>
                <a:cs typeface="Calibri"/>
                <a:sym typeface="Calibri"/>
              </a:rPr>
              <a:t>IMPORTANTE: Información sólo para tutor/a</a:t>
            </a:r>
            <a:endParaRPr sz="1400">
              <a:solidFill>
                <a:schemeClr val="dk1"/>
              </a:solidFill>
              <a:latin typeface="Calibri"/>
              <a:ea typeface="Calibri"/>
              <a:cs typeface="Calibri"/>
              <a:sym typeface="Calibri"/>
            </a:endParaRPr>
          </a:p>
        </p:txBody>
      </p:sp>
      <p:sp>
        <p:nvSpPr>
          <p:cNvPr id="137" name="Google Shape;137;p29"/>
          <p:cNvSpPr/>
          <p:nvPr/>
        </p:nvSpPr>
        <p:spPr>
          <a:xfrm>
            <a:off x="1903631" y="472931"/>
            <a:ext cx="5795400" cy="4728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138" name="Google Shape;138;p29"/>
          <p:cNvSpPr txBox="1"/>
          <p:nvPr/>
        </p:nvSpPr>
        <p:spPr>
          <a:xfrm>
            <a:off x="2638650" y="507467"/>
            <a:ext cx="4318500" cy="472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s" sz="2100">
                <a:solidFill>
                  <a:schemeClr val="lt1"/>
                </a:solidFill>
                <a:latin typeface="Poppins"/>
                <a:ea typeface="Poppins"/>
                <a:cs typeface="Poppins"/>
                <a:sym typeface="Poppins"/>
              </a:rPr>
              <a:t>PLANIFICACIÓN TUTORÍA</a:t>
            </a:r>
            <a:endParaRPr sz="2100">
              <a:solidFill>
                <a:schemeClr val="lt1"/>
              </a:solidFill>
              <a:latin typeface="Poppins"/>
              <a:ea typeface="Poppins"/>
              <a:cs typeface="Poppins"/>
              <a:sym typeface="Poppins"/>
            </a:endParaRPr>
          </a:p>
        </p:txBody>
      </p:sp>
      <p:pic>
        <p:nvPicPr>
          <p:cNvPr id="139" name="Google Shape;139;p29"/>
          <p:cNvPicPr preferRelativeResize="0"/>
          <p:nvPr/>
        </p:nvPicPr>
        <p:blipFill>
          <a:blip r:embed="rId3">
            <a:alphaModFix/>
          </a:blip>
          <a:stretch>
            <a:fillRect/>
          </a:stretch>
        </p:blipFill>
        <p:spPr>
          <a:xfrm>
            <a:off x="8191150" y="184125"/>
            <a:ext cx="754750" cy="796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0"/>
          <p:cNvSpPr txBox="1"/>
          <p:nvPr/>
        </p:nvSpPr>
        <p:spPr>
          <a:xfrm>
            <a:off x="147788" y="85331"/>
            <a:ext cx="3423300" cy="3273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s" sz="1400">
                <a:solidFill>
                  <a:schemeClr val="dk1"/>
                </a:solidFill>
                <a:latin typeface="Calibri"/>
                <a:ea typeface="Calibri"/>
                <a:cs typeface="Calibri"/>
                <a:sym typeface="Calibri"/>
              </a:rPr>
              <a:t>IMPORTANTE: Información sólo para tutor/a</a:t>
            </a:r>
            <a:endParaRPr sz="1400">
              <a:solidFill>
                <a:schemeClr val="dk1"/>
              </a:solidFill>
              <a:latin typeface="Calibri"/>
              <a:ea typeface="Calibri"/>
              <a:cs typeface="Calibri"/>
              <a:sym typeface="Calibri"/>
            </a:endParaRPr>
          </a:p>
        </p:txBody>
      </p:sp>
      <p:sp>
        <p:nvSpPr>
          <p:cNvPr id="145" name="Google Shape;145;p30"/>
          <p:cNvSpPr txBox="1"/>
          <p:nvPr/>
        </p:nvSpPr>
        <p:spPr>
          <a:xfrm>
            <a:off x="285206" y="1218713"/>
            <a:ext cx="8451600" cy="15540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b="1" lang="es" sz="1500">
                <a:solidFill>
                  <a:srgbClr val="3259A4"/>
                </a:solidFill>
                <a:latin typeface="Poppins"/>
                <a:ea typeface="Poppins"/>
                <a:cs typeface="Poppins"/>
                <a:sym typeface="Poppins"/>
              </a:rPr>
              <a:t>Para Complementar</a:t>
            </a:r>
            <a:endParaRPr b="1" sz="1500">
              <a:solidFill>
                <a:srgbClr val="3259A4"/>
              </a:solidFill>
              <a:latin typeface="Poppins"/>
              <a:ea typeface="Poppins"/>
              <a:cs typeface="Poppins"/>
              <a:sym typeface="Poppins"/>
            </a:endParaRPr>
          </a:p>
          <a:p>
            <a:pPr indent="0" lvl="0" marL="0" rtl="0" algn="l">
              <a:spcBef>
                <a:spcPts val="0"/>
              </a:spcBef>
              <a:spcAft>
                <a:spcPts val="0"/>
              </a:spcAft>
              <a:buNone/>
            </a:pPr>
            <a:r>
              <a:t/>
            </a:r>
            <a:endParaRPr b="1" sz="15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a:solidFill>
                  <a:schemeClr val="dk1"/>
                </a:solidFill>
                <a:latin typeface="Poppins"/>
                <a:ea typeface="Poppins"/>
                <a:cs typeface="Poppins"/>
                <a:sym typeface="Poppins"/>
              </a:rPr>
              <a:t>Al ser esta la última sesión de la ruta de aprendizaje, pídele a tu estudiante que haga un resumen que integre tanto la suma como la resta, evidenciando todo lo que aprendió.</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400">
              <a:solidFill>
                <a:schemeClr val="dk1"/>
              </a:solidFill>
              <a:latin typeface="Poppins"/>
              <a:ea typeface="Poppins"/>
              <a:cs typeface="Poppins"/>
              <a:sym typeface="Poppins"/>
            </a:endParaRPr>
          </a:p>
          <a:p>
            <a:pPr indent="0" lvl="0" marL="0" rtl="0" algn="l">
              <a:spcBef>
                <a:spcPts val="0"/>
              </a:spcBef>
              <a:spcAft>
                <a:spcPts val="0"/>
              </a:spcAft>
              <a:buNone/>
            </a:pPr>
            <a:r>
              <a:t/>
            </a:r>
            <a:endParaRPr sz="2100">
              <a:solidFill>
                <a:schemeClr val="dk1"/>
              </a:solidFill>
              <a:latin typeface="Poppins"/>
              <a:ea typeface="Poppins"/>
              <a:cs typeface="Poppins"/>
              <a:sym typeface="Poppins"/>
            </a:endParaRPr>
          </a:p>
        </p:txBody>
      </p:sp>
      <p:sp>
        <p:nvSpPr>
          <p:cNvPr id="146" name="Google Shape;146;p30"/>
          <p:cNvSpPr txBox="1"/>
          <p:nvPr/>
        </p:nvSpPr>
        <p:spPr>
          <a:xfrm>
            <a:off x="285206" y="3044044"/>
            <a:ext cx="8451600" cy="15540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b="1" lang="es" sz="1500">
                <a:solidFill>
                  <a:srgbClr val="3259A4"/>
                </a:solidFill>
                <a:latin typeface="Poppins"/>
                <a:ea typeface="Poppins"/>
                <a:cs typeface="Poppins"/>
                <a:sym typeface="Poppins"/>
              </a:rPr>
              <a:t>Preguntas de Cierre</a:t>
            </a:r>
            <a:endParaRPr b="1" sz="1500">
              <a:solidFill>
                <a:srgbClr val="3259A4"/>
              </a:solidFill>
              <a:latin typeface="Poppins"/>
              <a:ea typeface="Poppins"/>
              <a:cs typeface="Poppins"/>
              <a:sym typeface="Poppins"/>
            </a:endParaRPr>
          </a:p>
          <a:p>
            <a:pPr indent="0" lvl="0" marL="0" rtl="0" algn="l">
              <a:spcBef>
                <a:spcPts val="0"/>
              </a:spcBef>
              <a:spcAft>
                <a:spcPts val="0"/>
              </a:spcAft>
              <a:buNone/>
            </a:pPr>
            <a:r>
              <a:t/>
            </a:r>
            <a:endParaRPr b="1" sz="15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a:solidFill>
                  <a:schemeClr val="dk1"/>
                </a:solidFill>
                <a:latin typeface="Poppins"/>
                <a:ea typeface="Poppins"/>
                <a:cs typeface="Poppins"/>
                <a:sym typeface="Poppins"/>
              </a:rPr>
              <a:t>1. ¿Cuál fue el mayor aprendizaje que tuviste?</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a:solidFill>
                  <a:schemeClr val="dk1"/>
                </a:solidFill>
                <a:latin typeface="Poppins"/>
                <a:ea typeface="Poppins"/>
                <a:cs typeface="Poppins"/>
                <a:sym typeface="Poppins"/>
              </a:rPr>
              <a:t>2. ¿Cuál fue la mayor dificultad que se te presentó?</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a:solidFill>
                  <a:schemeClr val="dk1"/>
                </a:solidFill>
                <a:latin typeface="Poppins"/>
                <a:ea typeface="Poppins"/>
                <a:cs typeface="Poppins"/>
                <a:sym typeface="Poppins"/>
              </a:rPr>
              <a:t>3. ¿Dónde crees que aplicarás el nuevo conocimiento que adquiriste?</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sz="14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400">
              <a:solidFill>
                <a:schemeClr val="dk1"/>
              </a:solidFill>
              <a:latin typeface="Poppins"/>
              <a:ea typeface="Poppins"/>
              <a:cs typeface="Poppins"/>
              <a:sym typeface="Poppins"/>
            </a:endParaRPr>
          </a:p>
          <a:p>
            <a:pPr indent="0" lvl="0" marL="0" rtl="0" algn="l">
              <a:spcBef>
                <a:spcPts val="0"/>
              </a:spcBef>
              <a:spcAft>
                <a:spcPts val="0"/>
              </a:spcAft>
              <a:buNone/>
            </a:pPr>
            <a:r>
              <a:t/>
            </a:r>
            <a:endParaRPr sz="2100">
              <a:solidFill>
                <a:schemeClr val="dk1"/>
              </a:solidFill>
              <a:latin typeface="Poppins"/>
              <a:ea typeface="Poppins"/>
              <a:cs typeface="Poppins"/>
              <a:sym typeface="Poppins"/>
            </a:endParaRPr>
          </a:p>
        </p:txBody>
      </p:sp>
      <p:sp>
        <p:nvSpPr>
          <p:cNvPr id="147" name="Google Shape;147;p30"/>
          <p:cNvSpPr/>
          <p:nvPr/>
        </p:nvSpPr>
        <p:spPr>
          <a:xfrm>
            <a:off x="1903631" y="472931"/>
            <a:ext cx="5795400" cy="4728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148" name="Google Shape;148;p30"/>
          <p:cNvSpPr txBox="1"/>
          <p:nvPr/>
        </p:nvSpPr>
        <p:spPr>
          <a:xfrm>
            <a:off x="2638650" y="507467"/>
            <a:ext cx="4318500" cy="472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s" sz="2100">
                <a:solidFill>
                  <a:schemeClr val="lt1"/>
                </a:solidFill>
                <a:latin typeface="Poppins"/>
                <a:ea typeface="Poppins"/>
                <a:cs typeface="Poppins"/>
                <a:sym typeface="Poppins"/>
              </a:rPr>
              <a:t>PLANIFICACIÓN TUTORÍA</a:t>
            </a:r>
            <a:endParaRPr sz="2100">
              <a:solidFill>
                <a:schemeClr val="lt1"/>
              </a:solidFill>
              <a:latin typeface="Poppins"/>
              <a:ea typeface="Poppins"/>
              <a:cs typeface="Poppins"/>
              <a:sym typeface="Poppins"/>
            </a:endParaRPr>
          </a:p>
        </p:txBody>
      </p:sp>
      <p:pic>
        <p:nvPicPr>
          <p:cNvPr id="149" name="Google Shape;149;p30"/>
          <p:cNvPicPr preferRelativeResize="0"/>
          <p:nvPr/>
        </p:nvPicPr>
        <p:blipFill>
          <a:blip r:embed="rId3">
            <a:alphaModFix/>
          </a:blip>
          <a:stretch>
            <a:fillRect/>
          </a:stretch>
        </p:blipFill>
        <p:spPr>
          <a:xfrm>
            <a:off x="8191150" y="184125"/>
            <a:ext cx="754750" cy="796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31"/>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155" name="Google Shape;155;p31"/>
          <p:cNvPicPr preferRelativeResize="0"/>
          <p:nvPr/>
        </p:nvPicPr>
        <p:blipFill>
          <a:blip r:embed="rId4">
            <a:alphaModFix/>
          </a:blip>
          <a:stretch>
            <a:fillRect/>
          </a:stretch>
        </p:blipFill>
        <p:spPr>
          <a:xfrm>
            <a:off x="8257775" y="3888525"/>
            <a:ext cx="754750" cy="796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2"/>
          <p:cNvSpPr txBox="1"/>
          <p:nvPr>
            <p:ph type="title"/>
          </p:nvPr>
        </p:nvSpPr>
        <p:spPr>
          <a:xfrm>
            <a:off x="471488" y="205383"/>
            <a:ext cx="5915100" cy="7458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t/>
            </a:r>
            <a:endParaRPr/>
          </a:p>
        </p:txBody>
      </p:sp>
      <p:sp>
        <p:nvSpPr>
          <p:cNvPr id="161" name="Google Shape;161;p32"/>
          <p:cNvSpPr txBox="1"/>
          <p:nvPr>
            <p:ph idx="1" type="body"/>
          </p:nvPr>
        </p:nvSpPr>
        <p:spPr>
          <a:xfrm>
            <a:off x="471488" y="1026914"/>
            <a:ext cx="5915100" cy="24477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pic>
        <p:nvPicPr>
          <p:cNvPr descr="Forma&#10;&#10;Descripción generada automáticamente con confianza media" id="162" name="Google Shape;162;p32"/>
          <p:cNvPicPr preferRelativeResize="0"/>
          <p:nvPr>
            <p:ph idx="1" type="body"/>
          </p:nvPr>
        </p:nvPicPr>
        <p:blipFill rotWithShape="1">
          <a:blip r:embed="rId3">
            <a:alphaModFix/>
          </a:blip>
          <a:srcRect b="0" l="0" r="0" t="0"/>
          <a:stretch/>
        </p:blipFill>
        <p:spPr>
          <a:xfrm>
            <a:off x="59063" y="0"/>
            <a:ext cx="9084900" cy="5225100"/>
          </a:xfrm>
          <a:prstGeom prst="rect">
            <a:avLst/>
          </a:prstGeom>
          <a:noFill/>
          <a:ln>
            <a:noFill/>
          </a:ln>
        </p:spPr>
      </p:pic>
      <p:sp>
        <p:nvSpPr>
          <p:cNvPr id="163" name="Google Shape;163;p32"/>
          <p:cNvSpPr txBox="1"/>
          <p:nvPr/>
        </p:nvSpPr>
        <p:spPr>
          <a:xfrm>
            <a:off x="981675" y="396131"/>
            <a:ext cx="7180800" cy="5079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s" sz="2400">
                <a:solidFill>
                  <a:schemeClr val="lt1"/>
                </a:solidFill>
                <a:highlight>
                  <a:srgbClr val="009287"/>
                </a:highlight>
                <a:latin typeface="Patrick Hand"/>
                <a:ea typeface="Patrick Hand"/>
                <a:cs typeface="Patrick Hand"/>
                <a:sym typeface="Patrick Hand"/>
              </a:rPr>
              <a:t> Algunas recomendaciones </a:t>
            </a:r>
            <a:endParaRPr sz="1100"/>
          </a:p>
        </p:txBody>
      </p:sp>
      <p:sp>
        <p:nvSpPr>
          <p:cNvPr id="164" name="Google Shape;164;p32"/>
          <p:cNvSpPr txBox="1"/>
          <p:nvPr/>
        </p:nvSpPr>
        <p:spPr>
          <a:xfrm>
            <a:off x="768769" y="903956"/>
            <a:ext cx="7886700" cy="3070800"/>
          </a:xfrm>
          <a:prstGeom prst="rect">
            <a:avLst/>
          </a:prstGeom>
          <a:noFill/>
          <a:ln>
            <a:noFill/>
          </a:ln>
        </p:spPr>
        <p:txBody>
          <a:bodyPr anchorCtr="0" anchor="t" bIns="68575" lIns="68575" spcFirstLastPara="1" rIns="68575" wrap="square" tIns="68575">
            <a:spAutoFit/>
          </a:bodyPr>
          <a:lstStyle/>
          <a:p>
            <a:pPr indent="-228600" lvl="0" marL="342900" rtl="0" algn="just">
              <a:spcBef>
                <a:spcPts val="0"/>
              </a:spcBef>
              <a:spcAft>
                <a:spcPts val="0"/>
              </a:spcAft>
              <a:buClr>
                <a:schemeClr val="dk1"/>
              </a:buClr>
              <a:buSzPts val="1000"/>
              <a:buFont typeface="Poppins"/>
              <a:buChar char="●"/>
            </a:pPr>
            <a:r>
              <a:rPr lang="es" sz="10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000">
              <a:solidFill>
                <a:schemeClr val="dk1"/>
              </a:solidFill>
              <a:latin typeface="Poppins"/>
              <a:ea typeface="Poppins"/>
              <a:cs typeface="Poppins"/>
              <a:sym typeface="Poppins"/>
            </a:endParaRPr>
          </a:p>
          <a:p>
            <a:pPr indent="0" lvl="0" marL="342900" rtl="0" algn="just">
              <a:spcBef>
                <a:spcPts val="0"/>
              </a:spcBef>
              <a:spcAft>
                <a:spcPts val="0"/>
              </a:spcAft>
              <a:buNone/>
            </a:pPr>
            <a:r>
              <a:t/>
            </a:r>
            <a:endParaRPr sz="1000">
              <a:solidFill>
                <a:schemeClr val="dk1"/>
              </a:solidFill>
              <a:latin typeface="Poppins"/>
              <a:ea typeface="Poppins"/>
              <a:cs typeface="Poppins"/>
              <a:sym typeface="Poppins"/>
            </a:endParaRPr>
          </a:p>
          <a:p>
            <a:pPr indent="-228600" lvl="0" marL="342900" rtl="0" algn="just">
              <a:spcBef>
                <a:spcPts val="0"/>
              </a:spcBef>
              <a:spcAft>
                <a:spcPts val="0"/>
              </a:spcAft>
              <a:buClr>
                <a:schemeClr val="dk1"/>
              </a:buClr>
              <a:buSzPts val="1000"/>
              <a:buFont typeface="Poppins"/>
              <a:buChar char="●"/>
            </a:pPr>
            <a:r>
              <a:rPr lang="es" sz="1000">
                <a:solidFill>
                  <a:schemeClr val="dk1"/>
                </a:solidFill>
                <a:latin typeface="Poppins"/>
                <a:ea typeface="Poppins"/>
                <a:cs typeface="Poppins"/>
                <a:sym typeface="Poppins"/>
              </a:rPr>
              <a:t>Ejercicios: Si quieres obtener más ejercicios para practicar con tu alumno te recomendamos las siguientes páginas web:  </a:t>
            </a:r>
            <a:endParaRPr sz="1000">
              <a:solidFill>
                <a:schemeClr val="dk1"/>
              </a:solidFill>
              <a:latin typeface="Poppins"/>
              <a:ea typeface="Poppins"/>
              <a:cs typeface="Poppins"/>
              <a:sym typeface="Poppins"/>
            </a:endParaRPr>
          </a:p>
          <a:p>
            <a:pPr indent="0" lvl="0" marL="342900" rtl="0" algn="just">
              <a:spcBef>
                <a:spcPts val="0"/>
              </a:spcBef>
              <a:spcAft>
                <a:spcPts val="0"/>
              </a:spcAft>
              <a:buNone/>
            </a:pPr>
            <a:r>
              <a:t/>
            </a:r>
            <a:endParaRPr sz="1000">
              <a:solidFill>
                <a:schemeClr val="dk1"/>
              </a:solidFill>
              <a:latin typeface="Poppins"/>
              <a:ea typeface="Poppins"/>
              <a:cs typeface="Poppins"/>
              <a:sym typeface="Poppins"/>
            </a:endParaRPr>
          </a:p>
          <a:p>
            <a:pPr indent="-228600" lvl="0" marL="342900" rtl="0" algn="just">
              <a:spcBef>
                <a:spcPts val="0"/>
              </a:spcBef>
              <a:spcAft>
                <a:spcPts val="0"/>
              </a:spcAft>
              <a:buClr>
                <a:schemeClr val="dk1"/>
              </a:buClr>
              <a:buSzPts val="1000"/>
              <a:buFont typeface="Poppins"/>
              <a:buChar char="-"/>
            </a:pPr>
            <a:r>
              <a:rPr lang="es" sz="1000">
                <a:solidFill>
                  <a:schemeClr val="dk1"/>
                </a:solidFill>
                <a:latin typeface="Poppins"/>
                <a:ea typeface="Poppins"/>
                <a:cs typeface="Poppins"/>
                <a:sym typeface="Poppins"/>
              </a:rPr>
              <a:t>Khan Academy : </a:t>
            </a:r>
            <a:r>
              <a:rPr lang="es" sz="10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 sz="1000">
                <a:solidFill>
                  <a:schemeClr val="dk1"/>
                </a:solidFill>
                <a:latin typeface="Poppins"/>
                <a:ea typeface="Poppins"/>
                <a:cs typeface="Poppins"/>
                <a:sym typeface="Poppins"/>
              </a:rPr>
              <a:t> : Pagina gratuita. Es una página fácil de manejar y de buscar. Contiene numerosos ejercicios, videos y evaluaciones.  </a:t>
            </a:r>
            <a:endParaRPr sz="1000">
              <a:solidFill>
                <a:schemeClr val="dk1"/>
              </a:solidFill>
              <a:latin typeface="Poppins"/>
              <a:ea typeface="Poppins"/>
              <a:cs typeface="Poppins"/>
              <a:sym typeface="Poppins"/>
            </a:endParaRPr>
          </a:p>
          <a:p>
            <a:pPr indent="0" lvl="0" marL="342900" rtl="0" algn="just">
              <a:spcBef>
                <a:spcPts val="0"/>
              </a:spcBef>
              <a:spcAft>
                <a:spcPts val="0"/>
              </a:spcAft>
              <a:buNone/>
            </a:pPr>
            <a:r>
              <a:t/>
            </a:r>
            <a:endParaRPr sz="1000">
              <a:solidFill>
                <a:schemeClr val="dk1"/>
              </a:solidFill>
              <a:latin typeface="Poppins"/>
              <a:ea typeface="Poppins"/>
              <a:cs typeface="Poppins"/>
              <a:sym typeface="Poppins"/>
            </a:endParaRPr>
          </a:p>
          <a:p>
            <a:pPr indent="-228600" lvl="0" marL="342900" rtl="0" algn="just">
              <a:lnSpc>
                <a:spcPct val="115000"/>
              </a:lnSpc>
              <a:spcBef>
                <a:spcPts val="0"/>
              </a:spcBef>
              <a:spcAft>
                <a:spcPts val="0"/>
              </a:spcAft>
              <a:buClr>
                <a:schemeClr val="dk1"/>
              </a:buClr>
              <a:buSzPts val="1000"/>
              <a:buChar char="-"/>
            </a:pPr>
            <a:r>
              <a:rPr lang="es" sz="1000">
                <a:solidFill>
                  <a:schemeClr val="dk1"/>
                </a:solidFill>
                <a:latin typeface="Poppins"/>
                <a:ea typeface="Poppins"/>
                <a:cs typeface="Poppins"/>
                <a:sym typeface="Poppins"/>
              </a:rPr>
              <a:t>Matematicas libre: </a:t>
            </a:r>
            <a:r>
              <a:rPr lang="es" sz="10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 sz="1000">
                <a:solidFill>
                  <a:schemeClr val="dk1"/>
                </a:solidFill>
                <a:latin typeface="Poppins"/>
                <a:ea typeface="Poppins"/>
                <a:cs typeface="Poppins"/>
                <a:sym typeface="Poppins"/>
              </a:rPr>
              <a:t> : Pagina gratuita , con ejercicios variados. </a:t>
            </a:r>
            <a:endParaRPr sz="1000">
              <a:solidFill>
                <a:schemeClr val="dk1"/>
              </a:solidFill>
              <a:latin typeface="Poppins"/>
              <a:ea typeface="Poppins"/>
              <a:cs typeface="Poppins"/>
              <a:sym typeface="Poppins"/>
            </a:endParaRPr>
          </a:p>
          <a:p>
            <a:pPr indent="-228600" lvl="0" marL="342900" rtl="0" algn="just">
              <a:lnSpc>
                <a:spcPct val="115000"/>
              </a:lnSpc>
              <a:spcBef>
                <a:spcPts val="0"/>
              </a:spcBef>
              <a:spcAft>
                <a:spcPts val="0"/>
              </a:spcAft>
              <a:buClr>
                <a:schemeClr val="dk1"/>
              </a:buClr>
              <a:buSzPts val="1000"/>
              <a:buChar char="-"/>
            </a:pPr>
            <a:r>
              <a:rPr lang="es" sz="1000">
                <a:solidFill>
                  <a:schemeClr val="dk1"/>
                </a:solidFill>
                <a:latin typeface="Poppins"/>
                <a:ea typeface="Poppins"/>
                <a:cs typeface="Poppins"/>
                <a:sym typeface="Poppins"/>
              </a:rPr>
              <a:t>Cokitos:  </a:t>
            </a:r>
            <a:r>
              <a:rPr lang="es" sz="10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 sz="10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000">
              <a:solidFill>
                <a:schemeClr val="dk1"/>
              </a:solidFill>
              <a:latin typeface="Poppins"/>
              <a:ea typeface="Poppins"/>
              <a:cs typeface="Poppins"/>
              <a:sym typeface="Poppins"/>
            </a:endParaRPr>
          </a:p>
          <a:p>
            <a:pPr indent="-228600" lvl="0" marL="342900" rtl="0" algn="just">
              <a:lnSpc>
                <a:spcPct val="115000"/>
              </a:lnSpc>
              <a:spcBef>
                <a:spcPts val="0"/>
              </a:spcBef>
              <a:spcAft>
                <a:spcPts val="0"/>
              </a:spcAft>
              <a:buClr>
                <a:schemeClr val="dk1"/>
              </a:buClr>
              <a:buSzPts val="1000"/>
              <a:buFont typeface="Poppins"/>
              <a:buChar char="-"/>
            </a:pPr>
            <a:r>
              <a:rPr lang="es" sz="1000">
                <a:solidFill>
                  <a:schemeClr val="dk1"/>
                </a:solidFill>
                <a:latin typeface="Poppins"/>
                <a:ea typeface="Poppins"/>
                <a:cs typeface="Poppins"/>
                <a:sym typeface="Poppins"/>
              </a:rPr>
              <a:t>Teachy: </a:t>
            </a:r>
            <a:r>
              <a:rPr lang="es" sz="10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 sz="10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000">
              <a:solidFill>
                <a:schemeClr val="dk1"/>
              </a:solidFill>
              <a:latin typeface="Poppins"/>
              <a:ea typeface="Poppins"/>
              <a:cs typeface="Poppins"/>
              <a:sym typeface="Poppins"/>
            </a:endParaRPr>
          </a:p>
          <a:p>
            <a:pPr indent="0" lvl="0" marL="342900" rtl="0" algn="just">
              <a:lnSpc>
                <a:spcPct val="115000"/>
              </a:lnSpc>
              <a:spcBef>
                <a:spcPts val="600"/>
              </a:spcBef>
              <a:spcAft>
                <a:spcPts val="0"/>
              </a:spcAft>
              <a:buNone/>
            </a:pPr>
            <a:r>
              <a:t/>
            </a:r>
            <a:endParaRPr sz="1000">
              <a:solidFill>
                <a:schemeClr val="dk1"/>
              </a:solidFill>
              <a:latin typeface="Poppins"/>
              <a:ea typeface="Poppins"/>
              <a:cs typeface="Poppins"/>
              <a:sym typeface="Poppins"/>
            </a:endParaRPr>
          </a:p>
          <a:p>
            <a:pPr indent="0" lvl="0" marL="342900" rtl="0" algn="just">
              <a:lnSpc>
                <a:spcPct val="115000"/>
              </a:lnSpc>
              <a:spcBef>
                <a:spcPts val="600"/>
              </a:spcBef>
              <a:spcAft>
                <a:spcPts val="600"/>
              </a:spcAft>
              <a:buNone/>
            </a:pPr>
            <a:r>
              <a:rPr b="1" lang="es" sz="1000">
                <a:solidFill>
                  <a:schemeClr val="dk1"/>
                </a:solidFill>
                <a:latin typeface="Poppins"/>
                <a:ea typeface="Poppins"/>
                <a:cs typeface="Poppins"/>
                <a:sym typeface="Poppins"/>
              </a:rPr>
              <a:t>Importante: </a:t>
            </a:r>
            <a:r>
              <a:rPr lang="es" sz="1000">
                <a:solidFill>
                  <a:schemeClr val="dk1"/>
                </a:solidFill>
                <a:latin typeface="Poppins"/>
                <a:ea typeface="Poppins"/>
                <a:cs typeface="Poppins"/>
                <a:sym typeface="Poppins"/>
              </a:rPr>
              <a:t>Te recomendamos  mirar estas páginas antes de la tutoría, para que puedas buscar y familiarizarte con la página web.</a:t>
            </a:r>
            <a:endParaRPr sz="1100"/>
          </a:p>
        </p:txBody>
      </p:sp>
      <p:pic>
        <p:nvPicPr>
          <p:cNvPr id="165" name="Google Shape;165;p32"/>
          <p:cNvPicPr preferRelativeResize="0"/>
          <p:nvPr/>
        </p:nvPicPr>
        <p:blipFill>
          <a:blip r:embed="rId8">
            <a:alphaModFix/>
          </a:blip>
          <a:stretch>
            <a:fillRect/>
          </a:stretch>
        </p:blipFill>
        <p:spPr>
          <a:xfrm>
            <a:off x="8257775" y="3888525"/>
            <a:ext cx="754750" cy="796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71" name="Google Shape;171;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Forma&#10;&#10;Descripción generada automáticamente con confianza media" id="172" name="Google Shape;172;p3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73" name="Google Shape;173;p33"/>
          <p:cNvSpPr txBox="1"/>
          <p:nvPr/>
        </p:nvSpPr>
        <p:spPr>
          <a:xfrm>
            <a:off x="83100" y="206200"/>
            <a:ext cx="58248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700">
                <a:latin typeface="Patrick Hand"/>
                <a:ea typeface="Patrick Hand"/>
                <a:cs typeface="Patrick Hand"/>
                <a:sym typeface="Patrick Hand"/>
              </a:rPr>
              <a:t>Descomponer para restar</a:t>
            </a:r>
            <a:endParaRPr b="1" sz="2300"/>
          </a:p>
        </p:txBody>
      </p:sp>
      <p:sp>
        <p:nvSpPr>
          <p:cNvPr id="174" name="Google Shape;174;p33"/>
          <p:cNvSpPr txBox="1"/>
          <p:nvPr/>
        </p:nvSpPr>
        <p:spPr>
          <a:xfrm>
            <a:off x="3856200" y="1559025"/>
            <a:ext cx="4976100" cy="1293000"/>
          </a:xfrm>
          <a:prstGeom prst="rect">
            <a:avLst/>
          </a:prstGeom>
          <a:noFill/>
          <a:ln cap="flat" cmpd="sng" w="19050">
            <a:solidFill>
              <a:srgbClr val="009287"/>
            </a:solidFill>
            <a:prstDash val="dot"/>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s" sz="2400">
                <a:solidFill>
                  <a:schemeClr val="dk1"/>
                </a:solidFill>
                <a:latin typeface="Patrick Hand"/>
                <a:ea typeface="Patrick Hand"/>
                <a:cs typeface="Patrick Hand"/>
                <a:sym typeface="Patrick Hand"/>
              </a:rPr>
              <a:t>Voy a descomponer el minuendo de la resta en decena exacta y unidades y así facilitar la resta.</a:t>
            </a:r>
            <a:endParaRPr>
              <a:latin typeface="Patrick Hand"/>
              <a:ea typeface="Patrick Hand"/>
              <a:cs typeface="Patrick Hand"/>
              <a:sym typeface="Patrick Hand"/>
            </a:endParaRPr>
          </a:p>
        </p:txBody>
      </p:sp>
      <p:sp>
        <p:nvSpPr>
          <p:cNvPr id="175" name="Google Shape;175;p33"/>
          <p:cNvSpPr txBox="1"/>
          <p:nvPr/>
        </p:nvSpPr>
        <p:spPr>
          <a:xfrm>
            <a:off x="159300" y="746175"/>
            <a:ext cx="67959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Para poder descomponer una resta y resolver de esta manera debemos recordar: </a:t>
            </a:r>
            <a:endParaRPr sz="24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        sustraendo</a:t>
            </a:r>
            <a:endParaRPr sz="2400">
              <a:solidFill>
                <a:schemeClr val="dk1"/>
              </a:solidFill>
              <a:latin typeface="Patrick Hand"/>
              <a:ea typeface="Patrick Hand"/>
              <a:cs typeface="Patrick Hand"/>
              <a:sym typeface="Patrick Hand"/>
            </a:endParaRPr>
          </a:p>
          <a:p>
            <a:pPr indent="-381000" lvl="0" marL="457200" rtl="0" algn="l">
              <a:spcBef>
                <a:spcPts val="0"/>
              </a:spcBef>
              <a:spcAft>
                <a:spcPts val="0"/>
              </a:spcAft>
              <a:buClr>
                <a:schemeClr val="dk1"/>
              </a:buClr>
              <a:buSzPts val="2400"/>
              <a:buFont typeface="Patrick Hand"/>
              <a:buChar char="-"/>
            </a:pPr>
            <a:r>
              <a:rPr lang="es" sz="2400">
                <a:solidFill>
                  <a:schemeClr val="dk1"/>
                </a:solidFill>
                <a:latin typeface="Patrick Hand"/>
                <a:ea typeface="Patrick Hand"/>
                <a:cs typeface="Patrick Hand"/>
                <a:sym typeface="Patrick Hand"/>
              </a:rPr>
              <a:t>  minuendo</a:t>
            </a:r>
            <a:endParaRPr sz="24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        resto o resultado</a:t>
            </a:r>
            <a:endParaRPr sz="2400">
              <a:solidFill>
                <a:schemeClr val="dk1"/>
              </a:solidFill>
              <a:latin typeface="Patrick Hand"/>
              <a:ea typeface="Patrick Hand"/>
              <a:cs typeface="Patrick Hand"/>
              <a:sym typeface="Patrick Hand"/>
            </a:endParaRPr>
          </a:p>
        </p:txBody>
      </p:sp>
      <p:sp>
        <p:nvSpPr>
          <p:cNvPr id="176" name="Google Shape;176;p33"/>
          <p:cNvSpPr txBox="1"/>
          <p:nvPr/>
        </p:nvSpPr>
        <p:spPr>
          <a:xfrm>
            <a:off x="1117650" y="2924000"/>
            <a:ext cx="7797000" cy="1954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300">
                <a:solidFill>
                  <a:schemeClr val="dk1"/>
                </a:solidFill>
                <a:latin typeface="Patrick Hand"/>
                <a:ea typeface="Patrick Hand"/>
                <a:cs typeface="Patrick Hand"/>
                <a:sym typeface="Patrick Hand"/>
              </a:rPr>
              <a:t>Ejemplo:     87 - 25 =   ___</a:t>
            </a:r>
            <a:endParaRPr sz="2300">
              <a:solidFill>
                <a:schemeClr val="dk1"/>
              </a:solidFill>
              <a:latin typeface="Patrick Hand"/>
              <a:ea typeface="Patrick Hand"/>
              <a:cs typeface="Patrick Hand"/>
              <a:sym typeface="Patrick Hand"/>
            </a:endParaRPr>
          </a:p>
          <a:p>
            <a:pPr indent="-374650" lvl="0" marL="1371600" rtl="0" algn="l">
              <a:spcBef>
                <a:spcPts val="0"/>
              </a:spcBef>
              <a:spcAft>
                <a:spcPts val="0"/>
              </a:spcAft>
              <a:buClr>
                <a:schemeClr val="dk1"/>
              </a:buClr>
              <a:buSzPts val="2300"/>
              <a:buFont typeface="Patrick Hand"/>
              <a:buAutoNum type="arabicPeriod"/>
            </a:pPr>
            <a:r>
              <a:rPr lang="es" sz="2300">
                <a:solidFill>
                  <a:schemeClr val="dk1"/>
                </a:solidFill>
                <a:latin typeface="Patrick Hand"/>
                <a:ea typeface="Patrick Hand"/>
                <a:cs typeface="Patrick Hand"/>
                <a:sym typeface="Patrick Hand"/>
              </a:rPr>
              <a:t>25 → se transforma en 20 y  5.</a:t>
            </a:r>
            <a:endParaRPr sz="2300">
              <a:solidFill>
                <a:schemeClr val="dk1"/>
              </a:solidFill>
              <a:latin typeface="Patrick Hand"/>
              <a:ea typeface="Patrick Hand"/>
              <a:cs typeface="Patrick Hand"/>
              <a:sym typeface="Patrick Hand"/>
            </a:endParaRPr>
          </a:p>
          <a:p>
            <a:pPr indent="-374650" lvl="0" marL="1371600" rtl="0" algn="l">
              <a:spcBef>
                <a:spcPts val="0"/>
              </a:spcBef>
              <a:spcAft>
                <a:spcPts val="0"/>
              </a:spcAft>
              <a:buClr>
                <a:schemeClr val="dk1"/>
              </a:buClr>
              <a:buSzPts val="2300"/>
              <a:buFont typeface="Patrick Hand"/>
              <a:buAutoNum type="arabicPeriod"/>
            </a:pPr>
            <a:r>
              <a:rPr lang="es" sz="2300">
                <a:solidFill>
                  <a:schemeClr val="dk1"/>
                </a:solidFill>
                <a:latin typeface="Patrick Hand"/>
                <a:ea typeface="Patrick Hand"/>
                <a:cs typeface="Patrick Hand"/>
                <a:sym typeface="Patrick Hand"/>
              </a:rPr>
              <a:t>87 - 20 = 67  (resto las decenas del 25)</a:t>
            </a:r>
            <a:endParaRPr sz="2300">
              <a:solidFill>
                <a:schemeClr val="dk1"/>
              </a:solidFill>
              <a:latin typeface="Patrick Hand"/>
              <a:ea typeface="Patrick Hand"/>
              <a:cs typeface="Patrick Hand"/>
              <a:sym typeface="Patrick Hand"/>
            </a:endParaRPr>
          </a:p>
          <a:p>
            <a:pPr indent="-374650" lvl="0" marL="1371600" rtl="0" algn="l">
              <a:spcBef>
                <a:spcPts val="0"/>
              </a:spcBef>
              <a:spcAft>
                <a:spcPts val="0"/>
              </a:spcAft>
              <a:buClr>
                <a:schemeClr val="dk1"/>
              </a:buClr>
              <a:buSzPts val="2300"/>
              <a:buFont typeface="Patrick Hand"/>
              <a:buAutoNum type="arabicPeriod"/>
            </a:pPr>
            <a:r>
              <a:rPr lang="es" sz="2300">
                <a:solidFill>
                  <a:schemeClr val="dk1"/>
                </a:solidFill>
                <a:latin typeface="Patrick Hand"/>
                <a:ea typeface="Patrick Hand"/>
                <a:cs typeface="Patrick Hand"/>
                <a:sym typeface="Patrick Hand"/>
              </a:rPr>
              <a:t>67 - 5  = 62    (Al resultado resto las unidades de 25)</a:t>
            </a:r>
            <a:endParaRPr sz="23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 sz="2300">
                <a:solidFill>
                  <a:schemeClr val="dk1"/>
                </a:solidFill>
                <a:latin typeface="Patrick Hand"/>
                <a:ea typeface="Patrick Hand"/>
                <a:cs typeface="Patrick Hand"/>
                <a:sym typeface="Patrick Hand"/>
              </a:rPr>
              <a:t>			Resultado : 62</a:t>
            </a:r>
            <a:endParaRPr sz="2300">
              <a:solidFill>
                <a:schemeClr val="dk1"/>
              </a:solidFill>
              <a:latin typeface="Patrick Hand"/>
              <a:ea typeface="Patrick Hand"/>
              <a:cs typeface="Patrick Hand"/>
              <a:sym typeface="Patrick Hand"/>
            </a:endParaRPr>
          </a:p>
        </p:txBody>
      </p:sp>
      <p:cxnSp>
        <p:nvCxnSpPr>
          <p:cNvPr id="177" name="Google Shape;177;p33"/>
          <p:cNvCxnSpPr/>
          <p:nvPr/>
        </p:nvCxnSpPr>
        <p:spPr>
          <a:xfrm flipH="1" rot="10800000">
            <a:off x="816575" y="2299550"/>
            <a:ext cx="1785600" cy="13200"/>
          </a:xfrm>
          <a:prstGeom prst="straightConnector1">
            <a:avLst/>
          </a:prstGeom>
          <a:noFill/>
          <a:ln cap="flat" cmpd="sng" w="28575">
            <a:solidFill>
              <a:srgbClr val="009287"/>
            </a:solidFill>
            <a:prstDash val="solid"/>
            <a:round/>
            <a:headEnd len="med" w="med" type="none"/>
            <a:tailEnd len="med" w="med" type="none"/>
          </a:ln>
        </p:spPr>
      </p:cxnSp>
      <p:pic>
        <p:nvPicPr>
          <p:cNvPr id="178" name="Google Shape;178;p33"/>
          <p:cNvPicPr preferRelativeResize="0"/>
          <p:nvPr/>
        </p:nvPicPr>
        <p:blipFill>
          <a:blip r:embed="rId4">
            <a:alphaModFix/>
          </a:blip>
          <a:stretch>
            <a:fillRect/>
          </a:stretch>
        </p:blipFill>
        <p:spPr>
          <a:xfrm>
            <a:off x="8271100" y="445025"/>
            <a:ext cx="754750" cy="796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84" name="Google Shape;184;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Forma&#10;&#10;Descripción generada automáticamente con confianza media" id="185" name="Google Shape;185;p3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86" name="Google Shape;186;p34"/>
          <p:cNvSpPr txBox="1"/>
          <p:nvPr/>
        </p:nvSpPr>
        <p:spPr>
          <a:xfrm>
            <a:off x="-53175" y="139375"/>
            <a:ext cx="30000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 sz="2900" u="none" cap="none" strike="noStrike">
                <a:solidFill>
                  <a:srgbClr val="000000"/>
                </a:solidFill>
                <a:latin typeface="Patrick Hand"/>
                <a:ea typeface="Patrick Hand"/>
                <a:cs typeface="Patrick Hand"/>
                <a:sym typeface="Patrick Hand"/>
              </a:rPr>
              <a:t>Ejercicios</a:t>
            </a:r>
            <a:endParaRPr b="0" i="0" sz="300" u="none" cap="none" strike="noStrike">
              <a:solidFill>
                <a:srgbClr val="000000"/>
              </a:solidFill>
              <a:latin typeface="Arial"/>
              <a:ea typeface="Arial"/>
              <a:cs typeface="Arial"/>
              <a:sym typeface="Arial"/>
            </a:endParaRPr>
          </a:p>
        </p:txBody>
      </p:sp>
      <p:sp>
        <p:nvSpPr>
          <p:cNvPr id="187" name="Google Shape;187;p34"/>
          <p:cNvSpPr txBox="1"/>
          <p:nvPr/>
        </p:nvSpPr>
        <p:spPr>
          <a:xfrm>
            <a:off x="0" y="568375"/>
            <a:ext cx="70527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 sz="2100" u="none" cap="none" strike="noStrike">
                <a:solidFill>
                  <a:srgbClr val="000000"/>
                </a:solidFill>
                <a:latin typeface="Patrick Hand"/>
                <a:ea typeface="Patrick Hand"/>
                <a:cs typeface="Patrick Hand"/>
                <a:sym typeface="Patrick Hand"/>
              </a:rPr>
              <a:t>Abre tu cuaderno y resolvamos los siguientes ejercicios.</a:t>
            </a:r>
            <a:endParaRPr b="0" i="0" sz="100" u="none" cap="none" strike="noStrike">
              <a:solidFill>
                <a:srgbClr val="000000"/>
              </a:solidFill>
              <a:latin typeface="Arial"/>
              <a:ea typeface="Arial"/>
              <a:cs typeface="Arial"/>
              <a:sym typeface="Arial"/>
            </a:endParaRPr>
          </a:p>
        </p:txBody>
      </p:sp>
      <p:sp>
        <p:nvSpPr>
          <p:cNvPr id="188" name="Google Shape;188;p34"/>
          <p:cNvSpPr txBox="1"/>
          <p:nvPr/>
        </p:nvSpPr>
        <p:spPr>
          <a:xfrm>
            <a:off x="118250" y="847675"/>
            <a:ext cx="7797000" cy="1954800"/>
          </a:xfrm>
          <a:prstGeom prst="rect">
            <a:avLst/>
          </a:prstGeom>
          <a:noFill/>
          <a:ln>
            <a:noFill/>
          </a:ln>
        </p:spPr>
        <p:txBody>
          <a:bodyPr anchorCtr="0" anchor="t" bIns="91425" lIns="91425" spcFirstLastPara="1" rIns="91425" wrap="square" tIns="91425">
            <a:spAutoFit/>
          </a:bodyPr>
          <a:lstStyle/>
          <a:p>
            <a:pPr indent="-374650" lvl="0" marL="457200" rtl="0" algn="l">
              <a:spcBef>
                <a:spcPts val="0"/>
              </a:spcBef>
              <a:spcAft>
                <a:spcPts val="0"/>
              </a:spcAft>
              <a:buClr>
                <a:schemeClr val="dk1"/>
              </a:buClr>
              <a:buSzPts val="2300"/>
              <a:buFont typeface="Patrick Hand"/>
              <a:buChar char="★"/>
            </a:pPr>
            <a:r>
              <a:rPr lang="es" sz="2300">
                <a:solidFill>
                  <a:schemeClr val="dk1"/>
                </a:solidFill>
                <a:latin typeface="Patrick Hand"/>
                <a:ea typeface="Patrick Hand"/>
                <a:cs typeface="Patrick Hand"/>
                <a:sym typeface="Patrick Hand"/>
              </a:rPr>
              <a:t>56</a:t>
            </a:r>
            <a:r>
              <a:rPr lang="es" sz="2300">
                <a:solidFill>
                  <a:schemeClr val="dk1"/>
                </a:solidFill>
                <a:latin typeface="Patrick Hand"/>
                <a:ea typeface="Patrick Hand"/>
                <a:cs typeface="Patrick Hand"/>
                <a:sym typeface="Patrick Hand"/>
              </a:rPr>
              <a:t> - 34 =   ___</a:t>
            </a:r>
            <a:endParaRPr sz="2300">
              <a:solidFill>
                <a:schemeClr val="dk1"/>
              </a:solidFill>
              <a:latin typeface="Patrick Hand"/>
              <a:ea typeface="Patrick Hand"/>
              <a:cs typeface="Patrick Hand"/>
              <a:sym typeface="Patrick Hand"/>
            </a:endParaRPr>
          </a:p>
          <a:p>
            <a:pPr indent="-374650" lvl="0" marL="1371600" rtl="0" algn="l">
              <a:spcBef>
                <a:spcPts val="0"/>
              </a:spcBef>
              <a:spcAft>
                <a:spcPts val="0"/>
              </a:spcAft>
              <a:buClr>
                <a:schemeClr val="dk1"/>
              </a:buClr>
              <a:buSzPts val="2300"/>
              <a:buFont typeface="Patrick Hand"/>
              <a:buAutoNum type="arabicPeriod"/>
            </a:pPr>
            <a:r>
              <a:rPr lang="es" sz="2300">
                <a:solidFill>
                  <a:schemeClr val="dk1"/>
                </a:solidFill>
                <a:latin typeface="Patrick Hand"/>
                <a:ea typeface="Patrick Hand"/>
                <a:cs typeface="Patrick Hand"/>
                <a:sym typeface="Patrick Hand"/>
              </a:rPr>
              <a:t>34 → se transforma en </a:t>
            </a:r>
            <a:endParaRPr sz="2300">
              <a:solidFill>
                <a:schemeClr val="dk1"/>
              </a:solidFill>
              <a:latin typeface="Patrick Hand"/>
              <a:ea typeface="Patrick Hand"/>
              <a:cs typeface="Patrick Hand"/>
              <a:sym typeface="Patrick Hand"/>
            </a:endParaRPr>
          </a:p>
          <a:p>
            <a:pPr indent="-374650" lvl="0" marL="1371600" rtl="0" algn="l">
              <a:spcBef>
                <a:spcPts val="0"/>
              </a:spcBef>
              <a:spcAft>
                <a:spcPts val="0"/>
              </a:spcAft>
              <a:buClr>
                <a:schemeClr val="dk1"/>
              </a:buClr>
              <a:buSzPts val="2300"/>
              <a:buFont typeface="Patrick Hand"/>
              <a:buAutoNum type="arabicPeriod"/>
            </a:pPr>
            <a:r>
              <a:rPr lang="es" sz="2300">
                <a:solidFill>
                  <a:schemeClr val="dk1"/>
                </a:solidFill>
                <a:latin typeface="Patrick Hand"/>
                <a:ea typeface="Patrick Hand"/>
                <a:cs typeface="Patrick Hand"/>
                <a:sym typeface="Patrick Hand"/>
              </a:rPr>
              <a:t>56  - __  = __  (resto las decenas del 34)</a:t>
            </a:r>
            <a:endParaRPr sz="2300">
              <a:solidFill>
                <a:schemeClr val="dk1"/>
              </a:solidFill>
              <a:latin typeface="Patrick Hand"/>
              <a:ea typeface="Patrick Hand"/>
              <a:cs typeface="Patrick Hand"/>
              <a:sym typeface="Patrick Hand"/>
            </a:endParaRPr>
          </a:p>
          <a:p>
            <a:pPr indent="-374650" lvl="0" marL="1371600" rtl="0" algn="l">
              <a:spcBef>
                <a:spcPts val="0"/>
              </a:spcBef>
              <a:spcAft>
                <a:spcPts val="0"/>
              </a:spcAft>
              <a:buClr>
                <a:schemeClr val="dk1"/>
              </a:buClr>
              <a:buSzPts val="2300"/>
              <a:buFont typeface="Patrick Hand"/>
              <a:buAutoNum type="arabicPeriod"/>
            </a:pPr>
            <a:r>
              <a:rPr lang="es" sz="2300">
                <a:solidFill>
                  <a:schemeClr val="dk1"/>
                </a:solidFill>
                <a:latin typeface="Patrick Hand"/>
                <a:ea typeface="Patrick Hand"/>
                <a:cs typeface="Patrick Hand"/>
                <a:sym typeface="Patrick Hand"/>
              </a:rPr>
              <a:t>__ - __  = __  (Al resultado resto las unidades de 34)</a:t>
            </a:r>
            <a:endParaRPr sz="23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 sz="2300">
                <a:solidFill>
                  <a:schemeClr val="dk1"/>
                </a:solidFill>
                <a:latin typeface="Patrick Hand"/>
                <a:ea typeface="Patrick Hand"/>
                <a:cs typeface="Patrick Hand"/>
                <a:sym typeface="Patrick Hand"/>
              </a:rPr>
              <a:t>			Resultado : </a:t>
            </a:r>
            <a:endParaRPr sz="2300">
              <a:solidFill>
                <a:schemeClr val="dk1"/>
              </a:solidFill>
              <a:latin typeface="Patrick Hand"/>
              <a:ea typeface="Patrick Hand"/>
              <a:cs typeface="Patrick Hand"/>
              <a:sym typeface="Patrick Hand"/>
            </a:endParaRPr>
          </a:p>
        </p:txBody>
      </p:sp>
      <p:sp>
        <p:nvSpPr>
          <p:cNvPr id="189" name="Google Shape;189;p34"/>
          <p:cNvSpPr txBox="1"/>
          <p:nvPr/>
        </p:nvSpPr>
        <p:spPr>
          <a:xfrm>
            <a:off x="311700" y="2708875"/>
            <a:ext cx="7797000" cy="2308800"/>
          </a:xfrm>
          <a:prstGeom prst="rect">
            <a:avLst/>
          </a:prstGeom>
          <a:noFill/>
          <a:ln>
            <a:noFill/>
          </a:ln>
        </p:spPr>
        <p:txBody>
          <a:bodyPr anchorCtr="0" anchor="t" bIns="91425" lIns="91425" spcFirstLastPara="1" rIns="91425" wrap="square" tIns="91425">
            <a:spAutoFit/>
          </a:bodyPr>
          <a:lstStyle/>
          <a:p>
            <a:pPr indent="-374650" lvl="0" marL="457200" rtl="0" algn="l">
              <a:spcBef>
                <a:spcPts val="0"/>
              </a:spcBef>
              <a:spcAft>
                <a:spcPts val="0"/>
              </a:spcAft>
              <a:buClr>
                <a:schemeClr val="dk1"/>
              </a:buClr>
              <a:buSzPts val="2300"/>
              <a:buFont typeface="Patrick Hand"/>
              <a:buChar char="★"/>
            </a:pPr>
            <a:r>
              <a:rPr lang="es" sz="2300">
                <a:solidFill>
                  <a:schemeClr val="dk1"/>
                </a:solidFill>
                <a:latin typeface="Patrick Hand"/>
                <a:ea typeface="Patrick Hand"/>
                <a:cs typeface="Patrick Hand"/>
                <a:sym typeface="Patrick Hand"/>
              </a:rPr>
              <a:t>95 </a:t>
            </a:r>
            <a:r>
              <a:rPr lang="es" sz="2300">
                <a:solidFill>
                  <a:schemeClr val="dk1"/>
                </a:solidFill>
                <a:latin typeface="Patrick Hand"/>
                <a:ea typeface="Patrick Hand"/>
                <a:cs typeface="Patrick Hand"/>
                <a:sym typeface="Patrick Hand"/>
              </a:rPr>
              <a:t>- 63 =   ___</a:t>
            </a:r>
            <a:endParaRPr sz="2300">
              <a:solidFill>
                <a:schemeClr val="dk1"/>
              </a:solidFill>
              <a:latin typeface="Patrick Hand"/>
              <a:ea typeface="Patrick Hand"/>
              <a:cs typeface="Patrick Hand"/>
              <a:sym typeface="Patrick Hand"/>
            </a:endParaRPr>
          </a:p>
          <a:p>
            <a:pPr indent="-374650" lvl="0" marL="1371600" rtl="0" algn="l">
              <a:spcBef>
                <a:spcPts val="0"/>
              </a:spcBef>
              <a:spcAft>
                <a:spcPts val="0"/>
              </a:spcAft>
              <a:buClr>
                <a:schemeClr val="dk1"/>
              </a:buClr>
              <a:buSzPts val="2300"/>
              <a:buFont typeface="Patrick Hand"/>
              <a:buAutoNum type="arabicPeriod"/>
            </a:pPr>
            <a:r>
              <a:rPr lang="es" sz="2300">
                <a:solidFill>
                  <a:schemeClr val="dk1"/>
                </a:solidFill>
                <a:latin typeface="Patrick Hand"/>
                <a:ea typeface="Patrick Hand"/>
                <a:cs typeface="Patrick Hand"/>
                <a:sym typeface="Patrick Hand"/>
              </a:rPr>
              <a:t>63 → se transforma en </a:t>
            </a:r>
            <a:endParaRPr sz="2300">
              <a:solidFill>
                <a:schemeClr val="dk1"/>
              </a:solidFill>
              <a:latin typeface="Patrick Hand"/>
              <a:ea typeface="Patrick Hand"/>
              <a:cs typeface="Patrick Hand"/>
              <a:sym typeface="Patrick Hand"/>
            </a:endParaRPr>
          </a:p>
          <a:p>
            <a:pPr indent="-374650" lvl="0" marL="1371600" rtl="0" algn="l">
              <a:spcBef>
                <a:spcPts val="0"/>
              </a:spcBef>
              <a:spcAft>
                <a:spcPts val="0"/>
              </a:spcAft>
              <a:buClr>
                <a:schemeClr val="dk1"/>
              </a:buClr>
              <a:buSzPts val="2300"/>
              <a:buFont typeface="Patrick Hand"/>
              <a:buAutoNum type="arabicPeriod"/>
            </a:pPr>
            <a:r>
              <a:rPr lang="es" sz="2300">
                <a:solidFill>
                  <a:schemeClr val="dk1"/>
                </a:solidFill>
                <a:latin typeface="Patrick Hand"/>
                <a:ea typeface="Patrick Hand"/>
                <a:cs typeface="Patrick Hand"/>
                <a:sym typeface="Patrick Hand"/>
              </a:rPr>
              <a:t>95  - __  = __  (resto las decenas del 63)</a:t>
            </a:r>
            <a:endParaRPr sz="2300">
              <a:solidFill>
                <a:schemeClr val="dk1"/>
              </a:solidFill>
              <a:latin typeface="Patrick Hand"/>
              <a:ea typeface="Patrick Hand"/>
              <a:cs typeface="Patrick Hand"/>
              <a:sym typeface="Patrick Hand"/>
            </a:endParaRPr>
          </a:p>
          <a:p>
            <a:pPr indent="-374650" lvl="0" marL="1371600" rtl="0" algn="l">
              <a:spcBef>
                <a:spcPts val="0"/>
              </a:spcBef>
              <a:spcAft>
                <a:spcPts val="0"/>
              </a:spcAft>
              <a:buClr>
                <a:schemeClr val="dk1"/>
              </a:buClr>
              <a:buSzPts val="2300"/>
              <a:buFont typeface="Patrick Hand"/>
              <a:buAutoNum type="arabicPeriod"/>
            </a:pPr>
            <a:r>
              <a:rPr lang="es" sz="2300">
                <a:solidFill>
                  <a:schemeClr val="dk1"/>
                </a:solidFill>
                <a:latin typeface="Patrick Hand"/>
                <a:ea typeface="Patrick Hand"/>
                <a:cs typeface="Patrick Hand"/>
                <a:sym typeface="Patrick Hand"/>
              </a:rPr>
              <a:t>__ - __  = __  (Al resultado resto las unidades de 63)</a:t>
            </a:r>
            <a:endParaRPr sz="23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 sz="2300">
                <a:solidFill>
                  <a:schemeClr val="dk1"/>
                </a:solidFill>
                <a:latin typeface="Patrick Hand"/>
                <a:ea typeface="Patrick Hand"/>
                <a:cs typeface="Patrick Hand"/>
                <a:sym typeface="Patrick Hand"/>
              </a:rPr>
              <a:t>	</a:t>
            </a:r>
            <a:r>
              <a:rPr lang="es" sz="2300">
                <a:solidFill>
                  <a:schemeClr val="dk1"/>
                </a:solidFill>
                <a:latin typeface="Patrick Hand"/>
                <a:ea typeface="Patrick Hand"/>
                <a:cs typeface="Patrick Hand"/>
                <a:sym typeface="Patrick Hand"/>
              </a:rPr>
              <a:t>		Resultado : </a:t>
            </a:r>
            <a:endParaRPr sz="1300"/>
          </a:p>
          <a:p>
            <a:pPr indent="0" lvl="0" marL="0" rtl="0" algn="l">
              <a:spcBef>
                <a:spcPts val="0"/>
              </a:spcBef>
              <a:spcAft>
                <a:spcPts val="0"/>
              </a:spcAft>
              <a:buNone/>
            </a:pPr>
            <a:r>
              <a:t/>
            </a:r>
            <a:endParaRPr sz="2300">
              <a:solidFill>
                <a:schemeClr val="dk1"/>
              </a:solidFill>
              <a:latin typeface="Patrick Hand"/>
              <a:ea typeface="Patrick Hand"/>
              <a:cs typeface="Patrick Hand"/>
              <a:sym typeface="Patrick Hand"/>
            </a:endParaRPr>
          </a:p>
        </p:txBody>
      </p:sp>
      <p:sp>
        <p:nvSpPr>
          <p:cNvPr id="190" name="Google Shape;190;p34"/>
          <p:cNvSpPr txBox="1"/>
          <p:nvPr/>
        </p:nvSpPr>
        <p:spPr>
          <a:xfrm>
            <a:off x="4229900" y="1219100"/>
            <a:ext cx="980100" cy="5079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00">
                <a:solidFill>
                  <a:schemeClr val="dk1"/>
                </a:solidFill>
                <a:latin typeface="Patrick Hand"/>
                <a:ea typeface="Patrick Hand"/>
                <a:cs typeface="Patrick Hand"/>
                <a:sym typeface="Patrick Hand"/>
              </a:rPr>
              <a:t>30 y </a:t>
            </a:r>
            <a:r>
              <a:rPr lang="es" sz="2100">
                <a:solidFill>
                  <a:schemeClr val="dk1"/>
                </a:solidFill>
                <a:latin typeface="Patrick Hand"/>
                <a:ea typeface="Patrick Hand"/>
                <a:cs typeface="Patrick Hand"/>
                <a:sym typeface="Patrick Hand"/>
              </a:rPr>
              <a:t>4 </a:t>
            </a:r>
            <a:endParaRPr sz="1200"/>
          </a:p>
        </p:txBody>
      </p:sp>
      <p:sp>
        <p:nvSpPr>
          <p:cNvPr id="191" name="Google Shape;191;p34"/>
          <p:cNvSpPr txBox="1"/>
          <p:nvPr/>
        </p:nvSpPr>
        <p:spPr>
          <a:xfrm>
            <a:off x="2147425" y="1617000"/>
            <a:ext cx="460500" cy="4926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Patrick Hand"/>
                <a:ea typeface="Patrick Hand"/>
                <a:cs typeface="Patrick Hand"/>
                <a:sym typeface="Patrick Hand"/>
              </a:rPr>
              <a:t>30 </a:t>
            </a:r>
            <a:endParaRPr sz="1300"/>
          </a:p>
        </p:txBody>
      </p:sp>
      <p:sp>
        <p:nvSpPr>
          <p:cNvPr id="192" name="Google Shape;192;p34"/>
          <p:cNvSpPr txBox="1"/>
          <p:nvPr/>
        </p:nvSpPr>
        <p:spPr>
          <a:xfrm>
            <a:off x="2833225" y="1540800"/>
            <a:ext cx="460500" cy="4926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Patrick Hand"/>
                <a:ea typeface="Patrick Hand"/>
                <a:cs typeface="Patrick Hand"/>
                <a:sym typeface="Patrick Hand"/>
              </a:rPr>
              <a:t>26</a:t>
            </a:r>
            <a:endParaRPr sz="1300"/>
          </a:p>
        </p:txBody>
      </p:sp>
      <p:sp>
        <p:nvSpPr>
          <p:cNvPr id="193" name="Google Shape;193;p34"/>
          <p:cNvSpPr txBox="1"/>
          <p:nvPr/>
        </p:nvSpPr>
        <p:spPr>
          <a:xfrm>
            <a:off x="1537825" y="1921800"/>
            <a:ext cx="460500" cy="4926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Patrick Hand"/>
                <a:ea typeface="Patrick Hand"/>
                <a:cs typeface="Patrick Hand"/>
                <a:sym typeface="Patrick Hand"/>
              </a:rPr>
              <a:t>26</a:t>
            </a:r>
            <a:endParaRPr sz="1300"/>
          </a:p>
        </p:txBody>
      </p:sp>
      <p:sp>
        <p:nvSpPr>
          <p:cNvPr id="194" name="Google Shape;194;p34"/>
          <p:cNvSpPr txBox="1"/>
          <p:nvPr/>
        </p:nvSpPr>
        <p:spPr>
          <a:xfrm>
            <a:off x="2147425" y="1957200"/>
            <a:ext cx="397800" cy="4926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Patrick Hand"/>
                <a:ea typeface="Patrick Hand"/>
                <a:cs typeface="Patrick Hand"/>
                <a:sym typeface="Patrick Hand"/>
              </a:rPr>
              <a:t>4</a:t>
            </a:r>
            <a:endParaRPr sz="1300"/>
          </a:p>
        </p:txBody>
      </p:sp>
      <p:sp>
        <p:nvSpPr>
          <p:cNvPr id="195" name="Google Shape;195;p34"/>
          <p:cNvSpPr txBox="1"/>
          <p:nvPr/>
        </p:nvSpPr>
        <p:spPr>
          <a:xfrm>
            <a:off x="2833225" y="2033400"/>
            <a:ext cx="460500" cy="4926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Patrick Hand"/>
                <a:ea typeface="Patrick Hand"/>
                <a:cs typeface="Patrick Hand"/>
                <a:sym typeface="Patrick Hand"/>
              </a:rPr>
              <a:t>22</a:t>
            </a:r>
            <a:endParaRPr sz="1300"/>
          </a:p>
        </p:txBody>
      </p:sp>
      <p:sp>
        <p:nvSpPr>
          <p:cNvPr id="196" name="Google Shape;196;p34"/>
          <p:cNvSpPr txBox="1"/>
          <p:nvPr/>
        </p:nvSpPr>
        <p:spPr>
          <a:xfrm>
            <a:off x="4229900" y="3050450"/>
            <a:ext cx="980100" cy="5079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00">
                <a:solidFill>
                  <a:schemeClr val="dk1"/>
                </a:solidFill>
                <a:latin typeface="Patrick Hand"/>
                <a:ea typeface="Patrick Hand"/>
                <a:cs typeface="Patrick Hand"/>
                <a:sym typeface="Patrick Hand"/>
              </a:rPr>
              <a:t>60 </a:t>
            </a:r>
            <a:r>
              <a:rPr lang="es" sz="2100">
                <a:solidFill>
                  <a:schemeClr val="dk1"/>
                </a:solidFill>
                <a:latin typeface="Patrick Hand"/>
                <a:ea typeface="Patrick Hand"/>
                <a:cs typeface="Patrick Hand"/>
                <a:sym typeface="Patrick Hand"/>
              </a:rPr>
              <a:t>y 3 </a:t>
            </a:r>
            <a:endParaRPr sz="1200"/>
          </a:p>
        </p:txBody>
      </p:sp>
      <p:sp>
        <p:nvSpPr>
          <p:cNvPr id="197" name="Google Shape;197;p34"/>
          <p:cNvSpPr txBox="1"/>
          <p:nvPr/>
        </p:nvSpPr>
        <p:spPr>
          <a:xfrm>
            <a:off x="2116075" y="3455250"/>
            <a:ext cx="460500" cy="4926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Patrick Hand"/>
                <a:ea typeface="Patrick Hand"/>
                <a:cs typeface="Patrick Hand"/>
                <a:sym typeface="Patrick Hand"/>
              </a:rPr>
              <a:t>60</a:t>
            </a:r>
            <a:endParaRPr sz="1300"/>
          </a:p>
        </p:txBody>
      </p:sp>
      <p:sp>
        <p:nvSpPr>
          <p:cNvPr id="198" name="Google Shape;198;p34"/>
          <p:cNvSpPr txBox="1"/>
          <p:nvPr/>
        </p:nvSpPr>
        <p:spPr>
          <a:xfrm>
            <a:off x="2759100" y="3398800"/>
            <a:ext cx="460500" cy="4926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Patrick Hand"/>
                <a:ea typeface="Patrick Hand"/>
                <a:cs typeface="Patrick Hand"/>
                <a:sym typeface="Patrick Hand"/>
              </a:rPr>
              <a:t>35</a:t>
            </a:r>
            <a:endParaRPr sz="1300"/>
          </a:p>
        </p:txBody>
      </p:sp>
      <p:sp>
        <p:nvSpPr>
          <p:cNvPr id="199" name="Google Shape;199;p34"/>
          <p:cNvSpPr txBox="1"/>
          <p:nvPr/>
        </p:nvSpPr>
        <p:spPr>
          <a:xfrm>
            <a:off x="1590800" y="3817725"/>
            <a:ext cx="460500" cy="4926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Patrick Hand"/>
                <a:ea typeface="Patrick Hand"/>
                <a:cs typeface="Patrick Hand"/>
                <a:sym typeface="Patrick Hand"/>
              </a:rPr>
              <a:t>35</a:t>
            </a:r>
            <a:endParaRPr sz="1300"/>
          </a:p>
        </p:txBody>
      </p:sp>
      <p:sp>
        <p:nvSpPr>
          <p:cNvPr id="200" name="Google Shape;200;p34"/>
          <p:cNvSpPr txBox="1"/>
          <p:nvPr/>
        </p:nvSpPr>
        <p:spPr>
          <a:xfrm>
            <a:off x="2206300" y="3817725"/>
            <a:ext cx="397800" cy="4926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Patrick Hand"/>
                <a:ea typeface="Patrick Hand"/>
                <a:cs typeface="Patrick Hand"/>
                <a:sym typeface="Patrick Hand"/>
              </a:rPr>
              <a:t>3</a:t>
            </a:r>
            <a:endParaRPr sz="1300"/>
          </a:p>
        </p:txBody>
      </p:sp>
      <p:sp>
        <p:nvSpPr>
          <p:cNvPr id="201" name="Google Shape;201;p34"/>
          <p:cNvSpPr txBox="1"/>
          <p:nvPr/>
        </p:nvSpPr>
        <p:spPr>
          <a:xfrm>
            <a:off x="2833225" y="3815200"/>
            <a:ext cx="460500" cy="4926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Patrick Hand"/>
                <a:ea typeface="Patrick Hand"/>
                <a:cs typeface="Patrick Hand"/>
                <a:sym typeface="Patrick Hand"/>
              </a:rPr>
              <a:t>32</a:t>
            </a:r>
            <a:endParaRPr sz="1300"/>
          </a:p>
        </p:txBody>
      </p:sp>
      <p:sp>
        <p:nvSpPr>
          <p:cNvPr id="202" name="Google Shape;202;p34"/>
          <p:cNvSpPr txBox="1"/>
          <p:nvPr/>
        </p:nvSpPr>
        <p:spPr>
          <a:xfrm>
            <a:off x="2757025" y="4348600"/>
            <a:ext cx="460500" cy="4926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Patrick Hand"/>
                <a:ea typeface="Patrick Hand"/>
                <a:cs typeface="Patrick Hand"/>
                <a:sym typeface="Patrick Hand"/>
              </a:rPr>
              <a:t>32</a:t>
            </a:r>
            <a:endParaRPr sz="1300"/>
          </a:p>
        </p:txBody>
      </p:sp>
      <p:sp>
        <p:nvSpPr>
          <p:cNvPr id="203" name="Google Shape;203;p34"/>
          <p:cNvSpPr txBox="1"/>
          <p:nvPr/>
        </p:nvSpPr>
        <p:spPr>
          <a:xfrm>
            <a:off x="2833225" y="2414400"/>
            <a:ext cx="460500" cy="4926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Patrick Hand"/>
                <a:ea typeface="Patrick Hand"/>
                <a:cs typeface="Patrick Hand"/>
                <a:sym typeface="Patrick Hand"/>
              </a:rPr>
              <a:t>22</a:t>
            </a:r>
            <a:endParaRPr sz="1300"/>
          </a:p>
        </p:txBody>
      </p:sp>
      <p:pic>
        <p:nvPicPr>
          <p:cNvPr id="204" name="Google Shape;204;p34"/>
          <p:cNvPicPr preferRelativeResize="0"/>
          <p:nvPr/>
        </p:nvPicPr>
        <p:blipFill>
          <a:blip r:embed="rId4">
            <a:alphaModFix/>
          </a:blip>
          <a:stretch>
            <a:fillRect/>
          </a:stretch>
        </p:blipFill>
        <p:spPr>
          <a:xfrm>
            <a:off x="8257775" y="3888525"/>
            <a:ext cx="754750" cy="796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10" name="Google Shape;210;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Forma&#10;&#10;Descripción generada automáticamente con confianza media" id="211" name="Google Shape;211;p3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12" name="Google Shape;212;p35"/>
          <p:cNvSpPr txBox="1"/>
          <p:nvPr/>
        </p:nvSpPr>
        <p:spPr>
          <a:xfrm>
            <a:off x="-53175" y="139375"/>
            <a:ext cx="30000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 sz="2900" u="none" cap="none" strike="noStrike">
                <a:solidFill>
                  <a:srgbClr val="000000"/>
                </a:solidFill>
                <a:latin typeface="Patrick Hand"/>
                <a:ea typeface="Patrick Hand"/>
                <a:cs typeface="Patrick Hand"/>
                <a:sym typeface="Patrick Hand"/>
              </a:rPr>
              <a:t>Ejercicios</a:t>
            </a:r>
            <a:endParaRPr b="0" i="0" sz="300" u="none" cap="none" strike="noStrike">
              <a:solidFill>
                <a:srgbClr val="000000"/>
              </a:solidFill>
              <a:latin typeface="Arial"/>
              <a:ea typeface="Arial"/>
              <a:cs typeface="Arial"/>
              <a:sym typeface="Arial"/>
            </a:endParaRPr>
          </a:p>
        </p:txBody>
      </p:sp>
      <p:sp>
        <p:nvSpPr>
          <p:cNvPr id="213" name="Google Shape;213;p35"/>
          <p:cNvSpPr txBox="1"/>
          <p:nvPr/>
        </p:nvSpPr>
        <p:spPr>
          <a:xfrm>
            <a:off x="0" y="568375"/>
            <a:ext cx="70527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 sz="2100" u="none" cap="none" strike="noStrike">
                <a:solidFill>
                  <a:srgbClr val="000000"/>
                </a:solidFill>
                <a:latin typeface="Patrick Hand"/>
                <a:ea typeface="Patrick Hand"/>
                <a:cs typeface="Patrick Hand"/>
                <a:sym typeface="Patrick Hand"/>
              </a:rPr>
              <a:t>Abre tu cuaderno y resolvamos los siguientes ejercicios.</a:t>
            </a:r>
            <a:endParaRPr b="0" i="0" sz="100" u="none" cap="none" strike="noStrike">
              <a:solidFill>
                <a:srgbClr val="000000"/>
              </a:solidFill>
              <a:latin typeface="Arial"/>
              <a:ea typeface="Arial"/>
              <a:cs typeface="Arial"/>
              <a:sym typeface="Arial"/>
            </a:endParaRPr>
          </a:p>
        </p:txBody>
      </p:sp>
      <p:sp>
        <p:nvSpPr>
          <p:cNvPr id="214" name="Google Shape;214;p35"/>
          <p:cNvSpPr txBox="1"/>
          <p:nvPr/>
        </p:nvSpPr>
        <p:spPr>
          <a:xfrm>
            <a:off x="118250" y="847675"/>
            <a:ext cx="7797000" cy="1954800"/>
          </a:xfrm>
          <a:prstGeom prst="rect">
            <a:avLst/>
          </a:prstGeom>
          <a:noFill/>
          <a:ln>
            <a:noFill/>
          </a:ln>
        </p:spPr>
        <p:txBody>
          <a:bodyPr anchorCtr="0" anchor="t" bIns="91425" lIns="91425" spcFirstLastPara="1" rIns="91425" wrap="square" tIns="91425">
            <a:spAutoFit/>
          </a:bodyPr>
          <a:lstStyle/>
          <a:p>
            <a:pPr indent="-374650" lvl="0" marL="457200" rtl="0" algn="l">
              <a:spcBef>
                <a:spcPts val="0"/>
              </a:spcBef>
              <a:spcAft>
                <a:spcPts val="0"/>
              </a:spcAft>
              <a:buClr>
                <a:schemeClr val="dk1"/>
              </a:buClr>
              <a:buSzPts val="2300"/>
              <a:buFont typeface="Patrick Hand"/>
              <a:buChar char="★"/>
            </a:pPr>
            <a:r>
              <a:rPr lang="es" sz="2300">
                <a:solidFill>
                  <a:schemeClr val="dk1"/>
                </a:solidFill>
                <a:latin typeface="Patrick Hand"/>
                <a:ea typeface="Patrick Hand"/>
                <a:cs typeface="Patrick Hand"/>
                <a:sym typeface="Patrick Hand"/>
              </a:rPr>
              <a:t>79</a:t>
            </a:r>
            <a:r>
              <a:rPr lang="es" sz="2300">
                <a:solidFill>
                  <a:schemeClr val="dk1"/>
                </a:solidFill>
                <a:latin typeface="Patrick Hand"/>
                <a:ea typeface="Patrick Hand"/>
                <a:cs typeface="Patrick Hand"/>
                <a:sym typeface="Patrick Hand"/>
              </a:rPr>
              <a:t> - 56 =   ___</a:t>
            </a:r>
            <a:endParaRPr sz="2300">
              <a:solidFill>
                <a:schemeClr val="dk1"/>
              </a:solidFill>
              <a:latin typeface="Patrick Hand"/>
              <a:ea typeface="Patrick Hand"/>
              <a:cs typeface="Patrick Hand"/>
              <a:sym typeface="Patrick Hand"/>
            </a:endParaRPr>
          </a:p>
          <a:p>
            <a:pPr indent="-374650" lvl="0" marL="1371600" rtl="0" algn="l">
              <a:spcBef>
                <a:spcPts val="0"/>
              </a:spcBef>
              <a:spcAft>
                <a:spcPts val="0"/>
              </a:spcAft>
              <a:buClr>
                <a:schemeClr val="dk1"/>
              </a:buClr>
              <a:buSzPts val="2300"/>
              <a:buFont typeface="Patrick Hand"/>
              <a:buAutoNum type="arabicPeriod"/>
            </a:pPr>
            <a:r>
              <a:rPr lang="es" sz="2300">
                <a:solidFill>
                  <a:schemeClr val="dk1"/>
                </a:solidFill>
                <a:latin typeface="Patrick Hand"/>
                <a:ea typeface="Patrick Hand"/>
                <a:cs typeface="Patrick Hand"/>
                <a:sym typeface="Patrick Hand"/>
              </a:rPr>
              <a:t>56→ se transforma en </a:t>
            </a:r>
            <a:endParaRPr sz="2300">
              <a:solidFill>
                <a:schemeClr val="dk1"/>
              </a:solidFill>
              <a:latin typeface="Patrick Hand"/>
              <a:ea typeface="Patrick Hand"/>
              <a:cs typeface="Patrick Hand"/>
              <a:sym typeface="Patrick Hand"/>
            </a:endParaRPr>
          </a:p>
          <a:p>
            <a:pPr indent="-374650" lvl="0" marL="1371600" rtl="0" algn="l">
              <a:spcBef>
                <a:spcPts val="0"/>
              </a:spcBef>
              <a:spcAft>
                <a:spcPts val="0"/>
              </a:spcAft>
              <a:buClr>
                <a:schemeClr val="dk1"/>
              </a:buClr>
              <a:buSzPts val="2300"/>
              <a:buFont typeface="Patrick Hand"/>
              <a:buAutoNum type="arabicPeriod"/>
            </a:pPr>
            <a:r>
              <a:rPr lang="es" sz="2300">
                <a:solidFill>
                  <a:schemeClr val="dk1"/>
                </a:solidFill>
                <a:latin typeface="Patrick Hand"/>
                <a:ea typeface="Patrick Hand"/>
                <a:cs typeface="Patrick Hand"/>
                <a:sym typeface="Patrick Hand"/>
              </a:rPr>
              <a:t>79 - __  = __  (resto las decenas del 56)</a:t>
            </a:r>
            <a:endParaRPr sz="2300">
              <a:solidFill>
                <a:schemeClr val="dk1"/>
              </a:solidFill>
              <a:latin typeface="Patrick Hand"/>
              <a:ea typeface="Patrick Hand"/>
              <a:cs typeface="Patrick Hand"/>
              <a:sym typeface="Patrick Hand"/>
            </a:endParaRPr>
          </a:p>
          <a:p>
            <a:pPr indent="-374650" lvl="0" marL="1371600" rtl="0" algn="l">
              <a:spcBef>
                <a:spcPts val="0"/>
              </a:spcBef>
              <a:spcAft>
                <a:spcPts val="0"/>
              </a:spcAft>
              <a:buClr>
                <a:schemeClr val="dk1"/>
              </a:buClr>
              <a:buSzPts val="2300"/>
              <a:buFont typeface="Patrick Hand"/>
              <a:buAutoNum type="arabicPeriod"/>
            </a:pPr>
            <a:r>
              <a:rPr lang="es" sz="2300">
                <a:solidFill>
                  <a:schemeClr val="dk1"/>
                </a:solidFill>
                <a:latin typeface="Patrick Hand"/>
                <a:ea typeface="Patrick Hand"/>
                <a:cs typeface="Patrick Hand"/>
                <a:sym typeface="Patrick Hand"/>
              </a:rPr>
              <a:t>__ - __  = __  (Al resultado resto las unidades de 56)</a:t>
            </a:r>
            <a:endParaRPr sz="23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 sz="2300">
                <a:solidFill>
                  <a:schemeClr val="dk1"/>
                </a:solidFill>
                <a:latin typeface="Patrick Hand"/>
                <a:ea typeface="Patrick Hand"/>
                <a:cs typeface="Patrick Hand"/>
                <a:sym typeface="Patrick Hand"/>
              </a:rPr>
              <a:t>			Resultado : </a:t>
            </a:r>
            <a:endParaRPr sz="2300">
              <a:solidFill>
                <a:schemeClr val="dk1"/>
              </a:solidFill>
              <a:latin typeface="Patrick Hand"/>
              <a:ea typeface="Patrick Hand"/>
              <a:cs typeface="Patrick Hand"/>
              <a:sym typeface="Patrick Hand"/>
            </a:endParaRPr>
          </a:p>
        </p:txBody>
      </p:sp>
      <p:sp>
        <p:nvSpPr>
          <p:cNvPr id="215" name="Google Shape;215;p35"/>
          <p:cNvSpPr txBox="1"/>
          <p:nvPr/>
        </p:nvSpPr>
        <p:spPr>
          <a:xfrm>
            <a:off x="217750" y="2803625"/>
            <a:ext cx="7797000" cy="2308800"/>
          </a:xfrm>
          <a:prstGeom prst="rect">
            <a:avLst/>
          </a:prstGeom>
          <a:noFill/>
          <a:ln>
            <a:noFill/>
          </a:ln>
        </p:spPr>
        <p:txBody>
          <a:bodyPr anchorCtr="0" anchor="t" bIns="91425" lIns="91425" spcFirstLastPara="1" rIns="91425" wrap="square" tIns="91425">
            <a:spAutoFit/>
          </a:bodyPr>
          <a:lstStyle/>
          <a:p>
            <a:pPr indent="-374650" lvl="0" marL="457200" rtl="0" algn="l">
              <a:spcBef>
                <a:spcPts val="0"/>
              </a:spcBef>
              <a:spcAft>
                <a:spcPts val="0"/>
              </a:spcAft>
              <a:buClr>
                <a:schemeClr val="dk1"/>
              </a:buClr>
              <a:buSzPts val="2300"/>
              <a:buFont typeface="Patrick Hand"/>
              <a:buChar char="★"/>
            </a:pPr>
            <a:r>
              <a:rPr lang="es" sz="2300">
                <a:solidFill>
                  <a:schemeClr val="dk1"/>
                </a:solidFill>
                <a:latin typeface="Patrick Hand"/>
                <a:ea typeface="Patrick Hand"/>
                <a:cs typeface="Patrick Hand"/>
                <a:sym typeface="Patrick Hand"/>
              </a:rPr>
              <a:t>88</a:t>
            </a:r>
            <a:r>
              <a:rPr lang="es" sz="2300">
                <a:solidFill>
                  <a:schemeClr val="dk1"/>
                </a:solidFill>
                <a:latin typeface="Patrick Hand"/>
                <a:ea typeface="Patrick Hand"/>
                <a:cs typeface="Patrick Hand"/>
                <a:sym typeface="Patrick Hand"/>
              </a:rPr>
              <a:t>- 47=   ___</a:t>
            </a:r>
            <a:endParaRPr sz="2300">
              <a:solidFill>
                <a:schemeClr val="dk1"/>
              </a:solidFill>
              <a:latin typeface="Patrick Hand"/>
              <a:ea typeface="Patrick Hand"/>
              <a:cs typeface="Patrick Hand"/>
              <a:sym typeface="Patrick Hand"/>
            </a:endParaRPr>
          </a:p>
          <a:p>
            <a:pPr indent="-374650" lvl="0" marL="1371600" rtl="0" algn="l">
              <a:spcBef>
                <a:spcPts val="0"/>
              </a:spcBef>
              <a:spcAft>
                <a:spcPts val="0"/>
              </a:spcAft>
              <a:buClr>
                <a:schemeClr val="dk1"/>
              </a:buClr>
              <a:buSzPts val="2300"/>
              <a:buFont typeface="Patrick Hand"/>
              <a:buAutoNum type="arabicPeriod"/>
            </a:pPr>
            <a:r>
              <a:rPr lang="es" sz="2300">
                <a:solidFill>
                  <a:schemeClr val="dk1"/>
                </a:solidFill>
                <a:latin typeface="Patrick Hand"/>
                <a:ea typeface="Patrick Hand"/>
                <a:cs typeface="Patrick Hand"/>
                <a:sym typeface="Patrick Hand"/>
              </a:rPr>
              <a:t>47→ se transforma en </a:t>
            </a:r>
            <a:endParaRPr sz="2300">
              <a:solidFill>
                <a:schemeClr val="dk1"/>
              </a:solidFill>
              <a:latin typeface="Patrick Hand"/>
              <a:ea typeface="Patrick Hand"/>
              <a:cs typeface="Patrick Hand"/>
              <a:sym typeface="Patrick Hand"/>
            </a:endParaRPr>
          </a:p>
          <a:p>
            <a:pPr indent="-374650" lvl="0" marL="1371600" rtl="0" algn="l">
              <a:spcBef>
                <a:spcPts val="0"/>
              </a:spcBef>
              <a:spcAft>
                <a:spcPts val="0"/>
              </a:spcAft>
              <a:buClr>
                <a:schemeClr val="dk1"/>
              </a:buClr>
              <a:buSzPts val="2300"/>
              <a:buFont typeface="Patrick Hand"/>
              <a:buAutoNum type="arabicPeriod"/>
            </a:pPr>
            <a:r>
              <a:rPr lang="es" sz="2300">
                <a:solidFill>
                  <a:schemeClr val="dk1"/>
                </a:solidFill>
                <a:latin typeface="Patrick Hand"/>
                <a:ea typeface="Patrick Hand"/>
                <a:cs typeface="Patrick Hand"/>
                <a:sym typeface="Patrick Hand"/>
              </a:rPr>
              <a:t>88 - __  = __  (resto las decenas del 47)</a:t>
            </a:r>
            <a:endParaRPr sz="2300">
              <a:solidFill>
                <a:schemeClr val="dk1"/>
              </a:solidFill>
              <a:latin typeface="Patrick Hand"/>
              <a:ea typeface="Patrick Hand"/>
              <a:cs typeface="Patrick Hand"/>
              <a:sym typeface="Patrick Hand"/>
            </a:endParaRPr>
          </a:p>
          <a:p>
            <a:pPr indent="-374650" lvl="0" marL="1371600" rtl="0" algn="l">
              <a:spcBef>
                <a:spcPts val="0"/>
              </a:spcBef>
              <a:spcAft>
                <a:spcPts val="0"/>
              </a:spcAft>
              <a:buClr>
                <a:schemeClr val="dk1"/>
              </a:buClr>
              <a:buSzPts val="2300"/>
              <a:buFont typeface="Patrick Hand"/>
              <a:buAutoNum type="arabicPeriod"/>
            </a:pPr>
            <a:r>
              <a:rPr lang="es" sz="2300">
                <a:solidFill>
                  <a:schemeClr val="dk1"/>
                </a:solidFill>
                <a:latin typeface="Patrick Hand"/>
                <a:ea typeface="Patrick Hand"/>
                <a:cs typeface="Patrick Hand"/>
                <a:sym typeface="Patrick Hand"/>
              </a:rPr>
              <a:t>__ - __  = __  (Al resultado resto las unidades de 47)</a:t>
            </a:r>
            <a:endParaRPr sz="23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 sz="2300">
                <a:solidFill>
                  <a:schemeClr val="dk1"/>
                </a:solidFill>
                <a:latin typeface="Patrick Hand"/>
                <a:ea typeface="Patrick Hand"/>
                <a:cs typeface="Patrick Hand"/>
                <a:sym typeface="Patrick Hand"/>
              </a:rPr>
              <a:t>			Resultado : </a:t>
            </a:r>
            <a:endParaRPr sz="1300"/>
          </a:p>
          <a:p>
            <a:pPr indent="0" lvl="0" marL="0" rtl="0" algn="l">
              <a:spcBef>
                <a:spcPts val="0"/>
              </a:spcBef>
              <a:spcAft>
                <a:spcPts val="0"/>
              </a:spcAft>
              <a:buNone/>
            </a:pPr>
            <a:r>
              <a:t/>
            </a:r>
            <a:endParaRPr sz="2300">
              <a:solidFill>
                <a:schemeClr val="dk1"/>
              </a:solidFill>
              <a:latin typeface="Patrick Hand"/>
              <a:ea typeface="Patrick Hand"/>
              <a:cs typeface="Patrick Hand"/>
              <a:sym typeface="Patrick Hand"/>
            </a:endParaRPr>
          </a:p>
        </p:txBody>
      </p:sp>
      <p:sp>
        <p:nvSpPr>
          <p:cNvPr id="216" name="Google Shape;216;p35"/>
          <p:cNvSpPr txBox="1"/>
          <p:nvPr/>
        </p:nvSpPr>
        <p:spPr>
          <a:xfrm>
            <a:off x="4229900" y="1219100"/>
            <a:ext cx="980100" cy="5079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00">
                <a:solidFill>
                  <a:schemeClr val="dk1"/>
                </a:solidFill>
                <a:latin typeface="Patrick Hand"/>
                <a:ea typeface="Patrick Hand"/>
                <a:cs typeface="Patrick Hand"/>
                <a:sym typeface="Patrick Hand"/>
              </a:rPr>
              <a:t>50 </a:t>
            </a:r>
            <a:r>
              <a:rPr lang="es" sz="2100">
                <a:solidFill>
                  <a:schemeClr val="dk1"/>
                </a:solidFill>
                <a:latin typeface="Patrick Hand"/>
                <a:ea typeface="Patrick Hand"/>
                <a:cs typeface="Patrick Hand"/>
                <a:sym typeface="Patrick Hand"/>
              </a:rPr>
              <a:t>y 6 </a:t>
            </a:r>
            <a:endParaRPr sz="1200"/>
          </a:p>
        </p:txBody>
      </p:sp>
      <p:sp>
        <p:nvSpPr>
          <p:cNvPr id="217" name="Google Shape;217;p35"/>
          <p:cNvSpPr txBox="1"/>
          <p:nvPr/>
        </p:nvSpPr>
        <p:spPr>
          <a:xfrm>
            <a:off x="2147425" y="1617000"/>
            <a:ext cx="460500" cy="4926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Patrick Hand"/>
                <a:ea typeface="Patrick Hand"/>
                <a:cs typeface="Patrick Hand"/>
                <a:sym typeface="Patrick Hand"/>
              </a:rPr>
              <a:t>50</a:t>
            </a:r>
            <a:endParaRPr sz="1300"/>
          </a:p>
        </p:txBody>
      </p:sp>
      <p:sp>
        <p:nvSpPr>
          <p:cNvPr id="218" name="Google Shape;218;p35"/>
          <p:cNvSpPr txBox="1"/>
          <p:nvPr/>
        </p:nvSpPr>
        <p:spPr>
          <a:xfrm>
            <a:off x="2833225" y="1540800"/>
            <a:ext cx="460500" cy="4926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Patrick Hand"/>
                <a:ea typeface="Patrick Hand"/>
                <a:cs typeface="Patrick Hand"/>
                <a:sym typeface="Patrick Hand"/>
              </a:rPr>
              <a:t>29</a:t>
            </a:r>
            <a:endParaRPr sz="1300"/>
          </a:p>
        </p:txBody>
      </p:sp>
      <p:sp>
        <p:nvSpPr>
          <p:cNvPr id="219" name="Google Shape;219;p35"/>
          <p:cNvSpPr txBox="1"/>
          <p:nvPr/>
        </p:nvSpPr>
        <p:spPr>
          <a:xfrm>
            <a:off x="1537825" y="1921800"/>
            <a:ext cx="460500" cy="4926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Patrick Hand"/>
                <a:ea typeface="Patrick Hand"/>
                <a:cs typeface="Patrick Hand"/>
                <a:sym typeface="Patrick Hand"/>
              </a:rPr>
              <a:t>29</a:t>
            </a:r>
            <a:endParaRPr sz="1300"/>
          </a:p>
        </p:txBody>
      </p:sp>
      <p:sp>
        <p:nvSpPr>
          <p:cNvPr id="220" name="Google Shape;220;p35"/>
          <p:cNvSpPr txBox="1"/>
          <p:nvPr/>
        </p:nvSpPr>
        <p:spPr>
          <a:xfrm>
            <a:off x="2147425" y="1957200"/>
            <a:ext cx="397800" cy="4926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Patrick Hand"/>
                <a:ea typeface="Patrick Hand"/>
                <a:cs typeface="Patrick Hand"/>
                <a:sym typeface="Patrick Hand"/>
              </a:rPr>
              <a:t>6</a:t>
            </a:r>
            <a:endParaRPr sz="1300"/>
          </a:p>
        </p:txBody>
      </p:sp>
      <p:sp>
        <p:nvSpPr>
          <p:cNvPr id="221" name="Google Shape;221;p35"/>
          <p:cNvSpPr txBox="1"/>
          <p:nvPr/>
        </p:nvSpPr>
        <p:spPr>
          <a:xfrm>
            <a:off x="2833225" y="2033400"/>
            <a:ext cx="460500" cy="4926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Patrick Hand"/>
                <a:ea typeface="Patrick Hand"/>
                <a:cs typeface="Patrick Hand"/>
                <a:sym typeface="Patrick Hand"/>
              </a:rPr>
              <a:t>23</a:t>
            </a:r>
            <a:endParaRPr sz="1300"/>
          </a:p>
        </p:txBody>
      </p:sp>
      <p:sp>
        <p:nvSpPr>
          <p:cNvPr id="222" name="Google Shape;222;p35"/>
          <p:cNvSpPr txBox="1"/>
          <p:nvPr/>
        </p:nvSpPr>
        <p:spPr>
          <a:xfrm>
            <a:off x="4229900" y="3050450"/>
            <a:ext cx="980100" cy="5079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00">
                <a:solidFill>
                  <a:schemeClr val="dk1"/>
                </a:solidFill>
                <a:latin typeface="Patrick Hand"/>
                <a:ea typeface="Patrick Hand"/>
                <a:cs typeface="Patrick Hand"/>
                <a:sym typeface="Patrick Hand"/>
              </a:rPr>
              <a:t>40 </a:t>
            </a:r>
            <a:r>
              <a:rPr lang="es" sz="2100">
                <a:solidFill>
                  <a:schemeClr val="dk1"/>
                </a:solidFill>
                <a:latin typeface="Patrick Hand"/>
                <a:ea typeface="Patrick Hand"/>
                <a:cs typeface="Patrick Hand"/>
                <a:sym typeface="Patrick Hand"/>
              </a:rPr>
              <a:t>y 7 </a:t>
            </a:r>
            <a:endParaRPr sz="1200"/>
          </a:p>
        </p:txBody>
      </p:sp>
      <p:sp>
        <p:nvSpPr>
          <p:cNvPr id="223" name="Google Shape;223;p35"/>
          <p:cNvSpPr txBox="1"/>
          <p:nvPr/>
        </p:nvSpPr>
        <p:spPr>
          <a:xfrm>
            <a:off x="2116075" y="3455250"/>
            <a:ext cx="460500" cy="4926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Patrick Hand"/>
                <a:ea typeface="Patrick Hand"/>
                <a:cs typeface="Patrick Hand"/>
                <a:sym typeface="Patrick Hand"/>
              </a:rPr>
              <a:t>40</a:t>
            </a:r>
            <a:endParaRPr sz="1300"/>
          </a:p>
        </p:txBody>
      </p:sp>
      <p:sp>
        <p:nvSpPr>
          <p:cNvPr id="224" name="Google Shape;224;p35"/>
          <p:cNvSpPr txBox="1"/>
          <p:nvPr/>
        </p:nvSpPr>
        <p:spPr>
          <a:xfrm>
            <a:off x="2759100" y="3398800"/>
            <a:ext cx="460500" cy="4926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Patrick Hand"/>
                <a:ea typeface="Patrick Hand"/>
                <a:cs typeface="Patrick Hand"/>
                <a:sym typeface="Patrick Hand"/>
              </a:rPr>
              <a:t>48</a:t>
            </a:r>
            <a:endParaRPr sz="1300"/>
          </a:p>
        </p:txBody>
      </p:sp>
      <p:sp>
        <p:nvSpPr>
          <p:cNvPr id="225" name="Google Shape;225;p35"/>
          <p:cNvSpPr txBox="1"/>
          <p:nvPr/>
        </p:nvSpPr>
        <p:spPr>
          <a:xfrm>
            <a:off x="1590800" y="3817725"/>
            <a:ext cx="460500" cy="4926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Patrick Hand"/>
                <a:ea typeface="Patrick Hand"/>
                <a:cs typeface="Patrick Hand"/>
                <a:sym typeface="Patrick Hand"/>
              </a:rPr>
              <a:t>48</a:t>
            </a:r>
            <a:endParaRPr sz="1300"/>
          </a:p>
        </p:txBody>
      </p:sp>
      <p:sp>
        <p:nvSpPr>
          <p:cNvPr id="226" name="Google Shape;226;p35"/>
          <p:cNvSpPr txBox="1"/>
          <p:nvPr/>
        </p:nvSpPr>
        <p:spPr>
          <a:xfrm>
            <a:off x="2206300" y="3817725"/>
            <a:ext cx="397800" cy="4926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Patrick Hand"/>
                <a:ea typeface="Patrick Hand"/>
                <a:cs typeface="Patrick Hand"/>
                <a:sym typeface="Patrick Hand"/>
              </a:rPr>
              <a:t>7</a:t>
            </a:r>
            <a:endParaRPr sz="1300"/>
          </a:p>
        </p:txBody>
      </p:sp>
      <p:sp>
        <p:nvSpPr>
          <p:cNvPr id="227" name="Google Shape;227;p35"/>
          <p:cNvSpPr txBox="1"/>
          <p:nvPr/>
        </p:nvSpPr>
        <p:spPr>
          <a:xfrm>
            <a:off x="2833225" y="3815200"/>
            <a:ext cx="460500" cy="4926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Patrick Hand"/>
                <a:ea typeface="Patrick Hand"/>
                <a:cs typeface="Patrick Hand"/>
                <a:sym typeface="Patrick Hand"/>
              </a:rPr>
              <a:t>41</a:t>
            </a:r>
            <a:endParaRPr sz="1300"/>
          </a:p>
        </p:txBody>
      </p:sp>
      <p:sp>
        <p:nvSpPr>
          <p:cNvPr id="228" name="Google Shape;228;p35"/>
          <p:cNvSpPr txBox="1"/>
          <p:nvPr/>
        </p:nvSpPr>
        <p:spPr>
          <a:xfrm>
            <a:off x="2757025" y="4348600"/>
            <a:ext cx="460500" cy="4926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Patrick Hand"/>
                <a:ea typeface="Patrick Hand"/>
                <a:cs typeface="Patrick Hand"/>
                <a:sym typeface="Patrick Hand"/>
              </a:rPr>
              <a:t>41</a:t>
            </a:r>
            <a:endParaRPr sz="1300"/>
          </a:p>
        </p:txBody>
      </p:sp>
      <p:sp>
        <p:nvSpPr>
          <p:cNvPr id="229" name="Google Shape;229;p35"/>
          <p:cNvSpPr txBox="1"/>
          <p:nvPr/>
        </p:nvSpPr>
        <p:spPr>
          <a:xfrm>
            <a:off x="2833225" y="2414400"/>
            <a:ext cx="460500" cy="492600"/>
          </a:xfrm>
          <a:prstGeom prst="rect">
            <a:avLst/>
          </a:prstGeom>
          <a:solidFill>
            <a:srgbClr val="00928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Patrick Hand"/>
                <a:ea typeface="Patrick Hand"/>
                <a:cs typeface="Patrick Hand"/>
                <a:sym typeface="Patrick Hand"/>
              </a:rPr>
              <a:t>23</a:t>
            </a:r>
            <a:endParaRPr sz="1300"/>
          </a:p>
        </p:txBody>
      </p:sp>
      <p:pic>
        <p:nvPicPr>
          <p:cNvPr id="230" name="Google Shape;230;p35"/>
          <p:cNvPicPr preferRelativeResize="0"/>
          <p:nvPr/>
        </p:nvPicPr>
        <p:blipFill>
          <a:blip r:embed="rId4">
            <a:alphaModFix/>
          </a:blip>
          <a:stretch>
            <a:fillRect/>
          </a:stretch>
        </p:blipFill>
        <p:spPr>
          <a:xfrm>
            <a:off x="8257775" y="3888525"/>
            <a:ext cx="754750" cy="796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descr="Forma&#10;&#10;Descripción generada automáticamente con confianza media" id="236" name="Google Shape;236;p3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37" name="Google Shape;237;p36"/>
          <p:cNvSpPr txBox="1"/>
          <p:nvPr/>
        </p:nvSpPr>
        <p:spPr>
          <a:xfrm>
            <a:off x="0" y="160900"/>
            <a:ext cx="8981100" cy="132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latin typeface="Patrick Hand"/>
                <a:ea typeface="Patrick Hand"/>
                <a:cs typeface="Patrick Hand"/>
                <a:sym typeface="Patrick Hand"/>
              </a:rPr>
              <a:t>Estimar una resta</a:t>
            </a:r>
            <a:endParaRPr b="1" sz="2800">
              <a:latin typeface="Patrick Hand"/>
              <a:ea typeface="Patrick Hand"/>
              <a:cs typeface="Patrick Hand"/>
              <a:sym typeface="Patrick Hand"/>
            </a:endParaRPr>
          </a:p>
          <a:p>
            <a:pPr indent="0" lvl="0" marL="0" rtl="0" algn="l">
              <a:spcBef>
                <a:spcPts val="0"/>
              </a:spcBef>
              <a:spcAft>
                <a:spcPts val="0"/>
              </a:spcAft>
              <a:buNone/>
            </a:pPr>
            <a:r>
              <a:rPr lang="es" sz="2300">
                <a:latin typeface="Patrick Hand"/>
                <a:ea typeface="Patrick Hand"/>
                <a:cs typeface="Patrick Hand"/>
                <a:sym typeface="Patrick Hand"/>
              </a:rPr>
              <a:t>Para estimar una resta primero debo redondear los números y luego puedo resolver la sustracción.</a:t>
            </a:r>
            <a:endParaRPr sz="2300">
              <a:latin typeface="Patrick Hand"/>
              <a:ea typeface="Patrick Hand"/>
              <a:cs typeface="Patrick Hand"/>
              <a:sym typeface="Patrick Hand"/>
            </a:endParaRPr>
          </a:p>
        </p:txBody>
      </p:sp>
      <p:sp>
        <p:nvSpPr>
          <p:cNvPr id="238" name="Google Shape;238;p36"/>
          <p:cNvSpPr txBox="1"/>
          <p:nvPr/>
        </p:nvSpPr>
        <p:spPr>
          <a:xfrm>
            <a:off x="45450" y="1352250"/>
            <a:ext cx="8981100" cy="23241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Font typeface="Patrick Hand"/>
              <a:buAutoNum type="arabicPeriod"/>
            </a:pPr>
            <a:r>
              <a:rPr lang="es" sz="2400">
                <a:latin typeface="Patrick Hand"/>
                <a:ea typeface="Patrick Hand"/>
                <a:cs typeface="Patrick Hand"/>
                <a:sym typeface="Patrick Hand"/>
              </a:rPr>
              <a:t>Redondear a la decena:</a:t>
            </a:r>
            <a:endParaRPr sz="2400">
              <a:latin typeface="Patrick Hand"/>
              <a:ea typeface="Patrick Hand"/>
              <a:cs typeface="Patrick Hand"/>
              <a:sym typeface="Patrick Hand"/>
            </a:endParaRPr>
          </a:p>
          <a:p>
            <a:pPr indent="-374650" lvl="0" marL="914400" rtl="0" algn="l">
              <a:spcBef>
                <a:spcPts val="0"/>
              </a:spcBef>
              <a:spcAft>
                <a:spcPts val="0"/>
              </a:spcAft>
              <a:buSzPts val="2300"/>
              <a:buFont typeface="Patrick Hand"/>
              <a:buChar char="★"/>
            </a:pPr>
            <a:r>
              <a:rPr lang="es" sz="2300">
                <a:latin typeface="Patrick Hand"/>
                <a:ea typeface="Patrick Hand"/>
                <a:cs typeface="Patrick Hand"/>
                <a:sym typeface="Patrick Hand"/>
              </a:rPr>
              <a:t> Cuando se me presenta una resta de 2 dígitos, debo redondear ambos n° (minuendo y sustraendo) a la decena más cercana y luego resolver la resta. </a:t>
            </a:r>
            <a:endParaRPr sz="2300">
              <a:latin typeface="Patrick Hand"/>
              <a:ea typeface="Patrick Hand"/>
              <a:cs typeface="Patrick Hand"/>
              <a:sym typeface="Patrick Hand"/>
            </a:endParaRPr>
          </a:p>
          <a:p>
            <a:pPr indent="-374650" lvl="0" marL="914400" rtl="0" algn="l">
              <a:spcBef>
                <a:spcPts val="0"/>
              </a:spcBef>
              <a:spcAft>
                <a:spcPts val="0"/>
              </a:spcAft>
              <a:buSzPts val="2300"/>
              <a:buFont typeface="Patrick Hand"/>
              <a:buChar char="★"/>
            </a:pPr>
            <a:r>
              <a:rPr lang="es" sz="2300">
                <a:latin typeface="Patrick Hand"/>
                <a:ea typeface="Patrick Hand"/>
                <a:cs typeface="Patrick Hand"/>
                <a:sym typeface="Patrick Hand"/>
              </a:rPr>
              <a:t>Para redondear a la decena observamos la unidad, si es mayor o igual a 5 redondeamos a la decena mayor.</a:t>
            </a:r>
            <a:endParaRPr sz="2300">
              <a:latin typeface="Patrick Hand"/>
              <a:ea typeface="Patrick Hand"/>
              <a:cs typeface="Patrick Hand"/>
              <a:sym typeface="Patrick Hand"/>
            </a:endParaRPr>
          </a:p>
        </p:txBody>
      </p:sp>
      <p:sp>
        <p:nvSpPr>
          <p:cNvPr id="239" name="Google Shape;239;p36"/>
          <p:cNvSpPr txBox="1"/>
          <p:nvPr/>
        </p:nvSpPr>
        <p:spPr>
          <a:xfrm>
            <a:off x="2173275" y="3561775"/>
            <a:ext cx="3000000" cy="5541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lang="es" sz="2400">
                <a:solidFill>
                  <a:schemeClr val="dk1"/>
                </a:solidFill>
                <a:latin typeface="Patrick Hand"/>
                <a:ea typeface="Patrick Hand"/>
                <a:cs typeface="Patrick Hand"/>
                <a:sym typeface="Patrick Hand"/>
              </a:rPr>
              <a:t>             78  -   23 =</a:t>
            </a:r>
            <a:endParaRPr/>
          </a:p>
        </p:txBody>
      </p:sp>
      <p:sp>
        <p:nvSpPr>
          <p:cNvPr id="240" name="Google Shape;240;p36"/>
          <p:cNvSpPr txBox="1"/>
          <p:nvPr/>
        </p:nvSpPr>
        <p:spPr>
          <a:xfrm>
            <a:off x="2249475" y="4344475"/>
            <a:ext cx="3000000" cy="554100"/>
          </a:xfrm>
          <a:prstGeom prst="rect">
            <a:avLst/>
          </a:prstGeom>
          <a:noFill/>
          <a:ln>
            <a:noFill/>
          </a:ln>
        </p:spPr>
        <p:txBody>
          <a:bodyPr anchorCtr="0" anchor="t" bIns="91425" lIns="91425" spcFirstLastPara="1" rIns="91425" wrap="square" tIns="91425">
            <a:spAutoFit/>
          </a:bodyPr>
          <a:lstStyle/>
          <a:p>
            <a:pPr indent="0" lvl="0" marL="1371600" rtl="0" algn="l">
              <a:spcBef>
                <a:spcPts val="0"/>
              </a:spcBef>
              <a:spcAft>
                <a:spcPts val="0"/>
              </a:spcAft>
              <a:buNone/>
            </a:pPr>
            <a:r>
              <a:rPr lang="es" sz="2400">
                <a:solidFill>
                  <a:schemeClr val="dk1"/>
                </a:solidFill>
                <a:latin typeface="Patrick Hand"/>
                <a:ea typeface="Patrick Hand"/>
                <a:cs typeface="Patrick Hand"/>
                <a:sym typeface="Patrick Hand"/>
              </a:rPr>
              <a:t>80   </a:t>
            </a:r>
            <a:endParaRPr/>
          </a:p>
        </p:txBody>
      </p:sp>
      <p:sp>
        <p:nvSpPr>
          <p:cNvPr id="241" name="Google Shape;241;p36"/>
          <p:cNvSpPr txBox="1"/>
          <p:nvPr/>
        </p:nvSpPr>
        <p:spPr>
          <a:xfrm>
            <a:off x="4339450" y="4344475"/>
            <a:ext cx="2705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20</a:t>
            </a:r>
            <a:endParaRPr/>
          </a:p>
        </p:txBody>
      </p:sp>
      <p:cxnSp>
        <p:nvCxnSpPr>
          <p:cNvPr id="242" name="Google Shape;242;p36"/>
          <p:cNvCxnSpPr/>
          <p:nvPr/>
        </p:nvCxnSpPr>
        <p:spPr>
          <a:xfrm>
            <a:off x="3836850" y="3864675"/>
            <a:ext cx="26700" cy="612900"/>
          </a:xfrm>
          <a:prstGeom prst="straightConnector1">
            <a:avLst/>
          </a:prstGeom>
          <a:noFill/>
          <a:ln cap="flat" cmpd="sng" w="9525">
            <a:solidFill>
              <a:srgbClr val="009287"/>
            </a:solidFill>
            <a:prstDash val="solid"/>
            <a:round/>
            <a:headEnd len="med" w="med" type="none"/>
            <a:tailEnd len="med" w="med" type="triangle"/>
          </a:ln>
        </p:spPr>
      </p:cxnSp>
      <p:cxnSp>
        <p:nvCxnSpPr>
          <p:cNvPr id="243" name="Google Shape;243;p36"/>
          <p:cNvCxnSpPr/>
          <p:nvPr/>
        </p:nvCxnSpPr>
        <p:spPr>
          <a:xfrm>
            <a:off x="4522650" y="3864675"/>
            <a:ext cx="26700" cy="612900"/>
          </a:xfrm>
          <a:prstGeom prst="straightConnector1">
            <a:avLst/>
          </a:prstGeom>
          <a:noFill/>
          <a:ln cap="flat" cmpd="sng" w="9525">
            <a:solidFill>
              <a:srgbClr val="009287"/>
            </a:solidFill>
            <a:prstDash val="solid"/>
            <a:round/>
            <a:headEnd len="med" w="med" type="none"/>
            <a:tailEnd len="med" w="med" type="triangle"/>
          </a:ln>
        </p:spPr>
      </p:cxnSp>
      <p:cxnSp>
        <p:nvCxnSpPr>
          <p:cNvPr id="244" name="Google Shape;244;p36"/>
          <p:cNvCxnSpPr/>
          <p:nvPr/>
        </p:nvCxnSpPr>
        <p:spPr>
          <a:xfrm>
            <a:off x="5015275" y="3816800"/>
            <a:ext cx="1532400" cy="0"/>
          </a:xfrm>
          <a:prstGeom prst="straightConnector1">
            <a:avLst/>
          </a:prstGeom>
          <a:noFill/>
          <a:ln cap="flat" cmpd="sng" w="19050">
            <a:solidFill>
              <a:srgbClr val="009287"/>
            </a:solidFill>
            <a:prstDash val="solid"/>
            <a:round/>
            <a:headEnd len="med" w="med" type="none"/>
            <a:tailEnd len="med" w="med" type="triangle"/>
          </a:ln>
        </p:spPr>
      </p:cxnSp>
      <p:sp>
        <p:nvSpPr>
          <p:cNvPr id="245" name="Google Shape;245;p36"/>
          <p:cNvSpPr txBox="1"/>
          <p:nvPr/>
        </p:nvSpPr>
        <p:spPr>
          <a:xfrm>
            <a:off x="6557250" y="3262700"/>
            <a:ext cx="1193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    8 </a:t>
            </a:r>
            <a:r>
              <a:rPr lang="es" sz="2400">
                <a:solidFill>
                  <a:schemeClr val="dk1"/>
                </a:solidFill>
                <a:latin typeface="Patrick Hand"/>
                <a:ea typeface="Patrick Hand"/>
                <a:cs typeface="Patrick Hand"/>
                <a:sym typeface="Patrick Hand"/>
              </a:rPr>
              <a:t>0</a:t>
            </a:r>
            <a:endParaRPr sz="24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  2 0</a:t>
            </a:r>
            <a:endParaRPr sz="2400">
              <a:solidFill>
                <a:schemeClr val="dk1"/>
              </a:solidFill>
              <a:latin typeface="Patrick Hand"/>
              <a:ea typeface="Patrick Hand"/>
              <a:cs typeface="Patrick Hand"/>
              <a:sym typeface="Patrick Hand"/>
            </a:endParaRPr>
          </a:p>
        </p:txBody>
      </p:sp>
      <p:cxnSp>
        <p:nvCxnSpPr>
          <p:cNvPr id="246" name="Google Shape;246;p36"/>
          <p:cNvCxnSpPr/>
          <p:nvPr/>
        </p:nvCxnSpPr>
        <p:spPr>
          <a:xfrm flipH="1" rot="10800000">
            <a:off x="6471475" y="4150075"/>
            <a:ext cx="1266000" cy="13200"/>
          </a:xfrm>
          <a:prstGeom prst="straightConnector1">
            <a:avLst/>
          </a:prstGeom>
          <a:noFill/>
          <a:ln cap="flat" cmpd="sng" w="9525">
            <a:solidFill>
              <a:srgbClr val="009287"/>
            </a:solidFill>
            <a:prstDash val="solid"/>
            <a:round/>
            <a:headEnd len="med" w="med" type="none"/>
            <a:tailEnd len="med" w="med" type="none"/>
          </a:ln>
        </p:spPr>
      </p:cxnSp>
      <p:sp>
        <p:nvSpPr>
          <p:cNvPr id="247" name="Google Shape;247;p36"/>
          <p:cNvSpPr txBox="1"/>
          <p:nvPr/>
        </p:nvSpPr>
        <p:spPr>
          <a:xfrm>
            <a:off x="6862050" y="4150075"/>
            <a:ext cx="882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6 0</a:t>
            </a:r>
            <a:endParaRPr/>
          </a:p>
        </p:txBody>
      </p:sp>
      <p:pic>
        <p:nvPicPr>
          <p:cNvPr id="248" name="Google Shape;248;p36"/>
          <p:cNvPicPr preferRelativeResize="0"/>
          <p:nvPr/>
        </p:nvPicPr>
        <p:blipFill>
          <a:blip r:embed="rId4">
            <a:alphaModFix/>
          </a:blip>
          <a:stretch>
            <a:fillRect/>
          </a:stretch>
        </p:blipFill>
        <p:spPr>
          <a:xfrm>
            <a:off x="8257775" y="3888525"/>
            <a:ext cx="754750" cy="796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7"/>
          <p:cNvSpPr txBox="1"/>
          <p:nvPr>
            <p:ph type="title"/>
          </p:nvPr>
        </p:nvSpPr>
        <p:spPr>
          <a:xfrm>
            <a:off x="415600" y="593367"/>
            <a:ext cx="113607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54" name="Google Shape;254;p37"/>
          <p:cNvSpPr txBox="1"/>
          <p:nvPr>
            <p:ph idx="1" type="body"/>
          </p:nvPr>
        </p:nvSpPr>
        <p:spPr>
          <a:xfrm>
            <a:off x="415600" y="1536633"/>
            <a:ext cx="11360700" cy="4555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Forma&#10;&#10;Descripción generada automáticamente con confianza media" id="255" name="Google Shape;255;p3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56" name="Google Shape;256;p37"/>
          <p:cNvSpPr txBox="1"/>
          <p:nvPr/>
        </p:nvSpPr>
        <p:spPr>
          <a:xfrm>
            <a:off x="0" y="568375"/>
            <a:ext cx="70527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 sz="2100" u="none" cap="none" strike="noStrike">
                <a:solidFill>
                  <a:srgbClr val="000000"/>
                </a:solidFill>
                <a:latin typeface="Patrick Hand"/>
                <a:ea typeface="Patrick Hand"/>
                <a:cs typeface="Patrick Hand"/>
                <a:sym typeface="Patrick Hand"/>
              </a:rPr>
              <a:t>Abre tu cuaderno y resolvamos los siguientes ejercicios.</a:t>
            </a:r>
            <a:endParaRPr b="0" i="0" sz="100" u="none" cap="none" strike="noStrike">
              <a:solidFill>
                <a:srgbClr val="000000"/>
              </a:solidFill>
              <a:latin typeface="Arial"/>
              <a:ea typeface="Arial"/>
              <a:cs typeface="Arial"/>
              <a:sym typeface="Arial"/>
            </a:endParaRPr>
          </a:p>
        </p:txBody>
      </p:sp>
      <p:sp>
        <p:nvSpPr>
          <p:cNvPr id="257" name="Google Shape;257;p37"/>
          <p:cNvSpPr txBox="1"/>
          <p:nvPr/>
        </p:nvSpPr>
        <p:spPr>
          <a:xfrm>
            <a:off x="-53175" y="139375"/>
            <a:ext cx="30000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 sz="3000" u="none" cap="none" strike="noStrike">
                <a:solidFill>
                  <a:srgbClr val="000000"/>
                </a:solidFill>
                <a:latin typeface="Patrick Hand"/>
                <a:ea typeface="Patrick Hand"/>
                <a:cs typeface="Patrick Hand"/>
                <a:sym typeface="Patrick Hand"/>
              </a:rPr>
              <a:t>Ejercicios</a:t>
            </a:r>
            <a:endParaRPr b="0" i="0" sz="400" u="none" cap="none" strike="noStrike">
              <a:solidFill>
                <a:srgbClr val="000000"/>
              </a:solidFill>
              <a:latin typeface="Arial"/>
              <a:ea typeface="Arial"/>
              <a:cs typeface="Arial"/>
              <a:sym typeface="Arial"/>
            </a:endParaRPr>
          </a:p>
        </p:txBody>
      </p:sp>
      <p:sp>
        <p:nvSpPr>
          <p:cNvPr id="258" name="Google Shape;258;p37"/>
          <p:cNvSpPr txBox="1"/>
          <p:nvPr/>
        </p:nvSpPr>
        <p:spPr>
          <a:xfrm>
            <a:off x="311700" y="1152475"/>
            <a:ext cx="2006400" cy="5541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Font typeface="Patrick Hand"/>
              <a:buChar char="★"/>
            </a:pPr>
            <a:r>
              <a:rPr lang="es" sz="2400">
                <a:solidFill>
                  <a:schemeClr val="dk1"/>
                </a:solidFill>
                <a:latin typeface="Patrick Hand"/>
                <a:ea typeface="Patrick Hand"/>
                <a:cs typeface="Patrick Hand"/>
                <a:sym typeface="Patrick Hand"/>
              </a:rPr>
              <a:t>89 -   12 =</a:t>
            </a:r>
            <a:endParaRPr sz="1400"/>
          </a:p>
        </p:txBody>
      </p:sp>
      <p:sp>
        <p:nvSpPr>
          <p:cNvPr id="259" name="Google Shape;259;p37"/>
          <p:cNvSpPr txBox="1"/>
          <p:nvPr/>
        </p:nvSpPr>
        <p:spPr>
          <a:xfrm>
            <a:off x="311700" y="2823925"/>
            <a:ext cx="2006400" cy="5541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Font typeface="Patrick Hand"/>
              <a:buChar char="★"/>
            </a:pPr>
            <a:r>
              <a:rPr lang="es" sz="2400">
                <a:solidFill>
                  <a:schemeClr val="dk1"/>
                </a:solidFill>
                <a:latin typeface="Patrick Hand"/>
                <a:ea typeface="Patrick Hand"/>
                <a:cs typeface="Patrick Hand"/>
                <a:sym typeface="Patrick Hand"/>
              </a:rPr>
              <a:t>79 -   51=</a:t>
            </a:r>
            <a:endParaRPr sz="1400"/>
          </a:p>
        </p:txBody>
      </p:sp>
      <p:sp>
        <p:nvSpPr>
          <p:cNvPr id="260" name="Google Shape;260;p37"/>
          <p:cNvSpPr txBox="1"/>
          <p:nvPr/>
        </p:nvSpPr>
        <p:spPr>
          <a:xfrm>
            <a:off x="5046300" y="1152475"/>
            <a:ext cx="2006400" cy="5541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Font typeface="Patrick Hand"/>
              <a:buChar char="★"/>
            </a:pPr>
            <a:r>
              <a:rPr lang="es" sz="2400">
                <a:solidFill>
                  <a:schemeClr val="dk1"/>
                </a:solidFill>
                <a:latin typeface="Patrick Hand"/>
                <a:ea typeface="Patrick Hand"/>
                <a:cs typeface="Patrick Hand"/>
                <a:sym typeface="Patrick Hand"/>
              </a:rPr>
              <a:t>67 -   33=</a:t>
            </a:r>
            <a:endParaRPr sz="1400"/>
          </a:p>
        </p:txBody>
      </p:sp>
      <p:sp>
        <p:nvSpPr>
          <p:cNvPr id="261" name="Google Shape;261;p37"/>
          <p:cNvSpPr txBox="1"/>
          <p:nvPr/>
        </p:nvSpPr>
        <p:spPr>
          <a:xfrm>
            <a:off x="5046300" y="2881350"/>
            <a:ext cx="2006400" cy="5541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Font typeface="Patrick Hand"/>
              <a:buChar char="★"/>
            </a:pPr>
            <a:r>
              <a:rPr lang="es" sz="2400">
                <a:solidFill>
                  <a:schemeClr val="dk1"/>
                </a:solidFill>
                <a:latin typeface="Patrick Hand"/>
                <a:ea typeface="Patrick Hand"/>
                <a:cs typeface="Patrick Hand"/>
                <a:sym typeface="Patrick Hand"/>
              </a:rPr>
              <a:t>58 -   21=</a:t>
            </a:r>
            <a:endParaRPr sz="1400"/>
          </a:p>
        </p:txBody>
      </p:sp>
      <p:cxnSp>
        <p:nvCxnSpPr>
          <p:cNvPr id="262" name="Google Shape;262;p37"/>
          <p:cNvCxnSpPr/>
          <p:nvPr/>
        </p:nvCxnSpPr>
        <p:spPr>
          <a:xfrm>
            <a:off x="963150" y="1574650"/>
            <a:ext cx="26700" cy="612900"/>
          </a:xfrm>
          <a:prstGeom prst="straightConnector1">
            <a:avLst/>
          </a:prstGeom>
          <a:noFill/>
          <a:ln cap="flat" cmpd="sng" w="9525">
            <a:solidFill>
              <a:srgbClr val="009287"/>
            </a:solidFill>
            <a:prstDash val="solid"/>
            <a:round/>
            <a:headEnd len="med" w="med" type="none"/>
            <a:tailEnd len="med" w="med" type="triangle"/>
          </a:ln>
        </p:spPr>
      </p:cxnSp>
      <p:cxnSp>
        <p:nvCxnSpPr>
          <p:cNvPr id="263" name="Google Shape;263;p37"/>
          <p:cNvCxnSpPr/>
          <p:nvPr/>
        </p:nvCxnSpPr>
        <p:spPr>
          <a:xfrm>
            <a:off x="1648950" y="1574650"/>
            <a:ext cx="26700" cy="612900"/>
          </a:xfrm>
          <a:prstGeom prst="straightConnector1">
            <a:avLst/>
          </a:prstGeom>
          <a:noFill/>
          <a:ln cap="flat" cmpd="sng" w="9525">
            <a:solidFill>
              <a:srgbClr val="009287"/>
            </a:solidFill>
            <a:prstDash val="solid"/>
            <a:round/>
            <a:headEnd len="med" w="med" type="none"/>
            <a:tailEnd len="med" w="med" type="triangle"/>
          </a:ln>
        </p:spPr>
      </p:cxnSp>
      <p:cxnSp>
        <p:nvCxnSpPr>
          <p:cNvPr id="264" name="Google Shape;264;p37"/>
          <p:cNvCxnSpPr/>
          <p:nvPr/>
        </p:nvCxnSpPr>
        <p:spPr>
          <a:xfrm flipH="1" rot="10800000">
            <a:off x="2798275" y="1976250"/>
            <a:ext cx="1266000" cy="13200"/>
          </a:xfrm>
          <a:prstGeom prst="straightConnector1">
            <a:avLst/>
          </a:prstGeom>
          <a:noFill/>
          <a:ln cap="flat" cmpd="sng" w="9525">
            <a:solidFill>
              <a:srgbClr val="009287"/>
            </a:solidFill>
            <a:prstDash val="solid"/>
            <a:round/>
            <a:headEnd len="med" w="med" type="none"/>
            <a:tailEnd len="med" w="med" type="none"/>
          </a:ln>
        </p:spPr>
      </p:cxnSp>
      <p:cxnSp>
        <p:nvCxnSpPr>
          <p:cNvPr id="265" name="Google Shape;265;p37"/>
          <p:cNvCxnSpPr/>
          <p:nvPr/>
        </p:nvCxnSpPr>
        <p:spPr>
          <a:xfrm flipH="1" rot="10800000">
            <a:off x="7716625" y="1976250"/>
            <a:ext cx="1266000" cy="13200"/>
          </a:xfrm>
          <a:prstGeom prst="straightConnector1">
            <a:avLst/>
          </a:prstGeom>
          <a:noFill/>
          <a:ln cap="flat" cmpd="sng" w="9525">
            <a:solidFill>
              <a:srgbClr val="009287"/>
            </a:solidFill>
            <a:prstDash val="solid"/>
            <a:round/>
            <a:headEnd len="med" w="med" type="none"/>
            <a:tailEnd len="med" w="med" type="none"/>
          </a:ln>
        </p:spPr>
      </p:cxnSp>
      <p:cxnSp>
        <p:nvCxnSpPr>
          <p:cNvPr id="266" name="Google Shape;266;p37"/>
          <p:cNvCxnSpPr/>
          <p:nvPr/>
        </p:nvCxnSpPr>
        <p:spPr>
          <a:xfrm>
            <a:off x="5712725" y="1574650"/>
            <a:ext cx="26700" cy="612900"/>
          </a:xfrm>
          <a:prstGeom prst="straightConnector1">
            <a:avLst/>
          </a:prstGeom>
          <a:noFill/>
          <a:ln cap="flat" cmpd="sng" w="9525">
            <a:solidFill>
              <a:srgbClr val="009287"/>
            </a:solidFill>
            <a:prstDash val="solid"/>
            <a:round/>
            <a:headEnd len="med" w="med" type="none"/>
            <a:tailEnd len="med" w="med" type="triangle"/>
          </a:ln>
        </p:spPr>
      </p:cxnSp>
      <p:cxnSp>
        <p:nvCxnSpPr>
          <p:cNvPr id="267" name="Google Shape;267;p37"/>
          <p:cNvCxnSpPr/>
          <p:nvPr/>
        </p:nvCxnSpPr>
        <p:spPr>
          <a:xfrm>
            <a:off x="6451450" y="1574650"/>
            <a:ext cx="26700" cy="612900"/>
          </a:xfrm>
          <a:prstGeom prst="straightConnector1">
            <a:avLst/>
          </a:prstGeom>
          <a:noFill/>
          <a:ln cap="flat" cmpd="sng" w="9525">
            <a:solidFill>
              <a:srgbClr val="009287"/>
            </a:solidFill>
            <a:prstDash val="solid"/>
            <a:round/>
            <a:headEnd len="med" w="med" type="none"/>
            <a:tailEnd len="med" w="med" type="triangle"/>
          </a:ln>
        </p:spPr>
      </p:cxnSp>
      <p:cxnSp>
        <p:nvCxnSpPr>
          <p:cNvPr id="268" name="Google Shape;268;p37"/>
          <p:cNvCxnSpPr/>
          <p:nvPr/>
        </p:nvCxnSpPr>
        <p:spPr>
          <a:xfrm>
            <a:off x="989850" y="3217775"/>
            <a:ext cx="26700" cy="612900"/>
          </a:xfrm>
          <a:prstGeom prst="straightConnector1">
            <a:avLst/>
          </a:prstGeom>
          <a:noFill/>
          <a:ln cap="flat" cmpd="sng" w="9525">
            <a:solidFill>
              <a:srgbClr val="009287"/>
            </a:solidFill>
            <a:prstDash val="solid"/>
            <a:round/>
            <a:headEnd len="med" w="med" type="none"/>
            <a:tailEnd len="med" w="med" type="triangle"/>
          </a:ln>
        </p:spPr>
      </p:cxnSp>
      <p:cxnSp>
        <p:nvCxnSpPr>
          <p:cNvPr id="269" name="Google Shape;269;p37"/>
          <p:cNvCxnSpPr/>
          <p:nvPr/>
        </p:nvCxnSpPr>
        <p:spPr>
          <a:xfrm>
            <a:off x="1622250" y="3227350"/>
            <a:ext cx="26700" cy="612900"/>
          </a:xfrm>
          <a:prstGeom prst="straightConnector1">
            <a:avLst/>
          </a:prstGeom>
          <a:noFill/>
          <a:ln cap="flat" cmpd="sng" w="9525">
            <a:solidFill>
              <a:srgbClr val="009287"/>
            </a:solidFill>
            <a:prstDash val="solid"/>
            <a:round/>
            <a:headEnd len="med" w="med" type="none"/>
            <a:tailEnd len="med" w="med" type="triangle"/>
          </a:ln>
        </p:spPr>
      </p:cxnSp>
      <p:cxnSp>
        <p:nvCxnSpPr>
          <p:cNvPr id="270" name="Google Shape;270;p37"/>
          <p:cNvCxnSpPr/>
          <p:nvPr/>
        </p:nvCxnSpPr>
        <p:spPr>
          <a:xfrm>
            <a:off x="5712725" y="3309375"/>
            <a:ext cx="26700" cy="612900"/>
          </a:xfrm>
          <a:prstGeom prst="straightConnector1">
            <a:avLst/>
          </a:prstGeom>
          <a:noFill/>
          <a:ln cap="flat" cmpd="sng" w="9525">
            <a:solidFill>
              <a:srgbClr val="009287"/>
            </a:solidFill>
            <a:prstDash val="solid"/>
            <a:round/>
            <a:headEnd len="med" w="med" type="none"/>
            <a:tailEnd len="med" w="med" type="triangle"/>
          </a:ln>
        </p:spPr>
      </p:cxnSp>
      <p:cxnSp>
        <p:nvCxnSpPr>
          <p:cNvPr id="271" name="Google Shape;271;p37"/>
          <p:cNvCxnSpPr/>
          <p:nvPr/>
        </p:nvCxnSpPr>
        <p:spPr>
          <a:xfrm>
            <a:off x="6451450" y="3309375"/>
            <a:ext cx="26700" cy="612900"/>
          </a:xfrm>
          <a:prstGeom prst="straightConnector1">
            <a:avLst/>
          </a:prstGeom>
          <a:noFill/>
          <a:ln cap="flat" cmpd="sng" w="9525">
            <a:solidFill>
              <a:srgbClr val="009287"/>
            </a:solidFill>
            <a:prstDash val="solid"/>
            <a:round/>
            <a:headEnd len="med" w="med" type="none"/>
            <a:tailEnd len="med" w="med" type="triangle"/>
          </a:ln>
        </p:spPr>
      </p:cxnSp>
      <p:cxnSp>
        <p:nvCxnSpPr>
          <p:cNvPr id="272" name="Google Shape;272;p37"/>
          <p:cNvCxnSpPr/>
          <p:nvPr/>
        </p:nvCxnSpPr>
        <p:spPr>
          <a:xfrm flipH="1" rot="10800000">
            <a:off x="2798275" y="3517625"/>
            <a:ext cx="1266000" cy="13200"/>
          </a:xfrm>
          <a:prstGeom prst="straightConnector1">
            <a:avLst/>
          </a:prstGeom>
          <a:noFill/>
          <a:ln cap="flat" cmpd="sng" w="9525">
            <a:solidFill>
              <a:srgbClr val="009287"/>
            </a:solidFill>
            <a:prstDash val="solid"/>
            <a:round/>
            <a:headEnd len="med" w="med" type="none"/>
            <a:tailEnd len="med" w="med" type="none"/>
          </a:ln>
        </p:spPr>
      </p:cxnSp>
      <p:cxnSp>
        <p:nvCxnSpPr>
          <p:cNvPr id="273" name="Google Shape;273;p37"/>
          <p:cNvCxnSpPr/>
          <p:nvPr/>
        </p:nvCxnSpPr>
        <p:spPr>
          <a:xfrm flipH="1" rot="10800000">
            <a:off x="7716625" y="3378025"/>
            <a:ext cx="1266000" cy="13200"/>
          </a:xfrm>
          <a:prstGeom prst="straightConnector1">
            <a:avLst/>
          </a:prstGeom>
          <a:noFill/>
          <a:ln cap="flat" cmpd="sng" w="9525">
            <a:solidFill>
              <a:srgbClr val="009287"/>
            </a:solidFill>
            <a:prstDash val="solid"/>
            <a:round/>
            <a:headEnd len="med" w="med" type="none"/>
            <a:tailEnd len="med" w="med" type="none"/>
          </a:ln>
        </p:spPr>
      </p:cxnSp>
      <p:sp>
        <p:nvSpPr>
          <p:cNvPr id="274" name="Google Shape;274;p37"/>
          <p:cNvSpPr txBox="1"/>
          <p:nvPr/>
        </p:nvSpPr>
        <p:spPr>
          <a:xfrm>
            <a:off x="759525" y="2185125"/>
            <a:ext cx="2006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90-   10=</a:t>
            </a:r>
            <a:endParaRPr sz="1400"/>
          </a:p>
        </p:txBody>
      </p:sp>
      <p:sp>
        <p:nvSpPr>
          <p:cNvPr id="275" name="Google Shape;275;p37"/>
          <p:cNvSpPr txBox="1"/>
          <p:nvPr/>
        </p:nvSpPr>
        <p:spPr>
          <a:xfrm>
            <a:off x="2834575" y="1152475"/>
            <a:ext cx="1193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    9 0</a:t>
            </a:r>
            <a:endParaRPr sz="24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  1 0</a:t>
            </a:r>
            <a:endParaRPr sz="2400">
              <a:solidFill>
                <a:schemeClr val="dk1"/>
              </a:solidFill>
              <a:latin typeface="Patrick Hand"/>
              <a:ea typeface="Patrick Hand"/>
              <a:cs typeface="Patrick Hand"/>
              <a:sym typeface="Patrick Hand"/>
            </a:endParaRPr>
          </a:p>
        </p:txBody>
      </p:sp>
      <p:sp>
        <p:nvSpPr>
          <p:cNvPr id="276" name="Google Shape;276;p37"/>
          <p:cNvSpPr txBox="1"/>
          <p:nvPr/>
        </p:nvSpPr>
        <p:spPr>
          <a:xfrm>
            <a:off x="3109950" y="2019900"/>
            <a:ext cx="832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8 0</a:t>
            </a:r>
            <a:endParaRPr sz="1400"/>
          </a:p>
        </p:txBody>
      </p:sp>
      <p:sp>
        <p:nvSpPr>
          <p:cNvPr id="277" name="Google Shape;277;p37"/>
          <p:cNvSpPr txBox="1"/>
          <p:nvPr/>
        </p:nvSpPr>
        <p:spPr>
          <a:xfrm>
            <a:off x="5636525" y="2230925"/>
            <a:ext cx="2006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70-   30=</a:t>
            </a:r>
            <a:endParaRPr sz="1400"/>
          </a:p>
        </p:txBody>
      </p:sp>
      <p:sp>
        <p:nvSpPr>
          <p:cNvPr id="278" name="Google Shape;278;p37"/>
          <p:cNvSpPr txBox="1"/>
          <p:nvPr/>
        </p:nvSpPr>
        <p:spPr>
          <a:xfrm>
            <a:off x="7752925" y="1152475"/>
            <a:ext cx="1193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    7 0</a:t>
            </a:r>
            <a:endParaRPr sz="24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   3 0</a:t>
            </a:r>
            <a:endParaRPr sz="2400">
              <a:solidFill>
                <a:schemeClr val="dk1"/>
              </a:solidFill>
              <a:latin typeface="Patrick Hand"/>
              <a:ea typeface="Patrick Hand"/>
              <a:cs typeface="Patrick Hand"/>
              <a:sym typeface="Patrick Hand"/>
            </a:endParaRPr>
          </a:p>
        </p:txBody>
      </p:sp>
      <p:sp>
        <p:nvSpPr>
          <p:cNvPr id="279" name="Google Shape;279;p37"/>
          <p:cNvSpPr txBox="1"/>
          <p:nvPr/>
        </p:nvSpPr>
        <p:spPr>
          <a:xfrm>
            <a:off x="8075700" y="1920825"/>
            <a:ext cx="832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4 0</a:t>
            </a:r>
            <a:endParaRPr sz="1400"/>
          </a:p>
        </p:txBody>
      </p:sp>
      <p:sp>
        <p:nvSpPr>
          <p:cNvPr id="280" name="Google Shape;280;p37"/>
          <p:cNvSpPr txBox="1"/>
          <p:nvPr/>
        </p:nvSpPr>
        <p:spPr>
          <a:xfrm>
            <a:off x="811500" y="3771875"/>
            <a:ext cx="2006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80-   50=</a:t>
            </a:r>
            <a:endParaRPr sz="1400"/>
          </a:p>
        </p:txBody>
      </p:sp>
      <p:sp>
        <p:nvSpPr>
          <p:cNvPr id="281" name="Google Shape;281;p37"/>
          <p:cNvSpPr txBox="1"/>
          <p:nvPr/>
        </p:nvSpPr>
        <p:spPr>
          <a:xfrm>
            <a:off x="2910775" y="2680650"/>
            <a:ext cx="1193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    8 0</a:t>
            </a:r>
            <a:endParaRPr sz="24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  5 0</a:t>
            </a:r>
            <a:endParaRPr sz="2400">
              <a:solidFill>
                <a:schemeClr val="dk1"/>
              </a:solidFill>
              <a:latin typeface="Patrick Hand"/>
              <a:ea typeface="Patrick Hand"/>
              <a:cs typeface="Patrick Hand"/>
              <a:sym typeface="Patrick Hand"/>
            </a:endParaRPr>
          </a:p>
        </p:txBody>
      </p:sp>
      <p:sp>
        <p:nvSpPr>
          <p:cNvPr id="282" name="Google Shape;282;p37"/>
          <p:cNvSpPr txBox="1"/>
          <p:nvPr/>
        </p:nvSpPr>
        <p:spPr>
          <a:xfrm>
            <a:off x="3186150" y="3391500"/>
            <a:ext cx="832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3 0</a:t>
            </a:r>
            <a:endParaRPr sz="1400"/>
          </a:p>
        </p:txBody>
      </p:sp>
      <p:sp>
        <p:nvSpPr>
          <p:cNvPr id="283" name="Google Shape;283;p37"/>
          <p:cNvSpPr txBox="1"/>
          <p:nvPr/>
        </p:nvSpPr>
        <p:spPr>
          <a:xfrm>
            <a:off x="5573775" y="3840250"/>
            <a:ext cx="2006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60-   20=</a:t>
            </a:r>
            <a:endParaRPr sz="1400"/>
          </a:p>
        </p:txBody>
      </p:sp>
      <p:sp>
        <p:nvSpPr>
          <p:cNvPr id="284" name="Google Shape;284;p37"/>
          <p:cNvSpPr txBox="1"/>
          <p:nvPr/>
        </p:nvSpPr>
        <p:spPr>
          <a:xfrm>
            <a:off x="7829125" y="2571750"/>
            <a:ext cx="1193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    6 0</a:t>
            </a:r>
            <a:endParaRPr sz="24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  2 0</a:t>
            </a:r>
            <a:endParaRPr sz="2400">
              <a:solidFill>
                <a:schemeClr val="dk1"/>
              </a:solidFill>
              <a:latin typeface="Patrick Hand"/>
              <a:ea typeface="Patrick Hand"/>
              <a:cs typeface="Patrick Hand"/>
              <a:sym typeface="Patrick Hand"/>
            </a:endParaRPr>
          </a:p>
        </p:txBody>
      </p:sp>
      <p:sp>
        <p:nvSpPr>
          <p:cNvPr id="285" name="Google Shape;285;p37"/>
          <p:cNvSpPr txBox="1"/>
          <p:nvPr/>
        </p:nvSpPr>
        <p:spPr>
          <a:xfrm>
            <a:off x="8080050" y="3378025"/>
            <a:ext cx="832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4 0</a:t>
            </a:r>
            <a:endParaRPr sz="1400"/>
          </a:p>
        </p:txBody>
      </p:sp>
      <p:pic>
        <p:nvPicPr>
          <p:cNvPr id="286" name="Google Shape;286;p37"/>
          <p:cNvPicPr preferRelativeResize="0"/>
          <p:nvPr/>
        </p:nvPicPr>
        <p:blipFill>
          <a:blip r:embed="rId4">
            <a:alphaModFix/>
          </a:blip>
          <a:stretch>
            <a:fillRect/>
          </a:stretch>
        </p:blipFill>
        <p:spPr>
          <a:xfrm>
            <a:off x="8257775" y="3888525"/>
            <a:ext cx="754750" cy="796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92" name="Google Shape;292;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Forma&#10;&#10;Descripción generada automáticamente con confianza media" id="293" name="Google Shape;293;p3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94" name="Google Shape;294;p38"/>
          <p:cNvSpPr txBox="1"/>
          <p:nvPr/>
        </p:nvSpPr>
        <p:spPr>
          <a:xfrm>
            <a:off x="0" y="237100"/>
            <a:ext cx="8981100" cy="9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latin typeface="Patrick Hand"/>
                <a:ea typeface="Patrick Hand"/>
                <a:cs typeface="Patrick Hand"/>
                <a:sym typeface="Patrick Hand"/>
              </a:rPr>
              <a:t>Estimar una resta</a:t>
            </a:r>
            <a:endParaRPr b="1" sz="2800">
              <a:latin typeface="Patrick Hand"/>
              <a:ea typeface="Patrick Hand"/>
              <a:cs typeface="Patrick Hand"/>
              <a:sym typeface="Patrick Hand"/>
            </a:endParaRPr>
          </a:p>
          <a:p>
            <a:pPr indent="0" lvl="0" marL="0" rtl="0" algn="l">
              <a:spcBef>
                <a:spcPts val="0"/>
              </a:spcBef>
              <a:spcAft>
                <a:spcPts val="0"/>
              </a:spcAft>
              <a:buNone/>
            </a:pPr>
            <a:r>
              <a:t/>
            </a:r>
            <a:endParaRPr sz="2300">
              <a:latin typeface="Patrick Hand"/>
              <a:ea typeface="Patrick Hand"/>
              <a:cs typeface="Patrick Hand"/>
              <a:sym typeface="Patrick Hand"/>
            </a:endParaRPr>
          </a:p>
        </p:txBody>
      </p:sp>
      <p:sp>
        <p:nvSpPr>
          <p:cNvPr id="295" name="Google Shape;295;p38"/>
          <p:cNvSpPr txBox="1"/>
          <p:nvPr/>
        </p:nvSpPr>
        <p:spPr>
          <a:xfrm>
            <a:off x="0" y="771475"/>
            <a:ext cx="8981100" cy="238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latin typeface="Patrick Hand"/>
                <a:ea typeface="Patrick Hand"/>
                <a:cs typeface="Patrick Hand"/>
                <a:sym typeface="Patrick Hand"/>
              </a:rPr>
              <a:t>2</a:t>
            </a:r>
            <a:r>
              <a:rPr lang="es" sz="2400">
                <a:latin typeface="Patrick Hand"/>
                <a:ea typeface="Patrick Hand"/>
                <a:cs typeface="Patrick Hand"/>
                <a:sym typeface="Patrick Hand"/>
              </a:rPr>
              <a:t>.     </a:t>
            </a:r>
            <a:r>
              <a:rPr lang="es" sz="2400">
                <a:latin typeface="Patrick Hand"/>
                <a:ea typeface="Patrick Hand"/>
                <a:cs typeface="Patrick Hand"/>
                <a:sym typeface="Patrick Hand"/>
              </a:rPr>
              <a:t>Redondear a la centena:</a:t>
            </a:r>
            <a:endParaRPr sz="2400">
              <a:latin typeface="Patrick Hand"/>
              <a:ea typeface="Patrick Hand"/>
              <a:cs typeface="Patrick Hand"/>
              <a:sym typeface="Patrick Hand"/>
            </a:endParaRPr>
          </a:p>
          <a:p>
            <a:pPr indent="-381000" lvl="0" marL="1371600" rtl="0" algn="l">
              <a:spcBef>
                <a:spcPts val="0"/>
              </a:spcBef>
              <a:spcAft>
                <a:spcPts val="0"/>
              </a:spcAft>
              <a:buSzPts val="2400"/>
              <a:buFont typeface="Patrick Hand"/>
              <a:buChar char="★"/>
            </a:pPr>
            <a:r>
              <a:rPr lang="es" sz="2400">
                <a:latin typeface="Patrick Hand"/>
                <a:ea typeface="Patrick Hand"/>
                <a:cs typeface="Patrick Hand"/>
                <a:sym typeface="Patrick Hand"/>
              </a:rPr>
              <a:t> Cuando se me presenta una resta de 3 dígitos, puedo redondear ambos n° (minuendo y sustraendo) a la centena más cercana y luego resolver la resta. </a:t>
            </a:r>
            <a:endParaRPr sz="2400">
              <a:latin typeface="Patrick Hand"/>
              <a:ea typeface="Patrick Hand"/>
              <a:cs typeface="Patrick Hand"/>
              <a:sym typeface="Patrick Hand"/>
            </a:endParaRPr>
          </a:p>
          <a:p>
            <a:pPr indent="-381000" lvl="0" marL="1371600" rtl="0" algn="l">
              <a:spcBef>
                <a:spcPts val="0"/>
              </a:spcBef>
              <a:spcAft>
                <a:spcPts val="0"/>
              </a:spcAft>
              <a:buSzPts val="2400"/>
              <a:buFont typeface="Patrick Hand"/>
              <a:buChar char="★"/>
            </a:pPr>
            <a:r>
              <a:rPr lang="es" sz="2300">
                <a:solidFill>
                  <a:schemeClr val="dk1"/>
                </a:solidFill>
                <a:latin typeface="Patrick Hand"/>
                <a:ea typeface="Patrick Hand"/>
                <a:cs typeface="Patrick Hand"/>
                <a:sym typeface="Patrick Hand"/>
              </a:rPr>
              <a:t>Para redondear a la centena observamos la decena, si es mayor o igual a 5 redondeamos a la centena mayor.</a:t>
            </a:r>
            <a:endParaRPr sz="2400">
              <a:latin typeface="Patrick Hand"/>
              <a:ea typeface="Patrick Hand"/>
              <a:cs typeface="Patrick Hand"/>
              <a:sym typeface="Patrick Hand"/>
            </a:endParaRPr>
          </a:p>
        </p:txBody>
      </p:sp>
      <p:sp>
        <p:nvSpPr>
          <p:cNvPr id="296" name="Google Shape;296;p38"/>
          <p:cNvSpPr txBox="1"/>
          <p:nvPr/>
        </p:nvSpPr>
        <p:spPr>
          <a:xfrm>
            <a:off x="3163875" y="2952175"/>
            <a:ext cx="3000000" cy="5541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lang="es" sz="2400">
                <a:solidFill>
                  <a:schemeClr val="dk1"/>
                </a:solidFill>
                <a:latin typeface="Patrick Hand"/>
                <a:ea typeface="Patrick Hand"/>
                <a:cs typeface="Patrick Hand"/>
                <a:sym typeface="Patrick Hand"/>
              </a:rPr>
              <a:t>             721 -   294=</a:t>
            </a:r>
            <a:endParaRPr/>
          </a:p>
        </p:txBody>
      </p:sp>
      <p:sp>
        <p:nvSpPr>
          <p:cNvPr id="297" name="Google Shape;297;p38"/>
          <p:cNvSpPr txBox="1"/>
          <p:nvPr/>
        </p:nvSpPr>
        <p:spPr>
          <a:xfrm>
            <a:off x="3240075" y="3811075"/>
            <a:ext cx="3000000" cy="554100"/>
          </a:xfrm>
          <a:prstGeom prst="rect">
            <a:avLst/>
          </a:prstGeom>
          <a:noFill/>
          <a:ln>
            <a:noFill/>
          </a:ln>
        </p:spPr>
        <p:txBody>
          <a:bodyPr anchorCtr="0" anchor="t" bIns="91425" lIns="91425" spcFirstLastPara="1" rIns="91425" wrap="square" tIns="91425">
            <a:spAutoFit/>
          </a:bodyPr>
          <a:lstStyle/>
          <a:p>
            <a:pPr indent="0" lvl="0" marL="1371600" rtl="0" algn="l">
              <a:spcBef>
                <a:spcPts val="0"/>
              </a:spcBef>
              <a:spcAft>
                <a:spcPts val="0"/>
              </a:spcAft>
              <a:buNone/>
            </a:pPr>
            <a:r>
              <a:rPr lang="es" sz="2400">
                <a:solidFill>
                  <a:schemeClr val="dk1"/>
                </a:solidFill>
                <a:latin typeface="Patrick Hand"/>
                <a:ea typeface="Patrick Hand"/>
                <a:cs typeface="Patrick Hand"/>
                <a:sym typeface="Patrick Hand"/>
              </a:rPr>
              <a:t>700</a:t>
            </a:r>
            <a:r>
              <a:rPr lang="es" sz="2400">
                <a:solidFill>
                  <a:schemeClr val="dk1"/>
                </a:solidFill>
                <a:latin typeface="Patrick Hand"/>
                <a:ea typeface="Patrick Hand"/>
                <a:cs typeface="Patrick Hand"/>
                <a:sym typeface="Patrick Hand"/>
              </a:rPr>
              <a:t>  </a:t>
            </a:r>
            <a:endParaRPr/>
          </a:p>
        </p:txBody>
      </p:sp>
      <p:sp>
        <p:nvSpPr>
          <p:cNvPr id="298" name="Google Shape;298;p38"/>
          <p:cNvSpPr txBox="1"/>
          <p:nvPr/>
        </p:nvSpPr>
        <p:spPr>
          <a:xfrm>
            <a:off x="5330050" y="3811075"/>
            <a:ext cx="2705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300</a:t>
            </a:r>
            <a:endParaRPr/>
          </a:p>
        </p:txBody>
      </p:sp>
      <p:cxnSp>
        <p:nvCxnSpPr>
          <p:cNvPr id="299" name="Google Shape;299;p38"/>
          <p:cNvCxnSpPr/>
          <p:nvPr/>
        </p:nvCxnSpPr>
        <p:spPr>
          <a:xfrm>
            <a:off x="4827450" y="3331275"/>
            <a:ext cx="26700" cy="612900"/>
          </a:xfrm>
          <a:prstGeom prst="straightConnector1">
            <a:avLst/>
          </a:prstGeom>
          <a:noFill/>
          <a:ln cap="flat" cmpd="sng" w="9525">
            <a:solidFill>
              <a:srgbClr val="009287"/>
            </a:solidFill>
            <a:prstDash val="solid"/>
            <a:round/>
            <a:headEnd len="med" w="med" type="none"/>
            <a:tailEnd len="med" w="med" type="triangle"/>
          </a:ln>
        </p:spPr>
      </p:cxnSp>
      <p:cxnSp>
        <p:nvCxnSpPr>
          <p:cNvPr id="300" name="Google Shape;300;p38"/>
          <p:cNvCxnSpPr/>
          <p:nvPr/>
        </p:nvCxnSpPr>
        <p:spPr>
          <a:xfrm>
            <a:off x="5513250" y="3331275"/>
            <a:ext cx="26700" cy="612900"/>
          </a:xfrm>
          <a:prstGeom prst="straightConnector1">
            <a:avLst/>
          </a:prstGeom>
          <a:noFill/>
          <a:ln cap="flat" cmpd="sng" w="9525">
            <a:solidFill>
              <a:srgbClr val="009287"/>
            </a:solidFill>
            <a:prstDash val="solid"/>
            <a:round/>
            <a:headEnd len="med" w="med" type="none"/>
            <a:tailEnd len="med" w="med" type="triangle"/>
          </a:ln>
        </p:spPr>
      </p:cxnSp>
      <p:cxnSp>
        <p:nvCxnSpPr>
          <p:cNvPr id="301" name="Google Shape;301;p38"/>
          <p:cNvCxnSpPr/>
          <p:nvPr/>
        </p:nvCxnSpPr>
        <p:spPr>
          <a:xfrm>
            <a:off x="5853475" y="3664400"/>
            <a:ext cx="1532400" cy="0"/>
          </a:xfrm>
          <a:prstGeom prst="straightConnector1">
            <a:avLst/>
          </a:prstGeom>
          <a:noFill/>
          <a:ln cap="flat" cmpd="sng" w="19050">
            <a:solidFill>
              <a:srgbClr val="009287"/>
            </a:solidFill>
            <a:prstDash val="solid"/>
            <a:round/>
            <a:headEnd len="med" w="med" type="none"/>
            <a:tailEnd len="med" w="med" type="triangle"/>
          </a:ln>
        </p:spPr>
      </p:cxnSp>
      <p:sp>
        <p:nvSpPr>
          <p:cNvPr id="302" name="Google Shape;302;p38"/>
          <p:cNvSpPr txBox="1"/>
          <p:nvPr/>
        </p:nvSpPr>
        <p:spPr>
          <a:xfrm>
            <a:off x="7547850" y="3110300"/>
            <a:ext cx="1193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    70 0</a:t>
            </a:r>
            <a:endParaRPr sz="24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   30 0</a:t>
            </a:r>
            <a:endParaRPr sz="2400">
              <a:solidFill>
                <a:schemeClr val="dk1"/>
              </a:solidFill>
              <a:latin typeface="Patrick Hand"/>
              <a:ea typeface="Patrick Hand"/>
              <a:cs typeface="Patrick Hand"/>
              <a:sym typeface="Patrick Hand"/>
            </a:endParaRPr>
          </a:p>
        </p:txBody>
      </p:sp>
      <p:cxnSp>
        <p:nvCxnSpPr>
          <p:cNvPr id="303" name="Google Shape;303;p38"/>
          <p:cNvCxnSpPr/>
          <p:nvPr/>
        </p:nvCxnSpPr>
        <p:spPr>
          <a:xfrm flipH="1" rot="10800000">
            <a:off x="7462075" y="3997675"/>
            <a:ext cx="1266000" cy="13200"/>
          </a:xfrm>
          <a:prstGeom prst="straightConnector1">
            <a:avLst/>
          </a:prstGeom>
          <a:noFill/>
          <a:ln cap="flat" cmpd="sng" w="9525">
            <a:solidFill>
              <a:srgbClr val="009287"/>
            </a:solidFill>
            <a:prstDash val="solid"/>
            <a:round/>
            <a:headEnd len="med" w="med" type="none"/>
            <a:tailEnd len="med" w="med" type="none"/>
          </a:ln>
        </p:spPr>
      </p:cxnSp>
      <p:sp>
        <p:nvSpPr>
          <p:cNvPr id="304" name="Google Shape;304;p38"/>
          <p:cNvSpPr txBox="1"/>
          <p:nvPr/>
        </p:nvSpPr>
        <p:spPr>
          <a:xfrm>
            <a:off x="7928850" y="3997675"/>
            <a:ext cx="882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4</a:t>
            </a:r>
            <a:r>
              <a:rPr lang="es" sz="2400">
                <a:solidFill>
                  <a:schemeClr val="dk1"/>
                </a:solidFill>
                <a:latin typeface="Patrick Hand"/>
                <a:ea typeface="Patrick Hand"/>
                <a:cs typeface="Patrick Hand"/>
                <a:sym typeface="Patrick Hand"/>
              </a:rPr>
              <a:t> 0 0</a:t>
            </a:r>
            <a:endParaRPr/>
          </a:p>
        </p:txBody>
      </p:sp>
      <p:pic>
        <p:nvPicPr>
          <p:cNvPr id="305" name="Google Shape;305;p38"/>
          <p:cNvPicPr preferRelativeResize="0"/>
          <p:nvPr/>
        </p:nvPicPr>
        <p:blipFill>
          <a:blip r:embed="rId4">
            <a:alphaModFix/>
          </a:blip>
          <a:stretch>
            <a:fillRect/>
          </a:stretch>
        </p:blipFill>
        <p:spPr>
          <a:xfrm>
            <a:off x="8297750" y="333300"/>
            <a:ext cx="754750" cy="796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11" name="Google Shape;311;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Forma&#10;&#10;Descripción generada automáticamente con confianza media" id="312" name="Google Shape;312;p3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13" name="Google Shape;313;p39"/>
          <p:cNvSpPr txBox="1"/>
          <p:nvPr/>
        </p:nvSpPr>
        <p:spPr>
          <a:xfrm>
            <a:off x="0" y="568375"/>
            <a:ext cx="70527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 sz="2100" u="none" cap="none" strike="noStrike">
                <a:solidFill>
                  <a:srgbClr val="000000"/>
                </a:solidFill>
                <a:latin typeface="Patrick Hand"/>
                <a:ea typeface="Patrick Hand"/>
                <a:cs typeface="Patrick Hand"/>
                <a:sym typeface="Patrick Hand"/>
              </a:rPr>
              <a:t>Abre tu cuaderno y resolvamos los siguientes ejercicios.</a:t>
            </a:r>
            <a:endParaRPr b="0" i="0" sz="100" u="none" cap="none" strike="noStrike">
              <a:solidFill>
                <a:srgbClr val="000000"/>
              </a:solidFill>
              <a:latin typeface="Arial"/>
              <a:ea typeface="Arial"/>
              <a:cs typeface="Arial"/>
              <a:sym typeface="Arial"/>
            </a:endParaRPr>
          </a:p>
        </p:txBody>
      </p:sp>
      <p:sp>
        <p:nvSpPr>
          <p:cNvPr id="314" name="Google Shape;314;p39"/>
          <p:cNvSpPr txBox="1"/>
          <p:nvPr/>
        </p:nvSpPr>
        <p:spPr>
          <a:xfrm>
            <a:off x="-53175" y="139375"/>
            <a:ext cx="30000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 sz="3000" u="none" cap="none" strike="noStrike">
                <a:solidFill>
                  <a:srgbClr val="000000"/>
                </a:solidFill>
                <a:latin typeface="Patrick Hand"/>
                <a:ea typeface="Patrick Hand"/>
                <a:cs typeface="Patrick Hand"/>
                <a:sym typeface="Patrick Hand"/>
              </a:rPr>
              <a:t>Ejercicios</a:t>
            </a:r>
            <a:endParaRPr b="0" i="0" sz="400" u="none" cap="none" strike="noStrike">
              <a:solidFill>
                <a:srgbClr val="000000"/>
              </a:solidFill>
              <a:latin typeface="Arial"/>
              <a:ea typeface="Arial"/>
              <a:cs typeface="Arial"/>
              <a:sym typeface="Arial"/>
            </a:endParaRPr>
          </a:p>
        </p:txBody>
      </p:sp>
      <p:sp>
        <p:nvSpPr>
          <p:cNvPr id="315" name="Google Shape;315;p39"/>
          <p:cNvSpPr txBox="1"/>
          <p:nvPr/>
        </p:nvSpPr>
        <p:spPr>
          <a:xfrm>
            <a:off x="311700" y="1152475"/>
            <a:ext cx="2233500" cy="5541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Font typeface="Patrick Hand"/>
              <a:buChar char="★"/>
            </a:pPr>
            <a:r>
              <a:rPr lang="es" sz="2400">
                <a:solidFill>
                  <a:schemeClr val="dk1"/>
                </a:solidFill>
                <a:latin typeface="Patrick Hand"/>
                <a:ea typeface="Patrick Hand"/>
                <a:cs typeface="Patrick Hand"/>
                <a:sym typeface="Patrick Hand"/>
              </a:rPr>
              <a:t>44</a:t>
            </a:r>
            <a:r>
              <a:rPr lang="es" sz="2400">
                <a:solidFill>
                  <a:schemeClr val="dk1"/>
                </a:solidFill>
                <a:latin typeface="Patrick Hand"/>
                <a:ea typeface="Patrick Hand"/>
                <a:cs typeface="Patrick Hand"/>
                <a:sym typeface="Patrick Hand"/>
              </a:rPr>
              <a:t>9 -   182 =</a:t>
            </a:r>
            <a:endParaRPr/>
          </a:p>
        </p:txBody>
      </p:sp>
      <p:sp>
        <p:nvSpPr>
          <p:cNvPr id="316" name="Google Shape;316;p39"/>
          <p:cNvSpPr txBox="1"/>
          <p:nvPr/>
        </p:nvSpPr>
        <p:spPr>
          <a:xfrm>
            <a:off x="311700" y="2823925"/>
            <a:ext cx="2006400" cy="5541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Font typeface="Patrick Hand"/>
              <a:buChar char="★"/>
            </a:pPr>
            <a:r>
              <a:rPr lang="es" sz="2400">
                <a:solidFill>
                  <a:schemeClr val="dk1"/>
                </a:solidFill>
                <a:latin typeface="Patrick Hand"/>
                <a:ea typeface="Patrick Hand"/>
                <a:cs typeface="Patrick Hand"/>
                <a:sym typeface="Patrick Hand"/>
              </a:rPr>
              <a:t>729 -   401=</a:t>
            </a:r>
            <a:endParaRPr/>
          </a:p>
        </p:txBody>
      </p:sp>
      <p:sp>
        <p:nvSpPr>
          <p:cNvPr id="317" name="Google Shape;317;p39"/>
          <p:cNvSpPr txBox="1"/>
          <p:nvPr/>
        </p:nvSpPr>
        <p:spPr>
          <a:xfrm>
            <a:off x="5046300" y="1152475"/>
            <a:ext cx="2233500" cy="5541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Font typeface="Patrick Hand"/>
              <a:buChar char="★"/>
            </a:pPr>
            <a:r>
              <a:rPr lang="es" sz="2400">
                <a:solidFill>
                  <a:schemeClr val="dk1"/>
                </a:solidFill>
                <a:latin typeface="Patrick Hand"/>
                <a:ea typeface="Patrick Hand"/>
                <a:cs typeface="Patrick Hand"/>
                <a:sym typeface="Patrick Hand"/>
              </a:rPr>
              <a:t>57</a:t>
            </a:r>
            <a:r>
              <a:rPr lang="es" sz="2400">
                <a:solidFill>
                  <a:schemeClr val="dk1"/>
                </a:solidFill>
                <a:latin typeface="Patrick Hand"/>
                <a:ea typeface="Patrick Hand"/>
                <a:cs typeface="Patrick Hand"/>
                <a:sym typeface="Patrick Hand"/>
              </a:rPr>
              <a:t>7 -   123=</a:t>
            </a:r>
            <a:endParaRPr/>
          </a:p>
        </p:txBody>
      </p:sp>
      <p:sp>
        <p:nvSpPr>
          <p:cNvPr id="318" name="Google Shape;318;p39"/>
          <p:cNvSpPr txBox="1"/>
          <p:nvPr/>
        </p:nvSpPr>
        <p:spPr>
          <a:xfrm>
            <a:off x="5046300" y="2881350"/>
            <a:ext cx="2006400" cy="5541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Font typeface="Patrick Hand"/>
              <a:buChar char="★"/>
            </a:pPr>
            <a:r>
              <a:rPr lang="es" sz="2400">
                <a:solidFill>
                  <a:schemeClr val="dk1"/>
                </a:solidFill>
                <a:latin typeface="Patrick Hand"/>
                <a:ea typeface="Patrick Hand"/>
                <a:cs typeface="Patrick Hand"/>
                <a:sym typeface="Patrick Hand"/>
              </a:rPr>
              <a:t>19</a:t>
            </a:r>
            <a:r>
              <a:rPr lang="es" sz="2400">
                <a:solidFill>
                  <a:schemeClr val="dk1"/>
                </a:solidFill>
                <a:latin typeface="Patrick Hand"/>
                <a:ea typeface="Patrick Hand"/>
                <a:cs typeface="Patrick Hand"/>
                <a:sym typeface="Patrick Hand"/>
              </a:rPr>
              <a:t>8 -   112=</a:t>
            </a:r>
            <a:endParaRPr/>
          </a:p>
        </p:txBody>
      </p:sp>
      <p:cxnSp>
        <p:nvCxnSpPr>
          <p:cNvPr id="319" name="Google Shape;319;p39"/>
          <p:cNvCxnSpPr/>
          <p:nvPr/>
        </p:nvCxnSpPr>
        <p:spPr>
          <a:xfrm>
            <a:off x="963150" y="1574650"/>
            <a:ext cx="26700" cy="612900"/>
          </a:xfrm>
          <a:prstGeom prst="straightConnector1">
            <a:avLst/>
          </a:prstGeom>
          <a:noFill/>
          <a:ln cap="flat" cmpd="sng" w="9525">
            <a:solidFill>
              <a:srgbClr val="009287"/>
            </a:solidFill>
            <a:prstDash val="solid"/>
            <a:round/>
            <a:headEnd len="med" w="med" type="none"/>
            <a:tailEnd len="med" w="med" type="triangle"/>
          </a:ln>
        </p:spPr>
      </p:cxnSp>
      <p:cxnSp>
        <p:nvCxnSpPr>
          <p:cNvPr id="320" name="Google Shape;320;p39"/>
          <p:cNvCxnSpPr/>
          <p:nvPr/>
        </p:nvCxnSpPr>
        <p:spPr>
          <a:xfrm>
            <a:off x="1648950" y="1574650"/>
            <a:ext cx="26700" cy="612900"/>
          </a:xfrm>
          <a:prstGeom prst="straightConnector1">
            <a:avLst/>
          </a:prstGeom>
          <a:noFill/>
          <a:ln cap="flat" cmpd="sng" w="9525">
            <a:solidFill>
              <a:srgbClr val="009287"/>
            </a:solidFill>
            <a:prstDash val="solid"/>
            <a:round/>
            <a:headEnd len="med" w="med" type="none"/>
            <a:tailEnd len="med" w="med" type="triangle"/>
          </a:ln>
        </p:spPr>
      </p:cxnSp>
      <p:cxnSp>
        <p:nvCxnSpPr>
          <p:cNvPr id="321" name="Google Shape;321;p39"/>
          <p:cNvCxnSpPr/>
          <p:nvPr/>
        </p:nvCxnSpPr>
        <p:spPr>
          <a:xfrm flipH="1" rot="10800000">
            <a:off x="2798275" y="1976250"/>
            <a:ext cx="1266000" cy="13200"/>
          </a:xfrm>
          <a:prstGeom prst="straightConnector1">
            <a:avLst/>
          </a:prstGeom>
          <a:noFill/>
          <a:ln cap="flat" cmpd="sng" w="9525">
            <a:solidFill>
              <a:srgbClr val="009287"/>
            </a:solidFill>
            <a:prstDash val="solid"/>
            <a:round/>
            <a:headEnd len="med" w="med" type="none"/>
            <a:tailEnd len="med" w="med" type="none"/>
          </a:ln>
        </p:spPr>
      </p:cxnSp>
      <p:cxnSp>
        <p:nvCxnSpPr>
          <p:cNvPr id="322" name="Google Shape;322;p39"/>
          <p:cNvCxnSpPr/>
          <p:nvPr/>
        </p:nvCxnSpPr>
        <p:spPr>
          <a:xfrm flipH="1" rot="10800000">
            <a:off x="7716625" y="1976250"/>
            <a:ext cx="1266000" cy="13200"/>
          </a:xfrm>
          <a:prstGeom prst="straightConnector1">
            <a:avLst/>
          </a:prstGeom>
          <a:noFill/>
          <a:ln cap="flat" cmpd="sng" w="9525">
            <a:solidFill>
              <a:srgbClr val="009287"/>
            </a:solidFill>
            <a:prstDash val="solid"/>
            <a:round/>
            <a:headEnd len="med" w="med" type="none"/>
            <a:tailEnd len="med" w="med" type="none"/>
          </a:ln>
        </p:spPr>
      </p:cxnSp>
      <p:cxnSp>
        <p:nvCxnSpPr>
          <p:cNvPr id="323" name="Google Shape;323;p39"/>
          <p:cNvCxnSpPr/>
          <p:nvPr/>
        </p:nvCxnSpPr>
        <p:spPr>
          <a:xfrm>
            <a:off x="5712725" y="1574650"/>
            <a:ext cx="26700" cy="612900"/>
          </a:xfrm>
          <a:prstGeom prst="straightConnector1">
            <a:avLst/>
          </a:prstGeom>
          <a:noFill/>
          <a:ln cap="flat" cmpd="sng" w="9525">
            <a:solidFill>
              <a:srgbClr val="009287"/>
            </a:solidFill>
            <a:prstDash val="solid"/>
            <a:round/>
            <a:headEnd len="med" w="med" type="none"/>
            <a:tailEnd len="med" w="med" type="triangle"/>
          </a:ln>
        </p:spPr>
      </p:cxnSp>
      <p:cxnSp>
        <p:nvCxnSpPr>
          <p:cNvPr id="324" name="Google Shape;324;p39"/>
          <p:cNvCxnSpPr/>
          <p:nvPr/>
        </p:nvCxnSpPr>
        <p:spPr>
          <a:xfrm>
            <a:off x="6451450" y="1574650"/>
            <a:ext cx="26700" cy="612900"/>
          </a:xfrm>
          <a:prstGeom prst="straightConnector1">
            <a:avLst/>
          </a:prstGeom>
          <a:noFill/>
          <a:ln cap="flat" cmpd="sng" w="9525">
            <a:solidFill>
              <a:srgbClr val="009287"/>
            </a:solidFill>
            <a:prstDash val="solid"/>
            <a:round/>
            <a:headEnd len="med" w="med" type="none"/>
            <a:tailEnd len="med" w="med" type="triangle"/>
          </a:ln>
        </p:spPr>
      </p:cxnSp>
      <p:cxnSp>
        <p:nvCxnSpPr>
          <p:cNvPr id="325" name="Google Shape;325;p39"/>
          <p:cNvCxnSpPr/>
          <p:nvPr/>
        </p:nvCxnSpPr>
        <p:spPr>
          <a:xfrm>
            <a:off x="989850" y="3217775"/>
            <a:ext cx="26700" cy="612900"/>
          </a:xfrm>
          <a:prstGeom prst="straightConnector1">
            <a:avLst/>
          </a:prstGeom>
          <a:noFill/>
          <a:ln cap="flat" cmpd="sng" w="9525">
            <a:solidFill>
              <a:srgbClr val="009287"/>
            </a:solidFill>
            <a:prstDash val="solid"/>
            <a:round/>
            <a:headEnd len="med" w="med" type="none"/>
            <a:tailEnd len="med" w="med" type="triangle"/>
          </a:ln>
        </p:spPr>
      </p:cxnSp>
      <p:cxnSp>
        <p:nvCxnSpPr>
          <p:cNvPr id="326" name="Google Shape;326;p39"/>
          <p:cNvCxnSpPr/>
          <p:nvPr/>
        </p:nvCxnSpPr>
        <p:spPr>
          <a:xfrm>
            <a:off x="1622250" y="3227350"/>
            <a:ext cx="26700" cy="612900"/>
          </a:xfrm>
          <a:prstGeom prst="straightConnector1">
            <a:avLst/>
          </a:prstGeom>
          <a:noFill/>
          <a:ln cap="flat" cmpd="sng" w="9525">
            <a:solidFill>
              <a:srgbClr val="009287"/>
            </a:solidFill>
            <a:prstDash val="solid"/>
            <a:round/>
            <a:headEnd len="med" w="med" type="none"/>
            <a:tailEnd len="med" w="med" type="triangle"/>
          </a:ln>
        </p:spPr>
      </p:cxnSp>
      <p:cxnSp>
        <p:nvCxnSpPr>
          <p:cNvPr id="327" name="Google Shape;327;p39"/>
          <p:cNvCxnSpPr/>
          <p:nvPr/>
        </p:nvCxnSpPr>
        <p:spPr>
          <a:xfrm>
            <a:off x="5712725" y="3309375"/>
            <a:ext cx="26700" cy="612900"/>
          </a:xfrm>
          <a:prstGeom prst="straightConnector1">
            <a:avLst/>
          </a:prstGeom>
          <a:noFill/>
          <a:ln cap="flat" cmpd="sng" w="9525">
            <a:solidFill>
              <a:srgbClr val="009287"/>
            </a:solidFill>
            <a:prstDash val="solid"/>
            <a:round/>
            <a:headEnd len="med" w="med" type="none"/>
            <a:tailEnd len="med" w="med" type="triangle"/>
          </a:ln>
        </p:spPr>
      </p:cxnSp>
      <p:cxnSp>
        <p:nvCxnSpPr>
          <p:cNvPr id="328" name="Google Shape;328;p39"/>
          <p:cNvCxnSpPr/>
          <p:nvPr/>
        </p:nvCxnSpPr>
        <p:spPr>
          <a:xfrm>
            <a:off x="6451450" y="3309375"/>
            <a:ext cx="26700" cy="612900"/>
          </a:xfrm>
          <a:prstGeom prst="straightConnector1">
            <a:avLst/>
          </a:prstGeom>
          <a:noFill/>
          <a:ln cap="flat" cmpd="sng" w="9525">
            <a:solidFill>
              <a:srgbClr val="009287"/>
            </a:solidFill>
            <a:prstDash val="solid"/>
            <a:round/>
            <a:headEnd len="med" w="med" type="none"/>
            <a:tailEnd len="med" w="med" type="triangle"/>
          </a:ln>
        </p:spPr>
      </p:cxnSp>
      <p:cxnSp>
        <p:nvCxnSpPr>
          <p:cNvPr id="329" name="Google Shape;329;p39"/>
          <p:cNvCxnSpPr/>
          <p:nvPr/>
        </p:nvCxnSpPr>
        <p:spPr>
          <a:xfrm flipH="1" rot="10800000">
            <a:off x="2798275" y="3517625"/>
            <a:ext cx="1266000" cy="13200"/>
          </a:xfrm>
          <a:prstGeom prst="straightConnector1">
            <a:avLst/>
          </a:prstGeom>
          <a:noFill/>
          <a:ln cap="flat" cmpd="sng" w="9525">
            <a:solidFill>
              <a:srgbClr val="009287"/>
            </a:solidFill>
            <a:prstDash val="solid"/>
            <a:round/>
            <a:headEnd len="med" w="med" type="none"/>
            <a:tailEnd len="med" w="med" type="none"/>
          </a:ln>
        </p:spPr>
      </p:cxnSp>
      <p:cxnSp>
        <p:nvCxnSpPr>
          <p:cNvPr id="330" name="Google Shape;330;p39"/>
          <p:cNvCxnSpPr/>
          <p:nvPr/>
        </p:nvCxnSpPr>
        <p:spPr>
          <a:xfrm flipH="1" rot="10800000">
            <a:off x="7716625" y="3378025"/>
            <a:ext cx="1266000" cy="13200"/>
          </a:xfrm>
          <a:prstGeom prst="straightConnector1">
            <a:avLst/>
          </a:prstGeom>
          <a:noFill/>
          <a:ln cap="flat" cmpd="sng" w="9525">
            <a:solidFill>
              <a:srgbClr val="009287"/>
            </a:solidFill>
            <a:prstDash val="solid"/>
            <a:round/>
            <a:headEnd len="med" w="med" type="none"/>
            <a:tailEnd len="med" w="med" type="none"/>
          </a:ln>
        </p:spPr>
      </p:cxnSp>
      <p:sp>
        <p:nvSpPr>
          <p:cNvPr id="331" name="Google Shape;331;p39"/>
          <p:cNvSpPr txBox="1"/>
          <p:nvPr/>
        </p:nvSpPr>
        <p:spPr>
          <a:xfrm>
            <a:off x="759525" y="2185125"/>
            <a:ext cx="2006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400</a:t>
            </a:r>
            <a:r>
              <a:rPr lang="es" sz="2400">
                <a:solidFill>
                  <a:schemeClr val="dk1"/>
                </a:solidFill>
                <a:latin typeface="Patrick Hand"/>
                <a:ea typeface="Patrick Hand"/>
                <a:cs typeface="Patrick Hand"/>
                <a:sym typeface="Patrick Hand"/>
              </a:rPr>
              <a:t>-   200=</a:t>
            </a:r>
            <a:endParaRPr/>
          </a:p>
        </p:txBody>
      </p:sp>
      <p:sp>
        <p:nvSpPr>
          <p:cNvPr id="332" name="Google Shape;332;p39"/>
          <p:cNvSpPr txBox="1"/>
          <p:nvPr/>
        </p:nvSpPr>
        <p:spPr>
          <a:xfrm>
            <a:off x="2834575" y="1152475"/>
            <a:ext cx="1193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    4 0 0</a:t>
            </a:r>
            <a:endParaRPr sz="24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  2 0 0</a:t>
            </a:r>
            <a:endParaRPr sz="2400">
              <a:solidFill>
                <a:schemeClr val="dk1"/>
              </a:solidFill>
              <a:latin typeface="Patrick Hand"/>
              <a:ea typeface="Patrick Hand"/>
              <a:cs typeface="Patrick Hand"/>
              <a:sym typeface="Patrick Hand"/>
            </a:endParaRPr>
          </a:p>
        </p:txBody>
      </p:sp>
      <p:sp>
        <p:nvSpPr>
          <p:cNvPr id="333" name="Google Shape;333;p39"/>
          <p:cNvSpPr txBox="1"/>
          <p:nvPr/>
        </p:nvSpPr>
        <p:spPr>
          <a:xfrm>
            <a:off x="3109950" y="2019900"/>
            <a:ext cx="832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2 0</a:t>
            </a:r>
            <a:r>
              <a:rPr lang="es" sz="2400">
                <a:solidFill>
                  <a:schemeClr val="dk1"/>
                </a:solidFill>
                <a:latin typeface="Patrick Hand"/>
                <a:ea typeface="Patrick Hand"/>
                <a:cs typeface="Patrick Hand"/>
                <a:sym typeface="Patrick Hand"/>
              </a:rPr>
              <a:t> 0</a:t>
            </a:r>
            <a:endParaRPr/>
          </a:p>
        </p:txBody>
      </p:sp>
      <p:sp>
        <p:nvSpPr>
          <p:cNvPr id="334" name="Google Shape;334;p39"/>
          <p:cNvSpPr txBox="1"/>
          <p:nvPr/>
        </p:nvSpPr>
        <p:spPr>
          <a:xfrm>
            <a:off x="5636525" y="2230925"/>
            <a:ext cx="2006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600</a:t>
            </a:r>
            <a:r>
              <a:rPr lang="es" sz="2400">
                <a:solidFill>
                  <a:schemeClr val="dk1"/>
                </a:solidFill>
                <a:latin typeface="Patrick Hand"/>
                <a:ea typeface="Patrick Hand"/>
                <a:cs typeface="Patrick Hand"/>
                <a:sym typeface="Patrick Hand"/>
              </a:rPr>
              <a:t>-   100=</a:t>
            </a:r>
            <a:endParaRPr/>
          </a:p>
        </p:txBody>
      </p:sp>
      <p:sp>
        <p:nvSpPr>
          <p:cNvPr id="335" name="Google Shape;335;p39"/>
          <p:cNvSpPr txBox="1"/>
          <p:nvPr/>
        </p:nvSpPr>
        <p:spPr>
          <a:xfrm>
            <a:off x="7752925" y="1152475"/>
            <a:ext cx="1193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    6 0 0</a:t>
            </a:r>
            <a:endParaRPr sz="24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   1 0 0</a:t>
            </a:r>
            <a:endParaRPr sz="2400">
              <a:solidFill>
                <a:schemeClr val="dk1"/>
              </a:solidFill>
              <a:latin typeface="Patrick Hand"/>
              <a:ea typeface="Patrick Hand"/>
              <a:cs typeface="Patrick Hand"/>
              <a:sym typeface="Patrick Hand"/>
            </a:endParaRPr>
          </a:p>
        </p:txBody>
      </p:sp>
      <p:sp>
        <p:nvSpPr>
          <p:cNvPr id="336" name="Google Shape;336;p39"/>
          <p:cNvSpPr txBox="1"/>
          <p:nvPr/>
        </p:nvSpPr>
        <p:spPr>
          <a:xfrm>
            <a:off x="8075700" y="1920825"/>
            <a:ext cx="832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5 </a:t>
            </a:r>
            <a:r>
              <a:rPr lang="es" sz="2400">
                <a:solidFill>
                  <a:schemeClr val="dk1"/>
                </a:solidFill>
                <a:latin typeface="Patrick Hand"/>
                <a:ea typeface="Patrick Hand"/>
                <a:cs typeface="Patrick Hand"/>
                <a:sym typeface="Patrick Hand"/>
              </a:rPr>
              <a:t>0 0</a:t>
            </a:r>
            <a:endParaRPr/>
          </a:p>
        </p:txBody>
      </p:sp>
      <p:sp>
        <p:nvSpPr>
          <p:cNvPr id="337" name="Google Shape;337;p39"/>
          <p:cNvSpPr txBox="1"/>
          <p:nvPr/>
        </p:nvSpPr>
        <p:spPr>
          <a:xfrm>
            <a:off x="811500" y="3771875"/>
            <a:ext cx="2006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700</a:t>
            </a:r>
            <a:r>
              <a:rPr lang="es" sz="2400">
                <a:solidFill>
                  <a:schemeClr val="dk1"/>
                </a:solidFill>
                <a:latin typeface="Patrick Hand"/>
                <a:ea typeface="Patrick Hand"/>
                <a:cs typeface="Patrick Hand"/>
                <a:sym typeface="Patrick Hand"/>
              </a:rPr>
              <a:t>-   400=</a:t>
            </a:r>
            <a:endParaRPr/>
          </a:p>
        </p:txBody>
      </p:sp>
      <p:sp>
        <p:nvSpPr>
          <p:cNvPr id="338" name="Google Shape;338;p39"/>
          <p:cNvSpPr txBox="1"/>
          <p:nvPr/>
        </p:nvSpPr>
        <p:spPr>
          <a:xfrm>
            <a:off x="2910775" y="2680650"/>
            <a:ext cx="1193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   7 0 0</a:t>
            </a:r>
            <a:endParaRPr sz="24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  4 0 0</a:t>
            </a:r>
            <a:endParaRPr sz="2400">
              <a:solidFill>
                <a:schemeClr val="dk1"/>
              </a:solidFill>
              <a:latin typeface="Patrick Hand"/>
              <a:ea typeface="Patrick Hand"/>
              <a:cs typeface="Patrick Hand"/>
              <a:sym typeface="Patrick Hand"/>
            </a:endParaRPr>
          </a:p>
        </p:txBody>
      </p:sp>
      <p:sp>
        <p:nvSpPr>
          <p:cNvPr id="339" name="Google Shape;339;p39"/>
          <p:cNvSpPr txBox="1"/>
          <p:nvPr/>
        </p:nvSpPr>
        <p:spPr>
          <a:xfrm>
            <a:off x="3186150" y="3391500"/>
            <a:ext cx="832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3 0 0</a:t>
            </a:r>
            <a:endParaRPr/>
          </a:p>
        </p:txBody>
      </p:sp>
      <p:sp>
        <p:nvSpPr>
          <p:cNvPr id="340" name="Google Shape;340;p39"/>
          <p:cNvSpPr txBox="1"/>
          <p:nvPr/>
        </p:nvSpPr>
        <p:spPr>
          <a:xfrm>
            <a:off x="5573775" y="3840250"/>
            <a:ext cx="2006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200</a:t>
            </a:r>
            <a:r>
              <a:rPr lang="es" sz="2400">
                <a:solidFill>
                  <a:schemeClr val="dk1"/>
                </a:solidFill>
                <a:latin typeface="Patrick Hand"/>
                <a:ea typeface="Patrick Hand"/>
                <a:cs typeface="Patrick Hand"/>
                <a:sym typeface="Patrick Hand"/>
              </a:rPr>
              <a:t>-   100=</a:t>
            </a:r>
            <a:endParaRPr/>
          </a:p>
        </p:txBody>
      </p:sp>
      <p:sp>
        <p:nvSpPr>
          <p:cNvPr id="341" name="Google Shape;341;p39"/>
          <p:cNvSpPr txBox="1"/>
          <p:nvPr/>
        </p:nvSpPr>
        <p:spPr>
          <a:xfrm>
            <a:off x="7829125" y="2571750"/>
            <a:ext cx="1193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    2 0 0</a:t>
            </a:r>
            <a:endParaRPr sz="24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  1 0 0</a:t>
            </a:r>
            <a:endParaRPr sz="2400">
              <a:solidFill>
                <a:schemeClr val="dk1"/>
              </a:solidFill>
              <a:latin typeface="Patrick Hand"/>
              <a:ea typeface="Patrick Hand"/>
              <a:cs typeface="Patrick Hand"/>
              <a:sym typeface="Patrick Hand"/>
            </a:endParaRPr>
          </a:p>
        </p:txBody>
      </p:sp>
      <p:sp>
        <p:nvSpPr>
          <p:cNvPr id="342" name="Google Shape;342;p39"/>
          <p:cNvSpPr txBox="1"/>
          <p:nvPr/>
        </p:nvSpPr>
        <p:spPr>
          <a:xfrm>
            <a:off x="8080050" y="3378025"/>
            <a:ext cx="832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Patrick Hand"/>
                <a:ea typeface="Patrick Hand"/>
                <a:cs typeface="Patrick Hand"/>
                <a:sym typeface="Patrick Hand"/>
              </a:rPr>
              <a:t>1</a:t>
            </a:r>
            <a:r>
              <a:rPr lang="es" sz="2400">
                <a:solidFill>
                  <a:schemeClr val="dk1"/>
                </a:solidFill>
                <a:latin typeface="Patrick Hand"/>
                <a:ea typeface="Patrick Hand"/>
                <a:cs typeface="Patrick Hand"/>
                <a:sym typeface="Patrick Hand"/>
              </a:rPr>
              <a:t> 0 0</a:t>
            </a:r>
            <a:endParaRPr/>
          </a:p>
        </p:txBody>
      </p:sp>
      <p:pic>
        <p:nvPicPr>
          <p:cNvPr id="343" name="Google Shape;343;p39"/>
          <p:cNvPicPr preferRelativeResize="0"/>
          <p:nvPr/>
        </p:nvPicPr>
        <p:blipFill>
          <a:blip r:embed="rId4">
            <a:alphaModFix/>
          </a:blip>
          <a:stretch>
            <a:fillRect/>
          </a:stretch>
        </p:blipFill>
        <p:spPr>
          <a:xfrm>
            <a:off x="8297750" y="333300"/>
            <a:ext cx="754750" cy="796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descr="Forma&#10;&#10;Descripción generada automáticamente con confianza media" id="348" name="Google Shape;348;p40"/>
          <p:cNvPicPr preferRelativeResize="0"/>
          <p:nvPr>
            <p:ph idx="1" type="body"/>
          </p:nvPr>
        </p:nvPicPr>
        <p:blipFill rotWithShape="1">
          <a:blip r:embed="rId3">
            <a:alphaModFix/>
          </a:blip>
          <a:srcRect b="0" l="0" r="0" t="0"/>
          <a:stretch/>
        </p:blipFill>
        <p:spPr>
          <a:xfrm>
            <a:off x="-5" y="9575"/>
            <a:ext cx="9144000" cy="5143500"/>
          </a:xfrm>
          <a:prstGeom prst="rect">
            <a:avLst/>
          </a:prstGeom>
          <a:noFill/>
          <a:ln>
            <a:noFill/>
          </a:ln>
        </p:spPr>
      </p:pic>
      <p:sp>
        <p:nvSpPr>
          <p:cNvPr id="349" name="Google Shape;349;p40"/>
          <p:cNvSpPr txBox="1"/>
          <p:nvPr/>
        </p:nvSpPr>
        <p:spPr>
          <a:xfrm>
            <a:off x="1393045" y="367771"/>
            <a:ext cx="63579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s" sz="3200" u="none" cap="none" strike="noStrike">
                <a:solidFill>
                  <a:schemeClr val="lt1"/>
                </a:solidFill>
                <a:highlight>
                  <a:srgbClr val="009287"/>
                </a:highlight>
                <a:latin typeface="Patrick Hand"/>
                <a:ea typeface="Patrick Hand"/>
                <a:cs typeface="Patrick Hand"/>
                <a:sym typeface="Patrick Hand"/>
              </a:rPr>
              <a:t>¡Resumen de hoy!</a:t>
            </a:r>
            <a:endParaRPr b="0" i="0" sz="1400" u="none" cap="none" strike="noStrike">
              <a:solidFill>
                <a:schemeClr val="lt1"/>
              </a:solidFill>
              <a:highlight>
                <a:srgbClr val="009287"/>
              </a:highlight>
              <a:latin typeface="Arial"/>
              <a:ea typeface="Arial"/>
              <a:cs typeface="Arial"/>
              <a:sym typeface="Arial"/>
            </a:endParaRPr>
          </a:p>
        </p:txBody>
      </p:sp>
      <p:sp>
        <p:nvSpPr>
          <p:cNvPr id="350" name="Google Shape;350;p40"/>
          <p:cNvSpPr/>
          <p:nvPr/>
        </p:nvSpPr>
        <p:spPr>
          <a:xfrm>
            <a:off x="1844744" y="1220127"/>
            <a:ext cx="5454600" cy="27225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resta" id="351" name="Google Shape;351;p40" title="Resumen - Resta (16) - Descomponer y Estimar">
            <a:hlinkClick r:id="rId4"/>
          </p:cNvPr>
          <p:cNvPicPr preferRelativeResize="0"/>
          <p:nvPr/>
        </p:nvPicPr>
        <p:blipFill>
          <a:blip r:embed="rId5">
            <a:alphaModFix/>
          </a:blip>
          <a:stretch>
            <a:fillRect/>
          </a:stretch>
        </p:blipFill>
        <p:spPr>
          <a:xfrm>
            <a:off x="1308225" y="1044875"/>
            <a:ext cx="6527650" cy="3671800"/>
          </a:xfrm>
          <a:prstGeom prst="rect">
            <a:avLst/>
          </a:prstGeom>
          <a:noFill/>
          <a:ln cap="flat" cmpd="sng" w="28575">
            <a:solidFill>
              <a:schemeClr val="dk2"/>
            </a:solidFill>
            <a:prstDash val="solid"/>
            <a:round/>
            <a:headEnd len="sm" w="sm" type="none"/>
            <a:tailEnd len="sm" w="sm" type="none"/>
          </a:ln>
        </p:spPr>
      </p:pic>
      <p:pic>
        <p:nvPicPr>
          <p:cNvPr id="352" name="Google Shape;352;p40"/>
          <p:cNvPicPr preferRelativeResize="0"/>
          <p:nvPr/>
        </p:nvPicPr>
        <p:blipFill>
          <a:blip r:embed="rId6">
            <a:alphaModFix/>
          </a:blip>
          <a:stretch>
            <a:fillRect/>
          </a:stretch>
        </p:blipFill>
        <p:spPr>
          <a:xfrm>
            <a:off x="8257775" y="3888525"/>
            <a:ext cx="754750" cy="7961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1000"/>
                                        <p:tgtEl>
                                          <p:spTgt spid="3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1"/>
          <p:cNvSpPr txBox="1"/>
          <p:nvPr/>
        </p:nvSpPr>
        <p:spPr>
          <a:xfrm>
            <a:off x="2132100" y="951600"/>
            <a:ext cx="4879800" cy="3417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s" sz="2400">
                <a:solidFill>
                  <a:schemeClr val="dk1"/>
                </a:solidFill>
                <a:latin typeface="Patrick Hand"/>
                <a:ea typeface="Patrick Hand"/>
                <a:cs typeface="Patrick Hand"/>
                <a:sym typeface="Patrick Hand"/>
              </a:rPr>
              <a:t>1) Descompone: 94</a:t>
            </a:r>
            <a:endParaRPr sz="2400">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lang="es" sz="2400">
                <a:solidFill>
                  <a:schemeClr val="dk1"/>
                </a:solidFill>
                <a:latin typeface="Patrick Hand"/>
                <a:ea typeface="Patrick Hand"/>
                <a:cs typeface="Patrick Hand"/>
                <a:sym typeface="Patrick Hand"/>
              </a:rPr>
              <a:t>2) Descompone: 72</a:t>
            </a:r>
            <a:endParaRPr sz="2400">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lang="es" sz="2400">
                <a:solidFill>
                  <a:schemeClr val="dk1"/>
                </a:solidFill>
                <a:latin typeface="Patrick Hand"/>
                <a:ea typeface="Patrick Hand"/>
                <a:cs typeface="Patrick Hand"/>
                <a:sym typeface="Patrick Hand"/>
              </a:rPr>
              <a:t>3) ¿Cuál es la resta de 94 y 72?</a:t>
            </a:r>
            <a:endParaRPr sz="2400">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t/>
            </a:r>
            <a:endParaRPr sz="2400">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lang="es" sz="2400">
                <a:solidFill>
                  <a:schemeClr val="dk1"/>
                </a:solidFill>
                <a:latin typeface="Patrick Hand"/>
                <a:ea typeface="Patrick Hand"/>
                <a:cs typeface="Patrick Hand"/>
                <a:sym typeface="Patrick Hand"/>
              </a:rPr>
              <a:t>4) Estima a la centena: 450</a:t>
            </a:r>
            <a:endParaRPr sz="2400">
              <a:solidFill>
                <a:schemeClr val="dk1"/>
              </a:solidFill>
              <a:latin typeface="Patrick Hand"/>
              <a:ea typeface="Patrick Hand"/>
              <a:cs typeface="Patrick Hand"/>
              <a:sym typeface="Patrick Hand"/>
            </a:endParaRPr>
          </a:p>
          <a:p>
            <a:pPr indent="0" lvl="0" marL="0" rtl="0" algn="ctr">
              <a:spcBef>
                <a:spcPts val="0"/>
              </a:spcBef>
              <a:spcAft>
                <a:spcPts val="0"/>
              </a:spcAft>
              <a:buNone/>
            </a:pPr>
            <a:r>
              <a:rPr lang="es" sz="2400">
                <a:solidFill>
                  <a:schemeClr val="dk1"/>
                </a:solidFill>
                <a:latin typeface="Patrick Hand"/>
                <a:ea typeface="Patrick Hand"/>
                <a:cs typeface="Patrick Hand"/>
                <a:sym typeface="Patrick Hand"/>
              </a:rPr>
              <a:t>5) Estima a la centena: 319</a:t>
            </a:r>
            <a:endParaRPr sz="2400">
              <a:solidFill>
                <a:schemeClr val="dk1"/>
              </a:solidFill>
              <a:latin typeface="Patrick Hand"/>
              <a:ea typeface="Patrick Hand"/>
              <a:cs typeface="Patrick Hand"/>
              <a:sym typeface="Patrick Hand"/>
            </a:endParaRPr>
          </a:p>
          <a:p>
            <a:pPr indent="0" lvl="0" marL="0" rtl="0" algn="ctr">
              <a:spcBef>
                <a:spcPts val="0"/>
              </a:spcBef>
              <a:spcAft>
                <a:spcPts val="0"/>
              </a:spcAft>
              <a:buNone/>
            </a:pPr>
            <a:r>
              <a:rPr lang="es" sz="2400">
                <a:solidFill>
                  <a:schemeClr val="dk1"/>
                </a:solidFill>
                <a:latin typeface="Patrick Hand"/>
                <a:ea typeface="Patrick Hand"/>
                <a:cs typeface="Patrick Hand"/>
                <a:sym typeface="Patrick Hand"/>
              </a:rPr>
              <a:t>6) Con las estimaciones, resta 450 y 319</a:t>
            </a:r>
            <a:endParaRPr sz="2400">
              <a:solidFill>
                <a:schemeClr val="dk1"/>
              </a:solidFill>
              <a:latin typeface="Patrick Hand"/>
              <a:ea typeface="Patrick Hand"/>
              <a:cs typeface="Patrick Hand"/>
              <a:sym typeface="Patrick Hand"/>
            </a:endParaRPr>
          </a:p>
          <a:p>
            <a:pPr indent="0" lvl="0" marL="0" rtl="0" algn="ctr">
              <a:spcBef>
                <a:spcPts val="0"/>
              </a:spcBef>
              <a:spcAft>
                <a:spcPts val="0"/>
              </a:spcAft>
              <a:buNone/>
            </a:pPr>
            <a:r>
              <a:t/>
            </a:r>
            <a:endParaRPr sz="2400">
              <a:solidFill>
                <a:schemeClr val="dk1"/>
              </a:solidFill>
              <a:latin typeface="Patrick Hand"/>
              <a:ea typeface="Patrick Hand"/>
              <a:cs typeface="Patrick Hand"/>
              <a:sym typeface="Patrick Hand"/>
            </a:endParaRPr>
          </a:p>
          <a:p>
            <a:pPr indent="0" lvl="0" marL="0" rtl="0" algn="ctr">
              <a:spcBef>
                <a:spcPts val="0"/>
              </a:spcBef>
              <a:spcAft>
                <a:spcPts val="0"/>
              </a:spcAft>
              <a:buClr>
                <a:schemeClr val="dk1"/>
              </a:buClr>
              <a:buFont typeface="Arial"/>
              <a:buNone/>
            </a:pPr>
            <a:r>
              <a:t/>
            </a:r>
            <a:endParaRPr sz="2400">
              <a:solidFill>
                <a:schemeClr val="dk1"/>
              </a:solidFill>
              <a:latin typeface="Patrick Hand"/>
              <a:ea typeface="Patrick Hand"/>
              <a:cs typeface="Patrick Hand"/>
              <a:sym typeface="Patrick Hand"/>
            </a:endParaRPr>
          </a:p>
        </p:txBody>
      </p:sp>
      <p:sp>
        <p:nvSpPr>
          <p:cNvPr id="358" name="Google Shape;358;p41"/>
          <p:cNvSpPr txBox="1"/>
          <p:nvPr/>
        </p:nvSpPr>
        <p:spPr>
          <a:xfrm>
            <a:off x="785234" y="366599"/>
            <a:ext cx="75735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 sz="3200" u="none" cap="none" strike="noStrike">
                <a:solidFill>
                  <a:schemeClr val="lt1"/>
                </a:solidFill>
                <a:highlight>
                  <a:srgbClr val="009287"/>
                </a:highlight>
                <a:latin typeface="Patrick Hand"/>
                <a:ea typeface="Patrick Hand"/>
                <a:cs typeface="Patrick Hand"/>
                <a:sym typeface="Patrick Hand"/>
              </a:rPr>
              <a:t>¡Ahora es tu turno!</a:t>
            </a:r>
            <a:endParaRPr b="0" i="0" sz="3200" u="none" cap="none" strike="noStrike">
              <a:solidFill>
                <a:schemeClr val="lt1"/>
              </a:solidFill>
              <a:highlight>
                <a:srgbClr val="009287"/>
              </a:highlight>
              <a:latin typeface="Arial"/>
              <a:ea typeface="Arial"/>
              <a:cs typeface="Arial"/>
              <a:sym typeface="Arial"/>
            </a:endParaRPr>
          </a:p>
        </p:txBody>
      </p:sp>
      <p:sp>
        <p:nvSpPr>
          <p:cNvPr id="359" name="Google Shape;359;p41"/>
          <p:cNvSpPr txBox="1"/>
          <p:nvPr/>
        </p:nvSpPr>
        <p:spPr>
          <a:xfrm>
            <a:off x="2286012" y="3780269"/>
            <a:ext cx="45720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 sz="1400" u="none" cap="none" strike="noStrike">
                <a:solidFill>
                  <a:srgbClr val="000000"/>
                </a:solidFill>
                <a:latin typeface="Calibri"/>
                <a:ea typeface="Calibri"/>
                <a:cs typeface="Calibri"/>
                <a:sym typeface="Calibri"/>
              </a:rPr>
              <a:t>RESPONDER ACÁ:</a:t>
            </a:r>
            <a:endParaRPr/>
          </a:p>
          <a:p>
            <a:pPr indent="0" lvl="0" marL="0" marR="0" rtl="0" algn="ctr">
              <a:lnSpc>
                <a:spcPct val="100000"/>
              </a:lnSpc>
              <a:spcBef>
                <a:spcPts val="0"/>
              </a:spcBef>
              <a:spcAft>
                <a:spcPts val="0"/>
              </a:spcAft>
              <a:buNone/>
            </a:pPr>
            <a:r>
              <a:rPr b="1" lang="es" u="sng">
                <a:solidFill>
                  <a:schemeClr val="hlink"/>
                </a:solidFill>
                <a:latin typeface="Calibri"/>
                <a:ea typeface="Calibri"/>
                <a:cs typeface="Calibri"/>
                <a:sym typeface="Calibri"/>
                <a:hlinkClick r:id="rId3"/>
              </a:rPr>
              <a:t>https://forms.gle/Gd9uGavZ28esQG3E6</a:t>
            </a:r>
            <a:r>
              <a:rPr b="1" lang="es">
                <a:latin typeface="Calibri"/>
                <a:ea typeface="Calibri"/>
                <a:cs typeface="Calibri"/>
                <a:sym typeface="Calibri"/>
              </a:rPr>
              <a:t> </a:t>
            </a:r>
            <a:endParaRPr/>
          </a:p>
        </p:txBody>
      </p:sp>
      <p:pic>
        <p:nvPicPr>
          <p:cNvPr id="360" name="Google Shape;360;p41"/>
          <p:cNvPicPr preferRelativeResize="0"/>
          <p:nvPr/>
        </p:nvPicPr>
        <p:blipFill rotWithShape="1">
          <a:blip r:embed="rId4">
            <a:alphaModFix/>
          </a:blip>
          <a:srcRect b="8243" l="8243" r="8243" t="8243"/>
          <a:stretch/>
        </p:blipFill>
        <p:spPr>
          <a:xfrm>
            <a:off x="6858000" y="1223550"/>
            <a:ext cx="2147250" cy="2147250"/>
          </a:xfrm>
          <a:prstGeom prst="rect">
            <a:avLst/>
          </a:prstGeom>
          <a:noFill/>
          <a:ln>
            <a:noFill/>
          </a:ln>
        </p:spPr>
      </p:pic>
      <p:pic>
        <p:nvPicPr>
          <p:cNvPr id="361" name="Google Shape;361;p41"/>
          <p:cNvPicPr preferRelativeResize="0"/>
          <p:nvPr/>
        </p:nvPicPr>
        <p:blipFill>
          <a:blip r:embed="rId5">
            <a:alphaModFix/>
          </a:blip>
          <a:stretch>
            <a:fillRect/>
          </a:stretch>
        </p:blipFill>
        <p:spPr>
          <a:xfrm>
            <a:off x="8257775" y="3888525"/>
            <a:ext cx="754750" cy="7961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pic>
        <p:nvPicPr>
          <p:cNvPr descr="Forma&#10;&#10;Descripción generada automáticamente con confianza media" id="366" name="Google Shape;366;p42"/>
          <p:cNvPicPr preferRelativeResize="0"/>
          <p:nvPr>
            <p:ph idx="1" type="body"/>
          </p:nvPr>
        </p:nvPicPr>
        <p:blipFill rotWithShape="1">
          <a:blip r:embed="rId3">
            <a:alphaModFix/>
          </a:blip>
          <a:srcRect b="0" l="0" r="0" t="0"/>
          <a:stretch/>
        </p:blipFill>
        <p:spPr>
          <a:xfrm>
            <a:off x="-5" y="9575"/>
            <a:ext cx="9144000" cy="5143500"/>
          </a:xfrm>
          <a:prstGeom prst="rect">
            <a:avLst/>
          </a:prstGeom>
          <a:noFill/>
          <a:ln>
            <a:noFill/>
          </a:ln>
        </p:spPr>
      </p:pic>
      <p:sp>
        <p:nvSpPr>
          <p:cNvPr id="367" name="Google Shape;367;p42"/>
          <p:cNvSpPr txBox="1"/>
          <p:nvPr/>
        </p:nvSpPr>
        <p:spPr>
          <a:xfrm>
            <a:off x="1393045" y="367771"/>
            <a:ext cx="63579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s" sz="3200" u="none" cap="none" strike="noStrike">
                <a:solidFill>
                  <a:schemeClr val="lt1"/>
                </a:solidFill>
                <a:highlight>
                  <a:srgbClr val="009287"/>
                </a:highlight>
                <a:latin typeface="Patrick Hand"/>
                <a:ea typeface="Patrick Hand"/>
                <a:cs typeface="Patrick Hand"/>
                <a:sym typeface="Patrick Hand"/>
              </a:rPr>
              <a:t>¡Reforcemos lo aprendido!</a:t>
            </a:r>
            <a:endParaRPr b="0" i="0" sz="1400" u="none" cap="none" strike="noStrike">
              <a:solidFill>
                <a:schemeClr val="lt1"/>
              </a:solidFill>
              <a:highlight>
                <a:srgbClr val="009287"/>
              </a:highlight>
              <a:latin typeface="Arial"/>
              <a:ea typeface="Arial"/>
              <a:cs typeface="Arial"/>
              <a:sym typeface="Arial"/>
            </a:endParaRPr>
          </a:p>
        </p:txBody>
      </p:sp>
      <p:sp>
        <p:nvSpPr>
          <p:cNvPr id="368" name="Google Shape;368;p42"/>
          <p:cNvSpPr/>
          <p:nvPr/>
        </p:nvSpPr>
        <p:spPr>
          <a:xfrm>
            <a:off x="1844744" y="1220127"/>
            <a:ext cx="5454600" cy="27225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resta" id="369" name="Google Shape;369;p42" title="Reforzamiento - Resta (16) - Descomponer y Estimar">
            <a:hlinkClick r:id="rId4"/>
          </p:cNvPr>
          <p:cNvPicPr preferRelativeResize="0"/>
          <p:nvPr/>
        </p:nvPicPr>
        <p:blipFill>
          <a:blip r:embed="rId5">
            <a:alphaModFix/>
          </a:blip>
          <a:stretch>
            <a:fillRect/>
          </a:stretch>
        </p:blipFill>
        <p:spPr>
          <a:xfrm>
            <a:off x="1323200" y="1044875"/>
            <a:ext cx="6497600" cy="3654900"/>
          </a:xfrm>
          <a:prstGeom prst="rect">
            <a:avLst/>
          </a:prstGeom>
          <a:noFill/>
          <a:ln cap="flat" cmpd="sng" w="28575">
            <a:solidFill>
              <a:schemeClr val="dk2"/>
            </a:solidFill>
            <a:prstDash val="solid"/>
            <a:round/>
            <a:headEnd len="sm" w="sm" type="none"/>
            <a:tailEnd len="sm" w="sm" type="none"/>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1000"/>
                                        <p:tgtEl>
                                          <p:spTgt spid="3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75" name="Google Shape;375;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76" name="Google Shape;376;p43"/>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