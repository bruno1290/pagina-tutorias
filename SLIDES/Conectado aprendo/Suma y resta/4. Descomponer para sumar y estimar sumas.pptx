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embeddedFontLst>
    <p:embeddedFont>
      <p:font typeface="Patrick Hand"/>
      <p:regular r:id="rId24"/>
    </p:embeddedFont>
    <p:embeddedFont>
      <p:font typeface="Poppins"/>
      <p:regular r:id="rId25"/>
      <p:bold r:id="rId26"/>
      <p:italic r:id="rId27"/>
      <p:boldItalic r:id="rId28"/>
    </p:embeddedFont>
    <p:embeddedFont>
      <p:font typeface="Poppins Light"/>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gYrDdcTCihJ0sWmcNn4/qiW9W8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atrickHand-regular.fntdata"/><Relationship Id="rId23" Type="http://schemas.openxmlformats.org/officeDocument/2006/relationships/slide" Target="slides/slide18.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Poppins-bold.fntdata"/><Relationship Id="rId25" Type="http://schemas.openxmlformats.org/officeDocument/2006/relationships/font" Target="fonts/Poppins-regular.fntdata"/><Relationship Id="rId28" Type="http://schemas.openxmlformats.org/officeDocument/2006/relationships/font" Target="fonts/Poppins-boldItalic.fntdata"/><Relationship Id="rId27" Type="http://schemas.openxmlformats.org/officeDocument/2006/relationships/font" Target="fonts/Poppins-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Ligh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Light-italic.fntdata"/><Relationship Id="rId30" Type="http://schemas.openxmlformats.org/officeDocument/2006/relationships/font" Target="fonts/PoppinsLight-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PoppinsLight-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342e3d1c5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342e3d1c5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342e3d1c56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342e3d1c5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342e3d1c56_0_1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342e3d1c56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342e3d1c56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342e3d1c5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315f45590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315f4559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7454347a1c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27454347a1c_0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ES"/>
              <a:t>¡RECUERDA! Material para trabajar unidades y decenas en sesión 2.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3bf1224dec_2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g23bf1224dec_2_4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7454347a1c_0_1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g27454347a1c_0_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315f45590f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315f45590f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3bf1224dec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g23bf1224dec_2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3bf1224dec_2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23bf1224dec_2_3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3bf1224dec_2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4" name="Google Shape;344;g23bf1224dec_2_2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3bf1224dec_2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 name="Google Shape;362;g23bf1224dec_2_2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b51d25e59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7" name="Google Shape;397;g2b51d25e59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aed7882790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lang="es-ES"/>
              <a:t>Estimar y varias preugntas de si la descomposción está bien </a:t>
            </a:r>
            <a:endParaRPr/>
          </a:p>
        </p:txBody>
      </p:sp>
      <p:sp>
        <p:nvSpPr>
          <p:cNvPr id="406" name="Google Shape;406;g2aed7882790_0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b51d25e598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5" name="Google Shape;415;g2b51d25e598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g27454347a1c_0_88"/>
          <p:cNvSpPr txBox="1"/>
          <p:nvPr>
            <p:ph type="title"/>
          </p:nvPr>
        </p:nvSpPr>
        <p:spPr>
          <a:xfrm>
            <a:off x="415600" y="593367"/>
            <a:ext cx="11360700" cy="7635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g27454347a1c_0_88"/>
          <p:cNvSpPr txBox="1"/>
          <p:nvPr>
            <p:ph idx="1" type="body"/>
          </p:nvPr>
        </p:nvSpPr>
        <p:spPr>
          <a:xfrm>
            <a:off x="415600" y="1536633"/>
            <a:ext cx="11360700" cy="4555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SzPts val="2800"/>
              <a:buChar char="•"/>
              <a:defRPr/>
            </a:lvl1pPr>
            <a:lvl2pPr indent="-381000" lvl="1" marL="914400" algn="l">
              <a:lnSpc>
                <a:spcPct val="90000"/>
              </a:lnSpc>
              <a:spcBef>
                <a:spcPts val="500"/>
              </a:spcBef>
              <a:spcAft>
                <a:spcPts val="0"/>
              </a:spcAft>
              <a:buSzPts val="2400"/>
              <a:buChar char="•"/>
              <a:defRPr/>
            </a:lvl2pPr>
            <a:lvl3pPr indent="-355600" lvl="2" marL="1371600" algn="l">
              <a:lnSpc>
                <a:spcPct val="90000"/>
              </a:lnSpc>
              <a:spcBef>
                <a:spcPts val="500"/>
              </a:spcBef>
              <a:spcAft>
                <a:spcPts val="0"/>
              </a:spcAft>
              <a:buSzPts val="20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SzPts val="1800"/>
              <a:buChar char="•"/>
              <a:defRPr/>
            </a:lvl6pPr>
            <a:lvl7pPr indent="-342900" lvl="6" marL="3200400" algn="l">
              <a:lnSpc>
                <a:spcPct val="90000"/>
              </a:lnSpc>
              <a:spcBef>
                <a:spcPts val="500"/>
              </a:spcBef>
              <a:spcAft>
                <a:spcPts val="0"/>
              </a:spcAft>
              <a:buSzPts val="1800"/>
              <a:buChar char="•"/>
              <a:defRPr/>
            </a:lvl7pPr>
            <a:lvl8pPr indent="-342900" lvl="7" marL="3657600" algn="l">
              <a:lnSpc>
                <a:spcPct val="90000"/>
              </a:lnSpc>
              <a:spcBef>
                <a:spcPts val="500"/>
              </a:spcBef>
              <a:spcAft>
                <a:spcPts val="0"/>
              </a:spcAft>
              <a:buSzPts val="1800"/>
              <a:buChar char="•"/>
              <a:defRPr/>
            </a:lvl8pPr>
            <a:lvl9pPr indent="-342900" lvl="8" marL="4114800" algn="l">
              <a:lnSpc>
                <a:spcPct val="90000"/>
              </a:lnSpc>
              <a:spcBef>
                <a:spcPts val="500"/>
              </a:spcBef>
              <a:spcAft>
                <a:spcPts val="0"/>
              </a:spcAft>
              <a:buSzPts val="1800"/>
              <a:buChar char="•"/>
              <a:defRPr/>
            </a:lvl9pPr>
          </a:lstStyle>
          <a:p/>
        </p:txBody>
      </p:sp>
      <p:sp>
        <p:nvSpPr>
          <p:cNvPr id="26" name="Google Shape;26;g27454347a1c_0_88"/>
          <p:cNvSpPr txBox="1"/>
          <p:nvPr>
            <p:ph idx="12" type="sldNum"/>
          </p:nvPr>
        </p:nvSpPr>
        <p:spPr>
          <a:xfrm>
            <a:off x="11296610" y="6217622"/>
            <a:ext cx="731700" cy="524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4" name="Shape 54"/>
        <p:cNvGrpSpPr/>
        <p:nvPr/>
      </p:nvGrpSpPr>
      <p:grpSpPr>
        <a:xfrm>
          <a:off x="0" y="0"/>
          <a:ext cx="0" cy="0"/>
          <a:chOff x="0" y="0"/>
          <a:chExt cx="0" cy="0"/>
        </a:xfrm>
      </p:grpSpPr>
      <p:sp>
        <p:nvSpPr>
          <p:cNvPr id="55" name="Google Shape;5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p:nvPr>
            <p:ph idx="2" type="pic"/>
          </p:nvPr>
        </p:nvSpPr>
        <p:spPr>
          <a:xfrm>
            <a:off x="5183188" y="987425"/>
            <a:ext cx="6172200" cy="4873625"/>
          </a:xfrm>
          <a:prstGeom prst="rect">
            <a:avLst/>
          </a:prstGeom>
          <a:noFill/>
          <a:ln>
            <a:noFill/>
          </a:ln>
        </p:spPr>
      </p:sp>
      <p:sp>
        <p:nvSpPr>
          <p:cNvPr id="68" name="Google Shape;68;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8" name="Shape 88"/>
        <p:cNvGrpSpPr/>
        <p:nvPr/>
      </p:nvGrpSpPr>
      <p:grpSpPr>
        <a:xfrm>
          <a:off x="0" y="0"/>
          <a:ext cx="0" cy="0"/>
          <a:chOff x="0" y="0"/>
          <a:chExt cx="0" cy="0"/>
        </a:xfrm>
      </p:grpSpPr>
      <p:sp>
        <p:nvSpPr>
          <p:cNvPr id="89" name="Google Shape;89;g2aed7882790_0_7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90" name="Google Shape;90;g2aed7882790_0_7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91" name="Google Shape;91;g2aed7882790_0_71"/>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92" name="Google Shape;92;g2aed7882790_0_71"/>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93" name="Google Shape;93;g2aed7882790_0_71"/>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4" name="Shape 94"/>
        <p:cNvGrpSpPr/>
        <p:nvPr/>
      </p:nvGrpSpPr>
      <p:grpSpPr>
        <a:xfrm>
          <a:off x="0" y="0"/>
          <a:ext cx="0" cy="0"/>
          <a:chOff x="0" y="0"/>
          <a:chExt cx="0" cy="0"/>
        </a:xfrm>
      </p:grpSpPr>
      <p:sp>
        <p:nvSpPr>
          <p:cNvPr id="95" name="Google Shape;95;g2aed7882790_0_77"/>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6" name="Google Shape;96;g2aed7882790_0_77"/>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7" name="Google Shape;97;g2aed7882790_0_7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8" name="Shape 98"/>
        <p:cNvGrpSpPr/>
        <p:nvPr/>
      </p:nvGrpSpPr>
      <p:grpSpPr>
        <a:xfrm>
          <a:off x="0" y="0"/>
          <a:ext cx="0" cy="0"/>
          <a:chOff x="0" y="0"/>
          <a:chExt cx="0" cy="0"/>
        </a:xfrm>
      </p:grpSpPr>
      <p:sp>
        <p:nvSpPr>
          <p:cNvPr id="99" name="Google Shape;99;g2aed7882790_0_81"/>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100" name="Google Shape;100;g2aed7882790_0_8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1" name="Shape 101"/>
        <p:cNvGrpSpPr/>
        <p:nvPr/>
      </p:nvGrpSpPr>
      <p:grpSpPr>
        <a:xfrm>
          <a:off x="0" y="0"/>
          <a:ext cx="0" cy="0"/>
          <a:chOff x="0" y="0"/>
          <a:chExt cx="0" cy="0"/>
        </a:xfrm>
      </p:grpSpPr>
      <p:sp>
        <p:nvSpPr>
          <p:cNvPr id="102" name="Google Shape;102;g2aed7882790_0_8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3" name="Google Shape;103;g2aed7882790_0_84"/>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4" name="Google Shape;104;g2aed7882790_0_84"/>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5" name="Google Shape;105;g2aed7882790_0_8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6" name="Shape 106"/>
        <p:cNvGrpSpPr/>
        <p:nvPr/>
      </p:nvGrpSpPr>
      <p:grpSpPr>
        <a:xfrm>
          <a:off x="0" y="0"/>
          <a:ext cx="0" cy="0"/>
          <a:chOff x="0" y="0"/>
          <a:chExt cx="0" cy="0"/>
        </a:xfrm>
      </p:grpSpPr>
      <p:sp>
        <p:nvSpPr>
          <p:cNvPr id="107" name="Google Shape;107;g2aed7882790_0_8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8" name="Google Shape;108;g2aed7882790_0_8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9" name="Shape 109"/>
        <p:cNvGrpSpPr/>
        <p:nvPr/>
      </p:nvGrpSpPr>
      <p:grpSpPr>
        <a:xfrm>
          <a:off x="0" y="0"/>
          <a:ext cx="0" cy="0"/>
          <a:chOff x="0" y="0"/>
          <a:chExt cx="0" cy="0"/>
        </a:xfrm>
      </p:grpSpPr>
      <p:sp>
        <p:nvSpPr>
          <p:cNvPr id="110" name="Google Shape;110;g2aed7882790_0_92"/>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11" name="Google Shape;111;g2aed7882790_0_92"/>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12" name="Google Shape;112;g2aed7882790_0_9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3" name="Shape 113"/>
        <p:cNvGrpSpPr/>
        <p:nvPr/>
      </p:nvGrpSpPr>
      <p:grpSpPr>
        <a:xfrm>
          <a:off x="0" y="0"/>
          <a:ext cx="0" cy="0"/>
          <a:chOff x="0" y="0"/>
          <a:chExt cx="0" cy="0"/>
        </a:xfrm>
      </p:grpSpPr>
      <p:sp>
        <p:nvSpPr>
          <p:cNvPr id="114" name="Google Shape;114;g2aed7882790_0_96"/>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5" name="Google Shape;115;g2aed7882790_0_9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6" name="Shape 116"/>
        <p:cNvGrpSpPr/>
        <p:nvPr/>
      </p:nvGrpSpPr>
      <p:grpSpPr>
        <a:xfrm>
          <a:off x="0" y="0"/>
          <a:ext cx="0" cy="0"/>
          <a:chOff x="0" y="0"/>
          <a:chExt cx="0" cy="0"/>
        </a:xfrm>
      </p:grpSpPr>
      <p:sp>
        <p:nvSpPr>
          <p:cNvPr id="117" name="Google Shape;117;g2aed7882790_0_99"/>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8" name="Google Shape;118;g2aed7882790_0_99"/>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9" name="Google Shape;119;g2aed7882790_0_99"/>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0" name="Google Shape;120;g2aed7882790_0_99"/>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21" name="Google Shape;121;g2aed7882790_0_9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2" name="Shape 122"/>
        <p:cNvGrpSpPr/>
        <p:nvPr/>
      </p:nvGrpSpPr>
      <p:grpSpPr>
        <a:xfrm>
          <a:off x="0" y="0"/>
          <a:ext cx="0" cy="0"/>
          <a:chOff x="0" y="0"/>
          <a:chExt cx="0" cy="0"/>
        </a:xfrm>
      </p:grpSpPr>
      <p:sp>
        <p:nvSpPr>
          <p:cNvPr id="123" name="Google Shape;123;g2aed7882790_0_105"/>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4" name="Google Shape;124;g2aed7882790_0_10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5" name="Shape 125"/>
        <p:cNvGrpSpPr/>
        <p:nvPr/>
      </p:nvGrpSpPr>
      <p:grpSpPr>
        <a:xfrm>
          <a:off x="0" y="0"/>
          <a:ext cx="0" cy="0"/>
          <a:chOff x="0" y="0"/>
          <a:chExt cx="0" cy="0"/>
        </a:xfrm>
      </p:grpSpPr>
      <p:sp>
        <p:nvSpPr>
          <p:cNvPr id="126" name="Google Shape;126;g2aed7882790_0_108"/>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7" name="Google Shape;127;g2aed7882790_0_108"/>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8" name="Google Shape;128;g2aed7882790_0_10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g2aed7882790_0_11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1.xml"/><Relationship Id="rId12" Type="http://schemas.openxmlformats.org/officeDocument/2006/relationships/slideLayout" Target="../slideLayouts/slideLayout23.xml"/><Relationship Id="rId1" Type="http://schemas.openxmlformats.org/officeDocument/2006/relationships/image" Target="../media/image8.jp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4" name="Shape 84"/>
        <p:cNvGrpSpPr/>
        <p:nvPr/>
      </p:nvGrpSpPr>
      <p:grpSpPr>
        <a:xfrm>
          <a:off x="0" y="0"/>
          <a:ext cx="0" cy="0"/>
          <a:chOff x="0" y="0"/>
          <a:chExt cx="0" cy="0"/>
        </a:xfrm>
      </p:grpSpPr>
      <p:sp>
        <p:nvSpPr>
          <p:cNvPr id="85" name="Google Shape;85;g2aed7882790_0_67"/>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6" name="Google Shape;86;g2aed7882790_0_67"/>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7" name="Google Shape;87;g2aed7882790_0_6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0" Type="http://schemas.openxmlformats.org/officeDocument/2006/relationships/image" Target="../media/image1.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jpg"/><Relationship Id="rId4" Type="http://schemas.openxmlformats.org/officeDocument/2006/relationships/hyperlink" Target="https://youtu.be/4CWTFtHcW0Q" TargetMode="External"/><Relationship Id="rId9" Type="http://schemas.openxmlformats.org/officeDocument/2006/relationships/hyperlink" Target="https://www.cokitos.com/carrera-de-redondeo-2-o-3-cifras/play" TargetMode="External"/><Relationship Id="rId5" Type="http://schemas.openxmlformats.org/officeDocument/2006/relationships/hyperlink" Target="https://youtu.be/Ju0HVFKCOxI" TargetMode="External"/><Relationship Id="rId6" Type="http://schemas.openxmlformats.org/officeDocument/2006/relationships/hyperlink" Target="https://youtu.be/ZERl_Pl83KU" TargetMode="External"/><Relationship Id="rId7" Type="http://schemas.openxmlformats.org/officeDocument/2006/relationships/hyperlink" Target="https://es.khanacademy.org/math/3-primaria-lima/x18256bf9f05f96fd:resuelve-problemas-de-cantidad/x18256bf9f05f96fd:valor-posicional/e/writing-numbers-to-1000" TargetMode="External"/><Relationship Id="rId8" Type="http://schemas.openxmlformats.org/officeDocument/2006/relationships/hyperlink" Target="https://mobbyt.com/videojuego/educativo/play.php?Id=86482"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5.jpg"/><Relationship Id="rId4" Type="http://schemas.openxmlformats.org/officeDocument/2006/relationships/hyperlink" Target="http://www.youtube.com/watch?v=lC7rJ9Pof-Y" TargetMode="External"/><Relationship Id="rId5" Type="http://schemas.openxmlformats.org/officeDocument/2006/relationships/image" Target="../media/image12.jpg"/><Relationship Id="rId6"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hyperlink" Target="https://forms.gle/kKR1b7KaUjhMRttDA" TargetMode="External"/><Relationship Id="rId4" Type="http://schemas.openxmlformats.org/officeDocument/2006/relationships/image" Target="../media/image11.png"/><Relationship Id="rId5"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5.jpg"/><Relationship Id="rId4" Type="http://schemas.openxmlformats.org/officeDocument/2006/relationships/hyperlink" Target="http://www.youtube.com/watch?v=i6EHVF8X0Ko" TargetMode="External"/><Relationship Id="rId5" Type="http://schemas.openxmlformats.org/officeDocument/2006/relationships/image" Target="../media/image10.jp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6" name="Google Shape;136;p1"/>
          <p:cNvPicPr preferRelativeResize="0"/>
          <p:nvPr/>
        </p:nvPicPr>
        <p:blipFill>
          <a:blip r:embed="rId4">
            <a:alphaModFix/>
          </a:blip>
          <a:stretch>
            <a:fillRect/>
          </a:stretch>
        </p:blipFill>
        <p:spPr>
          <a:xfrm>
            <a:off x="11031250" y="5632387"/>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342e3d1c56_0_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2" name="Google Shape;142;g3342e3d1c56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sp>
        <p:nvSpPr>
          <p:cNvPr id="143" name="Google Shape;143;g3342e3d1c56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Propósito</a:t>
            </a:r>
            <a:r>
              <a:rPr b="1" lang="es-ES" sz="1600">
                <a:solidFill>
                  <a:schemeClr val="dk1"/>
                </a:solidFill>
                <a:latin typeface="Poppins"/>
                <a:ea typeface="Poppins"/>
                <a:cs typeface="Poppins"/>
                <a:sym typeface="Poppins"/>
              </a:rPr>
              <a:t>:</a:t>
            </a:r>
            <a:r>
              <a:rPr lang="es-ES" sz="1600">
                <a:solidFill>
                  <a:schemeClr val="dk1"/>
                </a:solidFill>
                <a:latin typeface="Poppins Light"/>
                <a:ea typeface="Poppins Light"/>
                <a:cs typeface="Poppins Light"/>
                <a:sym typeface="Poppins Light"/>
              </a:rPr>
              <a:t> </a:t>
            </a:r>
            <a:r>
              <a:rPr lang="es-ES" sz="1600">
                <a:solidFill>
                  <a:schemeClr val="dk1"/>
                </a:solidFill>
                <a:latin typeface="Poppins Light"/>
                <a:ea typeface="Poppins Light"/>
                <a:cs typeface="Poppins Light"/>
                <a:sym typeface="Poppins Light"/>
              </a:rPr>
              <a:t>Fomentar el uso de estrategias de descomposición y estimación para facilitar la suma de</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Clr>
                <a:schemeClr val="dk1"/>
              </a:buClr>
              <a:buSzPts val="1100"/>
              <a:buFont typeface="Arial"/>
              <a:buNone/>
            </a:pPr>
            <a:r>
              <a:rPr lang="es-ES" sz="1600">
                <a:solidFill>
                  <a:schemeClr val="dk1"/>
                </a:solidFill>
                <a:latin typeface="Poppins Light"/>
                <a:ea typeface="Poppins Light"/>
                <a:cs typeface="Poppins Light"/>
                <a:sym typeface="Poppins Light"/>
              </a:rPr>
              <a:t>números de dos y tres dígitos, promoviendo habilidades de redondeo y cálculo mental.</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4" name="Google Shape;144;g3342e3d1c56_0_0"/>
          <p:cNvSpPr txBox="1"/>
          <p:nvPr/>
        </p:nvSpPr>
        <p:spPr>
          <a:xfrm>
            <a:off x="1158250" y="3097300"/>
            <a:ext cx="4698900" cy="34158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Enseñar a descomponer números de dos dígitos para sumarlos.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Estimar una suma de dos dígitos redondeando a la decena.</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3. Estimar una suma de tres dígitos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redondeando a la centena.</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5" name="Google Shape;145;g3342e3d1c56_0_0"/>
          <p:cNvSpPr txBox="1"/>
          <p:nvPr/>
        </p:nvSpPr>
        <p:spPr>
          <a:xfrm>
            <a:off x="6376050" y="3097175"/>
            <a:ext cx="4698900" cy="34158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Descomposición de números.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Suma aproximada.</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3. Redondeo a la decena.</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4. Redondeo a la centena.</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6" name="Google Shape;146;g3342e3d1c56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pic>
        <p:nvPicPr>
          <p:cNvPr id="147" name="Google Shape;147;g3342e3d1c56_0_0"/>
          <p:cNvPicPr preferRelativeResize="0"/>
          <p:nvPr/>
        </p:nvPicPr>
        <p:blipFill>
          <a:blip r:embed="rId3">
            <a:alphaModFix/>
          </a:blip>
          <a:stretch>
            <a:fillRect/>
          </a:stretch>
        </p:blipFill>
        <p:spPr>
          <a:xfrm>
            <a:off x="10906875" y="277737"/>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342e3d1c56_0_10"/>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53" name="Google Shape;153;g3342e3d1c56_0_10"/>
          <p:cNvSpPr txBox="1"/>
          <p:nvPr/>
        </p:nvSpPr>
        <p:spPr>
          <a:xfrm>
            <a:off x="938750" y="2283975"/>
            <a:ext cx="10402500" cy="55719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Para esta sesión, además de bloques o fichas para representar diferentes números, </a:t>
            </a:r>
            <a:r>
              <a:rPr b="1" lang="es-ES">
                <a:latin typeface="Poppins"/>
                <a:ea typeface="Poppins"/>
                <a:cs typeface="Poppins"/>
                <a:sym typeface="Poppins"/>
              </a:rPr>
              <a:t>ten lista una recta numérica</a:t>
            </a:r>
            <a:r>
              <a:rPr lang="es-ES">
                <a:latin typeface="Poppins"/>
                <a:ea typeface="Poppins"/>
                <a:cs typeface="Poppins"/>
                <a:sym typeface="Poppins"/>
              </a:rPr>
              <a:t> para ayudar a tu estudiante a visualizar el proceso de redondeo y estimación.</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Durante el proceso de descomposición, utiliza los bloques para que tu estudiante pueda visualizar qué implica descomponer los números. Ante esto, hazle la pregunta: </a:t>
            </a:r>
            <a:r>
              <a:rPr b="1" lang="es-ES">
                <a:latin typeface="Poppins"/>
                <a:ea typeface="Poppins"/>
                <a:cs typeface="Poppins"/>
                <a:sym typeface="Poppins"/>
              </a:rPr>
              <a:t>¿El número cambia o es otra forma de representarlo?</a:t>
            </a:r>
            <a:r>
              <a:rPr lang="es-ES">
                <a:latin typeface="Poppins"/>
                <a:ea typeface="Poppins"/>
                <a:cs typeface="Poppins"/>
                <a:sym typeface="Poppins"/>
              </a:rPr>
              <a:t> Asegúrate de que responda lo segundo con seguridad; si no, revisa más ejemplos. Luego, pídele que intente descomponer y sumar de forman independiente, explicando en voz alta cada paso que sigue.</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Para </a:t>
            </a:r>
            <a:r>
              <a:rPr b="1" lang="es-ES">
                <a:latin typeface="Poppins"/>
                <a:ea typeface="Poppins"/>
                <a:cs typeface="Poppins"/>
                <a:sym typeface="Poppins"/>
              </a:rPr>
              <a:t>estimar números</a:t>
            </a:r>
            <a:r>
              <a:rPr lang="es-ES">
                <a:latin typeface="Poppins"/>
                <a:ea typeface="Poppins"/>
                <a:cs typeface="Poppins"/>
                <a:sym typeface="Poppins"/>
              </a:rPr>
              <a:t> de dos dígitos, </a:t>
            </a:r>
            <a:r>
              <a:rPr b="1" lang="es-ES">
                <a:latin typeface="Poppins"/>
                <a:ea typeface="Poppins"/>
                <a:cs typeface="Poppins"/>
                <a:sym typeface="Poppins"/>
              </a:rPr>
              <a:t>utiliza la recta numérica para mostrar cómo el número se acerca al valor más cercano </a:t>
            </a:r>
            <a:r>
              <a:rPr lang="es-ES">
                <a:latin typeface="Poppins"/>
                <a:ea typeface="Poppins"/>
                <a:cs typeface="Poppins"/>
                <a:sym typeface="Poppins"/>
              </a:rPr>
              <a:t>si su unidad es igual o mayor a 5.</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b="1">
              <a:latin typeface="Poppins"/>
              <a:ea typeface="Poppins"/>
              <a:cs typeface="Poppins"/>
              <a:sym typeface="Poppins"/>
            </a:endParaRPr>
          </a:p>
          <a:p>
            <a:pPr indent="0" lvl="0" marL="0" rtl="0" algn="just">
              <a:lnSpc>
                <a:spcPct val="150000"/>
              </a:lnSpc>
              <a:spcBef>
                <a:spcPts val="0"/>
              </a:spcBef>
              <a:spcAft>
                <a:spcPts val="0"/>
              </a:spcAft>
              <a:buNone/>
            </a:pPr>
            <a:r>
              <a:t/>
            </a:r>
            <a:endParaRPr i="1">
              <a:latin typeface="Poppins"/>
              <a:ea typeface="Poppins"/>
              <a:cs typeface="Poppins"/>
              <a:sym typeface="Poppins"/>
            </a:endParaRPr>
          </a:p>
        </p:txBody>
      </p:sp>
      <p:sp>
        <p:nvSpPr>
          <p:cNvPr id="154" name="Google Shape;154;g3342e3d1c56_0_1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5" name="Google Shape;155;g3342e3d1c56_0_1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6" name="Google Shape;156;g3342e3d1c56_0_1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57" name="Google Shape;157;g3342e3d1c56_0_10"/>
          <p:cNvPicPr preferRelativeResize="0"/>
          <p:nvPr/>
        </p:nvPicPr>
        <p:blipFill>
          <a:blip r:embed="rId3">
            <a:alphaModFix/>
          </a:blip>
          <a:stretch>
            <a:fillRect/>
          </a:stretch>
        </p:blipFill>
        <p:spPr>
          <a:xfrm>
            <a:off x="10906875" y="277737"/>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342e3d1c56_0_107"/>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63" name="Google Shape;163;g3342e3d1c56_0_107"/>
          <p:cNvSpPr txBox="1"/>
          <p:nvPr/>
        </p:nvSpPr>
        <p:spPr>
          <a:xfrm>
            <a:off x="938750" y="2436375"/>
            <a:ext cx="10402500" cy="39558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En el caso de </a:t>
            </a:r>
            <a:r>
              <a:rPr b="1" lang="es-ES">
                <a:latin typeface="Poppins"/>
                <a:ea typeface="Poppins"/>
                <a:cs typeface="Poppins"/>
                <a:sym typeface="Poppins"/>
              </a:rPr>
              <a:t>tres dígitos,</a:t>
            </a:r>
            <a:r>
              <a:rPr lang="es-ES">
                <a:latin typeface="Poppins"/>
                <a:ea typeface="Poppins"/>
                <a:cs typeface="Poppins"/>
                <a:sym typeface="Poppins"/>
              </a:rPr>
              <a:t> repite el procedimiento usado para las decenas, solo que la </a:t>
            </a:r>
            <a:r>
              <a:rPr b="1" lang="es-ES">
                <a:latin typeface="Poppins"/>
                <a:ea typeface="Poppins"/>
                <a:cs typeface="Poppins"/>
                <a:sym typeface="Poppins"/>
              </a:rPr>
              <a:t>regla de redondeo</a:t>
            </a:r>
            <a:r>
              <a:rPr lang="es-ES">
                <a:latin typeface="Poppins"/>
                <a:ea typeface="Poppins"/>
                <a:cs typeface="Poppins"/>
                <a:sym typeface="Poppins"/>
              </a:rPr>
              <a:t> se aplica </a:t>
            </a:r>
            <a:r>
              <a:rPr b="1" lang="es-ES">
                <a:latin typeface="Poppins"/>
                <a:ea typeface="Poppins"/>
                <a:cs typeface="Poppins"/>
                <a:sym typeface="Poppins"/>
              </a:rPr>
              <a:t>revisando las decenas.</a:t>
            </a:r>
            <a:r>
              <a:rPr lang="es-ES">
                <a:latin typeface="Poppins"/>
                <a:ea typeface="Poppins"/>
                <a:cs typeface="Poppins"/>
                <a:sym typeface="Poppins"/>
              </a:rPr>
              <a:t> Asegúrate de que pueda notar esa diferencia pues es un error común.</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Al finalizar, después de practicar los distintos redondeos, refuerza su comprensión pidiéndole que explique cuándo sería útil la estimación en la vida diaria. Además pregúntale lo siguiente: “Si puedo redondear el número, </a:t>
            </a:r>
            <a:r>
              <a:rPr b="1" lang="es-ES">
                <a:latin typeface="Poppins"/>
                <a:ea typeface="Poppins"/>
                <a:cs typeface="Poppins"/>
                <a:sym typeface="Poppins"/>
              </a:rPr>
              <a:t>¿el resultado será mayor o menor a la real? ¿qué ocurre si no puedo redondearlo?” </a:t>
            </a:r>
            <a:r>
              <a:rPr lang="es-ES">
                <a:latin typeface="Poppins"/>
                <a:ea typeface="Poppins"/>
                <a:cs typeface="Poppins"/>
                <a:sym typeface="Poppins"/>
              </a:rPr>
              <a:t>(R: El resultado es mayor y menor respectivamente).</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b="1">
              <a:latin typeface="Poppins"/>
              <a:ea typeface="Poppins"/>
              <a:cs typeface="Poppins"/>
              <a:sym typeface="Poppins"/>
            </a:endParaRPr>
          </a:p>
          <a:p>
            <a:pPr indent="0" lvl="0" marL="0" rtl="0" algn="just">
              <a:lnSpc>
                <a:spcPct val="150000"/>
              </a:lnSpc>
              <a:spcBef>
                <a:spcPts val="0"/>
              </a:spcBef>
              <a:spcAft>
                <a:spcPts val="0"/>
              </a:spcAft>
              <a:buNone/>
            </a:pPr>
            <a:r>
              <a:t/>
            </a:r>
            <a:endParaRPr i="1">
              <a:latin typeface="Poppins"/>
              <a:ea typeface="Poppins"/>
              <a:cs typeface="Poppins"/>
              <a:sym typeface="Poppins"/>
            </a:endParaRPr>
          </a:p>
        </p:txBody>
      </p:sp>
      <p:sp>
        <p:nvSpPr>
          <p:cNvPr id="164" name="Google Shape;164;g3342e3d1c56_0_107"/>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65" name="Google Shape;165;g3342e3d1c56_0_107"/>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6" name="Google Shape;166;g3342e3d1c56_0_107"/>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67" name="Google Shape;167;g3342e3d1c56_0_107"/>
          <p:cNvPicPr preferRelativeResize="0"/>
          <p:nvPr/>
        </p:nvPicPr>
        <p:blipFill>
          <a:blip r:embed="rId3">
            <a:alphaModFix/>
          </a:blip>
          <a:stretch>
            <a:fillRect/>
          </a:stretch>
        </p:blipFill>
        <p:spPr>
          <a:xfrm>
            <a:off x="10906875" y="277737"/>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342e3d1c56_0_19"/>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73" name="Google Shape;173;g3342e3d1c56_0_19"/>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Pídele a tu estudiante que practique estimando sumas en su vida diaria, por ejemplo, al ir al almacén y sumar el precio del pan, mermelada, mantequilla, entre otros, que consumiría en la once.</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4" name="Google Shape;174;g3342e3d1c56_0_19"/>
          <p:cNvSpPr txBox="1"/>
          <p:nvPr/>
        </p:nvSpPr>
        <p:spPr>
          <a:xfrm>
            <a:off x="380275" y="4058725"/>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¿Cómo se descompone un número de dos dígitos para sumar?</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¿Qué significa redondear a la decena o centena más cercana?</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3. ¿Por qué es útil estimar una suma en algunas situaciones?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5" name="Google Shape;175;g3342e3d1c56_0_19"/>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6" name="Google Shape;176;g3342e3d1c56_0_19"/>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77" name="Google Shape;177;g3342e3d1c56_0_19"/>
          <p:cNvPicPr preferRelativeResize="0"/>
          <p:nvPr/>
        </p:nvPicPr>
        <p:blipFill>
          <a:blip r:embed="rId3">
            <a:alphaModFix/>
          </a:blip>
          <a:stretch>
            <a:fillRect/>
          </a:stretch>
        </p:blipFill>
        <p:spPr>
          <a:xfrm>
            <a:off x="10906875" y="277737"/>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2"/>
          <p:cNvPicPr preferRelativeResize="0"/>
          <p:nvPr/>
        </p:nvPicPr>
        <p:blipFill rotWithShape="1">
          <a:blip r:embed="rId3">
            <a:alphaModFix/>
          </a:blip>
          <a:srcRect b="0" l="0" r="0" t="0"/>
          <a:stretch/>
        </p:blipFill>
        <p:spPr>
          <a:xfrm>
            <a:off x="1" y="0"/>
            <a:ext cx="12192000" cy="6858003"/>
          </a:xfrm>
          <a:prstGeom prst="rect">
            <a:avLst/>
          </a:prstGeom>
          <a:noFill/>
          <a:ln>
            <a:noFill/>
          </a:ln>
        </p:spPr>
      </p:pic>
      <p:pic>
        <p:nvPicPr>
          <p:cNvPr id="183" name="Google Shape;183;p2"/>
          <p:cNvPicPr preferRelativeResize="0"/>
          <p:nvPr/>
        </p:nvPicPr>
        <p:blipFill>
          <a:blip r:embed="rId4">
            <a:alphaModFix/>
          </a:blip>
          <a:stretch>
            <a:fillRect/>
          </a:stretch>
        </p:blipFill>
        <p:spPr>
          <a:xfrm>
            <a:off x="10906875" y="5234687"/>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315f45590f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89" name="Google Shape;189;g3315f45590f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90" name="Google Shape;190;g3315f45590f_0_0"/>
          <p:cNvPicPr preferRelativeResize="0"/>
          <p:nvPr>
            <p:ph idx="1" type="body"/>
          </p:nvPr>
        </p:nvPicPr>
        <p:blipFill rotWithShape="1">
          <a:blip r:embed="rId3">
            <a:alphaModFix/>
          </a:blip>
          <a:srcRect b="0" l="0" r="0" t="0"/>
          <a:stretch/>
        </p:blipFill>
        <p:spPr>
          <a:xfrm>
            <a:off x="78750" y="0"/>
            <a:ext cx="12113100" cy="6966600"/>
          </a:xfrm>
          <a:prstGeom prst="rect">
            <a:avLst/>
          </a:prstGeom>
          <a:noFill/>
          <a:ln>
            <a:noFill/>
          </a:ln>
        </p:spPr>
      </p:pic>
      <p:sp>
        <p:nvSpPr>
          <p:cNvPr id="191" name="Google Shape;191;g3315f45590f_0_0"/>
          <p:cNvSpPr txBox="1"/>
          <p:nvPr/>
        </p:nvSpPr>
        <p:spPr>
          <a:xfrm>
            <a:off x="2585000" y="622125"/>
            <a:ext cx="68967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92" name="Google Shape;192;g3315f45590f_0_0"/>
          <p:cNvSpPr txBox="1"/>
          <p:nvPr/>
        </p:nvSpPr>
        <p:spPr>
          <a:xfrm>
            <a:off x="1385150" y="1428150"/>
            <a:ext cx="9781800" cy="40017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Khan Academy : </a:t>
            </a:r>
            <a:r>
              <a:rPr lang="es-ES"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ES"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Matematicas libre: </a:t>
            </a:r>
            <a:r>
              <a:rPr lang="es-ES"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ES"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Cokitos:  </a:t>
            </a:r>
            <a:r>
              <a:rPr lang="es-ES"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ES"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Teachy: </a:t>
            </a:r>
            <a:r>
              <a:rPr lang="es-ES"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ES"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ES" sz="1300">
                <a:solidFill>
                  <a:schemeClr val="dk1"/>
                </a:solidFill>
                <a:latin typeface="Poppins"/>
                <a:ea typeface="Poppins"/>
                <a:cs typeface="Poppins"/>
                <a:sym typeface="Poppins"/>
              </a:rPr>
              <a:t>Importante: </a:t>
            </a:r>
            <a:r>
              <a:rPr lang="es-ES" sz="1300">
                <a:solidFill>
                  <a:schemeClr val="dk1"/>
                </a:solidFill>
                <a:latin typeface="Poppins"/>
                <a:ea typeface="Poppins"/>
                <a:cs typeface="Poppins"/>
                <a:sym typeface="Poppins"/>
              </a:rPr>
              <a:t>Te recomendamos  mirar estas páginas antes de la tutoría, para que puedas buscar y familiarizarte con la página web.</a:t>
            </a:r>
            <a:endParaRPr sz="1300">
              <a:solidFill>
                <a:schemeClr val="dk1"/>
              </a:solidFill>
            </a:endParaRPr>
          </a:p>
        </p:txBody>
      </p:sp>
      <p:pic>
        <p:nvPicPr>
          <p:cNvPr id="193" name="Google Shape;193;g3315f45590f_0_0"/>
          <p:cNvPicPr preferRelativeResize="0"/>
          <p:nvPr/>
        </p:nvPicPr>
        <p:blipFill>
          <a:blip r:embed="rId8">
            <a:alphaModFix/>
          </a:blip>
          <a:stretch>
            <a:fillRect/>
          </a:stretch>
        </p:blipFill>
        <p:spPr>
          <a:xfrm>
            <a:off x="10906875" y="5234687"/>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descr="Forma&#10;&#10;Descripción generada automáticamente con confianza media" id="198" name="Google Shape;198;g27454347a1c_0_9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9" name="Google Shape;199;g27454347a1c_0_92"/>
          <p:cNvSpPr txBox="1"/>
          <p:nvPr/>
        </p:nvSpPr>
        <p:spPr>
          <a:xfrm>
            <a:off x="0" y="209808"/>
            <a:ext cx="7766400" cy="7851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500"/>
              <a:buFont typeface="Arial"/>
              <a:buNone/>
            </a:pPr>
            <a:r>
              <a:rPr b="1" i="0" lang="es-ES" sz="3500" u="none" cap="none" strike="noStrike">
                <a:solidFill>
                  <a:srgbClr val="000000"/>
                </a:solidFill>
                <a:latin typeface="Patrick Hand"/>
                <a:ea typeface="Patrick Hand"/>
                <a:cs typeface="Patrick Hand"/>
                <a:sym typeface="Patrick Hand"/>
              </a:rPr>
              <a:t>Descomponer para sumar</a:t>
            </a:r>
            <a:endParaRPr b="1" i="0" sz="3000" u="none" cap="none" strike="noStrike">
              <a:solidFill>
                <a:srgbClr val="000000"/>
              </a:solidFill>
              <a:latin typeface="Arial"/>
              <a:ea typeface="Arial"/>
              <a:cs typeface="Arial"/>
              <a:sym typeface="Arial"/>
            </a:endParaRPr>
          </a:p>
        </p:txBody>
      </p:sp>
      <p:sp>
        <p:nvSpPr>
          <p:cNvPr id="200" name="Google Shape;200;g27454347a1c_0_92"/>
          <p:cNvSpPr txBox="1"/>
          <p:nvPr/>
        </p:nvSpPr>
        <p:spPr>
          <a:xfrm>
            <a:off x="212400" y="994900"/>
            <a:ext cx="12348900" cy="17238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Para resolver una suma de esta manera, descomponemos ambos sumandos en decenas y unidades por separado. </a:t>
            </a:r>
            <a:endParaRPr b="0" i="0" sz="3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Patrick Hand"/>
              <a:ea typeface="Patrick Hand"/>
              <a:cs typeface="Patrick Hand"/>
              <a:sym typeface="Patrick Hand"/>
            </a:endParaRPr>
          </a:p>
        </p:txBody>
      </p:sp>
      <p:sp>
        <p:nvSpPr>
          <p:cNvPr id="201" name="Google Shape;201;g27454347a1c_0_92"/>
          <p:cNvSpPr txBox="1"/>
          <p:nvPr/>
        </p:nvSpPr>
        <p:spPr>
          <a:xfrm>
            <a:off x="1188900" y="2112892"/>
            <a:ext cx="10395900" cy="16776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Ejemplo:        2 3   +      7 5</a:t>
            </a:r>
            <a:endParaRPr b="0" i="0" sz="31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                </a:t>
            </a:r>
            <a:endParaRPr b="0" i="0" sz="31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              20  +    3     70 +   5</a:t>
            </a:r>
            <a:endParaRPr b="0" i="0" sz="3100" u="none" cap="none" strike="noStrike">
              <a:solidFill>
                <a:schemeClr val="dk1"/>
              </a:solidFill>
              <a:latin typeface="Patrick Hand"/>
              <a:ea typeface="Patrick Hand"/>
              <a:cs typeface="Patrick Hand"/>
              <a:sym typeface="Patrick Hand"/>
            </a:endParaRPr>
          </a:p>
        </p:txBody>
      </p:sp>
      <p:cxnSp>
        <p:nvCxnSpPr>
          <p:cNvPr id="202" name="Google Shape;202;g27454347a1c_0_92"/>
          <p:cNvCxnSpPr/>
          <p:nvPr/>
        </p:nvCxnSpPr>
        <p:spPr>
          <a:xfrm flipH="1">
            <a:off x="2860325" y="2647250"/>
            <a:ext cx="604200" cy="568500"/>
          </a:xfrm>
          <a:prstGeom prst="straightConnector1">
            <a:avLst/>
          </a:prstGeom>
          <a:noFill/>
          <a:ln cap="flat" cmpd="sng" w="9525">
            <a:solidFill>
              <a:srgbClr val="009287"/>
            </a:solidFill>
            <a:prstDash val="solid"/>
            <a:round/>
            <a:headEnd len="sm" w="sm" type="none"/>
            <a:tailEnd len="sm" w="sm" type="none"/>
          </a:ln>
        </p:spPr>
      </p:cxnSp>
      <p:cxnSp>
        <p:nvCxnSpPr>
          <p:cNvPr id="203" name="Google Shape;203;g27454347a1c_0_92"/>
          <p:cNvCxnSpPr/>
          <p:nvPr/>
        </p:nvCxnSpPr>
        <p:spPr>
          <a:xfrm flipH="1">
            <a:off x="4291950" y="2667450"/>
            <a:ext cx="604200" cy="568500"/>
          </a:xfrm>
          <a:prstGeom prst="straightConnector1">
            <a:avLst/>
          </a:prstGeom>
          <a:noFill/>
          <a:ln cap="flat" cmpd="sng" w="9525">
            <a:solidFill>
              <a:srgbClr val="009287"/>
            </a:solidFill>
            <a:prstDash val="solid"/>
            <a:round/>
            <a:headEnd len="sm" w="sm" type="none"/>
            <a:tailEnd len="sm" w="sm" type="none"/>
          </a:ln>
        </p:spPr>
      </p:cxnSp>
      <p:cxnSp>
        <p:nvCxnSpPr>
          <p:cNvPr id="204" name="Google Shape;204;g27454347a1c_0_92"/>
          <p:cNvCxnSpPr/>
          <p:nvPr/>
        </p:nvCxnSpPr>
        <p:spPr>
          <a:xfrm>
            <a:off x="3500075" y="2647250"/>
            <a:ext cx="177600" cy="639600"/>
          </a:xfrm>
          <a:prstGeom prst="straightConnector1">
            <a:avLst/>
          </a:prstGeom>
          <a:noFill/>
          <a:ln cap="flat" cmpd="sng" w="9525">
            <a:solidFill>
              <a:srgbClr val="009287"/>
            </a:solidFill>
            <a:prstDash val="solid"/>
            <a:round/>
            <a:headEnd len="sm" w="sm" type="none"/>
            <a:tailEnd len="sm" w="sm" type="none"/>
          </a:ln>
        </p:spPr>
      </p:cxnSp>
      <p:cxnSp>
        <p:nvCxnSpPr>
          <p:cNvPr id="205" name="Google Shape;205;g27454347a1c_0_92"/>
          <p:cNvCxnSpPr/>
          <p:nvPr/>
        </p:nvCxnSpPr>
        <p:spPr>
          <a:xfrm>
            <a:off x="4947875" y="2647250"/>
            <a:ext cx="311100" cy="621900"/>
          </a:xfrm>
          <a:prstGeom prst="straightConnector1">
            <a:avLst/>
          </a:prstGeom>
          <a:noFill/>
          <a:ln cap="flat" cmpd="sng" w="9525">
            <a:solidFill>
              <a:srgbClr val="009287"/>
            </a:solidFill>
            <a:prstDash val="solid"/>
            <a:round/>
            <a:headEnd len="sm" w="sm" type="none"/>
            <a:tailEnd len="sm" w="sm" type="none"/>
          </a:ln>
        </p:spPr>
      </p:cxnSp>
      <p:sp>
        <p:nvSpPr>
          <p:cNvPr id="206" name="Google Shape;206;g27454347a1c_0_92"/>
          <p:cNvSpPr txBox="1"/>
          <p:nvPr/>
        </p:nvSpPr>
        <p:spPr>
          <a:xfrm>
            <a:off x="677675" y="3943250"/>
            <a:ext cx="8365800" cy="14775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rgbClr val="000000"/>
              </a:buClr>
              <a:buSzPts val="2800"/>
              <a:buFont typeface="Patrick Hand"/>
              <a:buAutoNum type="arabicPeriod"/>
            </a:pPr>
            <a:r>
              <a:rPr b="0" i="0" lang="es-ES" sz="2800" u="none" cap="none" strike="noStrike">
                <a:solidFill>
                  <a:schemeClr val="dk1"/>
                </a:solidFill>
                <a:latin typeface="Patrick Hand"/>
                <a:ea typeface="Patrick Hand"/>
                <a:cs typeface="Patrick Hand"/>
                <a:sym typeface="Patrick Hand"/>
              </a:rPr>
              <a:t>Sumamos primero las decenas:               20 + 70 = 90</a:t>
            </a:r>
            <a:endParaRPr b="0" i="0" sz="2800" u="none" cap="none" strike="noStrike">
              <a:solidFill>
                <a:schemeClr val="dk1"/>
              </a:solidFill>
              <a:latin typeface="Patrick Hand"/>
              <a:ea typeface="Patrick Hand"/>
              <a:cs typeface="Patrick Hand"/>
              <a:sym typeface="Patrick Hand"/>
            </a:endParaRPr>
          </a:p>
          <a:p>
            <a:pPr indent="-406400" lvl="0" marL="457200" marR="0" rtl="0" algn="l">
              <a:lnSpc>
                <a:spcPct val="100000"/>
              </a:lnSpc>
              <a:spcBef>
                <a:spcPts val="0"/>
              </a:spcBef>
              <a:spcAft>
                <a:spcPts val="0"/>
              </a:spcAft>
              <a:buClr>
                <a:schemeClr val="dk1"/>
              </a:buClr>
              <a:buSzPts val="2800"/>
              <a:buFont typeface="Patrick Hand"/>
              <a:buAutoNum type="arabicPeriod"/>
            </a:pPr>
            <a:r>
              <a:rPr b="0" i="0" lang="es-ES" sz="2800" u="none" cap="none" strike="noStrike">
                <a:solidFill>
                  <a:schemeClr val="dk1"/>
                </a:solidFill>
                <a:latin typeface="Patrick Hand"/>
                <a:ea typeface="Patrick Hand"/>
                <a:cs typeface="Patrick Hand"/>
                <a:sym typeface="Patrick Hand"/>
              </a:rPr>
              <a:t>Luego sumamos las unidades:                     3 +  5 = 8</a:t>
            </a:r>
            <a:endParaRPr b="0" i="0" sz="2800" u="none" cap="none" strike="noStrike">
              <a:solidFill>
                <a:schemeClr val="dk1"/>
              </a:solidFill>
              <a:latin typeface="Patrick Hand"/>
              <a:ea typeface="Patrick Hand"/>
              <a:cs typeface="Patrick Hand"/>
              <a:sym typeface="Patrick Hand"/>
            </a:endParaRPr>
          </a:p>
          <a:p>
            <a:pPr indent="-406400" lvl="0" marL="457200" marR="0" rtl="0" algn="l">
              <a:lnSpc>
                <a:spcPct val="100000"/>
              </a:lnSpc>
              <a:spcBef>
                <a:spcPts val="0"/>
              </a:spcBef>
              <a:spcAft>
                <a:spcPts val="0"/>
              </a:spcAft>
              <a:buClr>
                <a:schemeClr val="dk1"/>
              </a:buClr>
              <a:buSzPts val="2800"/>
              <a:buFont typeface="Patrick Hand"/>
              <a:buAutoNum type="arabicPeriod"/>
            </a:pPr>
            <a:r>
              <a:rPr b="0" i="0" lang="es-ES" sz="2800" u="none" cap="none" strike="noStrike">
                <a:solidFill>
                  <a:schemeClr val="dk1"/>
                </a:solidFill>
                <a:latin typeface="Patrick Hand"/>
                <a:ea typeface="Patrick Hand"/>
                <a:cs typeface="Patrick Hand"/>
                <a:sym typeface="Patrick Hand"/>
              </a:rPr>
              <a:t>Sumamos los resultados anteriores:        90 +   8 = 98</a:t>
            </a:r>
            <a:endParaRPr b="0" i="0" sz="2800" u="none" cap="none" strike="noStrike">
              <a:solidFill>
                <a:schemeClr val="dk1"/>
              </a:solidFill>
              <a:latin typeface="Patrick Hand"/>
              <a:ea typeface="Patrick Hand"/>
              <a:cs typeface="Patrick Hand"/>
              <a:sym typeface="Patrick Hand"/>
            </a:endParaRPr>
          </a:p>
        </p:txBody>
      </p:sp>
      <p:cxnSp>
        <p:nvCxnSpPr>
          <p:cNvPr id="207" name="Google Shape;207;g27454347a1c_0_92"/>
          <p:cNvCxnSpPr/>
          <p:nvPr/>
        </p:nvCxnSpPr>
        <p:spPr>
          <a:xfrm flipH="1" rot="10800000">
            <a:off x="8342925" y="5094025"/>
            <a:ext cx="1190400" cy="17700"/>
          </a:xfrm>
          <a:prstGeom prst="straightConnector1">
            <a:avLst/>
          </a:prstGeom>
          <a:noFill/>
          <a:ln cap="flat" cmpd="sng" w="28575">
            <a:solidFill>
              <a:srgbClr val="009287"/>
            </a:solidFill>
            <a:prstDash val="solid"/>
            <a:round/>
            <a:headEnd len="sm" w="sm" type="none"/>
            <a:tailEnd len="med" w="med" type="triangle"/>
          </a:ln>
        </p:spPr>
      </p:cxnSp>
      <p:sp>
        <p:nvSpPr>
          <p:cNvPr id="208" name="Google Shape;208;g27454347a1c_0_92"/>
          <p:cNvSpPr txBox="1"/>
          <p:nvPr/>
        </p:nvSpPr>
        <p:spPr>
          <a:xfrm>
            <a:off x="9576875" y="4754700"/>
            <a:ext cx="2184900" cy="661800"/>
          </a:xfrm>
          <a:prstGeom prst="rect">
            <a:avLst/>
          </a:prstGeom>
          <a:noFill/>
          <a:ln cap="flat" cmpd="sng" w="19050">
            <a:solidFill>
              <a:srgbClr val="009287"/>
            </a:solidFill>
            <a:prstDash val="dash"/>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23 + 7 5 = 98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descr="Forma&#10;&#10;Descripción generada automáticamente con confianza media" id="213" name="Google Shape;213;g23bf1224dec_2_45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4" name="Google Shape;214;g23bf1224dec_2_450"/>
          <p:cNvSpPr txBox="1"/>
          <p:nvPr/>
        </p:nvSpPr>
        <p:spPr>
          <a:xfrm>
            <a:off x="0" y="209808"/>
            <a:ext cx="7766400" cy="7851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500"/>
              <a:buFont typeface="Arial"/>
              <a:buNone/>
            </a:pPr>
            <a:r>
              <a:rPr b="1" i="0" lang="es-ES" sz="3500" u="none" cap="none" strike="noStrike">
                <a:solidFill>
                  <a:srgbClr val="000000"/>
                </a:solidFill>
                <a:latin typeface="Patrick Hand"/>
                <a:ea typeface="Patrick Hand"/>
                <a:cs typeface="Patrick Hand"/>
                <a:sym typeface="Patrick Hand"/>
              </a:rPr>
              <a:t>Descomponer para sumar</a:t>
            </a:r>
            <a:endParaRPr b="1" i="0" sz="3000" u="none" cap="none" strike="noStrike">
              <a:solidFill>
                <a:srgbClr val="000000"/>
              </a:solidFill>
              <a:latin typeface="Arial"/>
              <a:ea typeface="Arial"/>
              <a:cs typeface="Arial"/>
              <a:sym typeface="Arial"/>
            </a:endParaRPr>
          </a:p>
        </p:txBody>
      </p:sp>
      <p:sp>
        <p:nvSpPr>
          <p:cNvPr id="215" name="Google Shape;215;g23bf1224dec_2_450"/>
          <p:cNvSpPr txBox="1"/>
          <p:nvPr/>
        </p:nvSpPr>
        <p:spPr>
          <a:xfrm>
            <a:off x="290275" y="994892"/>
            <a:ext cx="10395900" cy="18162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Ejemplo 2:        3 5   +      2 4</a:t>
            </a:r>
            <a:endParaRPr b="0" i="0" sz="3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a:t>
            </a:r>
            <a:endParaRPr b="0" i="0" sz="3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30  +    5    20 +   4</a:t>
            </a:r>
            <a:endParaRPr b="0" i="0" sz="3400" u="none" cap="none" strike="noStrike">
              <a:solidFill>
                <a:schemeClr val="dk1"/>
              </a:solidFill>
              <a:latin typeface="Patrick Hand"/>
              <a:ea typeface="Patrick Hand"/>
              <a:cs typeface="Patrick Hand"/>
              <a:sym typeface="Patrick Hand"/>
            </a:endParaRPr>
          </a:p>
        </p:txBody>
      </p:sp>
      <p:cxnSp>
        <p:nvCxnSpPr>
          <p:cNvPr id="216" name="Google Shape;216;g23bf1224dec_2_450"/>
          <p:cNvCxnSpPr/>
          <p:nvPr/>
        </p:nvCxnSpPr>
        <p:spPr>
          <a:xfrm flipH="1">
            <a:off x="2576050" y="1591975"/>
            <a:ext cx="604200" cy="568500"/>
          </a:xfrm>
          <a:prstGeom prst="straightConnector1">
            <a:avLst/>
          </a:prstGeom>
          <a:noFill/>
          <a:ln cap="flat" cmpd="sng" w="9525">
            <a:solidFill>
              <a:srgbClr val="009287"/>
            </a:solidFill>
            <a:prstDash val="solid"/>
            <a:round/>
            <a:headEnd len="sm" w="sm" type="none"/>
            <a:tailEnd len="sm" w="sm" type="none"/>
          </a:ln>
        </p:spPr>
      </p:cxnSp>
      <p:cxnSp>
        <p:nvCxnSpPr>
          <p:cNvPr id="217" name="Google Shape;217;g23bf1224dec_2_450"/>
          <p:cNvCxnSpPr/>
          <p:nvPr/>
        </p:nvCxnSpPr>
        <p:spPr>
          <a:xfrm flipH="1">
            <a:off x="4220800" y="1599025"/>
            <a:ext cx="434100" cy="554400"/>
          </a:xfrm>
          <a:prstGeom prst="straightConnector1">
            <a:avLst/>
          </a:prstGeom>
          <a:noFill/>
          <a:ln cap="flat" cmpd="sng" w="9525">
            <a:solidFill>
              <a:srgbClr val="009287"/>
            </a:solidFill>
            <a:prstDash val="solid"/>
            <a:round/>
            <a:headEnd len="sm" w="sm" type="none"/>
            <a:tailEnd len="sm" w="sm" type="none"/>
          </a:ln>
        </p:spPr>
      </p:cxnSp>
      <p:cxnSp>
        <p:nvCxnSpPr>
          <p:cNvPr id="218" name="Google Shape;218;g23bf1224dec_2_450"/>
          <p:cNvCxnSpPr/>
          <p:nvPr/>
        </p:nvCxnSpPr>
        <p:spPr>
          <a:xfrm>
            <a:off x="3180250" y="1563475"/>
            <a:ext cx="372900" cy="625500"/>
          </a:xfrm>
          <a:prstGeom prst="straightConnector1">
            <a:avLst/>
          </a:prstGeom>
          <a:noFill/>
          <a:ln cap="flat" cmpd="sng" w="9525">
            <a:solidFill>
              <a:srgbClr val="009287"/>
            </a:solidFill>
            <a:prstDash val="solid"/>
            <a:round/>
            <a:headEnd len="sm" w="sm" type="none"/>
            <a:tailEnd len="sm" w="sm" type="none"/>
          </a:ln>
        </p:spPr>
      </p:cxnSp>
      <p:cxnSp>
        <p:nvCxnSpPr>
          <p:cNvPr id="219" name="Google Shape;219;g23bf1224dec_2_450"/>
          <p:cNvCxnSpPr/>
          <p:nvPr/>
        </p:nvCxnSpPr>
        <p:spPr>
          <a:xfrm>
            <a:off x="4654900" y="1650700"/>
            <a:ext cx="373200" cy="637800"/>
          </a:xfrm>
          <a:prstGeom prst="straightConnector1">
            <a:avLst/>
          </a:prstGeom>
          <a:noFill/>
          <a:ln cap="flat" cmpd="sng" w="9525">
            <a:solidFill>
              <a:srgbClr val="009287"/>
            </a:solidFill>
            <a:prstDash val="solid"/>
            <a:round/>
            <a:headEnd len="sm" w="sm" type="none"/>
            <a:tailEnd len="sm" w="sm" type="none"/>
          </a:ln>
        </p:spPr>
      </p:cxnSp>
      <p:sp>
        <p:nvSpPr>
          <p:cNvPr id="220" name="Google Shape;220;g23bf1224dec_2_450"/>
          <p:cNvSpPr txBox="1"/>
          <p:nvPr/>
        </p:nvSpPr>
        <p:spPr>
          <a:xfrm>
            <a:off x="713200" y="2944300"/>
            <a:ext cx="8845500" cy="1708500"/>
          </a:xfrm>
          <a:prstGeom prst="rect">
            <a:avLst/>
          </a:prstGeom>
          <a:noFill/>
          <a:ln>
            <a:noFill/>
          </a:ln>
        </p:spPr>
        <p:txBody>
          <a:bodyPr anchorCtr="0" anchor="t" bIns="91425" lIns="91425" spcFirstLastPara="1" rIns="91425" wrap="square" tIns="91425">
            <a:spAutoFit/>
          </a:bodyPr>
          <a:lstStyle/>
          <a:p>
            <a:pPr indent="-438150" lvl="0" marL="457200" marR="0" rtl="0" algn="l">
              <a:lnSpc>
                <a:spcPct val="100000"/>
              </a:lnSpc>
              <a:spcBef>
                <a:spcPts val="0"/>
              </a:spcBef>
              <a:spcAft>
                <a:spcPts val="0"/>
              </a:spcAft>
              <a:buClr>
                <a:srgbClr val="000000"/>
              </a:buClr>
              <a:buSzPts val="3300"/>
              <a:buFont typeface="Patrick Hand"/>
              <a:buAutoNum type="arabicPeriod"/>
            </a:pPr>
            <a:r>
              <a:rPr b="0" i="0" lang="es-ES" sz="3300" u="none" cap="none" strike="noStrike">
                <a:solidFill>
                  <a:schemeClr val="dk1"/>
                </a:solidFill>
                <a:latin typeface="Patrick Hand"/>
                <a:ea typeface="Patrick Hand"/>
                <a:cs typeface="Patrick Hand"/>
                <a:sym typeface="Patrick Hand"/>
              </a:rPr>
              <a:t>Sumamos primero las decenas:               30 + 20 = 50</a:t>
            </a:r>
            <a:endParaRPr b="0" i="0" sz="3300" u="none" cap="none" strike="noStrike">
              <a:solidFill>
                <a:schemeClr val="dk1"/>
              </a:solidFill>
              <a:latin typeface="Patrick Hand"/>
              <a:ea typeface="Patrick Hand"/>
              <a:cs typeface="Patrick Hand"/>
              <a:sym typeface="Patrick Hand"/>
            </a:endParaRPr>
          </a:p>
          <a:p>
            <a:pPr indent="-438150" lvl="0" marL="457200" marR="0" rtl="0" algn="l">
              <a:lnSpc>
                <a:spcPct val="100000"/>
              </a:lnSpc>
              <a:spcBef>
                <a:spcPts val="0"/>
              </a:spcBef>
              <a:spcAft>
                <a:spcPts val="0"/>
              </a:spcAft>
              <a:buClr>
                <a:schemeClr val="dk1"/>
              </a:buClr>
              <a:buSzPts val="3300"/>
              <a:buFont typeface="Patrick Hand"/>
              <a:buAutoNum type="arabicPeriod"/>
            </a:pPr>
            <a:r>
              <a:rPr b="0" i="0" lang="es-ES" sz="3300" u="none" cap="none" strike="noStrike">
                <a:solidFill>
                  <a:schemeClr val="dk1"/>
                </a:solidFill>
                <a:latin typeface="Patrick Hand"/>
                <a:ea typeface="Patrick Hand"/>
                <a:cs typeface="Patrick Hand"/>
                <a:sym typeface="Patrick Hand"/>
              </a:rPr>
              <a:t>Luego sumamos las unidades:                     5 +  4 = 9</a:t>
            </a:r>
            <a:endParaRPr b="0" i="0" sz="3300" u="none" cap="none" strike="noStrike">
              <a:solidFill>
                <a:schemeClr val="dk1"/>
              </a:solidFill>
              <a:latin typeface="Patrick Hand"/>
              <a:ea typeface="Patrick Hand"/>
              <a:cs typeface="Patrick Hand"/>
              <a:sym typeface="Patrick Hand"/>
            </a:endParaRPr>
          </a:p>
          <a:p>
            <a:pPr indent="-438150" lvl="0" marL="457200" marR="0" rtl="0" algn="l">
              <a:lnSpc>
                <a:spcPct val="100000"/>
              </a:lnSpc>
              <a:spcBef>
                <a:spcPts val="0"/>
              </a:spcBef>
              <a:spcAft>
                <a:spcPts val="0"/>
              </a:spcAft>
              <a:buClr>
                <a:schemeClr val="dk1"/>
              </a:buClr>
              <a:buSzPts val="3300"/>
              <a:buFont typeface="Patrick Hand"/>
              <a:buAutoNum type="arabicPeriod"/>
            </a:pPr>
            <a:r>
              <a:rPr b="0" i="0" lang="es-ES" sz="3300" u="none" cap="none" strike="noStrike">
                <a:solidFill>
                  <a:schemeClr val="dk1"/>
                </a:solidFill>
                <a:latin typeface="Patrick Hand"/>
                <a:ea typeface="Patrick Hand"/>
                <a:cs typeface="Patrick Hand"/>
                <a:sym typeface="Patrick Hand"/>
              </a:rPr>
              <a:t>Sumamos los resultados anteriores:        50 +  9 = 59</a:t>
            </a:r>
            <a:endParaRPr b="0" i="0" sz="3300" u="none" cap="none" strike="noStrike">
              <a:solidFill>
                <a:schemeClr val="dk1"/>
              </a:solidFill>
              <a:latin typeface="Patrick Hand"/>
              <a:ea typeface="Patrick Hand"/>
              <a:cs typeface="Patrick Hand"/>
              <a:sym typeface="Patrick Hand"/>
            </a:endParaRPr>
          </a:p>
        </p:txBody>
      </p:sp>
      <p:cxnSp>
        <p:nvCxnSpPr>
          <p:cNvPr id="221" name="Google Shape;221;g23bf1224dec_2_450"/>
          <p:cNvCxnSpPr>
            <a:endCxn id="222" idx="0"/>
          </p:cNvCxnSpPr>
          <p:nvPr/>
        </p:nvCxnSpPr>
        <p:spPr>
          <a:xfrm>
            <a:off x="8249100" y="4477075"/>
            <a:ext cx="14100" cy="1041600"/>
          </a:xfrm>
          <a:prstGeom prst="straightConnector1">
            <a:avLst/>
          </a:prstGeom>
          <a:noFill/>
          <a:ln cap="flat" cmpd="sng" w="28575">
            <a:solidFill>
              <a:srgbClr val="009287"/>
            </a:solidFill>
            <a:prstDash val="solid"/>
            <a:round/>
            <a:headEnd len="sm" w="sm" type="none"/>
            <a:tailEnd len="med" w="med" type="triangle"/>
          </a:ln>
        </p:spPr>
      </p:cxnSp>
      <p:sp>
        <p:nvSpPr>
          <p:cNvPr id="222" name="Google Shape;222;g23bf1224dec_2_450"/>
          <p:cNvSpPr txBox="1"/>
          <p:nvPr/>
        </p:nvSpPr>
        <p:spPr>
          <a:xfrm>
            <a:off x="7170750" y="5518675"/>
            <a:ext cx="2184900" cy="661800"/>
          </a:xfrm>
          <a:prstGeom prst="rect">
            <a:avLst/>
          </a:prstGeom>
          <a:noFill/>
          <a:ln cap="flat" cmpd="sng" w="19050">
            <a:solidFill>
              <a:srgbClr val="009287"/>
            </a:solidFill>
            <a:prstDash val="dash"/>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35 + 2 4 = 59</a:t>
            </a:r>
            <a:endParaRPr b="0" i="0" sz="1400" u="none" cap="none" strike="noStrike">
              <a:solidFill>
                <a:srgbClr val="000000"/>
              </a:solidFill>
              <a:latin typeface="Arial"/>
              <a:ea typeface="Arial"/>
              <a:cs typeface="Arial"/>
              <a:sym typeface="Arial"/>
            </a:endParaRPr>
          </a:p>
        </p:txBody>
      </p:sp>
      <p:pic>
        <p:nvPicPr>
          <p:cNvPr id="223" name="Google Shape;223;g23bf1224dec_2_450"/>
          <p:cNvPicPr preferRelativeResize="0"/>
          <p:nvPr/>
        </p:nvPicPr>
        <p:blipFill>
          <a:blip r:embed="rId4">
            <a:alphaModFix/>
          </a:blip>
          <a:stretch>
            <a:fillRect/>
          </a:stretch>
        </p:blipFill>
        <p:spPr>
          <a:xfrm>
            <a:off x="10906875" y="5234687"/>
            <a:ext cx="975700" cy="1029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27454347a1c_0_160"/>
          <p:cNvSpPr txBox="1"/>
          <p:nvPr>
            <p:ph type="title"/>
          </p:nvPr>
        </p:nvSpPr>
        <p:spPr>
          <a:xfrm>
            <a:off x="415600" y="593367"/>
            <a:ext cx="11360700" cy="763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None/>
            </a:pPr>
            <a:r>
              <a:t/>
            </a:r>
            <a:endParaRPr/>
          </a:p>
        </p:txBody>
      </p:sp>
      <p:sp>
        <p:nvSpPr>
          <p:cNvPr id="229" name="Google Shape;229;g27454347a1c_0_160"/>
          <p:cNvSpPr txBox="1"/>
          <p:nvPr>
            <p:ph idx="1" type="body"/>
          </p:nvPr>
        </p:nvSpPr>
        <p:spPr>
          <a:xfrm>
            <a:off x="415600" y="1536633"/>
            <a:ext cx="11360700" cy="4555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2800"/>
              <a:buNone/>
            </a:pPr>
            <a:r>
              <a:t/>
            </a:r>
            <a:endParaRPr/>
          </a:p>
        </p:txBody>
      </p:sp>
      <p:pic>
        <p:nvPicPr>
          <p:cNvPr descr="Forma&#10;&#10;Descripción generada automáticamente con confianza media" id="230" name="Google Shape;230;g27454347a1c_0_16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1" name="Google Shape;231;g27454347a1c_0_160"/>
          <p:cNvSpPr txBox="1"/>
          <p:nvPr/>
        </p:nvSpPr>
        <p:spPr>
          <a:xfrm>
            <a:off x="212400" y="994900"/>
            <a:ext cx="12348900" cy="6156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400"/>
              <a:buFont typeface="Arial"/>
              <a:buNone/>
            </a:pPr>
            <a:r>
              <a:rPr b="0" i="0" lang="es-ES" sz="2400" u="none" cap="none" strike="noStrike">
                <a:solidFill>
                  <a:srgbClr val="000000"/>
                </a:solidFill>
                <a:latin typeface="Patrick Hand"/>
                <a:ea typeface="Patrick Hand"/>
                <a:cs typeface="Patrick Hand"/>
                <a:sym typeface="Patrick Hand"/>
              </a:rPr>
              <a:t>Abre tu cuaderno y resolvamos los siguientes ejercicios.</a:t>
            </a:r>
            <a:endParaRPr b="0" i="0" sz="3200" u="none" cap="none" strike="noStrike">
              <a:solidFill>
                <a:schemeClr val="dk1"/>
              </a:solidFill>
              <a:latin typeface="Patrick Hand"/>
              <a:ea typeface="Patrick Hand"/>
              <a:cs typeface="Patrick Hand"/>
              <a:sym typeface="Patrick Hand"/>
            </a:endParaRPr>
          </a:p>
        </p:txBody>
      </p:sp>
      <p:sp>
        <p:nvSpPr>
          <p:cNvPr id="232" name="Google Shape;232;g27454347a1c_0_160"/>
          <p:cNvSpPr txBox="1"/>
          <p:nvPr/>
        </p:nvSpPr>
        <p:spPr>
          <a:xfrm>
            <a:off x="106600" y="209808"/>
            <a:ext cx="7766400" cy="7851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500"/>
              <a:buFont typeface="Arial"/>
              <a:buNone/>
            </a:pPr>
            <a:r>
              <a:rPr b="1" i="0" lang="es-ES" sz="3500" u="none" cap="none" strike="noStrike">
                <a:solidFill>
                  <a:srgbClr val="000000"/>
                </a:solidFill>
                <a:latin typeface="Patrick Hand"/>
                <a:ea typeface="Patrick Hand"/>
                <a:cs typeface="Patrick Hand"/>
                <a:sym typeface="Patrick Hand"/>
              </a:rPr>
              <a:t>Ejercicios</a:t>
            </a:r>
            <a:endParaRPr b="1" i="0" sz="3000" u="none" cap="none" strike="noStrike">
              <a:solidFill>
                <a:srgbClr val="000000"/>
              </a:solidFill>
              <a:latin typeface="Arial"/>
              <a:ea typeface="Arial"/>
              <a:cs typeface="Arial"/>
              <a:sym typeface="Arial"/>
            </a:endParaRPr>
          </a:p>
        </p:txBody>
      </p:sp>
      <p:sp>
        <p:nvSpPr>
          <p:cNvPr id="233" name="Google Shape;233;g27454347a1c_0_160"/>
          <p:cNvSpPr txBox="1"/>
          <p:nvPr/>
        </p:nvSpPr>
        <p:spPr>
          <a:xfrm>
            <a:off x="0" y="1722025"/>
            <a:ext cx="3748800" cy="3109200"/>
          </a:xfrm>
          <a:prstGeom prst="rect">
            <a:avLst/>
          </a:prstGeom>
          <a:noFill/>
          <a:ln>
            <a:noFill/>
          </a:ln>
        </p:spPr>
        <p:txBody>
          <a:bodyPr anchorCtr="0" anchor="t" bIns="121900" lIns="121900" spcFirstLastPara="1" rIns="121900" wrap="square" tIns="121900">
            <a:spAutoFit/>
          </a:bodyPr>
          <a:lstStyle/>
          <a:p>
            <a:pPr indent="-425450" lvl="0" marL="457200" marR="0" rtl="0" algn="l">
              <a:lnSpc>
                <a:spcPct val="100000"/>
              </a:lnSpc>
              <a:spcBef>
                <a:spcPts val="0"/>
              </a:spcBef>
              <a:spcAft>
                <a:spcPts val="0"/>
              </a:spcAft>
              <a:buClr>
                <a:schemeClr val="dk1"/>
              </a:buClr>
              <a:buSzPts val="3100"/>
              <a:buFont typeface="Patrick Hand"/>
              <a:buChar char="●"/>
            </a:pPr>
            <a:r>
              <a:rPr b="0" i="0" lang="es-ES" sz="3100" u="none" cap="none" strike="noStrike">
                <a:solidFill>
                  <a:schemeClr val="dk1"/>
                </a:solidFill>
                <a:latin typeface="Patrick Hand"/>
                <a:ea typeface="Patrick Hand"/>
                <a:cs typeface="Patrick Hand"/>
                <a:sym typeface="Patrick Hand"/>
              </a:rPr>
              <a:t>  4 6    +      3 2</a:t>
            </a:r>
            <a:endParaRPr b="0" i="0" sz="31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__ + __       __ + __</a:t>
            </a:r>
            <a:endParaRPr b="0" i="0" sz="31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100"/>
              <a:buFont typeface="Arial"/>
              <a:buNone/>
            </a:pPr>
            <a:r>
              <a:t/>
            </a:r>
            <a:endParaRPr b="0" i="0" sz="31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__ + __ =</a:t>
            </a:r>
            <a:endParaRPr b="0" i="0" sz="31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__ + __ =</a:t>
            </a:r>
            <a:endParaRPr b="0" i="0" sz="31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__ + __ =</a:t>
            </a:r>
            <a:endParaRPr b="0" i="0" sz="3100" u="none" cap="none" strike="noStrike">
              <a:solidFill>
                <a:schemeClr val="dk1"/>
              </a:solidFill>
              <a:latin typeface="Patrick Hand"/>
              <a:ea typeface="Patrick Hand"/>
              <a:cs typeface="Patrick Hand"/>
              <a:sym typeface="Patrick Hand"/>
            </a:endParaRPr>
          </a:p>
        </p:txBody>
      </p:sp>
      <p:sp>
        <p:nvSpPr>
          <p:cNvPr id="234" name="Google Shape;234;g27454347a1c_0_160"/>
          <p:cNvSpPr txBox="1"/>
          <p:nvPr/>
        </p:nvSpPr>
        <p:spPr>
          <a:xfrm>
            <a:off x="4124200" y="1722000"/>
            <a:ext cx="3748800" cy="3109200"/>
          </a:xfrm>
          <a:prstGeom prst="rect">
            <a:avLst/>
          </a:prstGeom>
          <a:noFill/>
          <a:ln>
            <a:noFill/>
          </a:ln>
        </p:spPr>
        <p:txBody>
          <a:bodyPr anchorCtr="0" anchor="t" bIns="121900" lIns="121900" spcFirstLastPara="1" rIns="121900" wrap="square" tIns="121900">
            <a:spAutoFit/>
          </a:bodyPr>
          <a:lstStyle/>
          <a:p>
            <a:pPr indent="-425450" lvl="0" marL="457200" marR="0" rtl="0" algn="l">
              <a:lnSpc>
                <a:spcPct val="100000"/>
              </a:lnSpc>
              <a:spcBef>
                <a:spcPts val="0"/>
              </a:spcBef>
              <a:spcAft>
                <a:spcPts val="0"/>
              </a:spcAft>
              <a:buClr>
                <a:schemeClr val="dk1"/>
              </a:buClr>
              <a:buSzPts val="3100"/>
              <a:buFont typeface="Patrick Hand"/>
              <a:buChar char="●"/>
            </a:pPr>
            <a:r>
              <a:rPr b="0" i="0" lang="es-ES" sz="3100" u="none" cap="none" strike="noStrike">
                <a:solidFill>
                  <a:schemeClr val="dk1"/>
                </a:solidFill>
                <a:latin typeface="Patrick Hand"/>
                <a:ea typeface="Patrick Hand"/>
                <a:cs typeface="Patrick Hand"/>
                <a:sym typeface="Patrick Hand"/>
              </a:rPr>
              <a:t>  2 8    +      5 1</a:t>
            </a:r>
            <a:endParaRPr b="0" i="0" sz="31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__ + __       __ + __</a:t>
            </a:r>
            <a:endParaRPr b="0" i="0" sz="31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100"/>
              <a:buFont typeface="Arial"/>
              <a:buNone/>
            </a:pPr>
            <a:r>
              <a:t/>
            </a:r>
            <a:endParaRPr b="0" i="0" sz="31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__ + __ =</a:t>
            </a:r>
            <a:endParaRPr b="0" i="0" sz="31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__ + __ =</a:t>
            </a:r>
            <a:endParaRPr b="0" i="0" sz="31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__ + __ =</a:t>
            </a:r>
            <a:endParaRPr b="0" i="0" sz="3100" u="none" cap="none" strike="noStrike">
              <a:solidFill>
                <a:schemeClr val="dk1"/>
              </a:solidFill>
              <a:latin typeface="Patrick Hand"/>
              <a:ea typeface="Patrick Hand"/>
              <a:cs typeface="Patrick Hand"/>
              <a:sym typeface="Patrick Hand"/>
            </a:endParaRPr>
          </a:p>
        </p:txBody>
      </p:sp>
      <p:sp>
        <p:nvSpPr>
          <p:cNvPr id="235" name="Google Shape;235;g27454347a1c_0_160"/>
          <p:cNvSpPr txBox="1"/>
          <p:nvPr/>
        </p:nvSpPr>
        <p:spPr>
          <a:xfrm>
            <a:off x="8248400" y="1645800"/>
            <a:ext cx="3748800" cy="3109200"/>
          </a:xfrm>
          <a:prstGeom prst="rect">
            <a:avLst/>
          </a:prstGeom>
          <a:noFill/>
          <a:ln>
            <a:noFill/>
          </a:ln>
        </p:spPr>
        <p:txBody>
          <a:bodyPr anchorCtr="0" anchor="t" bIns="121900" lIns="121900" spcFirstLastPara="1" rIns="121900" wrap="square" tIns="121900">
            <a:spAutoFit/>
          </a:bodyPr>
          <a:lstStyle/>
          <a:p>
            <a:pPr indent="-425450" lvl="0" marL="457200" marR="0" rtl="0" algn="l">
              <a:lnSpc>
                <a:spcPct val="100000"/>
              </a:lnSpc>
              <a:spcBef>
                <a:spcPts val="0"/>
              </a:spcBef>
              <a:spcAft>
                <a:spcPts val="0"/>
              </a:spcAft>
              <a:buClr>
                <a:schemeClr val="dk1"/>
              </a:buClr>
              <a:buSzPts val="3100"/>
              <a:buFont typeface="Patrick Hand"/>
              <a:buChar char="●"/>
            </a:pPr>
            <a:r>
              <a:rPr b="0" i="0" lang="es-ES" sz="3100" u="none" cap="none" strike="noStrike">
                <a:solidFill>
                  <a:schemeClr val="dk1"/>
                </a:solidFill>
                <a:latin typeface="Patrick Hand"/>
                <a:ea typeface="Patrick Hand"/>
                <a:cs typeface="Patrick Hand"/>
                <a:sym typeface="Patrick Hand"/>
              </a:rPr>
              <a:t>  8 2    +      2 4</a:t>
            </a:r>
            <a:endParaRPr b="0" i="0" sz="31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__ + __       __ + __</a:t>
            </a:r>
            <a:endParaRPr b="0" i="0" sz="31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100"/>
              <a:buFont typeface="Arial"/>
              <a:buNone/>
            </a:pPr>
            <a:r>
              <a:t/>
            </a:r>
            <a:endParaRPr b="0" i="0" sz="31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__ + __ =</a:t>
            </a:r>
            <a:endParaRPr b="0" i="0" sz="31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__ + __ =</a:t>
            </a:r>
            <a:endParaRPr b="0" i="0" sz="31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__ + __ =</a:t>
            </a:r>
            <a:endParaRPr b="0" i="0" sz="3100" u="none" cap="none" strike="noStrike">
              <a:solidFill>
                <a:schemeClr val="dk1"/>
              </a:solidFill>
              <a:latin typeface="Patrick Hand"/>
              <a:ea typeface="Patrick Hand"/>
              <a:cs typeface="Patrick Hand"/>
              <a:sym typeface="Patrick Hand"/>
            </a:endParaRPr>
          </a:p>
        </p:txBody>
      </p:sp>
      <p:sp>
        <p:nvSpPr>
          <p:cNvPr id="236" name="Google Shape;236;g27454347a1c_0_160"/>
          <p:cNvSpPr txBox="1"/>
          <p:nvPr/>
        </p:nvSpPr>
        <p:spPr>
          <a:xfrm>
            <a:off x="106600" y="23403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40</a:t>
            </a:r>
            <a:endParaRPr b="1" i="0" sz="2500" u="none" cap="none" strike="noStrike">
              <a:solidFill>
                <a:srgbClr val="000000"/>
              </a:solidFill>
              <a:latin typeface="Arial"/>
              <a:ea typeface="Arial"/>
              <a:cs typeface="Arial"/>
              <a:sym typeface="Arial"/>
            </a:endParaRPr>
          </a:p>
        </p:txBody>
      </p:sp>
      <p:sp>
        <p:nvSpPr>
          <p:cNvPr id="237" name="Google Shape;237;g27454347a1c_0_160"/>
          <p:cNvSpPr txBox="1"/>
          <p:nvPr/>
        </p:nvSpPr>
        <p:spPr>
          <a:xfrm>
            <a:off x="969675" y="23403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6</a:t>
            </a:r>
            <a:endParaRPr b="1" i="0" sz="2500" u="none" cap="none" strike="noStrike">
              <a:solidFill>
                <a:srgbClr val="000000"/>
              </a:solidFill>
              <a:latin typeface="Arial"/>
              <a:ea typeface="Arial"/>
              <a:cs typeface="Arial"/>
              <a:sym typeface="Arial"/>
            </a:endParaRPr>
          </a:p>
        </p:txBody>
      </p:sp>
      <p:sp>
        <p:nvSpPr>
          <p:cNvPr id="238" name="Google Shape;238;g27454347a1c_0_160"/>
          <p:cNvSpPr txBox="1"/>
          <p:nvPr/>
        </p:nvSpPr>
        <p:spPr>
          <a:xfrm>
            <a:off x="1935400" y="23403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30</a:t>
            </a:r>
            <a:endParaRPr b="1" i="0" sz="2500" u="none" cap="none" strike="noStrike">
              <a:solidFill>
                <a:srgbClr val="000000"/>
              </a:solidFill>
              <a:latin typeface="Arial"/>
              <a:ea typeface="Arial"/>
              <a:cs typeface="Arial"/>
              <a:sym typeface="Arial"/>
            </a:endParaRPr>
          </a:p>
        </p:txBody>
      </p:sp>
      <p:sp>
        <p:nvSpPr>
          <p:cNvPr id="239" name="Google Shape;239;g27454347a1c_0_160"/>
          <p:cNvSpPr txBox="1"/>
          <p:nvPr/>
        </p:nvSpPr>
        <p:spPr>
          <a:xfrm>
            <a:off x="1402000" y="36357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2</a:t>
            </a:r>
            <a:endParaRPr b="1" i="0" sz="2500" u="none" cap="none" strike="noStrike">
              <a:solidFill>
                <a:srgbClr val="000000"/>
              </a:solidFill>
              <a:latin typeface="Arial"/>
              <a:ea typeface="Arial"/>
              <a:cs typeface="Arial"/>
              <a:sym typeface="Arial"/>
            </a:endParaRPr>
          </a:p>
        </p:txBody>
      </p:sp>
      <p:sp>
        <p:nvSpPr>
          <p:cNvPr id="240" name="Google Shape;240;g27454347a1c_0_160"/>
          <p:cNvSpPr txBox="1"/>
          <p:nvPr/>
        </p:nvSpPr>
        <p:spPr>
          <a:xfrm>
            <a:off x="563800" y="31023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40</a:t>
            </a:r>
            <a:endParaRPr b="1" i="0" sz="2500" u="none" cap="none" strike="noStrike">
              <a:solidFill>
                <a:srgbClr val="000000"/>
              </a:solidFill>
              <a:latin typeface="Arial"/>
              <a:ea typeface="Arial"/>
              <a:cs typeface="Arial"/>
              <a:sym typeface="Arial"/>
            </a:endParaRPr>
          </a:p>
        </p:txBody>
      </p:sp>
      <p:sp>
        <p:nvSpPr>
          <p:cNvPr id="241" name="Google Shape;241;g27454347a1c_0_160"/>
          <p:cNvSpPr txBox="1"/>
          <p:nvPr/>
        </p:nvSpPr>
        <p:spPr>
          <a:xfrm>
            <a:off x="1402000" y="31023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30</a:t>
            </a:r>
            <a:endParaRPr b="1" i="0" sz="2500" u="none" cap="none" strike="noStrike">
              <a:solidFill>
                <a:srgbClr val="000000"/>
              </a:solidFill>
              <a:latin typeface="Arial"/>
              <a:ea typeface="Arial"/>
              <a:cs typeface="Arial"/>
              <a:sym typeface="Arial"/>
            </a:endParaRPr>
          </a:p>
        </p:txBody>
      </p:sp>
      <p:sp>
        <p:nvSpPr>
          <p:cNvPr id="242" name="Google Shape;242;g27454347a1c_0_160"/>
          <p:cNvSpPr txBox="1"/>
          <p:nvPr/>
        </p:nvSpPr>
        <p:spPr>
          <a:xfrm>
            <a:off x="588675" y="36357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6</a:t>
            </a:r>
            <a:endParaRPr b="1" i="0" sz="2500" u="none" cap="none" strike="noStrike">
              <a:solidFill>
                <a:srgbClr val="000000"/>
              </a:solidFill>
              <a:latin typeface="Arial"/>
              <a:ea typeface="Arial"/>
              <a:cs typeface="Arial"/>
              <a:sym typeface="Arial"/>
            </a:endParaRPr>
          </a:p>
        </p:txBody>
      </p:sp>
      <p:sp>
        <p:nvSpPr>
          <p:cNvPr id="243" name="Google Shape;243;g27454347a1c_0_160"/>
          <p:cNvSpPr txBox="1"/>
          <p:nvPr/>
        </p:nvSpPr>
        <p:spPr>
          <a:xfrm>
            <a:off x="2240200" y="31785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70</a:t>
            </a:r>
            <a:endParaRPr b="1" i="0" sz="2500" u="none" cap="none" strike="noStrike">
              <a:solidFill>
                <a:srgbClr val="000000"/>
              </a:solidFill>
              <a:latin typeface="Arial"/>
              <a:ea typeface="Arial"/>
              <a:cs typeface="Arial"/>
              <a:sym typeface="Arial"/>
            </a:endParaRPr>
          </a:p>
        </p:txBody>
      </p:sp>
      <p:sp>
        <p:nvSpPr>
          <p:cNvPr id="244" name="Google Shape;244;g27454347a1c_0_160"/>
          <p:cNvSpPr txBox="1"/>
          <p:nvPr/>
        </p:nvSpPr>
        <p:spPr>
          <a:xfrm>
            <a:off x="2240200" y="37119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8</a:t>
            </a:r>
            <a:endParaRPr b="1" i="0" sz="2500" u="none" cap="none" strike="noStrike">
              <a:solidFill>
                <a:srgbClr val="000000"/>
              </a:solidFill>
              <a:latin typeface="Arial"/>
              <a:ea typeface="Arial"/>
              <a:cs typeface="Arial"/>
              <a:sym typeface="Arial"/>
            </a:endParaRPr>
          </a:p>
        </p:txBody>
      </p:sp>
      <p:sp>
        <p:nvSpPr>
          <p:cNvPr id="245" name="Google Shape;245;g27454347a1c_0_160"/>
          <p:cNvSpPr txBox="1"/>
          <p:nvPr/>
        </p:nvSpPr>
        <p:spPr>
          <a:xfrm>
            <a:off x="563800" y="42453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70</a:t>
            </a:r>
            <a:endParaRPr b="1" i="0" sz="2500" u="none" cap="none" strike="noStrike">
              <a:solidFill>
                <a:srgbClr val="000000"/>
              </a:solidFill>
              <a:latin typeface="Arial"/>
              <a:ea typeface="Arial"/>
              <a:cs typeface="Arial"/>
              <a:sym typeface="Arial"/>
            </a:endParaRPr>
          </a:p>
        </p:txBody>
      </p:sp>
      <p:sp>
        <p:nvSpPr>
          <p:cNvPr id="246" name="Google Shape;246;g27454347a1c_0_160"/>
          <p:cNvSpPr txBox="1"/>
          <p:nvPr/>
        </p:nvSpPr>
        <p:spPr>
          <a:xfrm>
            <a:off x="1402000" y="42453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8</a:t>
            </a:r>
            <a:endParaRPr b="1" i="0" sz="2500" u="none" cap="none" strike="noStrike">
              <a:solidFill>
                <a:srgbClr val="000000"/>
              </a:solidFill>
              <a:latin typeface="Arial"/>
              <a:ea typeface="Arial"/>
              <a:cs typeface="Arial"/>
              <a:sym typeface="Arial"/>
            </a:endParaRPr>
          </a:p>
        </p:txBody>
      </p:sp>
      <p:sp>
        <p:nvSpPr>
          <p:cNvPr id="247" name="Google Shape;247;g27454347a1c_0_160"/>
          <p:cNvSpPr txBox="1"/>
          <p:nvPr/>
        </p:nvSpPr>
        <p:spPr>
          <a:xfrm>
            <a:off x="2240200" y="42453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78</a:t>
            </a:r>
            <a:endParaRPr b="1" i="0" sz="2500" u="none" cap="none" strike="noStrike">
              <a:solidFill>
                <a:srgbClr val="000000"/>
              </a:solidFill>
              <a:latin typeface="Arial"/>
              <a:ea typeface="Arial"/>
              <a:cs typeface="Arial"/>
              <a:sym typeface="Arial"/>
            </a:endParaRPr>
          </a:p>
        </p:txBody>
      </p:sp>
      <p:sp>
        <p:nvSpPr>
          <p:cNvPr id="248" name="Google Shape;248;g27454347a1c_0_160"/>
          <p:cNvSpPr txBox="1"/>
          <p:nvPr/>
        </p:nvSpPr>
        <p:spPr>
          <a:xfrm>
            <a:off x="4221400" y="22641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20</a:t>
            </a:r>
            <a:endParaRPr b="1" i="0" sz="2500" u="none" cap="none" strike="noStrike">
              <a:solidFill>
                <a:srgbClr val="000000"/>
              </a:solidFill>
              <a:latin typeface="Arial"/>
              <a:ea typeface="Arial"/>
              <a:cs typeface="Arial"/>
              <a:sym typeface="Arial"/>
            </a:endParaRPr>
          </a:p>
        </p:txBody>
      </p:sp>
      <p:sp>
        <p:nvSpPr>
          <p:cNvPr id="249" name="Google Shape;249;g27454347a1c_0_160"/>
          <p:cNvSpPr txBox="1"/>
          <p:nvPr/>
        </p:nvSpPr>
        <p:spPr>
          <a:xfrm>
            <a:off x="2849800" y="22641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2</a:t>
            </a:r>
            <a:endParaRPr b="1" i="0" sz="2500" u="none" cap="none" strike="noStrike">
              <a:solidFill>
                <a:srgbClr val="000000"/>
              </a:solidFill>
              <a:latin typeface="Arial"/>
              <a:ea typeface="Arial"/>
              <a:cs typeface="Arial"/>
              <a:sym typeface="Arial"/>
            </a:endParaRPr>
          </a:p>
        </p:txBody>
      </p:sp>
      <p:sp>
        <p:nvSpPr>
          <p:cNvPr id="250" name="Google Shape;250;g27454347a1c_0_160"/>
          <p:cNvSpPr txBox="1"/>
          <p:nvPr/>
        </p:nvSpPr>
        <p:spPr>
          <a:xfrm>
            <a:off x="5084475" y="22641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8</a:t>
            </a:r>
            <a:endParaRPr b="1" i="0" sz="2500" u="none" cap="none" strike="noStrike">
              <a:solidFill>
                <a:srgbClr val="000000"/>
              </a:solidFill>
              <a:latin typeface="Arial"/>
              <a:ea typeface="Arial"/>
              <a:cs typeface="Arial"/>
              <a:sym typeface="Arial"/>
            </a:endParaRPr>
          </a:p>
        </p:txBody>
      </p:sp>
      <p:sp>
        <p:nvSpPr>
          <p:cNvPr id="251" name="Google Shape;251;g27454347a1c_0_160"/>
          <p:cNvSpPr txBox="1"/>
          <p:nvPr/>
        </p:nvSpPr>
        <p:spPr>
          <a:xfrm>
            <a:off x="6989475" y="22641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1</a:t>
            </a:r>
            <a:endParaRPr b="1" i="0" sz="2500" u="none" cap="none" strike="noStrike">
              <a:solidFill>
                <a:srgbClr val="000000"/>
              </a:solidFill>
              <a:latin typeface="Arial"/>
              <a:ea typeface="Arial"/>
              <a:cs typeface="Arial"/>
              <a:sym typeface="Arial"/>
            </a:endParaRPr>
          </a:p>
        </p:txBody>
      </p:sp>
      <p:sp>
        <p:nvSpPr>
          <p:cNvPr id="252" name="Google Shape;252;g27454347a1c_0_160"/>
          <p:cNvSpPr txBox="1"/>
          <p:nvPr/>
        </p:nvSpPr>
        <p:spPr>
          <a:xfrm>
            <a:off x="6050200" y="22641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50</a:t>
            </a:r>
            <a:endParaRPr b="1" i="0" sz="2500" u="none" cap="none" strike="noStrike">
              <a:solidFill>
                <a:srgbClr val="000000"/>
              </a:solidFill>
              <a:latin typeface="Arial"/>
              <a:ea typeface="Arial"/>
              <a:cs typeface="Arial"/>
              <a:sym typeface="Arial"/>
            </a:endParaRPr>
          </a:p>
        </p:txBody>
      </p:sp>
      <p:sp>
        <p:nvSpPr>
          <p:cNvPr id="253" name="Google Shape;253;g27454347a1c_0_160"/>
          <p:cNvSpPr txBox="1"/>
          <p:nvPr/>
        </p:nvSpPr>
        <p:spPr>
          <a:xfrm>
            <a:off x="4678600" y="31785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20</a:t>
            </a:r>
            <a:endParaRPr b="1" i="0" sz="2500" u="none" cap="none" strike="noStrike">
              <a:solidFill>
                <a:srgbClr val="000000"/>
              </a:solidFill>
              <a:latin typeface="Arial"/>
              <a:ea typeface="Arial"/>
              <a:cs typeface="Arial"/>
              <a:sym typeface="Arial"/>
            </a:endParaRPr>
          </a:p>
        </p:txBody>
      </p:sp>
      <p:sp>
        <p:nvSpPr>
          <p:cNvPr id="254" name="Google Shape;254;g27454347a1c_0_160"/>
          <p:cNvSpPr txBox="1"/>
          <p:nvPr/>
        </p:nvSpPr>
        <p:spPr>
          <a:xfrm>
            <a:off x="5516800" y="31785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50</a:t>
            </a:r>
            <a:endParaRPr b="1" i="0" sz="2500" u="none" cap="none" strike="noStrike">
              <a:solidFill>
                <a:srgbClr val="000000"/>
              </a:solidFill>
              <a:latin typeface="Arial"/>
              <a:ea typeface="Arial"/>
              <a:cs typeface="Arial"/>
              <a:sym typeface="Arial"/>
            </a:endParaRPr>
          </a:p>
        </p:txBody>
      </p:sp>
      <p:sp>
        <p:nvSpPr>
          <p:cNvPr id="255" name="Google Shape;255;g27454347a1c_0_160"/>
          <p:cNvSpPr txBox="1"/>
          <p:nvPr/>
        </p:nvSpPr>
        <p:spPr>
          <a:xfrm>
            <a:off x="4754800" y="42453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70</a:t>
            </a:r>
            <a:endParaRPr b="1" i="0" sz="2500" u="none" cap="none" strike="noStrike">
              <a:solidFill>
                <a:srgbClr val="000000"/>
              </a:solidFill>
              <a:latin typeface="Arial"/>
              <a:ea typeface="Arial"/>
              <a:cs typeface="Arial"/>
              <a:sym typeface="Arial"/>
            </a:endParaRPr>
          </a:p>
        </p:txBody>
      </p:sp>
      <p:sp>
        <p:nvSpPr>
          <p:cNvPr id="256" name="Google Shape;256;g27454347a1c_0_160"/>
          <p:cNvSpPr txBox="1"/>
          <p:nvPr/>
        </p:nvSpPr>
        <p:spPr>
          <a:xfrm>
            <a:off x="6355000" y="31785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70</a:t>
            </a:r>
            <a:endParaRPr b="1" i="0" sz="2500" u="none" cap="none" strike="noStrike">
              <a:solidFill>
                <a:srgbClr val="000000"/>
              </a:solidFill>
              <a:latin typeface="Arial"/>
              <a:ea typeface="Arial"/>
              <a:cs typeface="Arial"/>
              <a:sym typeface="Arial"/>
            </a:endParaRPr>
          </a:p>
        </p:txBody>
      </p:sp>
      <p:sp>
        <p:nvSpPr>
          <p:cNvPr id="257" name="Google Shape;257;g27454347a1c_0_160"/>
          <p:cNvSpPr txBox="1"/>
          <p:nvPr/>
        </p:nvSpPr>
        <p:spPr>
          <a:xfrm>
            <a:off x="5541675" y="37119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1</a:t>
            </a:r>
            <a:endParaRPr b="1" i="0" sz="2500" u="none" cap="none" strike="noStrike">
              <a:solidFill>
                <a:srgbClr val="000000"/>
              </a:solidFill>
              <a:latin typeface="Arial"/>
              <a:ea typeface="Arial"/>
              <a:cs typeface="Arial"/>
              <a:sym typeface="Arial"/>
            </a:endParaRPr>
          </a:p>
        </p:txBody>
      </p:sp>
      <p:sp>
        <p:nvSpPr>
          <p:cNvPr id="258" name="Google Shape;258;g27454347a1c_0_160"/>
          <p:cNvSpPr txBox="1"/>
          <p:nvPr/>
        </p:nvSpPr>
        <p:spPr>
          <a:xfrm>
            <a:off x="4703475" y="37119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8</a:t>
            </a:r>
            <a:endParaRPr b="1" i="0" sz="2500" u="none" cap="none" strike="noStrike">
              <a:solidFill>
                <a:srgbClr val="000000"/>
              </a:solidFill>
              <a:latin typeface="Arial"/>
              <a:ea typeface="Arial"/>
              <a:cs typeface="Arial"/>
              <a:sym typeface="Arial"/>
            </a:endParaRPr>
          </a:p>
        </p:txBody>
      </p:sp>
      <p:sp>
        <p:nvSpPr>
          <p:cNvPr id="259" name="Google Shape;259;g27454347a1c_0_160"/>
          <p:cNvSpPr txBox="1"/>
          <p:nvPr/>
        </p:nvSpPr>
        <p:spPr>
          <a:xfrm>
            <a:off x="6379875" y="36357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9</a:t>
            </a:r>
            <a:endParaRPr b="1" i="0" sz="2500" u="none" cap="none" strike="noStrike">
              <a:solidFill>
                <a:srgbClr val="000000"/>
              </a:solidFill>
              <a:latin typeface="Arial"/>
              <a:ea typeface="Arial"/>
              <a:cs typeface="Arial"/>
              <a:sym typeface="Arial"/>
            </a:endParaRPr>
          </a:p>
        </p:txBody>
      </p:sp>
      <p:sp>
        <p:nvSpPr>
          <p:cNvPr id="260" name="Google Shape;260;g27454347a1c_0_160"/>
          <p:cNvSpPr txBox="1"/>
          <p:nvPr/>
        </p:nvSpPr>
        <p:spPr>
          <a:xfrm>
            <a:off x="5541675" y="42453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9</a:t>
            </a:r>
            <a:endParaRPr b="1" i="0" sz="2500" u="none" cap="none" strike="noStrike">
              <a:solidFill>
                <a:srgbClr val="000000"/>
              </a:solidFill>
              <a:latin typeface="Arial"/>
              <a:ea typeface="Arial"/>
              <a:cs typeface="Arial"/>
              <a:sym typeface="Arial"/>
            </a:endParaRPr>
          </a:p>
        </p:txBody>
      </p:sp>
      <p:sp>
        <p:nvSpPr>
          <p:cNvPr id="261" name="Google Shape;261;g27454347a1c_0_160"/>
          <p:cNvSpPr txBox="1"/>
          <p:nvPr/>
        </p:nvSpPr>
        <p:spPr>
          <a:xfrm>
            <a:off x="8412400" y="22641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80</a:t>
            </a:r>
            <a:endParaRPr b="1" i="0" sz="2500" u="none" cap="none" strike="noStrike">
              <a:solidFill>
                <a:srgbClr val="000000"/>
              </a:solidFill>
              <a:latin typeface="Arial"/>
              <a:ea typeface="Arial"/>
              <a:cs typeface="Arial"/>
              <a:sym typeface="Arial"/>
            </a:endParaRPr>
          </a:p>
        </p:txBody>
      </p:sp>
      <p:sp>
        <p:nvSpPr>
          <p:cNvPr id="262" name="Google Shape;262;g27454347a1c_0_160"/>
          <p:cNvSpPr txBox="1"/>
          <p:nvPr/>
        </p:nvSpPr>
        <p:spPr>
          <a:xfrm>
            <a:off x="6379875" y="41691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79</a:t>
            </a:r>
            <a:endParaRPr b="1" i="0" sz="2500" u="none" cap="none" strike="noStrike">
              <a:solidFill>
                <a:srgbClr val="000000"/>
              </a:solidFill>
              <a:latin typeface="Arial"/>
              <a:ea typeface="Arial"/>
              <a:cs typeface="Arial"/>
              <a:sym typeface="Arial"/>
            </a:endParaRPr>
          </a:p>
        </p:txBody>
      </p:sp>
      <p:sp>
        <p:nvSpPr>
          <p:cNvPr id="263" name="Google Shape;263;g27454347a1c_0_160"/>
          <p:cNvSpPr txBox="1"/>
          <p:nvPr/>
        </p:nvSpPr>
        <p:spPr>
          <a:xfrm>
            <a:off x="10241200" y="22641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20</a:t>
            </a:r>
            <a:endParaRPr b="1" i="0" sz="2500" u="none" cap="none" strike="noStrike">
              <a:solidFill>
                <a:srgbClr val="000000"/>
              </a:solidFill>
              <a:latin typeface="Arial"/>
              <a:ea typeface="Arial"/>
              <a:cs typeface="Arial"/>
              <a:sym typeface="Arial"/>
            </a:endParaRPr>
          </a:p>
        </p:txBody>
      </p:sp>
      <p:sp>
        <p:nvSpPr>
          <p:cNvPr id="264" name="Google Shape;264;g27454347a1c_0_160"/>
          <p:cNvSpPr txBox="1"/>
          <p:nvPr/>
        </p:nvSpPr>
        <p:spPr>
          <a:xfrm>
            <a:off x="9174400" y="22641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2</a:t>
            </a:r>
            <a:endParaRPr b="1" i="0" sz="2500" u="none" cap="none" strike="noStrike">
              <a:solidFill>
                <a:srgbClr val="000000"/>
              </a:solidFill>
              <a:latin typeface="Arial"/>
              <a:ea typeface="Arial"/>
              <a:cs typeface="Arial"/>
              <a:sym typeface="Arial"/>
            </a:endParaRPr>
          </a:p>
        </p:txBody>
      </p:sp>
      <p:sp>
        <p:nvSpPr>
          <p:cNvPr id="265" name="Google Shape;265;g27454347a1c_0_160"/>
          <p:cNvSpPr txBox="1"/>
          <p:nvPr/>
        </p:nvSpPr>
        <p:spPr>
          <a:xfrm>
            <a:off x="11003200" y="22641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4</a:t>
            </a:r>
            <a:endParaRPr b="1" i="0" sz="2500" u="none" cap="none" strike="noStrike">
              <a:solidFill>
                <a:srgbClr val="000000"/>
              </a:solidFill>
              <a:latin typeface="Arial"/>
              <a:ea typeface="Arial"/>
              <a:cs typeface="Arial"/>
              <a:sym typeface="Arial"/>
            </a:endParaRPr>
          </a:p>
        </p:txBody>
      </p:sp>
      <p:sp>
        <p:nvSpPr>
          <p:cNvPr id="266" name="Google Shape;266;g27454347a1c_0_160"/>
          <p:cNvSpPr txBox="1"/>
          <p:nvPr/>
        </p:nvSpPr>
        <p:spPr>
          <a:xfrm>
            <a:off x="9707800" y="37119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4</a:t>
            </a:r>
            <a:endParaRPr b="1" i="0" sz="2500" u="none" cap="none" strike="noStrike">
              <a:solidFill>
                <a:srgbClr val="000000"/>
              </a:solidFill>
              <a:latin typeface="Arial"/>
              <a:ea typeface="Arial"/>
              <a:cs typeface="Arial"/>
              <a:sym typeface="Arial"/>
            </a:endParaRPr>
          </a:p>
        </p:txBody>
      </p:sp>
      <p:sp>
        <p:nvSpPr>
          <p:cNvPr id="267" name="Google Shape;267;g27454347a1c_0_160"/>
          <p:cNvSpPr txBox="1"/>
          <p:nvPr/>
        </p:nvSpPr>
        <p:spPr>
          <a:xfrm>
            <a:off x="8793400" y="31785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80</a:t>
            </a:r>
            <a:endParaRPr b="1" i="0" sz="2500" u="none" cap="none" strike="noStrike">
              <a:solidFill>
                <a:srgbClr val="000000"/>
              </a:solidFill>
              <a:latin typeface="Arial"/>
              <a:ea typeface="Arial"/>
              <a:cs typeface="Arial"/>
              <a:sym typeface="Arial"/>
            </a:endParaRPr>
          </a:p>
        </p:txBody>
      </p:sp>
      <p:sp>
        <p:nvSpPr>
          <p:cNvPr id="268" name="Google Shape;268;g27454347a1c_0_160"/>
          <p:cNvSpPr txBox="1"/>
          <p:nvPr/>
        </p:nvSpPr>
        <p:spPr>
          <a:xfrm>
            <a:off x="9707800" y="31785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20</a:t>
            </a:r>
            <a:endParaRPr b="1" i="0" sz="2500" u="none" cap="none" strike="noStrike">
              <a:solidFill>
                <a:srgbClr val="000000"/>
              </a:solidFill>
              <a:latin typeface="Arial"/>
              <a:ea typeface="Arial"/>
              <a:cs typeface="Arial"/>
              <a:sym typeface="Arial"/>
            </a:endParaRPr>
          </a:p>
        </p:txBody>
      </p:sp>
      <p:sp>
        <p:nvSpPr>
          <p:cNvPr id="269" name="Google Shape;269;g27454347a1c_0_160"/>
          <p:cNvSpPr txBox="1"/>
          <p:nvPr/>
        </p:nvSpPr>
        <p:spPr>
          <a:xfrm>
            <a:off x="8793400" y="37119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2</a:t>
            </a:r>
            <a:endParaRPr b="1" i="0" sz="2500" u="none" cap="none" strike="noStrike">
              <a:solidFill>
                <a:srgbClr val="000000"/>
              </a:solidFill>
              <a:latin typeface="Arial"/>
              <a:ea typeface="Arial"/>
              <a:cs typeface="Arial"/>
              <a:sym typeface="Arial"/>
            </a:endParaRPr>
          </a:p>
        </p:txBody>
      </p:sp>
      <p:sp>
        <p:nvSpPr>
          <p:cNvPr id="270" name="Google Shape;270;g27454347a1c_0_160"/>
          <p:cNvSpPr txBox="1"/>
          <p:nvPr/>
        </p:nvSpPr>
        <p:spPr>
          <a:xfrm>
            <a:off x="10393600" y="3178500"/>
            <a:ext cx="7284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100</a:t>
            </a:r>
            <a:endParaRPr b="1" i="0" sz="2500" u="none" cap="none" strike="noStrike">
              <a:solidFill>
                <a:srgbClr val="000000"/>
              </a:solidFill>
              <a:latin typeface="Arial"/>
              <a:ea typeface="Arial"/>
              <a:cs typeface="Arial"/>
              <a:sym typeface="Arial"/>
            </a:endParaRPr>
          </a:p>
        </p:txBody>
      </p:sp>
      <p:sp>
        <p:nvSpPr>
          <p:cNvPr id="271" name="Google Shape;271;g27454347a1c_0_160"/>
          <p:cNvSpPr txBox="1"/>
          <p:nvPr/>
        </p:nvSpPr>
        <p:spPr>
          <a:xfrm>
            <a:off x="10546000" y="37119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6</a:t>
            </a:r>
            <a:endParaRPr b="1" i="0" sz="2500" u="none" cap="none" strike="noStrike">
              <a:solidFill>
                <a:srgbClr val="000000"/>
              </a:solidFill>
              <a:latin typeface="Arial"/>
              <a:ea typeface="Arial"/>
              <a:cs typeface="Arial"/>
              <a:sym typeface="Arial"/>
            </a:endParaRPr>
          </a:p>
        </p:txBody>
      </p:sp>
      <p:sp>
        <p:nvSpPr>
          <p:cNvPr id="272" name="Google Shape;272;g27454347a1c_0_160"/>
          <p:cNvSpPr txBox="1"/>
          <p:nvPr/>
        </p:nvSpPr>
        <p:spPr>
          <a:xfrm>
            <a:off x="8641000" y="4245300"/>
            <a:ext cx="7284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100</a:t>
            </a:r>
            <a:endParaRPr b="1" i="0" sz="2500" u="none" cap="none" strike="noStrike">
              <a:solidFill>
                <a:srgbClr val="000000"/>
              </a:solidFill>
              <a:latin typeface="Arial"/>
              <a:ea typeface="Arial"/>
              <a:cs typeface="Arial"/>
              <a:sym typeface="Arial"/>
            </a:endParaRPr>
          </a:p>
        </p:txBody>
      </p:sp>
      <p:sp>
        <p:nvSpPr>
          <p:cNvPr id="273" name="Google Shape;273;g27454347a1c_0_160"/>
          <p:cNvSpPr txBox="1"/>
          <p:nvPr/>
        </p:nvSpPr>
        <p:spPr>
          <a:xfrm>
            <a:off x="10393600" y="4169100"/>
            <a:ext cx="7284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106</a:t>
            </a:r>
            <a:endParaRPr b="1" i="0" sz="2500" u="none" cap="none" strike="noStrike">
              <a:solidFill>
                <a:srgbClr val="000000"/>
              </a:solidFill>
              <a:latin typeface="Arial"/>
              <a:ea typeface="Arial"/>
              <a:cs typeface="Arial"/>
              <a:sym typeface="Arial"/>
            </a:endParaRPr>
          </a:p>
        </p:txBody>
      </p:sp>
      <p:sp>
        <p:nvSpPr>
          <p:cNvPr id="274" name="Google Shape;274;g27454347a1c_0_160"/>
          <p:cNvSpPr txBox="1"/>
          <p:nvPr/>
        </p:nvSpPr>
        <p:spPr>
          <a:xfrm>
            <a:off x="9707800" y="4245300"/>
            <a:ext cx="460500" cy="5388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s-ES" sz="2300" u="none" cap="none" strike="noStrike">
                <a:solidFill>
                  <a:srgbClr val="000000"/>
                </a:solidFill>
                <a:latin typeface="Patrick Hand"/>
                <a:ea typeface="Patrick Hand"/>
                <a:cs typeface="Patrick Hand"/>
                <a:sym typeface="Patrick Hand"/>
              </a:rPr>
              <a:t>6</a:t>
            </a:r>
            <a:endParaRPr b="1" i="0" sz="2500" u="none" cap="none" strike="noStrike">
              <a:solidFill>
                <a:srgbClr val="000000"/>
              </a:solidFill>
              <a:latin typeface="Arial"/>
              <a:ea typeface="Arial"/>
              <a:cs typeface="Arial"/>
              <a:sym typeface="Arial"/>
            </a:endParaRPr>
          </a:p>
        </p:txBody>
      </p:sp>
      <p:pic>
        <p:nvPicPr>
          <p:cNvPr id="275" name="Google Shape;275;g27454347a1c_0_160"/>
          <p:cNvPicPr preferRelativeResize="0"/>
          <p:nvPr/>
        </p:nvPicPr>
        <p:blipFill>
          <a:blip r:embed="rId4">
            <a:alphaModFix/>
          </a:blip>
          <a:stretch>
            <a:fillRect/>
          </a:stretch>
        </p:blipFill>
        <p:spPr>
          <a:xfrm>
            <a:off x="10906875" y="52346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3315f45590f_0_87"/>
          <p:cNvSpPr txBox="1"/>
          <p:nvPr>
            <p:ph type="title"/>
          </p:nvPr>
        </p:nvSpPr>
        <p:spPr>
          <a:xfrm>
            <a:off x="415600" y="593367"/>
            <a:ext cx="11360700" cy="7635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281" name="Google Shape;281;g3315f45590f_0_87"/>
          <p:cNvSpPr txBox="1"/>
          <p:nvPr>
            <p:ph idx="1" type="body"/>
          </p:nvPr>
        </p:nvSpPr>
        <p:spPr>
          <a:xfrm>
            <a:off x="415600" y="1536633"/>
            <a:ext cx="11360700" cy="4555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282" name="Google Shape;282;g3315f45590f_0_8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83" name="Google Shape;283;g3315f45590f_0_87"/>
          <p:cNvSpPr txBox="1"/>
          <p:nvPr/>
        </p:nvSpPr>
        <p:spPr>
          <a:xfrm>
            <a:off x="183700" y="559475"/>
            <a:ext cx="109518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4200">
                <a:solidFill>
                  <a:schemeClr val="lt1"/>
                </a:solidFill>
                <a:highlight>
                  <a:srgbClr val="009287"/>
                </a:highlight>
                <a:latin typeface="Patrick Hand"/>
                <a:ea typeface="Patrick Hand"/>
                <a:cs typeface="Patrick Hand"/>
                <a:sym typeface="Patrick Hand"/>
              </a:rPr>
              <a:t>Unidades, decenas y centenas</a:t>
            </a:r>
            <a:endParaRPr/>
          </a:p>
        </p:txBody>
      </p:sp>
      <p:sp>
        <p:nvSpPr>
          <p:cNvPr id="284" name="Google Shape;284;g3315f45590f_0_87"/>
          <p:cNvSpPr txBox="1"/>
          <p:nvPr/>
        </p:nvSpPr>
        <p:spPr>
          <a:xfrm>
            <a:off x="620050" y="1274425"/>
            <a:ext cx="10951800" cy="6834300"/>
          </a:xfrm>
          <a:prstGeom prst="rect">
            <a:avLst/>
          </a:prstGeom>
          <a:noFill/>
          <a:ln>
            <a:noFill/>
          </a:ln>
        </p:spPr>
        <p:txBody>
          <a:bodyPr anchorCtr="0" anchor="t" bIns="91425" lIns="91425" spcFirstLastPara="1" rIns="91425" wrap="square" tIns="91425">
            <a:spAutoFit/>
          </a:bodyPr>
          <a:lstStyle/>
          <a:p>
            <a:pPr indent="-400050" lvl="0" marL="457200" rtl="0" algn="l">
              <a:spcBef>
                <a:spcPts val="0"/>
              </a:spcBef>
              <a:spcAft>
                <a:spcPts val="0"/>
              </a:spcAft>
              <a:buClr>
                <a:schemeClr val="dk1"/>
              </a:buClr>
              <a:buSzPts val="2700"/>
              <a:buFont typeface="Patrick Hand"/>
              <a:buChar char="●"/>
            </a:pPr>
            <a:r>
              <a:rPr lang="es-ES" sz="2700">
                <a:solidFill>
                  <a:schemeClr val="dk1"/>
                </a:solidFill>
                <a:latin typeface="Patrick Hand"/>
                <a:ea typeface="Patrick Hand"/>
                <a:cs typeface="Patrick Hand"/>
                <a:sym typeface="Patrick Hand"/>
              </a:rPr>
              <a:t>Los siguientes ejercicios de esta unidad trabajan los conceptos centenas y redondeo. Si tienen problemas pueden encontrar videos explicativos en estos enlaces: </a:t>
            </a:r>
            <a:endParaRPr sz="2700">
              <a:solidFill>
                <a:schemeClr val="dk1"/>
              </a:solidFill>
              <a:latin typeface="Patrick Hand"/>
              <a:ea typeface="Patrick Hand"/>
              <a:cs typeface="Patrick Hand"/>
              <a:sym typeface="Patrick Hand"/>
            </a:endParaRPr>
          </a:p>
          <a:p>
            <a:pPr indent="0" lvl="0" marL="457200" rtl="0" algn="l">
              <a:spcBef>
                <a:spcPts val="0"/>
              </a:spcBef>
              <a:spcAft>
                <a:spcPts val="0"/>
              </a:spcAft>
              <a:buNone/>
            </a:pPr>
            <a:r>
              <a:rPr lang="es-ES" sz="2700">
                <a:solidFill>
                  <a:schemeClr val="dk1"/>
                </a:solidFill>
                <a:latin typeface="Patrick Hand"/>
                <a:ea typeface="Patrick Hand"/>
                <a:cs typeface="Patrick Hand"/>
                <a:sym typeface="Patrick Hand"/>
              </a:rPr>
              <a:t>Concepto de centena, decena y unidad: </a:t>
            </a:r>
            <a:r>
              <a:rPr lang="es-ES" sz="2700" u="sng">
                <a:solidFill>
                  <a:schemeClr val="hlink"/>
                </a:solidFill>
                <a:latin typeface="Patrick Hand"/>
                <a:ea typeface="Patrick Hand"/>
                <a:cs typeface="Patrick Hand"/>
                <a:sym typeface="Patrick Hand"/>
                <a:hlinkClick r:id="rId4"/>
              </a:rPr>
              <a:t>https://youtu.be/4CWTFtHcW0Q</a:t>
            </a:r>
            <a:endParaRPr sz="27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ES" sz="2700">
                <a:solidFill>
                  <a:schemeClr val="dk1"/>
                </a:solidFill>
                <a:latin typeface="Patrick Hand"/>
                <a:ea typeface="Patrick Hand"/>
                <a:cs typeface="Patrick Hand"/>
                <a:sym typeface="Patrick Hand"/>
              </a:rPr>
              <a:t>      Redondear a la decena: </a:t>
            </a:r>
            <a:r>
              <a:rPr lang="es-ES" sz="2700" u="sng">
                <a:solidFill>
                  <a:schemeClr val="hlink"/>
                </a:solidFill>
                <a:latin typeface="Patrick Hand"/>
                <a:ea typeface="Patrick Hand"/>
                <a:cs typeface="Patrick Hand"/>
                <a:sym typeface="Patrick Hand"/>
                <a:hlinkClick r:id="rId5"/>
              </a:rPr>
              <a:t>https://youtu.be/Ju0HVFKCOxI</a:t>
            </a:r>
            <a:endParaRPr sz="2700">
              <a:solidFill>
                <a:schemeClr val="dk1"/>
              </a:solidFill>
              <a:latin typeface="Patrick Hand"/>
              <a:ea typeface="Patrick Hand"/>
              <a:cs typeface="Patrick Hand"/>
              <a:sym typeface="Patrick Hand"/>
            </a:endParaRPr>
          </a:p>
          <a:p>
            <a:pPr indent="0" lvl="0" marL="457200" rtl="0" algn="l">
              <a:spcBef>
                <a:spcPts val="0"/>
              </a:spcBef>
              <a:spcAft>
                <a:spcPts val="0"/>
              </a:spcAft>
              <a:buNone/>
            </a:pPr>
            <a:r>
              <a:rPr lang="es-ES" sz="2700">
                <a:solidFill>
                  <a:schemeClr val="dk1"/>
                </a:solidFill>
                <a:latin typeface="Patrick Hand"/>
                <a:ea typeface="Patrick Hand"/>
                <a:cs typeface="Patrick Hand"/>
                <a:sym typeface="Patrick Hand"/>
              </a:rPr>
              <a:t>Redondear a la centena: </a:t>
            </a:r>
            <a:r>
              <a:rPr lang="es-ES" sz="2700" u="sng">
                <a:solidFill>
                  <a:schemeClr val="hlink"/>
                </a:solidFill>
                <a:latin typeface="Patrick Hand"/>
                <a:ea typeface="Patrick Hand"/>
                <a:cs typeface="Patrick Hand"/>
                <a:sym typeface="Patrick Hand"/>
                <a:hlinkClick r:id="rId6"/>
              </a:rPr>
              <a:t>https://youtu.be/ZERl_Pl83KU</a:t>
            </a:r>
            <a:endParaRPr sz="2700">
              <a:solidFill>
                <a:schemeClr val="dk1"/>
              </a:solidFill>
              <a:latin typeface="Patrick Hand"/>
              <a:ea typeface="Patrick Hand"/>
              <a:cs typeface="Patrick Hand"/>
              <a:sym typeface="Patrick Hand"/>
            </a:endParaRPr>
          </a:p>
          <a:p>
            <a:pPr indent="-400050" lvl="0" marL="457200" rtl="0" algn="l">
              <a:spcBef>
                <a:spcPts val="0"/>
              </a:spcBef>
              <a:spcAft>
                <a:spcPts val="0"/>
              </a:spcAft>
              <a:buClr>
                <a:schemeClr val="dk1"/>
              </a:buClr>
              <a:buSzPts val="2700"/>
              <a:buFont typeface="Patrick Hand"/>
              <a:buChar char="●"/>
            </a:pPr>
            <a:r>
              <a:rPr lang="es-ES" sz="2700">
                <a:solidFill>
                  <a:schemeClr val="dk1"/>
                </a:solidFill>
                <a:latin typeface="Patrick Hand"/>
                <a:ea typeface="Patrick Hand"/>
                <a:cs typeface="Patrick Hand"/>
                <a:sym typeface="Patrick Hand"/>
              </a:rPr>
              <a:t>Ejercicios para practicar Centena, decena y unidad en este enlace </a:t>
            </a:r>
            <a:r>
              <a:rPr lang="es-ES" sz="2700" u="sng">
                <a:solidFill>
                  <a:schemeClr val="hlink"/>
                </a:solidFill>
                <a:latin typeface="Patrick Hand"/>
                <a:ea typeface="Patrick Hand"/>
                <a:cs typeface="Patrick Hand"/>
                <a:sym typeface="Patrick Hand"/>
                <a:hlinkClick r:id="rId7"/>
              </a:rPr>
              <a:t>https://es.khanacademy.org/math/3-primaria-lima/x18256bf9f05f96fd:resuelve-problemas-de-cantidad/x18256bf9f05f96fd:valor-posicional/e/writing-numbers-to-1000</a:t>
            </a:r>
            <a:endParaRPr sz="2700">
              <a:solidFill>
                <a:schemeClr val="dk1"/>
              </a:solidFill>
              <a:latin typeface="Patrick Hand"/>
              <a:ea typeface="Patrick Hand"/>
              <a:cs typeface="Patrick Hand"/>
              <a:sym typeface="Patrick Hand"/>
            </a:endParaRPr>
          </a:p>
          <a:p>
            <a:pPr indent="-400050" lvl="0" marL="457200" rtl="0" algn="l">
              <a:spcBef>
                <a:spcPts val="0"/>
              </a:spcBef>
              <a:spcAft>
                <a:spcPts val="0"/>
              </a:spcAft>
              <a:buClr>
                <a:schemeClr val="dk1"/>
              </a:buClr>
              <a:buSzPts val="2700"/>
              <a:buFont typeface="Patrick Hand"/>
              <a:buChar char="●"/>
            </a:pPr>
            <a:r>
              <a:rPr lang="es-ES" sz="2700">
                <a:solidFill>
                  <a:schemeClr val="dk1"/>
                </a:solidFill>
                <a:latin typeface="Patrick Hand"/>
                <a:ea typeface="Patrick Hand"/>
                <a:cs typeface="Patrick Hand"/>
                <a:sym typeface="Patrick Hand"/>
              </a:rPr>
              <a:t>Juegos para practicar </a:t>
            </a:r>
            <a:r>
              <a:rPr lang="es-ES" sz="2700" u="sng">
                <a:solidFill>
                  <a:schemeClr val="hlink"/>
                </a:solidFill>
                <a:latin typeface="Patrick Hand"/>
                <a:ea typeface="Patrick Hand"/>
                <a:cs typeface="Patrick Hand"/>
                <a:sym typeface="Patrick Hand"/>
                <a:hlinkClick r:id="rId8"/>
              </a:rPr>
              <a:t>https://mobbyt.com/videojuego/educativo/play.php?Id=86482</a:t>
            </a:r>
            <a:endParaRPr sz="27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ES" sz="2700">
                <a:solidFill>
                  <a:schemeClr val="dk1"/>
                </a:solidFill>
                <a:latin typeface="Patrick Hand"/>
                <a:ea typeface="Patrick Hand"/>
                <a:cs typeface="Patrick Hand"/>
                <a:sym typeface="Patrick Hand"/>
              </a:rPr>
              <a:t>      </a:t>
            </a:r>
            <a:r>
              <a:rPr lang="es-ES" sz="2700" u="sng">
                <a:solidFill>
                  <a:schemeClr val="hlink"/>
                </a:solidFill>
                <a:latin typeface="Patrick Hand"/>
                <a:ea typeface="Patrick Hand"/>
                <a:cs typeface="Patrick Hand"/>
                <a:sym typeface="Patrick Hand"/>
                <a:hlinkClick r:id="rId9"/>
              </a:rPr>
              <a:t>https://www.cokitos.com/carrera-de-redondeo-2-o-3-cifras/play</a:t>
            </a:r>
            <a:endParaRPr sz="2700">
              <a:solidFill>
                <a:schemeClr val="dk1"/>
              </a:solidFill>
              <a:latin typeface="Patrick Hand"/>
              <a:ea typeface="Patrick Hand"/>
              <a:cs typeface="Patrick Hand"/>
              <a:sym typeface="Patrick Hand"/>
            </a:endParaRPr>
          </a:p>
          <a:p>
            <a:pPr indent="0" lvl="0" marL="0" rtl="0" algn="l">
              <a:spcBef>
                <a:spcPts val="0"/>
              </a:spcBef>
              <a:spcAft>
                <a:spcPts val="0"/>
              </a:spcAft>
              <a:buNone/>
            </a:pPr>
            <a:r>
              <a:t/>
            </a:r>
            <a:endParaRPr sz="2700">
              <a:solidFill>
                <a:schemeClr val="dk1"/>
              </a:solidFill>
              <a:latin typeface="Patrick Hand"/>
              <a:ea typeface="Patrick Hand"/>
              <a:cs typeface="Patrick Hand"/>
              <a:sym typeface="Patrick Hand"/>
            </a:endParaRPr>
          </a:p>
          <a:p>
            <a:pPr indent="0" lvl="0" marL="457200" rtl="0" algn="l">
              <a:spcBef>
                <a:spcPts val="0"/>
              </a:spcBef>
              <a:spcAft>
                <a:spcPts val="0"/>
              </a:spcAft>
              <a:buNone/>
            </a:pPr>
            <a:r>
              <a:t/>
            </a:r>
            <a:endParaRPr sz="2700">
              <a:solidFill>
                <a:schemeClr val="dk1"/>
              </a:solidFill>
              <a:latin typeface="Patrick Hand"/>
              <a:ea typeface="Patrick Hand"/>
              <a:cs typeface="Patrick Hand"/>
              <a:sym typeface="Patrick Hand"/>
            </a:endParaRPr>
          </a:p>
          <a:p>
            <a:pPr indent="0" lvl="0" marL="457200" rtl="0" algn="l">
              <a:spcBef>
                <a:spcPts val="0"/>
              </a:spcBef>
              <a:spcAft>
                <a:spcPts val="0"/>
              </a:spcAft>
              <a:buNone/>
            </a:pPr>
            <a:r>
              <a:t/>
            </a:r>
            <a:endParaRPr sz="2700">
              <a:solidFill>
                <a:schemeClr val="dk1"/>
              </a:solidFill>
              <a:latin typeface="Patrick Hand"/>
              <a:ea typeface="Patrick Hand"/>
              <a:cs typeface="Patrick Hand"/>
              <a:sym typeface="Patrick Hand"/>
            </a:endParaRPr>
          </a:p>
          <a:p>
            <a:pPr indent="0" lvl="0" marL="457200" rtl="0" algn="l">
              <a:spcBef>
                <a:spcPts val="0"/>
              </a:spcBef>
              <a:spcAft>
                <a:spcPts val="0"/>
              </a:spcAft>
              <a:buNone/>
            </a:pPr>
            <a:r>
              <a:t/>
            </a:r>
            <a:endParaRPr sz="2700">
              <a:solidFill>
                <a:schemeClr val="dk1"/>
              </a:solidFill>
              <a:latin typeface="Patrick Hand"/>
              <a:ea typeface="Patrick Hand"/>
              <a:cs typeface="Patrick Hand"/>
              <a:sym typeface="Patrick Hand"/>
            </a:endParaRPr>
          </a:p>
        </p:txBody>
      </p:sp>
      <p:pic>
        <p:nvPicPr>
          <p:cNvPr id="285" name="Google Shape;285;g3315f45590f_0_87"/>
          <p:cNvPicPr preferRelativeResize="0"/>
          <p:nvPr/>
        </p:nvPicPr>
        <p:blipFill>
          <a:blip r:embed="rId10">
            <a:alphaModFix/>
          </a:blip>
          <a:stretch>
            <a:fillRect/>
          </a:stretch>
        </p:blipFill>
        <p:spPr>
          <a:xfrm>
            <a:off x="10906875" y="5234687"/>
            <a:ext cx="975700" cy="1029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23bf1224dec_2_61"/>
          <p:cNvSpPr txBox="1"/>
          <p:nvPr>
            <p:ph type="title"/>
          </p:nvPr>
        </p:nvSpPr>
        <p:spPr>
          <a:xfrm>
            <a:off x="554133" y="791156"/>
            <a:ext cx="15147600" cy="1017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None/>
            </a:pPr>
            <a:r>
              <a:t/>
            </a:r>
            <a:endParaRPr/>
          </a:p>
        </p:txBody>
      </p:sp>
      <p:pic>
        <p:nvPicPr>
          <p:cNvPr descr="Forma&#10;&#10;Descripción generada automáticamente con confianza media" id="291" name="Google Shape;291;g23bf1224dec_2_6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2" name="Google Shape;292;g23bf1224dec_2_61"/>
          <p:cNvSpPr txBox="1"/>
          <p:nvPr/>
        </p:nvSpPr>
        <p:spPr>
          <a:xfrm>
            <a:off x="0" y="214533"/>
            <a:ext cx="11974800" cy="17700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700"/>
              <a:buFont typeface="Arial"/>
              <a:buNone/>
            </a:pPr>
            <a:r>
              <a:rPr b="1" i="0" lang="es-ES" sz="3700" u="none" cap="none" strike="noStrike">
                <a:solidFill>
                  <a:srgbClr val="000000"/>
                </a:solidFill>
                <a:latin typeface="Patrick Hand"/>
                <a:ea typeface="Patrick Hand"/>
                <a:cs typeface="Patrick Hand"/>
                <a:sym typeface="Patrick Hand"/>
              </a:rPr>
              <a:t>Estimar una suma</a:t>
            </a:r>
            <a:endParaRPr b="1" i="0" sz="37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100"/>
              <a:buFont typeface="Arial"/>
              <a:buNone/>
            </a:pPr>
            <a:r>
              <a:rPr b="0" i="0" lang="es-ES" sz="3100" u="none" cap="none" strike="noStrike">
                <a:solidFill>
                  <a:srgbClr val="000000"/>
                </a:solidFill>
                <a:latin typeface="Patrick Hand"/>
                <a:ea typeface="Patrick Hand"/>
                <a:cs typeface="Patrick Hand"/>
                <a:sym typeface="Patrick Hand"/>
              </a:rPr>
              <a:t>Para estimar una suma primero debo redondear los números y luego puedo resolver la adición.</a:t>
            </a:r>
            <a:endParaRPr b="0" i="0" sz="3100" u="none" cap="none" strike="noStrike">
              <a:solidFill>
                <a:srgbClr val="000000"/>
              </a:solidFill>
              <a:latin typeface="Patrick Hand"/>
              <a:ea typeface="Patrick Hand"/>
              <a:cs typeface="Patrick Hand"/>
              <a:sym typeface="Patrick Hand"/>
            </a:endParaRPr>
          </a:p>
        </p:txBody>
      </p:sp>
      <p:sp>
        <p:nvSpPr>
          <p:cNvPr id="293" name="Google Shape;293;g23bf1224dec_2_61"/>
          <p:cNvSpPr txBox="1"/>
          <p:nvPr/>
        </p:nvSpPr>
        <p:spPr>
          <a:xfrm>
            <a:off x="60600" y="1803000"/>
            <a:ext cx="11974800" cy="2647500"/>
          </a:xfrm>
          <a:prstGeom prst="rect">
            <a:avLst/>
          </a:prstGeom>
          <a:noFill/>
          <a:ln>
            <a:noFill/>
          </a:ln>
        </p:spPr>
        <p:txBody>
          <a:bodyPr anchorCtr="0" anchor="t" bIns="121900" lIns="121900" spcFirstLastPara="1" rIns="121900" wrap="square" tIns="121900">
            <a:spAutoFit/>
          </a:bodyPr>
          <a:lstStyle/>
          <a:p>
            <a:pPr indent="-476250" lvl="0" marL="609600" marR="0" rtl="0" algn="l">
              <a:lnSpc>
                <a:spcPct val="100000"/>
              </a:lnSpc>
              <a:spcBef>
                <a:spcPts val="0"/>
              </a:spcBef>
              <a:spcAft>
                <a:spcPts val="0"/>
              </a:spcAft>
              <a:buClr>
                <a:srgbClr val="000000"/>
              </a:buClr>
              <a:buSzPts val="2700"/>
              <a:buFont typeface="Patrick Hand"/>
              <a:buAutoNum type="arabicPeriod"/>
            </a:pPr>
            <a:r>
              <a:rPr b="0" i="0" lang="es-ES" sz="3200" u="none" cap="none" strike="noStrike">
                <a:solidFill>
                  <a:srgbClr val="000000"/>
                </a:solidFill>
                <a:latin typeface="Patrick Hand"/>
                <a:ea typeface="Patrick Hand"/>
                <a:cs typeface="Patrick Hand"/>
                <a:sym typeface="Patrick Hand"/>
              </a:rPr>
              <a:t>Redondear a la decena:</a:t>
            </a:r>
            <a:endParaRPr b="0" i="0" sz="3200" u="none" cap="none" strike="noStrike">
              <a:solidFill>
                <a:srgbClr val="000000"/>
              </a:solidFill>
              <a:latin typeface="Patrick Hand"/>
              <a:ea typeface="Patrick Hand"/>
              <a:cs typeface="Patrick Hand"/>
              <a:sym typeface="Patrick Hand"/>
            </a:endParaRPr>
          </a:p>
          <a:p>
            <a:pPr indent="-501650" lvl="0" marL="1219200" marR="0" rtl="0" algn="l">
              <a:lnSpc>
                <a:spcPct val="100000"/>
              </a:lnSpc>
              <a:spcBef>
                <a:spcPts val="0"/>
              </a:spcBef>
              <a:spcAft>
                <a:spcPts val="0"/>
              </a:spcAft>
              <a:buClr>
                <a:srgbClr val="000000"/>
              </a:buClr>
              <a:buSzPts val="3100"/>
              <a:buFont typeface="Patrick Hand"/>
              <a:buChar char="★"/>
            </a:pPr>
            <a:r>
              <a:rPr b="0" i="0" lang="es-ES" sz="3100" u="none" cap="none" strike="noStrike">
                <a:solidFill>
                  <a:srgbClr val="000000"/>
                </a:solidFill>
                <a:latin typeface="Patrick Hand"/>
                <a:ea typeface="Patrick Hand"/>
                <a:cs typeface="Patrick Hand"/>
                <a:sym typeface="Patrick Hand"/>
              </a:rPr>
              <a:t> Cuando se me presenta una suma de 2 dígitos, debo redondear ambos n° a la decena más cercana y luego resolver la suma. </a:t>
            </a:r>
            <a:endParaRPr b="0" i="0" sz="3100" u="none" cap="none" strike="noStrike">
              <a:solidFill>
                <a:srgbClr val="000000"/>
              </a:solidFill>
              <a:latin typeface="Patrick Hand"/>
              <a:ea typeface="Patrick Hand"/>
              <a:cs typeface="Patrick Hand"/>
              <a:sym typeface="Patrick Hand"/>
            </a:endParaRPr>
          </a:p>
          <a:p>
            <a:pPr indent="-501650" lvl="0" marL="1219200" marR="0" rtl="0" algn="l">
              <a:lnSpc>
                <a:spcPct val="100000"/>
              </a:lnSpc>
              <a:spcBef>
                <a:spcPts val="0"/>
              </a:spcBef>
              <a:spcAft>
                <a:spcPts val="0"/>
              </a:spcAft>
              <a:buClr>
                <a:srgbClr val="000000"/>
              </a:buClr>
              <a:buSzPts val="3100"/>
              <a:buFont typeface="Patrick Hand"/>
              <a:buChar char="★"/>
            </a:pPr>
            <a:r>
              <a:rPr b="0" i="0" lang="es-ES" sz="3100" u="none" cap="none" strike="noStrike">
                <a:solidFill>
                  <a:srgbClr val="000000"/>
                </a:solidFill>
                <a:latin typeface="Patrick Hand"/>
                <a:ea typeface="Patrick Hand"/>
                <a:cs typeface="Patrick Hand"/>
                <a:sym typeface="Patrick Hand"/>
              </a:rPr>
              <a:t>Para redondear a la decena observamos la unidad, si es mayor o igual a 5 redondeamos a la decena mayor.</a:t>
            </a:r>
            <a:endParaRPr b="0" i="0" sz="3100" u="none" cap="none" strike="noStrike">
              <a:solidFill>
                <a:srgbClr val="000000"/>
              </a:solidFill>
              <a:latin typeface="Patrick Hand"/>
              <a:ea typeface="Patrick Hand"/>
              <a:cs typeface="Patrick Hand"/>
              <a:sym typeface="Patrick Hand"/>
            </a:endParaRPr>
          </a:p>
        </p:txBody>
      </p:sp>
      <p:sp>
        <p:nvSpPr>
          <p:cNvPr id="294" name="Google Shape;294;g23bf1224dec_2_61"/>
          <p:cNvSpPr txBox="1"/>
          <p:nvPr/>
        </p:nvSpPr>
        <p:spPr>
          <a:xfrm>
            <a:off x="2897700" y="4749033"/>
            <a:ext cx="3999900" cy="738900"/>
          </a:xfrm>
          <a:prstGeom prst="rect">
            <a:avLst/>
          </a:prstGeom>
          <a:noFill/>
          <a:ln>
            <a:noFill/>
          </a:ln>
        </p:spPr>
        <p:txBody>
          <a:bodyPr anchorCtr="0" anchor="t" bIns="121900" lIns="121900" spcFirstLastPara="1" rIns="121900" wrap="square" tIns="121900">
            <a:spAutoFit/>
          </a:bodyPr>
          <a:lstStyle/>
          <a:p>
            <a:pPr indent="60960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             68  +   23 =</a:t>
            </a:r>
            <a:endParaRPr b="0" i="0" sz="1900" u="none" cap="none" strike="noStrike">
              <a:solidFill>
                <a:srgbClr val="000000"/>
              </a:solidFill>
              <a:latin typeface="Arial"/>
              <a:ea typeface="Arial"/>
              <a:cs typeface="Arial"/>
              <a:sym typeface="Arial"/>
            </a:endParaRPr>
          </a:p>
        </p:txBody>
      </p:sp>
      <p:sp>
        <p:nvSpPr>
          <p:cNvPr id="295" name="Google Shape;295;g23bf1224dec_2_61"/>
          <p:cNvSpPr txBox="1"/>
          <p:nvPr/>
        </p:nvSpPr>
        <p:spPr>
          <a:xfrm>
            <a:off x="2999300" y="5792633"/>
            <a:ext cx="3999900" cy="738900"/>
          </a:xfrm>
          <a:prstGeom prst="rect">
            <a:avLst/>
          </a:prstGeom>
          <a:noFill/>
          <a:ln>
            <a:noFill/>
          </a:ln>
        </p:spPr>
        <p:txBody>
          <a:bodyPr anchorCtr="0" anchor="t" bIns="121900" lIns="121900" spcFirstLastPara="1" rIns="121900" wrap="square" tIns="121900">
            <a:spAutoFit/>
          </a:bodyPr>
          <a:lstStyle/>
          <a:p>
            <a:pPr indent="0" lvl="0" marL="182880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70   </a:t>
            </a:r>
            <a:endParaRPr b="0" i="0" sz="1900" u="none" cap="none" strike="noStrike">
              <a:solidFill>
                <a:srgbClr val="000000"/>
              </a:solidFill>
              <a:latin typeface="Arial"/>
              <a:ea typeface="Arial"/>
              <a:cs typeface="Arial"/>
              <a:sym typeface="Arial"/>
            </a:endParaRPr>
          </a:p>
        </p:txBody>
      </p:sp>
      <p:sp>
        <p:nvSpPr>
          <p:cNvPr id="296" name="Google Shape;296;g23bf1224dec_2_61"/>
          <p:cNvSpPr txBox="1"/>
          <p:nvPr/>
        </p:nvSpPr>
        <p:spPr>
          <a:xfrm>
            <a:off x="5785933" y="5792633"/>
            <a:ext cx="3606900" cy="738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20</a:t>
            </a:r>
            <a:endParaRPr b="0" i="0" sz="1900" u="none" cap="none" strike="noStrike">
              <a:solidFill>
                <a:srgbClr val="000000"/>
              </a:solidFill>
              <a:latin typeface="Arial"/>
              <a:ea typeface="Arial"/>
              <a:cs typeface="Arial"/>
              <a:sym typeface="Arial"/>
            </a:endParaRPr>
          </a:p>
        </p:txBody>
      </p:sp>
      <p:cxnSp>
        <p:nvCxnSpPr>
          <p:cNvPr id="297" name="Google Shape;297;g23bf1224dec_2_61"/>
          <p:cNvCxnSpPr/>
          <p:nvPr/>
        </p:nvCxnSpPr>
        <p:spPr>
          <a:xfrm>
            <a:off x="5115800" y="5152900"/>
            <a:ext cx="35700" cy="817200"/>
          </a:xfrm>
          <a:prstGeom prst="straightConnector1">
            <a:avLst/>
          </a:prstGeom>
          <a:noFill/>
          <a:ln cap="flat" cmpd="sng" w="9525">
            <a:solidFill>
              <a:srgbClr val="009287"/>
            </a:solidFill>
            <a:prstDash val="solid"/>
            <a:round/>
            <a:headEnd len="sm" w="sm" type="none"/>
            <a:tailEnd len="med" w="med" type="triangle"/>
          </a:ln>
        </p:spPr>
      </p:cxnSp>
      <p:cxnSp>
        <p:nvCxnSpPr>
          <p:cNvPr id="298" name="Google Shape;298;g23bf1224dec_2_61"/>
          <p:cNvCxnSpPr/>
          <p:nvPr/>
        </p:nvCxnSpPr>
        <p:spPr>
          <a:xfrm>
            <a:off x="6030200" y="5152900"/>
            <a:ext cx="35700" cy="817200"/>
          </a:xfrm>
          <a:prstGeom prst="straightConnector1">
            <a:avLst/>
          </a:prstGeom>
          <a:noFill/>
          <a:ln cap="flat" cmpd="sng" w="9525">
            <a:solidFill>
              <a:srgbClr val="009287"/>
            </a:solidFill>
            <a:prstDash val="solid"/>
            <a:round/>
            <a:headEnd len="sm" w="sm" type="none"/>
            <a:tailEnd len="med" w="med" type="triangle"/>
          </a:ln>
        </p:spPr>
      </p:cxnSp>
      <p:cxnSp>
        <p:nvCxnSpPr>
          <p:cNvPr id="299" name="Google Shape;299;g23bf1224dec_2_61"/>
          <p:cNvCxnSpPr/>
          <p:nvPr/>
        </p:nvCxnSpPr>
        <p:spPr>
          <a:xfrm>
            <a:off x="6687033" y="5089067"/>
            <a:ext cx="2043300" cy="0"/>
          </a:xfrm>
          <a:prstGeom prst="straightConnector1">
            <a:avLst/>
          </a:prstGeom>
          <a:noFill/>
          <a:ln cap="flat" cmpd="sng" w="19050">
            <a:solidFill>
              <a:srgbClr val="009287"/>
            </a:solidFill>
            <a:prstDash val="solid"/>
            <a:round/>
            <a:headEnd len="sm" w="sm" type="none"/>
            <a:tailEnd len="med" w="med" type="triangle"/>
          </a:ln>
        </p:spPr>
      </p:cxnSp>
      <p:sp>
        <p:nvSpPr>
          <p:cNvPr id="300" name="Google Shape;300;g23bf1224dec_2_61"/>
          <p:cNvSpPr txBox="1"/>
          <p:nvPr/>
        </p:nvSpPr>
        <p:spPr>
          <a:xfrm>
            <a:off x="8743000" y="4350267"/>
            <a:ext cx="1591200" cy="12315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    7 0</a:t>
            </a:r>
            <a:endParaRPr b="0" i="0" sz="3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  2 0</a:t>
            </a:r>
            <a:endParaRPr b="0" i="0" sz="3200" u="none" cap="none" strike="noStrike">
              <a:solidFill>
                <a:schemeClr val="dk1"/>
              </a:solidFill>
              <a:latin typeface="Patrick Hand"/>
              <a:ea typeface="Patrick Hand"/>
              <a:cs typeface="Patrick Hand"/>
              <a:sym typeface="Patrick Hand"/>
            </a:endParaRPr>
          </a:p>
        </p:txBody>
      </p:sp>
      <p:cxnSp>
        <p:nvCxnSpPr>
          <p:cNvPr id="301" name="Google Shape;301;g23bf1224dec_2_61"/>
          <p:cNvCxnSpPr/>
          <p:nvPr/>
        </p:nvCxnSpPr>
        <p:spPr>
          <a:xfrm flipH="1" rot="10800000">
            <a:off x="8628633" y="5533333"/>
            <a:ext cx="1688100" cy="17700"/>
          </a:xfrm>
          <a:prstGeom prst="straightConnector1">
            <a:avLst/>
          </a:prstGeom>
          <a:noFill/>
          <a:ln cap="flat" cmpd="sng" w="9525">
            <a:solidFill>
              <a:srgbClr val="009287"/>
            </a:solidFill>
            <a:prstDash val="solid"/>
            <a:round/>
            <a:headEnd len="sm" w="sm" type="none"/>
            <a:tailEnd len="sm" w="sm" type="none"/>
          </a:ln>
        </p:spPr>
      </p:cxnSp>
      <p:sp>
        <p:nvSpPr>
          <p:cNvPr id="302" name="Google Shape;302;g23bf1224dec_2_61"/>
          <p:cNvSpPr txBox="1"/>
          <p:nvPr/>
        </p:nvSpPr>
        <p:spPr>
          <a:xfrm>
            <a:off x="9149400" y="5533433"/>
            <a:ext cx="1177200" cy="738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9 0</a:t>
            </a:r>
            <a:endParaRPr b="0" i="0" sz="1900" u="none" cap="none" strike="noStrike">
              <a:solidFill>
                <a:srgbClr val="000000"/>
              </a:solidFill>
              <a:latin typeface="Arial"/>
              <a:ea typeface="Arial"/>
              <a:cs typeface="Arial"/>
              <a:sym typeface="Arial"/>
            </a:endParaRPr>
          </a:p>
        </p:txBody>
      </p:sp>
      <p:pic>
        <p:nvPicPr>
          <p:cNvPr id="303" name="Google Shape;303;g23bf1224dec_2_61"/>
          <p:cNvPicPr preferRelativeResize="0"/>
          <p:nvPr/>
        </p:nvPicPr>
        <p:blipFill>
          <a:blip r:embed="rId4">
            <a:alphaModFix/>
          </a:blip>
          <a:stretch>
            <a:fillRect/>
          </a:stretch>
        </p:blipFill>
        <p:spPr>
          <a:xfrm>
            <a:off x="10906875" y="5234687"/>
            <a:ext cx="975700" cy="102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23bf1224dec_2_362"/>
          <p:cNvSpPr txBox="1"/>
          <p:nvPr>
            <p:ph type="title"/>
          </p:nvPr>
        </p:nvSpPr>
        <p:spPr>
          <a:xfrm>
            <a:off x="554133" y="791156"/>
            <a:ext cx="15147600" cy="1017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None/>
            </a:pPr>
            <a:r>
              <a:t/>
            </a:r>
            <a:endParaRPr/>
          </a:p>
        </p:txBody>
      </p:sp>
      <p:sp>
        <p:nvSpPr>
          <p:cNvPr id="309" name="Google Shape;309;g23bf1224dec_2_362"/>
          <p:cNvSpPr txBox="1"/>
          <p:nvPr>
            <p:ph idx="1" type="body"/>
          </p:nvPr>
        </p:nvSpPr>
        <p:spPr>
          <a:xfrm>
            <a:off x="554133" y="2048844"/>
            <a:ext cx="15147600" cy="6073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2800"/>
              <a:buNone/>
            </a:pPr>
            <a:r>
              <a:t/>
            </a:r>
            <a:endParaRPr/>
          </a:p>
        </p:txBody>
      </p:sp>
      <p:pic>
        <p:nvPicPr>
          <p:cNvPr descr="Forma&#10;&#10;Descripción generada automáticamente con confianza media" id="310" name="Google Shape;310;g23bf1224dec_2_36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11" name="Google Shape;311;g23bf1224dec_2_362"/>
          <p:cNvSpPr txBox="1"/>
          <p:nvPr/>
        </p:nvSpPr>
        <p:spPr>
          <a:xfrm>
            <a:off x="0" y="757833"/>
            <a:ext cx="9403500" cy="6771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4000"/>
              <a:buFont typeface="Arial"/>
              <a:buNone/>
            </a:pPr>
            <a:r>
              <a:rPr b="0" i="0" lang="es-ES" sz="2800" u="none" cap="none" strike="noStrike">
                <a:solidFill>
                  <a:srgbClr val="000000"/>
                </a:solidFill>
                <a:latin typeface="Patrick Hand"/>
                <a:ea typeface="Patrick Hand"/>
                <a:cs typeface="Patrick Hand"/>
                <a:sym typeface="Patrick Hand"/>
              </a:rPr>
              <a:t>Abre tu cuaderno y resolvamos los siguientes ejercicios.</a:t>
            </a:r>
            <a:endParaRPr b="0" i="0" sz="100" u="none" cap="none" strike="noStrike">
              <a:solidFill>
                <a:srgbClr val="000000"/>
              </a:solidFill>
              <a:latin typeface="Arial"/>
              <a:ea typeface="Arial"/>
              <a:cs typeface="Arial"/>
              <a:sym typeface="Arial"/>
            </a:endParaRPr>
          </a:p>
        </p:txBody>
      </p:sp>
      <p:sp>
        <p:nvSpPr>
          <p:cNvPr id="312" name="Google Shape;312;g23bf1224dec_2_362"/>
          <p:cNvSpPr txBox="1"/>
          <p:nvPr/>
        </p:nvSpPr>
        <p:spPr>
          <a:xfrm>
            <a:off x="-70900" y="185833"/>
            <a:ext cx="3999900" cy="861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5300"/>
              <a:buFont typeface="Arial"/>
              <a:buNone/>
            </a:pPr>
            <a:r>
              <a:rPr b="0" i="0" lang="es-ES" sz="4000" u="none" cap="none" strike="noStrike">
                <a:solidFill>
                  <a:srgbClr val="000000"/>
                </a:solidFill>
                <a:latin typeface="Patrick Hand"/>
                <a:ea typeface="Patrick Hand"/>
                <a:cs typeface="Patrick Hand"/>
                <a:sym typeface="Patrick Hand"/>
              </a:rPr>
              <a:t>Ejercicios</a:t>
            </a:r>
            <a:endParaRPr b="0" i="0" sz="500" u="none" cap="none" strike="noStrike">
              <a:solidFill>
                <a:srgbClr val="000000"/>
              </a:solidFill>
              <a:latin typeface="Arial"/>
              <a:ea typeface="Arial"/>
              <a:cs typeface="Arial"/>
              <a:sym typeface="Arial"/>
            </a:endParaRPr>
          </a:p>
        </p:txBody>
      </p:sp>
      <p:sp>
        <p:nvSpPr>
          <p:cNvPr id="313" name="Google Shape;313;g23bf1224dec_2_362"/>
          <p:cNvSpPr txBox="1"/>
          <p:nvPr/>
        </p:nvSpPr>
        <p:spPr>
          <a:xfrm>
            <a:off x="415600" y="1536633"/>
            <a:ext cx="2675100" cy="738900"/>
          </a:xfrm>
          <a:prstGeom prst="rect">
            <a:avLst/>
          </a:prstGeom>
          <a:noFill/>
          <a:ln>
            <a:noFill/>
          </a:ln>
        </p:spPr>
        <p:txBody>
          <a:bodyPr anchorCtr="0" anchor="t" bIns="121900" lIns="121900" spcFirstLastPara="1" rIns="121900" wrap="square" tIns="121900">
            <a:spAutoFit/>
          </a:bodyPr>
          <a:lstStyle/>
          <a:p>
            <a:pPr indent="-508000" lvl="0" marL="609600" marR="0" rtl="0" algn="l">
              <a:lnSpc>
                <a:spcPct val="100000"/>
              </a:lnSpc>
              <a:spcBef>
                <a:spcPts val="0"/>
              </a:spcBef>
              <a:spcAft>
                <a:spcPts val="0"/>
              </a:spcAft>
              <a:buClr>
                <a:schemeClr val="dk1"/>
              </a:buClr>
              <a:buSzPts val="3200"/>
              <a:buFont typeface="Patrick Hand"/>
              <a:buChar char="★"/>
            </a:pPr>
            <a:r>
              <a:rPr b="0" i="0" lang="es-ES" sz="3200" u="none" cap="none" strike="noStrike">
                <a:solidFill>
                  <a:schemeClr val="dk1"/>
                </a:solidFill>
                <a:latin typeface="Patrick Hand"/>
                <a:ea typeface="Patrick Hand"/>
                <a:cs typeface="Patrick Hand"/>
                <a:sym typeface="Patrick Hand"/>
              </a:rPr>
              <a:t>72 +   11 =</a:t>
            </a:r>
            <a:endParaRPr b="0" i="0" sz="1900" u="none" cap="none" strike="noStrike">
              <a:solidFill>
                <a:srgbClr val="000000"/>
              </a:solidFill>
              <a:latin typeface="Arial"/>
              <a:ea typeface="Arial"/>
              <a:cs typeface="Arial"/>
              <a:sym typeface="Arial"/>
            </a:endParaRPr>
          </a:p>
        </p:txBody>
      </p:sp>
      <p:sp>
        <p:nvSpPr>
          <p:cNvPr id="314" name="Google Shape;314;g23bf1224dec_2_362"/>
          <p:cNvSpPr txBox="1"/>
          <p:nvPr/>
        </p:nvSpPr>
        <p:spPr>
          <a:xfrm>
            <a:off x="415600" y="3765233"/>
            <a:ext cx="2675100" cy="738900"/>
          </a:xfrm>
          <a:prstGeom prst="rect">
            <a:avLst/>
          </a:prstGeom>
          <a:noFill/>
          <a:ln>
            <a:noFill/>
          </a:ln>
        </p:spPr>
        <p:txBody>
          <a:bodyPr anchorCtr="0" anchor="t" bIns="121900" lIns="121900" spcFirstLastPara="1" rIns="121900" wrap="square" tIns="121900">
            <a:spAutoFit/>
          </a:bodyPr>
          <a:lstStyle/>
          <a:p>
            <a:pPr indent="-508000" lvl="0" marL="609600" marR="0" rtl="0" algn="l">
              <a:lnSpc>
                <a:spcPct val="100000"/>
              </a:lnSpc>
              <a:spcBef>
                <a:spcPts val="0"/>
              </a:spcBef>
              <a:spcAft>
                <a:spcPts val="0"/>
              </a:spcAft>
              <a:buClr>
                <a:schemeClr val="dk1"/>
              </a:buClr>
              <a:buSzPts val="3200"/>
              <a:buFont typeface="Patrick Hand"/>
              <a:buChar char="★"/>
            </a:pPr>
            <a:r>
              <a:rPr b="0" i="0" lang="es-ES" sz="3200" u="none" cap="none" strike="noStrike">
                <a:solidFill>
                  <a:schemeClr val="dk1"/>
                </a:solidFill>
                <a:latin typeface="Patrick Hand"/>
                <a:ea typeface="Patrick Hand"/>
                <a:cs typeface="Patrick Hand"/>
                <a:sym typeface="Patrick Hand"/>
              </a:rPr>
              <a:t>39  +   61=</a:t>
            </a:r>
            <a:endParaRPr b="0" i="0" sz="1900" u="none" cap="none" strike="noStrike">
              <a:solidFill>
                <a:srgbClr val="000000"/>
              </a:solidFill>
              <a:latin typeface="Arial"/>
              <a:ea typeface="Arial"/>
              <a:cs typeface="Arial"/>
              <a:sym typeface="Arial"/>
            </a:endParaRPr>
          </a:p>
        </p:txBody>
      </p:sp>
      <p:sp>
        <p:nvSpPr>
          <p:cNvPr id="315" name="Google Shape;315;g23bf1224dec_2_362"/>
          <p:cNvSpPr txBox="1"/>
          <p:nvPr/>
        </p:nvSpPr>
        <p:spPr>
          <a:xfrm>
            <a:off x="6728400" y="1536633"/>
            <a:ext cx="2675100" cy="738900"/>
          </a:xfrm>
          <a:prstGeom prst="rect">
            <a:avLst/>
          </a:prstGeom>
          <a:noFill/>
          <a:ln>
            <a:noFill/>
          </a:ln>
        </p:spPr>
        <p:txBody>
          <a:bodyPr anchorCtr="0" anchor="t" bIns="121900" lIns="121900" spcFirstLastPara="1" rIns="121900" wrap="square" tIns="121900">
            <a:spAutoFit/>
          </a:bodyPr>
          <a:lstStyle/>
          <a:p>
            <a:pPr indent="-508000" lvl="0" marL="609600" marR="0" rtl="0" algn="l">
              <a:lnSpc>
                <a:spcPct val="100000"/>
              </a:lnSpc>
              <a:spcBef>
                <a:spcPts val="0"/>
              </a:spcBef>
              <a:spcAft>
                <a:spcPts val="0"/>
              </a:spcAft>
              <a:buClr>
                <a:schemeClr val="dk1"/>
              </a:buClr>
              <a:buSzPts val="3200"/>
              <a:buFont typeface="Patrick Hand"/>
              <a:buChar char="★"/>
            </a:pPr>
            <a:r>
              <a:rPr b="0" i="0" lang="es-ES" sz="3200" u="none" cap="none" strike="noStrike">
                <a:solidFill>
                  <a:schemeClr val="dk1"/>
                </a:solidFill>
                <a:latin typeface="Patrick Hand"/>
                <a:ea typeface="Patrick Hand"/>
                <a:cs typeface="Patrick Hand"/>
                <a:sym typeface="Patrick Hand"/>
              </a:rPr>
              <a:t>58 +  26=</a:t>
            </a:r>
            <a:endParaRPr b="0" i="0" sz="1900" u="none" cap="none" strike="noStrike">
              <a:solidFill>
                <a:srgbClr val="000000"/>
              </a:solidFill>
              <a:latin typeface="Arial"/>
              <a:ea typeface="Arial"/>
              <a:cs typeface="Arial"/>
              <a:sym typeface="Arial"/>
            </a:endParaRPr>
          </a:p>
        </p:txBody>
      </p:sp>
      <p:sp>
        <p:nvSpPr>
          <p:cNvPr id="316" name="Google Shape;316;g23bf1224dec_2_362"/>
          <p:cNvSpPr txBox="1"/>
          <p:nvPr/>
        </p:nvSpPr>
        <p:spPr>
          <a:xfrm>
            <a:off x="6728400" y="3841800"/>
            <a:ext cx="2675100" cy="738900"/>
          </a:xfrm>
          <a:prstGeom prst="rect">
            <a:avLst/>
          </a:prstGeom>
          <a:noFill/>
          <a:ln>
            <a:noFill/>
          </a:ln>
        </p:spPr>
        <p:txBody>
          <a:bodyPr anchorCtr="0" anchor="t" bIns="121900" lIns="121900" spcFirstLastPara="1" rIns="121900" wrap="square" tIns="121900">
            <a:spAutoFit/>
          </a:bodyPr>
          <a:lstStyle/>
          <a:p>
            <a:pPr indent="-508000" lvl="0" marL="609600" marR="0" rtl="0" algn="l">
              <a:lnSpc>
                <a:spcPct val="100000"/>
              </a:lnSpc>
              <a:spcBef>
                <a:spcPts val="0"/>
              </a:spcBef>
              <a:spcAft>
                <a:spcPts val="0"/>
              </a:spcAft>
              <a:buClr>
                <a:schemeClr val="dk1"/>
              </a:buClr>
              <a:buSzPts val="3200"/>
              <a:buFont typeface="Patrick Hand"/>
              <a:buChar char="★"/>
            </a:pPr>
            <a:r>
              <a:rPr b="0" i="0" lang="es-ES" sz="3200" u="none" cap="none" strike="noStrike">
                <a:solidFill>
                  <a:schemeClr val="dk1"/>
                </a:solidFill>
                <a:latin typeface="Patrick Hand"/>
                <a:ea typeface="Patrick Hand"/>
                <a:cs typeface="Patrick Hand"/>
                <a:sym typeface="Patrick Hand"/>
              </a:rPr>
              <a:t>42  +  49=</a:t>
            </a:r>
            <a:endParaRPr b="0" i="0" sz="1900" u="none" cap="none" strike="noStrike">
              <a:solidFill>
                <a:srgbClr val="000000"/>
              </a:solidFill>
              <a:latin typeface="Arial"/>
              <a:ea typeface="Arial"/>
              <a:cs typeface="Arial"/>
              <a:sym typeface="Arial"/>
            </a:endParaRPr>
          </a:p>
        </p:txBody>
      </p:sp>
      <p:cxnSp>
        <p:nvCxnSpPr>
          <p:cNvPr id="317" name="Google Shape;317;g23bf1224dec_2_362"/>
          <p:cNvCxnSpPr/>
          <p:nvPr/>
        </p:nvCxnSpPr>
        <p:spPr>
          <a:xfrm>
            <a:off x="1284200" y="2099533"/>
            <a:ext cx="35700" cy="817200"/>
          </a:xfrm>
          <a:prstGeom prst="straightConnector1">
            <a:avLst/>
          </a:prstGeom>
          <a:noFill/>
          <a:ln cap="flat" cmpd="sng" w="9525">
            <a:solidFill>
              <a:srgbClr val="009287"/>
            </a:solidFill>
            <a:prstDash val="solid"/>
            <a:round/>
            <a:headEnd len="sm" w="sm" type="none"/>
            <a:tailEnd len="med" w="med" type="triangle"/>
          </a:ln>
        </p:spPr>
      </p:cxnSp>
      <p:cxnSp>
        <p:nvCxnSpPr>
          <p:cNvPr id="318" name="Google Shape;318;g23bf1224dec_2_362"/>
          <p:cNvCxnSpPr/>
          <p:nvPr/>
        </p:nvCxnSpPr>
        <p:spPr>
          <a:xfrm>
            <a:off x="2198600" y="2099533"/>
            <a:ext cx="35700" cy="817200"/>
          </a:xfrm>
          <a:prstGeom prst="straightConnector1">
            <a:avLst/>
          </a:prstGeom>
          <a:noFill/>
          <a:ln cap="flat" cmpd="sng" w="9525">
            <a:solidFill>
              <a:srgbClr val="009287"/>
            </a:solidFill>
            <a:prstDash val="solid"/>
            <a:round/>
            <a:headEnd len="sm" w="sm" type="none"/>
            <a:tailEnd len="med" w="med" type="triangle"/>
          </a:ln>
        </p:spPr>
      </p:cxnSp>
      <p:cxnSp>
        <p:nvCxnSpPr>
          <p:cNvPr id="319" name="Google Shape;319;g23bf1224dec_2_362"/>
          <p:cNvCxnSpPr/>
          <p:nvPr/>
        </p:nvCxnSpPr>
        <p:spPr>
          <a:xfrm flipH="1" rot="10800000">
            <a:off x="3731033" y="2634900"/>
            <a:ext cx="1688100" cy="17700"/>
          </a:xfrm>
          <a:prstGeom prst="straightConnector1">
            <a:avLst/>
          </a:prstGeom>
          <a:noFill/>
          <a:ln cap="flat" cmpd="sng" w="9525">
            <a:solidFill>
              <a:srgbClr val="009287"/>
            </a:solidFill>
            <a:prstDash val="solid"/>
            <a:round/>
            <a:headEnd len="sm" w="sm" type="none"/>
            <a:tailEnd len="sm" w="sm" type="none"/>
          </a:ln>
        </p:spPr>
      </p:cxnSp>
      <p:cxnSp>
        <p:nvCxnSpPr>
          <p:cNvPr id="320" name="Google Shape;320;g23bf1224dec_2_362"/>
          <p:cNvCxnSpPr/>
          <p:nvPr/>
        </p:nvCxnSpPr>
        <p:spPr>
          <a:xfrm flipH="1" rot="10800000">
            <a:off x="10288833" y="2634900"/>
            <a:ext cx="1688100" cy="17700"/>
          </a:xfrm>
          <a:prstGeom prst="straightConnector1">
            <a:avLst/>
          </a:prstGeom>
          <a:noFill/>
          <a:ln cap="flat" cmpd="sng" w="9525">
            <a:solidFill>
              <a:srgbClr val="009287"/>
            </a:solidFill>
            <a:prstDash val="solid"/>
            <a:round/>
            <a:headEnd len="sm" w="sm" type="none"/>
            <a:tailEnd len="sm" w="sm" type="none"/>
          </a:ln>
        </p:spPr>
      </p:cxnSp>
      <p:cxnSp>
        <p:nvCxnSpPr>
          <p:cNvPr id="321" name="Google Shape;321;g23bf1224dec_2_362"/>
          <p:cNvCxnSpPr/>
          <p:nvPr/>
        </p:nvCxnSpPr>
        <p:spPr>
          <a:xfrm>
            <a:off x="7616967" y="2099533"/>
            <a:ext cx="35700" cy="817200"/>
          </a:xfrm>
          <a:prstGeom prst="straightConnector1">
            <a:avLst/>
          </a:prstGeom>
          <a:noFill/>
          <a:ln cap="flat" cmpd="sng" w="9525">
            <a:solidFill>
              <a:srgbClr val="009287"/>
            </a:solidFill>
            <a:prstDash val="solid"/>
            <a:round/>
            <a:headEnd len="sm" w="sm" type="none"/>
            <a:tailEnd len="med" w="med" type="triangle"/>
          </a:ln>
        </p:spPr>
      </p:cxnSp>
      <p:cxnSp>
        <p:nvCxnSpPr>
          <p:cNvPr id="322" name="Google Shape;322;g23bf1224dec_2_362"/>
          <p:cNvCxnSpPr/>
          <p:nvPr/>
        </p:nvCxnSpPr>
        <p:spPr>
          <a:xfrm>
            <a:off x="8601933" y="2099533"/>
            <a:ext cx="35700" cy="817200"/>
          </a:xfrm>
          <a:prstGeom prst="straightConnector1">
            <a:avLst/>
          </a:prstGeom>
          <a:noFill/>
          <a:ln cap="flat" cmpd="sng" w="9525">
            <a:solidFill>
              <a:srgbClr val="009287"/>
            </a:solidFill>
            <a:prstDash val="solid"/>
            <a:round/>
            <a:headEnd len="sm" w="sm" type="none"/>
            <a:tailEnd len="med" w="med" type="triangle"/>
          </a:ln>
        </p:spPr>
      </p:cxnSp>
      <p:cxnSp>
        <p:nvCxnSpPr>
          <p:cNvPr id="323" name="Google Shape;323;g23bf1224dec_2_362"/>
          <p:cNvCxnSpPr/>
          <p:nvPr/>
        </p:nvCxnSpPr>
        <p:spPr>
          <a:xfrm>
            <a:off x="1319800" y="4290367"/>
            <a:ext cx="35700" cy="817200"/>
          </a:xfrm>
          <a:prstGeom prst="straightConnector1">
            <a:avLst/>
          </a:prstGeom>
          <a:noFill/>
          <a:ln cap="flat" cmpd="sng" w="9525">
            <a:solidFill>
              <a:srgbClr val="009287"/>
            </a:solidFill>
            <a:prstDash val="solid"/>
            <a:round/>
            <a:headEnd len="sm" w="sm" type="none"/>
            <a:tailEnd len="med" w="med" type="triangle"/>
          </a:ln>
        </p:spPr>
      </p:cxnSp>
      <p:cxnSp>
        <p:nvCxnSpPr>
          <p:cNvPr id="324" name="Google Shape;324;g23bf1224dec_2_362"/>
          <p:cNvCxnSpPr/>
          <p:nvPr/>
        </p:nvCxnSpPr>
        <p:spPr>
          <a:xfrm>
            <a:off x="2163000" y="4303133"/>
            <a:ext cx="35700" cy="817200"/>
          </a:xfrm>
          <a:prstGeom prst="straightConnector1">
            <a:avLst/>
          </a:prstGeom>
          <a:noFill/>
          <a:ln cap="flat" cmpd="sng" w="9525">
            <a:solidFill>
              <a:srgbClr val="009287"/>
            </a:solidFill>
            <a:prstDash val="solid"/>
            <a:round/>
            <a:headEnd len="sm" w="sm" type="none"/>
            <a:tailEnd len="med" w="med" type="triangle"/>
          </a:ln>
        </p:spPr>
      </p:cxnSp>
      <p:cxnSp>
        <p:nvCxnSpPr>
          <p:cNvPr id="325" name="Google Shape;325;g23bf1224dec_2_362"/>
          <p:cNvCxnSpPr/>
          <p:nvPr/>
        </p:nvCxnSpPr>
        <p:spPr>
          <a:xfrm>
            <a:off x="7616967" y="4412500"/>
            <a:ext cx="35700" cy="817200"/>
          </a:xfrm>
          <a:prstGeom prst="straightConnector1">
            <a:avLst/>
          </a:prstGeom>
          <a:noFill/>
          <a:ln cap="flat" cmpd="sng" w="9525">
            <a:solidFill>
              <a:srgbClr val="009287"/>
            </a:solidFill>
            <a:prstDash val="solid"/>
            <a:round/>
            <a:headEnd len="sm" w="sm" type="none"/>
            <a:tailEnd len="med" w="med" type="triangle"/>
          </a:ln>
        </p:spPr>
      </p:cxnSp>
      <p:cxnSp>
        <p:nvCxnSpPr>
          <p:cNvPr id="326" name="Google Shape;326;g23bf1224dec_2_362"/>
          <p:cNvCxnSpPr/>
          <p:nvPr/>
        </p:nvCxnSpPr>
        <p:spPr>
          <a:xfrm>
            <a:off x="8601933" y="4412500"/>
            <a:ext cx="35700" cy="817200"/>
          </a:xfrm>
          <a:prstGeom prst="straightConnector1">
            <a:avLst/>
          </a:prstGeom>
          <a:noFill/>
          <a:ln cap="flat" cmpd="sng" w="9525">
            <a:solidFill>
              <a:srgbClr val="009287"/>
            </a:solidFill>
            <a:prstDash val="solid"/>
            <a:round/>
            <a:headEnd len="sm" w="sm" type="none"/>
            <a:tailEnd len="med" w="med" type="triangle"/>
          </a:ln>
        </p:spPr>
      </p:cxnSp>
      <p:cxnSp>
        <p:nvCxnSpPr>
          <p:cNvPr id="327" name="Google Shape;327;g23bf1224dec_2_362"/>
          <p:cNvCxnSpPr/>
          <p:nvPr/>
        </p:nvCxnSpPr>
        <p:spPr>
          <a:xfrm flipH="1" rot="10800000">
            <a:off x="3731033" y="4690067"/>
            <a:ext cx="1688100" cy="17700"/>
          </a:xfrm>
          <a:prstGeom prst="straightConnector1">
            <a:avLst/>
          </a:prstGeom>
          <a:noFill/>
          <a:ln cap="flat" cmpd="sng" w="9525">
            <a:solidFill>
              <a:srgbClr val="009287"/>
            </a:solidFill>
            <a:prstDash val="solid"/>
            <a:round/>
            <a:headEnd len="sm" w="sm" type="none"/>
            <a:tailEnd len="sm" w="sm" type="none"/>
          </a:ln>
        </p:spPr>
      </p:cxnSp>
      <p:cxnSp>
        <p:nvCxnSpPr>
          <p:cNvPr id="328" name="Google Shape;328;g23bf1224dec_2_362"/>
          <p:cNvCxnSpPr/>
          <p:nvPr/>
        </p:nvCxnSpPr>
        <p:spPr>
          <a:xfrm flipH="1" rot="10800000">
            <a:off x="10288833" y="4503933"/>
            <a:ext cx="1688100" cy="17700"/>
          </a:xfrm>
          <a:prstGeom prst="straightConnector1">
            <a:avLst/>
          </a:prstGeom>
          <a:noFill/>
          <a:ln cap="flat" cmpd="sng" w="9525">
            <a:solidFill>
              <a:srgbClr val="009287"/>
            </a:solidFill>
            <a:prstDash val="solid"/>
            <a:round/>
            <a:headEnd len="sm" w="sm" type="none"/>
            <a:tailEnd len="sm" w="sm" type="none"/>
          </a:ln>
        </p:spPr>
      </p:cxnSp>
      <p:sp>
        <p:nvSpPr>
          <p:cNvPr id="329" name="Google Shape;329;g23bf1224dec_2_362"/>
          <p:cNvSpPr txBox="1"/>
          <p:nvPr/>
        </p:nvSpPr>
        <p:spPr>
          <a:xfrm>
            <a:off x="1012700" y="2913500"/>
            <a:ext cx="2675100" cy="738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70 +   10=</a:t>
            </a:r>
            <a:endParaRPr b="0" i="0" sz="1900" u="none" cap="none" strike="noStrike">
              <a:solidFill>
                <a:srgbClr val="000000"/>
              </a:solidFill>
              <a:latin typeface="Arial"/>
              <a:ea typeface="Arial"/>
              <a:cs typeface="Arial"/>
              <a:sym typeface="Arial"/>
            </a:endParaRPr>
          </a:p>
        </p:txBody>
      </p:sp>
      <p:sp>
        <p:nvSpPr>
          <p:cNvPr id="330" name="Google Shape;330;g23bf1224dec_2_362"/>
          <p:cNvSpPr txBox="1"/>
          <p:nvPr/>
        </p:nvSpPr>
        <p:spPr>
          <a:xfrm>
            <a:off x="3779433" y="1536633"/>
            <a:ext cx="1591200" cy="12315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    7 0</a:t>
            </a:r>
            <a:endParaRPr b="0" i="0" sz="3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  1 0</a:t>
            </a:r>
            <a:endParaRPr b="0" i="0" sz="3200" u="none" cap="none" strike="noStrike">
              <a:solidFill>
                <a:schemeClr val="dk1"/>
              </a:solidFill>
              <a:latin typeface="Patrick Hand"/>
              <a:ea typeface="Patrick Hand"/>
              <a:cs typeface="Patrick Hand"/>
              <a:sym typeface="Patrick Hand"/>
            </a:endParaRPr>
          </a:p>
        </p:txBody>
      </p:sp>
      <p:sp>
        <p:nvSpPr>
          <p:cNvPr id="331" name="Google Shape;331;g23bf1224dec_2_362"/>
          <p:cNvSpPr txBox="1"/>
          <p:nvPr/>
        </p:nvSpPr>
        <p:spPr>
          <a:xfrm>
            <a:off x="4146600" y="2693200"/>
            <a:ext cx="1110300" cy="738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8 0</a:t>
            </a:r>
            <a:endParaRPr b="0" i="0" sz="1900" u="none" cap="none" strike="noStrike">
              <a:solidFill>
                <a:srgbClr val="000000"/>
              </a:solidFill>
              <a:latin typeface="Arial"/>
              <a:ea typeface="Arial"/>
              <a:cs typeface="Arial"/>
              <a:sym typeface="Arial"/>
            </a:endParaRPr>
          </a:p>
        </p:txBody>
      </p:sp>
      <p:sp>
        <p:nvSpPr>
          <p:cNvPr id="332" name="Google Shape;332;g23bf1224dec_2_362"/>
          <p:cNvSpPr txBox="1"/>
          <p:nvPr/>
        </p:nvSpPr>
        <p:spPr>
          <a:xfrm>
            <a:off x="7515367" y="2974567"/>
            <a:ext cx="2675100" cy="738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60 +  30=</a:t>
            </a:r>
            <a:endParaRPr b="0" i="0" sz="1900" u="none" cap="none" strike="noStrike">
              <a:solidFill>
                <a:srgbClr val="000000"/>
              </a:solidFill>
              <a:latin typeface="Arial"/>
              <a:ea typeface="Arial"/>
              <a:cs typeface="Arial"/>
              <a:sym typeface="Arial"/>
            </a:endParaRPr>
          </a:p>
        </p:txBody>
      </p:sp>
      <p:sp>
        <p:nvSpPr>
          <p:cNvPr id="333" name="Google Shape;333;g23bf1224dec_2_362"/>
          <p:cNvSpPr txBox="1"/>
          <p:nvPr/>
        </p:nvSpPr>
        <p:spPr>
          <a:xfrm>
            <a:off x="10337233" y="1536633"/>
            <a:ext cx="1591200" cy="12315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    6 0</a:t>
            </a:r>
            <a:endParaRPr b="0" i="0" sz="3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   3 0</a:t>
            </a:r>
            <a:endParaRPr b="0" i="0" sz="3200" u="none" cap="none" strike="noStrike">
              <a:solidFill>
                <a:schemeClr val="dk1"/>
              </a:solidFill>
              <a:latin typeface="Patrick Hand"/>
              <a:ea typeface="Patrick Hand"/>
              <a:cs typeface="Patrick Hand"/>
              <a:sym typeface="Patrick Hand"/>
            </a:endParaRPr>
          </a:p>
        </p:txBody>
      </p:sp>
      <p:sp>
        <p:nvSpPr>
          <p:cNvPr id="334" name="Google Shape;334;g23bf1224dec_2_362"/>
          <p:cNvSpPr txBox="1"/>
          <p:nvPr/>
        </p:nvSpPr>
        <p:spPr>
          <a:xfrm>
            <a:off x="10767600" y="2561100"/>
            <a:ext cx="1110300" cy="738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9 0</a:t>
            </a:r>
            <a:endParaRPr b="0" i="0" sz="1900" u="none" cap="none" strike="noStrike">
              <a:solidFill>
                <a:srgbClr val="000000"/>
              </a:solidFill>
              <a:latin typeface="Arial"/>
              <a:ea typeface="Arial"/>
              <a:cs typeface="Arial"/>
              <a:sym typeface="Arial"/>
            </a:endParaRPr>
          </a:p>
        </p:txBody>
      </p:sp>
      <p:sp>
        <p:nvSpPr>
          <p:cNvPr id="335" name="Google Shape;335;g23bf1224dec_2_362"/>
          <p:cNvSpPr txBox="1"/>
          <p:nvPr/>
        </p:nvSpPr>
        <p:spPr>
          <a:xfrm>
            <a:off x="1082000" y="5029167"/>
            <a:ext cx="2675100" cy="738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40 +   60=</a:t>
            </a:r>
            <a:endParaRPr b="0" i="0" sz="1900" u="none" cap="none" strike="noStrike">
              <a:solidFill>
                <a:srgbClr val="000000"/>
              </a:solidFill>
              <a:latin typeface="Arial"/>
              <a:ea typeface="Arial"/>
              <a:cs typeface="Arial"/>
              <a:sym typeface="Arial"/>
            </a:endParaRPr>
          </a:p>
        </p:txBody>
      </p:sp>
      <p:sp>
        <p:nvSpPr>
          <p:cNvPr id="336" name="Google Shape;336;g23bf1224dec_2_362"/>
          <p:cNvSpPr txBox="1"/>
          <p:nvPr/>
        </p:nvSpPr>
        <p:spPr>
          <a:xfrm>
            <a:off x="3881033" y="3574200"/>
            <a:ext cx="1591200" cy="12315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    4 0</a:t>
            </a:r>
            <a:endParaRPr b="0" i="0" sz="3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  6 0</a:t>
            </a:r>
            <a:endParaRPr b="0" i="0" sz="3200" u="none" cap="none" strike="noStrike">
              <a:solidFill>
                <a:schemeClr val="dk1"/>
              </a:solidFill>
              <a:latin typeface="Patrick Hand"/>
              <a:ea typeface="Patrick Hand"/>
              <a:cs typeface="Patrick Hand"/>
              <a:sym typeface="Patrick Hand"/>
            </a:endParaRPr>
          </a:p>
        </p:txBody>
      </p:sp>
      <p:sp>
        <p:nvSpPr>
          <p:cNvPr id="337" name="Google Shape;337;g23bf1224dec_2_362"/>
          <p:cNvSpPr txBox="1"/>
          <p:nvPr/>
        </p:nvSpPr>
        <p:spPr>
          <a:xfrm>
            <a:off x="4050833" y="4522000"/>
            <a:ext cx="1307700" cy="738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1 0 0</a:t>
            </a:r>
            <a:endParaRPr b="0" i="0" sz="1900" u="none" cap="none" strike="noStrike">
              <a:solidFill>
                <a:srgbClr val="000000"/>
              </a:solidFill>
              <a:latin typeface="Arial"/>
              <a:ea typeface="Arial"/>
              <a:cs typeface="Arial"/>
              <a:sym typeface="Arial"/>
            </a:endParaRPr>
          </a:p>
        </p:txBody>
      </p:sp>
      <p:sp>
        <p:nvSpPr>
          <p:cNvPr id="338" name="Google Shape;338;g23bf1224dec_2_362"/>
          <p:cNvSpPr txBox="1"/>
          <p:nvPr/>
        </p:nvSpPr>
        <p:spPr>
          <a:xfrm>
            <a:off x="7431700" y="5120333"/>
            <a:ext cx="2675100" cy="738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40 +   50=</a:t>
            </a:r>
            <a:endParaRPr b="0" i="0" sz="1900" u="none" cap="none" strike="noStrike">
              <a:solidFill>
                <a:srgbClr val="000000"/>
              </a:solidFill>
              <a:latin typeface="Arial"/>
              <a:ea typeface="Arial"/>
              <a:cs typeface="Arial"/>
              <a:sym typeface="Arial"/>
            </a:endParaRPr>
          </a:p>
        </p:txBody>
      </p:sp>
      <p:sp>
        <p:nvSpPr>
          <p:cNvPr id="339" name="Google Shape;339;g23bf1224dec_2_362"/>
          <p:cNvSpPr txBox="1"/>
          <p:nvPr/>
        </p:nvSpPr>
        <p:spPr>
          <a:xfrm>
            <a:off x="10438833" y="3429000"/>
            <a:ext cx="1591200" cy="12315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    4 0</a:t>
            </a:r>
            <a:endParaRPr b="0" i="0" sz="3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  5 0</a:t>
            </a:r>
            <a:endParaRPr b="0" i="0" sz="3200" u="none" cap="none" strike="noStrike">
              <a:solidFill>
                <a:schemeClr val="dk1"/>
              </a:solidFill>
              <a:latin typeface="Patrick Hand"/>
              <a:ea typeface="Patrick Hand"/>
              <a:cs typeface="Patrick Hand"/>
              <a:sym typeface="Patrick Hand"/>
            </a:endParaRPr>
          </a:p>
        </p:txBody>
      </p:sp>
      <p:sp>
        <p:nvSpPr>
          <p:cNvPr id="340" name="Google Shape;340;g23bf1224dec_2_362"/>
          <p:cNvSpPr txBox="1"/>
          <p:nvPr/>
        </p:nvSpPr>
        <p:spPr>
          <a:xfrm>
            <a:off x="10875000" y="4504033"/>
            <a:ext cx="1110300" cy="738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9 0</a:t>
            </a:r>
            <a:endParaRPr b="0" i="0" sz="1900" u="none" cap="none" strike="noStrike">
              <a:solidFill>
                <a:srgbClr val="000000"/>
              </a:solidFill>
              <a:latin typeface="Arial"/>
              <a:ea typeface="Arial"/>
              <a:cs typeface="Arial"/>
              <a:sym typeface="Arial"/>
            </a:endParaRPr>
          </a:p>
        </p:txBody>
      </p:sp>
      <p:pic>
        <p:nvPicPr>
          <p:cNvPr id="341" name="Google Shape;341;g23bf1224dec_2_362"/>
          <p:cNvPicPr preferRelativeResize="0"/>
          <p:nvPr/>
        </p:nvPicPr>
        <p:blipFill>
          <a:blip r:embed="rId4">
            <a:alphaModFix/>
          </a:blip>
          <a:stretch>
            <a:fillRect/>
          </a:stretch>
        </p:blipFill>
        <p:spPr>
          <a:xfrm>
            <a:off x="10906875" y="52346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g23bf1224dec_2_217"/>
          <p:cNvSpPr txBox="1"/>
          <p:nvPr>
            <p:ph type="title"/>
          </p:nvPr>
        </p:nvSpPr>
        <p:spPr>
          <a:xfrm>
            <a:off x="554133" y="791156"/>
            <a:ext cx="15147600" cy="1017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None/>
            </a:pPr>
            <a:r>
              <a:t/>
            </a:r>
            <a:endParaRPr/>
          </a:p>
        </p:txBody>
      </p:sp>
      <p:sp>
        <p:nvSpPr>
          <p:cNvPr id="347" name="Google Shape;347;g23bf1224dec_2_217"/>
          <p:cNvSpPr txBox="1"/>
          <p:nvPr>
            <p:ph idx="1" type="body"/>
          </p:nvPr>
        </p:nvSpPr>
        <p:spPr>
          <a:xfrm>
            <a:off x="554133" y="2048844"/>
            <a:ext cx="15147600" cy="6073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2800"/>
              <a:buNone/>
            </a:pPr>
            <a:r>
              <a:t/>
            </a:r>
            <a:endParaRPr/>
          </a:p>
        </p:txBody>
      </p:sp>
      <p:pic>
        <p:nvPicPr>
          <p:cNvPr descr="Forma&#10;&#10;Descripción generada automáticamente con confianza media" id="348" name="Google Shape;348;g23bf1224dec_2_2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9" name="Google Shape;349;g23bf1224dec_2_217"/>
          <p:cNvSpPr txBox="1"/>
          <p:nvPr/>
        </p:nvSpPr>
        <p:spPr>
          <a:xfrm>
            <a:off x="0" y="316133"/>
            <a:ext cx="11974800" cy="12930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700"/>
              <a:buFont typeface="Arial"/>
              <a:buNone/>
            </a:pPr>
            <a:r>
              <a:rPr b="1" i="0" lang="es-ES" sz="3700" u="none" cap="none" strike="noStrike">
                <a:solidFill>
                  <a:srgbClr val="000000"/>
                </a:solidFill>
                <a:latin typeface="Patrick Hand"/>
                <a:ea typeface="Patrick Hand"/>
                <a:cs typeface="Patrick Hand"/>
                <a:sym typeface="Patrick Hand"/>
              </a:rPr>
              <a:t>Estimar una suma</a:t>
            </a:r>
            <a:endParaRPr b="1" i="0" sz="37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100"/>
              <a:buFont typeface="Arial"/>
              <a:buNone/>
            </a:pPr>
            <a:r>
              <a:t/>
            </a:r>
            <a:endParaRPr b="0" i="0" sz="3100" u="none" cap="none" strike="noStrike">
              <a:solidFill>
                <a:srgbClr val="000000"/>
              </a:solidFill>
              <a:latin typeface="Patrick Hand"/>
              <a:ea typeface="Patrick Hand"/>
              <a:cs typeface="Patrick Hand"/>
              <a:sym typeface="Patrick Hand"/>
            </a:endParaRPr>
          </a:p>
        </p:txBody>
      </p:sp>
      <p:sp>
        <p:nvSpPr>
          <p:cNvPr id="350" name="Google Shape;350;g23bf1224dec_2_217"/>
          <p:cNvSpPr txBox="1"/>
          <p:nvPr/>
        </p:nvSpPr>
        <p:spPr>
          <a:xfrm>
            <a:off x="0" y="1028633"/>
            <a:ext cx="11974800" cy="26937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2</a:t>
            </a:r>
            <a:r>
              <a:rPr b="0" i="0" lang="es-ES" sz="3200" u="none" cap="none" strike="noStrike">
                <a:solidFill>
                  <a:srgbClr val="000000"/>
                </a:solidFill>
                <a:latin typeface="Patrick Hand"/>
                <a:ea typeface="Patrick Hand"/>
                <a:cs typeface="Patrick Hand"/>
                <a:sym typeface="Patrick Hand"/>
              </a:rPr>
              <a:t>.     Redondear a la centena:</a:t>
            </a:r>
            <a:endParaRPr b="0" i="0" sz="3200" u="none" cap="none" strike="noStrike">
              <a:solidFill>
                <a:srgbClr val="000000"/>
              </a:solidFill>
              <a:latin typeface="Patrick Hand"/>
              <a:ea typeface="Patrick Hand"/>
              <a:cs typeface="Patrick Hand"/>
              <a:sym typeface="Patrick Hand"/>
            </a:endParaRPr>
          </a:p>
          <a:p>
            <a:pPr indent="-508000" lvl="0" marL="1828800" marR="0" rtl="0" algn="l">
              <a:lnSpc>
                <a:spcPct val="100000"/>
              </a:lnSpc>
              <a:spcBef>
                <a:spcPts val="0"/>
              </a:spcBef>
              <a:spcAft>
                <a:spcPts val="0"/>
              </a:spcAft>
              <a:buClr>
                <a:srgbClr val="000000"/>
              </a:buClr>
              <a:buSzPts val="3200"/>
              <a:buFont typeface="Patrick Hand"/>
              <a:buChar char="★"/>
            </a:pPr>
            <a:r>
              <a:rPr b="0" i="0" lang="es-ES" sz="3200" u="none" cap="none" strike="noStrike">
                <a:solidFill>
                  <a:srgbClr val="000000"/>
                </a:solidFill>
                <a:latin typeface="Patrick Hand"/>
                <a:ea typeface="Patrick Hand"/>
                <a:cs typeface="Patrick Hand"/>
                <a:sym typeface="Patrick Hand"/>
              </a:rPr>
              <a:t> Cuando se me presenta una suma de 3 dígitos, puedo redondear ambos n° a la centena más cercana y luego resolver la resta. </a:t>
            </a:r>
            <a:endParaRPr b="0" i="0" sz="3200" u="none" cap="none" strike="noStrike">
              <a:solidFill>
                <a:srgbClr val="000000"/>
              </a:solidFill>
              <a:latin typeface="Patrick Hand"/>
              <a:ea typeface="Patrick Hand"/>
              <a:cs typeface="Patrick Hand"/>
              <a:sym typeface="Patrick Hand"/>
            </a:endParaRPr>
          </a:p>
          <a:p>
            <a:pPr indent="-508000" lvl="0" marL="1828800" marR="0" rtl="0" algn="l">
              <a:lnSpc>
                <a:spcPct val="100000"/>
              </a:lnSpc>
              <a:spcBef>
                <a:spcPts val="0"/>
              </a:spcBef>
              <a:spcAft>
                <a:spcPts val="0"/>
              </a:spcAft>
              <a:buClr>
                <a:srgbClr val="000000"/>
              </a:buClr>
              <a:buSzPts val="3200"/>
              <a:buFont typeface="Patrick Hand"/>
              <a:buChar char="★"/>
            </a:pPr>
            <a:r>
              <a:rPr b="0" i="0" lang="es-ES" sz="3100" u="none" cap="none" strike="noStrike">
                <a:solidFill>
                  <a:schemeClr val="dk1"/>
                </a:solidFill>
                <a:latin typeface="Patrick Hand"/>
                <a:ea typeface="Patrick Hand"/>
                <a:cs typeface="Patrick Hand"/>
                <a:sym typeface="Patrick Hand"/>
              </a:rPr>
              <a:t>Para redondear a la centena observamos la decena, si es mayor o igual a 5 redondeamos a la centena mayor.</a:t>
            </a:r>
            <a:endParaRPr b="0" i="0" sz="3200" u="none" cap="none" strike="noStrike">
              <a:solidFill>
                <a:srgbClr val="000000"/>
              </a:solidFill>
              <a:latin typeface="Patrick Hand"/>
              <a:ea typeface="Patrick Hand"/>
              <a:cs typeface="Patrick Hand"/>
              <a:sym typeface="Patrick Hand"/>
            </a:endParaRPr>
          </a:p>
        </p:txBody>
      </p:sp>
      <p:sp>
        <p:nvSpPr>
          <p:cNvPr id="351" name="Google Shape;351;g23bf1224dec_2_217"/>
          <p:cNvSpPr txBox="1"/>
          <p:nvPr/>
        </p:nvSpPr>
        <p:spPr>
          <a:xfrm>
            <a:off x="4218500" y="3936233"/>
            <a:ext cx="3999900" cy="738900"/>
          </a:xfrm>
          <a:prstGeom prst="rect">
            <a:avLst/>
          </a:prstGeom>
          <a:noFill/>
          <a:ln>
            <a:noFill/>
          </a:ln>
        </p:spPr>
        <p:txBody>
          <a:bodyPr anchorCtr="0" anchor="t" bIns="121900" lIns="121900" spcFirstLastPara="1" rIns="121900" wrap="square" tIns="121900">
            <a:spAutoFit/>
          </a:bodyPr>
          <a:lstStyle/>
          <a:p>
            <a:pPr indent="60960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             671 +   194=</a:t>
            </a:r>
            <a:endParaRPr b="0" i="0" sz="1900" u="none" cap="none" strike="noStrike">
              <a:solidFill>
                <a:srgbClr val="000000"/>
              </a:solidFill>
              <a:latin typeface="Arial"/>
              <a:ea typeface="Arial"/>
              <a:cs typeface="Arial"/>
              <a:sym typeface="Arial"/>
            </a:endParaRPr>
          </a:p>
        </p:txBody>
      </p:sp>
      <p:sp>
        <p:nvSpPr>
          <p:cNvPr id="352" name="Google Shape;352;g23bf1224dec_2_217"/>
          <p:cNvSpPr txBox="1"/>
          <p:nvPr/>
        </p:nvSpPr>
        <p:spPr>
          <a:xfrm>
            <a:off x="4320100" y="5081433"/>
            <a:ext cx="3999900" cy="738900"/>
          </a:xfrm>
          <a:prstGeom prst="rect">
            <a:avLst/>
          </a:prstGeom>
          <a:noFill/>
          <a:ln>
            <a:noFill/>
          </a:ln>
        </p:spPr>
        <p:txBody>
          <a:bodyPr anchorCtr="0" anchor="t" bIns="121900" lIns="121900" spcFirstLastPara="1" rIns="121900" wrap="square" tIns="121900">
            <a:spAutoFit/>
          </a:bodyPr>
          <a:lstStyle/>
          <a:p>
            <a:pPr indent="0" lvl="0" marL="182880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700  </a:t>
            </a:r>
            <a:endParaRPr b="0" i="0" sz="1900" u="none" cap="none" strike="noStrike">
              <a:solidFill>
                <a:srgbClr val="000000"/>
              </a:solidFill>
              <a:latin typeface="Arial"/>
              <a:ea typeface="Arial"/>
              <a:cs typeface="Arial"/>
              <a:sym typeface="Arial"/>
            </a:endParaRPr>
          </a:p>
        </p:txBody>
      </p:sp>
      <p:sp>
        <p:nvSpPr>
          <p:cNvPr id="353" name="Google Shape;353;g23bf1224dec_2_217"/>
          <p:cNvSpPr txBox="1"/>
          <p:nvPr/>
        </p:nvSpPr>
        <p:spPr>
          <a:xfrm>
            <a:off x="7106733" y="5081433"/>
            <a:ext cx="3606900" cy="738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200</a:t>
            </a:r>
            <a:endParaRPr b="0" i="0" sz="1900" u="none" cap="none" strike="noStrike">
              <a:solidFill>
                <a:srgbClr val="000000"/>
              </a:solidFill>
              <a:latin typeface="Arial"/>
              <a:ea typeface="Arial"/>
              <a:cs typeface="Arial"/>
              <a:sym typeface="Arial"/>
            </a:endParaRPr>
          </a:p>
        </p:txBody>
      </p:sp>
      <p:cxnSp>
        <p:nvCxnSpPr>
          <p:cNvPr id="354" name="Google Shape;354;g23bf1224dec_2_217"/>
          <p:cNvCxnSpPr/>
          <p:nvPr/>
        </p:nvCxnSpPr>
        <p:spPr>
          <a:xfrm>
            <a:off x="6436600" y="4441700"/>
            <a:ext cx="35700" cy="817200"/>
          </a:xfrm>
          <a:prstGeom prst="straightConnector1">
            <a:avLst/>
          </a:prstGeom>
          <a:noFill/>
          <a:ln cap="flat" cmpd="sng" w="9525">
            <a:solidFill>
              <a:srgbClr val="009287"/>
            </a:solidFill>
            <a:prstDash val="solid"/>
            <a:round/>
            <a:headEnd len="sm" w="sm" type="none"/>
            <a:tailEnd len="med" w="med" type="triangle"/>
          </a:ln>
        </p:spPr>
      </p:cxnSp>
      <p:cxnSp>
        <p:nvCxnSpPr>
          <p:cNvPr id="355" name="Google Shape;355;g23bf1224dec_2_217"/>
          <p:cNvCxnSpPr/>
          <p:nvPr/>
        </p:nvCxnSpPr>
        <p:spPr>
          <a:xfrm>
            <a:off x="7351000" y="4441700"/>
            <a:ext cx="35700" cy="817200"/>
          </a:xfrm>
          <a:prstGeom prst="straightConnector1">
            <a:avLst/>
          </a:prstGeom>
          <a:noFill/>
          <a:ln cap="flat" cmpd="sng" w="9525">
            <a:solidFill>
              <a:srgbClr val="009287"/>
            </a:solidFill>
            <a:prstDash val="solid"/>
            <a:round/>
            <a:headEnd len="sm" w="sm" type="none"/>
            <a:tailEnd len="med" w="med" type="triangle"/>
          </a:ln>
        </p:spPr>
      </p:cxnSp>
      <p:cxnSp>
        <p:nvCxnSpPr>
          <p:cNvPr id="356" name="Google Shape;356;g23bf1224dec_2_217"/>
          <p:cNvCxnSpPr/>
          <p:nvPr/>
        </p:nvCxnSpPr>
        <p:spPr>
          <a:xfrm>
            <a:off x="7804633" y="4885867"/>
            <a:ext cx="2043300" cy="0"/>
          </a:xfrm>
          <a:prstGeom prst="straightConnector1">
            <a:avLst/>
          </a:prstGeom>
          <a:noFill/>
          <a:ln cap="flat" cmpd="sng" w="19050">
            <a:solidFill>
              <a:srgbClr val="009287"/>
            </a:solidFill>
            <a:prstDash val="solid"/>
            <a:round/>
            <a:headEnd len="sm" w="sm" type="none"/>
            <a:tailEnd len="med" w="med" type="triangle"/>
          </a:ln>
        </p:spPr>
      </p:cxnSp>
      <p:sp>
        <p:nvSpPr>
          <p:cNvPr id="357" name="Google Shape;357;g23bf1224dec_2_217"/>
          <p:cNvSpPr txBox="1"/>
          <p:nvPr/>
        </p:nvSpPr>
        <p:spPr>
          <a:xfrm>
            <a:off x="10063800" y="4147067"/>
            <a:ext cx="1591200" cy="12315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    70 0</a:t>
            </a:r>
            <a:endParaRPr b="0" i="0" sz="3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   20 0</a:t>
            </a:r>
            <a:endParaRPr b="0" i="0" sz="3200" u="none" cap="none" strike="noStrike">
              <a:solidFill>
                <a:schemeClr val="dk1"/>
              </a:solidFill>
              <a:latin typeface="Patrick Hand"/>
              <a:ea typeface="Patrick Hand"/>
              <a:cs typeface="Patrick Hand"/>
              <a:sym typeface="Patrick Hand"/>
            </a:endParaRPr>
          </a:p>
        </p:txBody>
      </p:sp>
      <p:cxnSp>
        <p:nvCxnSpPr>
          <p:cNvPr id="358" name="Google Shape;358;g23bf1224dec_2_217"/>
          <p:cNvCxnSpPr/>
          <p:nvPr/>
        </p:nvCxnSpPr>
        <p:spPr>
          <a:xfrm flipH="1" rot="10800000">
            <a:off x="9949433" y="5330133"/>
            <a:ext cx="1688100" cy="17700"/>
          </a:xfrm>
          <a:prstGeom prst="straightConnector1">
            <a:avLst/>
          </a:prstGeom>
          <a:noFill/>
          <a:ln cap="flat" cmpd="sng" w="9525">
            <a:solidFill>
              <a:srgbClr val="009287"/>
            </a:solidFill>
            <a:prstDash val="solid"/>
            <a:round/>
            <a:headEnd len="sm" w="sm" type="none"/>
            <a:tailEnd len="sm" w="sm" type="none"/>
          </a:ln>
        </p:spPr>
      </p:cxnSp>
      <p:sp>
        <p:nvSpPr>
          <p:cNvPr id="359" name="Google Shape;359;g23bf1224dec_2_217"/>
          <p:cNvSpPr txBox="1"/>
          <p:nvPr/>
        </p:nvSpPr>
        <p:spPr>
          <a:xfrm>
            <a:off x="10571800" y="5330233"/>
            <a:ext cx="1177200" cy="738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9 0 0</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pic>
        <p:nvPicPr>
          <p:cNvPr descr="Forma&#10;&#10;Descripción generada automáticamente con confianza media" id="364" name="Google Shape;364;g23bf1224dec_2_28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5" name="Google Shape;365;g23bf1224dec_2_280"/>
          <p:cNvSpPr txBox="1"/>
          <p:nvPr/>
        </p:nvSpPr>
        <p:spPr>
          <a:xfrm>
            <a:off x="0" y="757833"/>
            <a:ext cx="9403500" cy="6771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4000"/>
              <a:buFont typeface="Arial"/>
              <a:buNone/>
            </a:pPr>
            <a:r>
              <a:rPr b="0" i="0" lang="es-ES" sz="2800" u="none" cap="none" strike="noStrike">
                <a:solidFill>
                  <a:srgbClr val="000000"/>
                </a:solidFill>
                <a:latin typeface="Patrick Hand"/>
                <a:ea typeface="Patrick Hand"/>
                <a:cs typeface="Patrick Hand"/>
                <a:sym typeface="Patrick Hand"/>
              </a:rPr>
              <a:t>Abre tu cuaderno y resolvamos los siguientes ejercicios.</a:t>
            </a:r>
            <a:endParaRPr b="0" i="0" sz="100" u="none" cap="none" strike="noStrike">
              <a:solidFill>
                <a:srgbClr val="000000"/>
              </a:solidFill>
              <a:latin typeface="Arial"/>
              <a:ea typeface="Arial"/>
              <a:cs typeface="Arial"/>
              <a:sym typeface="Arial"/>
            </a:endParaRPr>
          </a:p>
        </p:txBody>
      </p:sp>
      <p:sp>
        <p:nvSpPr>
          <p:cNvPr id="366" name="Google Shape;366;g23bf1224dec_2_280"/>
          <p:cNvSpPr txBox="1"/>
          <p:nvPr/>
        </p:nvSpPr>
        <p:spPr>
          <a:xfrm>
            <a:off x="-70900" y="185833"/>
            <a:ext cx="3999900" cy="861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5300"/>
              <a:buFont typeface="Arial"/>
              <a:buNone/>
            </a:pPr>
            <a:r>
              <a:rPr b="0" i="0" lang="es-ES" sz="4000" u="none" cap="none" strike="noStrike">
                <a:solidFill>
                  <a:srgbClr val="000000"/>
                </a:solidFill>
                <a:latin typeface="Patrick Hand"/>
                <a:ea typeface="Patrick Hand"/>
                <a:cs typeface="Patrick Hand"/>
                <a:sym typeface="Patrick Hand"/>
              </a:rPr>
              <a:t>Ejercicios</a:t>
            </a:r>
            <a:endParaRPr b="0" i="0" sz="500" u="none" cap="none" strike="noStrike">
              <a:solidFill>
                <a:srgbClr val="000000"/>
              </a:solidFill>
              <a:latin typeface="Arial"/>
              <a:ea typeface="Arial"/>
              <a:cs typeface="Arial"/>
              <a:sym typeface="Arial"/>
            </a:endParaRPr>
          </a:p>
        </p:txBody>
      </p:sp>
      <p:sp>
        <p:nvSpPr>
          <p:cNvPr id="367" name="Google Shape;367;g23bf1224dec_2_280"/>
          <p:cNvSpPr txBox="1"/>
          <p:nvPr/>
        </p:nvSpPr>
        <p:spPr>
          <a:xfrm>
            <a:off x="415600" y="1536633"/>
            <a:ext cx="2978100" cy="738900"/>
          </a:xfrm>
          <a:prstGeom prst="rect">
            <a:avLst/>
          </a:prstGeom>
          <a:noFill/>
          <a:ln>
            <a:noFill/>
          </a:ln>
        </p:spPr>
        <p:txBody>
          <a:bodyPr anchorCtr="0" anchor="t" bIns="121900" lIns="121900" spcFirstLastPara="1" rIns="121900" wrap="square" tIns="121900">
            <a:spAutoFit/>
          </a:bodyPr>
          <a:lstStyle/>
          <a:p>
            <a:pPr indent="-508000" lvl="0" marL="609600" marR="0" rtl="0" algn="l">
              <a:lnSpc>
                <a:spcPct val="100000"/>
              </a:lnSpc>
              <a:spcBef>
                <a:spcPts val="0"/>
              </a:spcBef>
              <a:spcAft>
                <a:spcPts val="0"/>
              </a:spcAft>
              <a:buClr>
                <a:schemeClr val="dk1"/>
              </a:buClr>
              <a:buSzPts val="3200"/>
              <a:buFont typeface="Patrick Hand"/>
              <a:buChar char="★"/>
            </a:pPr>
            <a:r>
              <a:rPr b="0" i="0" lang="es-ES" sz="3200" u="none" cap="none" strike="noStrike">
                <a:solidFill>
                  <a:schemeClr val="dk1"/>
                </a:solidFill>
                <a:latin typeface="Patrick Hand"/>
                <a:ea typeface="Patrick Hand"/>
                <a:cs typeface="Patrick Hand"/>
                <a:sym typeface="Patrick Hand"/>
              </a:rPr>
              <a:t>329 +   282 =</a:t>
            </a:r>
            <a:endParaRPr b="0" i="0" sz="1900" u="none" cap="none" strike="noStrike">
              <a:solidFill>
                <a:srgbClr val="000000"/>
              </a:solidFill>
              <a:latin typeface="Arial"/>
              <a:ea typeface="Arial"/>
              <a:cs typeface="Arial"/>
              <a:sym typeface="Arial"/>
            </a:endParaRPr>
          </a:p>
        </p:txBody>
      </p:sp>
      <p:sp>
        <p:nvSpPr>
          <p:cNvPr id="368" name="Google Shape;368;g23bf1224dec_2_280"/>
          <p:cNvSpPr txBox="1"/>
          <p:nvPr/>
        </p:nvSpPr>
        <p:spPr>
          <a:xfrm>
            <a:off x="415600" y="3765233"/>
            <a:ext cx="2675100" cy="738900"/>
          </a:xfrm>
          <a:prstGeom prst="rect">
            <a:avLst/>
          </a:prstGeom>
          <a:noFill/>
          <a:ln>
            <a:noFill/>
          </a:ln>
        </p:spPr>
        <p:txBody>
          <a:bodyPr anchorCtr="0" anchor="t" bIns="121900" lIns="121900" spcFirstLastPara="1" rIns="121900" wrap="square" tIns="121900">
            <a:spAutoFit/>
          </a:bodyPr>
          <a:lstStyle/>
          <a:p>
            <a:pPr indent="-508000" lvl="0" marL="609600" marR="0" rtl="0" algn="l">
              <a:lnSpc>
                <a:spcPct val="100000"/>
              </a:lnSpc>
              <a:spcBef>
                <a:spcPts val="0"/>
              </a:spcBef>
              <a:spcAft>
                <a:spcPts val="0"/>
              </a:spcAft>
              <a:buClr>
                <a:schemeClr val="dk1"/>
              </a:buClr>
              <a:buSzPts val="3200"/>
              <a:buFont typeface="Patrick Hand"/>
              <a:buChar char="★"/>
            </a:pPr>
            <a:r>
              <a:rPr b="0" i="0" lang="es-ES" sz="3200" u="none" cap="none" strike="noStrike">
                <a:solidFill>
                  <a:schemeClr val="dk1"/>
                </a:solidFill>
                <a:latin typeface="Patrick Hand"/>
                <a:ea typeface="Patrick Hand"/>
                <a:cs typeface="Patrick Hand"/>
                <a:sym typeface="Patrick Hand"/>
              </a:rPr>
              <a:t>516 +   478=</a:t>
            </a:r>
            <a:endParaRPr b="0" i="0" sz="1900" u="none" cap="none" strike="noStrike">
              <a:solidFill>
                <a:srgbClr val="000000"/>
              </a:solidFill>
              <a:latin typeface="Arial"/>
              <a:ea typeface="Arial"/>
              <a:cs typeface="Arial"/>
              <a:sym typeface="Arial"/>
            </a:endParaRPr>
          </a:p>
        </p:txBody>
      </p:sp>
      <p:sp>
        <p:nvSpPr>
          <p:cNvPr id="369" name="Google Shape;369;g23bf1224dec_2_280"/>
          <p:cNvSpPr txBox="1"/>
          <p:nvPr/>
        </p:nvSpPr>
        <p:spPr>
          <a:xfrm>
            <a:off x="6728400" y="1536633"/>
            <a:ext cx="2978100" cy="738900"/>
          </a:xfrm>
          <a:prstGeom prst="rect">
            <a:avLst/>
          </a:prstGeom>
          <a:noFill/>
          <a:ln>
            <a:noFill/>
          </a:ln>
        </p:spPr>
        <p:txBody>
          <a:bodyPr anchorCtr="0" anchor="t" bIns="121900" lIns="121900" spcFirstLastPara="1" rIns="121900" wrap="square" tIns="121900">
            <a:spAutoFit/>
          </a:bodyPr>
          <a:lstStyle/>
          <a:p>
            <a:pPr indent="-508000" lvl="0" marL="609600" marR="0" rtl="0" algn="l">
              <a:lnSpc>
                <a:spcPct val="100000"/>
              </a:lnSpc>
              <a:spcBef>
                <a:spcPts val="0"/>
              </a:spcBef>
              <a:spcAft>
                <a:spcPts val="0"/>
              </a:spcAft>
              <a:buClr>
                <a:schemeClr val="dk1"/>
              </a:buClr>
              <a:buSzPts val="3200"/>
              <a:buFont typeface="Patrick Hand"/>
              <a:buChar char="★"/>
            </a:pPr>
            <a:r>
              <a:rPr b="0" i="0" lang="es-ES" sz="3200" u="none" cap="none" strike="noStrike">
                <a:solidFill>
                  <a:schemeClr val="dk1"/>
                </a:solidFill>
                <a:latin typeface="Patrick Hand"/>
                <a:ea typeface="Patrick Hand"/>
                <a:cs typeface="Patrick Hand"/>
                <a:sym typeface="Patrick Hand"/>
              </a:rPr>
              <a:t>197 +   220=</a:t>
            </a:r>
            <a:endParaRPr b="0" i="0" sz="1900" u="none" cap="none" strike="noStrike">
              <a:solidFill>
                <a:srgbClr val="000000"/>
              </a:solidFill>
              <a:latin typeface="Arial"/>
              <a:ea typeface="Arial"/>
              <a:cs typeface="Arial"/>
              <a:sym typeface="Arial"/>
            </a:endParaRPr>
          </a:p>
        </p:txBody>
      </p:sp>
      <p:sp>
        <p:nvSpPr>
          <p:cNvPr id="370" name="Google Shape;370;g23bf1224dec_2_280"/>
          <p:cNvSpPr txBox="1"/>
          <p:nvPr/>
        </p:nvSpPr>
        <p:spPr>
          <a:xfrm>
            <a:off x="6728400" y="3841800"/>
            <a:ext cx="2675100" cy="738900"/>
          </a:xfrm>
          <a:prstGeom prst="rect">
            <a:avLst/>
          </a:prstGeom>
          <a:noFill/>
          <a:ln>
            <a:noFill/>
          </a:ln>
        </p:spPr>
        <p:txBody>
          <a:bodyPr anchorCtr="0" anchor="t" bIns="121900" lIns="121900" spcFirstLastPara="1" rIns="121900" wrap="square" tIns="121900">
            <a:spAutoFit/>
          </a:bodyPr>
          <a:lstStyle/>
          <a:p>
            <a:pPr indent="-508000" lvl="0" marL="609600" marR="0" rtl="0" algn="l">
              <a:lnSpc>
                <a:spcPct val="100000"/>
              </a:lnSpc>
              <a:spcBef>
                <a:spcPts val="0"/>
              </a:spcBef>
              <a:spcAft>
                <a:spcPts val="0"/>
              </a:spcAft>
              <a:buClr>
                <a:schemeClr val="dk1"/>
              </a:buClr>
              <a:buSzPts val="3200"/>
              <a:buFont typeface="Patrick Hand"/>
              <a:buChar char="★"/>
            </a:pPr>
            <a:r>
              <a:rPr b="0" i="0" lang="es-ES" sz="3200" u="none" cap="none" strike="noStrike">
                <a:solidFill>
                  <a:schemeClr val="dk1"/>
                </a:solidFill>
                <a:latin typeface="Patrick Hand"/>
                <a:ea typeface="Patrick Hand"/>
                <a:cs typeface="Patrick Hand"/>
                <a:sym typeface="Patrick Hand"/>
              </a:rPr>
              <a:t>689 +  202=</a:t>
            </a:r>
            <a:endParaRPr b="0" i="0" sz="1900" u="none" cap="none" strike="noStrike">
              <a:solidFill>
                <a:srgbClr val="000000"/>
              </a:solidFill>
              <a:latin typeface="Arial"/>
              <a:ea typeface="Arial"/>
              <a:cs typeface="Arial"/>
              <a:sym typeface="Arial"/>
            </a:endParaRPr>
          </a:p>
        </p:txBody>
      </p:sp>
      <p:cxnSp>
        <p:nvCxnSpPr>
          <p:cNvPr id="371" name="Google Shape;371;g23bf1224dec_2_280"/>
          <p:cNvCxnSpPr/>
          <p:nvPr/>
        </p:nvCxnSpPr>
        <p:spPr>
          <a:xfrm>
            <a:off x="1284200" y="2099533"/>
            <a:ext cx="35700" cy="817200"/>
          </a:xfrm>
          <a:prstGeom prst="straightConnector1">
            <a:avLst/>
          </a:prstGeom>
          <a:noFill/>
          <a:ln cap="flat" cmpd="sng" w="9525">
            <a:solidFill>
              <a:srgbClr val="009287"/>
            </a:solidFill>
            <a:prstDash val="solid"/>
            <a:round/>
            <a:headEnd len="sm" w="sm" type="none"/>
            <a:tailEnd len="med" w="med" type="triangle"/>
          </a:ln>
        </p:spPr>
      </p:cxnSp>
      <p:cxnSp>
        <p:nvCxnSpPr>
          <p:cNvPr id="372" name="Google Shape;372;g23bf1224dec_2_280"/>
          <p:cNvCxnSpPr/>
          <p:nvPr/>
        </p:nvCxnSpPr>
        <p:spPr>
          <a:xfrm>
            <a:off x="2198600" y="2099533"/>
            <a:ext cx="35700" cy="817200"/>
          </a:xfrm>
          <a:prstGeom prst="straightConnector1">
            <a:avLst/>
          </a:prstGeom>
          <a:noFill/>
          <a:ln cap="flat" cmpd="sng" w="9525">
            <a:solidFill>
              <a:srgbClr val="009287"/>
            </a:solidFill>
            <a:prstDash val="solid"/>
            <a:round/>
            <a:headEnd len="sm" w="sm" type="none"/>
            <a:tailEnd len="med" w="med" type="triangle"/>
          </a:ln>
        </p:spPr>
      </p:cxnSp>
      <p:cxnSp>
        <p:nvCxnSpPr>
          <p:cNvPr id="373" name="Google Shape;373;g23bf1224dec_2_280"/>
          <p:cNvCxnSpPr/>
          <p:nvPr/>
        </p:nvCxnSpPr>
        <p:spPr>
          <a:xfrm flipH="1" rot="10800000">
            <a:off x="3731033" y="2634900"/>
            <a:ext cx="1688100" cy="17700"/>
          </a:xfrm>
          <a:prstGeom prst="straightConnector1">
            <a:avLst/>
          </a:prstGeom>
          <a:noFill/>
          <a:ln cap="flat" cmpd="sng" w="9525">
            <a:solidFill>
              <a:srgbClr val="009287"/>
            </a:solidFill>
            <a:prstDash val="solid"/>
            <a:round/>
            <a:headEnd len="sm" w="sm" type="none"/>
            <a:tailEnd len="sm" w="sm" type="none"/>
          </a:ln>
        </p:spPr>
      </p:cxnSp>
      <p:cxnSp>
        <p:nvCxnSpPr>
          <p:cNvPr id="374" name="Google Shape;374;g23bf1224dec_2_280"/>
          <p:cNvCxnSpPr/>
          <p:nvPr/>
        </p:nvCxnSpPr>
        <p:spPr>
          <a:xfrm flipH="1" rot="10800000">
            <a:off x="10288833" y="2634900"/>
            <a:ext cx="1688100" cy="17700"/>
          </a:xfrm>
          <a:prstGeom prst="straightConnector1">
            <a:avLst/>
          </a:prstGeom>
          <a:noFill/>
          <a:ln cap="flat" cmpd="sng" w="9525">
            <a:solidFill>
              <a:srgbClr val="009287"/>
            </a:solidFill>
            <a:prstDash val="solid"/>
            <a:round/>
            <a:headEnd len="sm" w="sm" type="none"/>
            <a:tailEnd len="sm" w="sm" type="none"/>
          </a:ln>
        </p:spPr>
      </p:cxnSp>
      <p:cxnSp>
        <p:nvCxnSpPr>
          <p:cNvPr id="375" name="Google Shape;375;g23bf1224dec_2_280"/>
          <p:cNvCxnSpPr/>
          <p:nvPr/>
        </p:nvCxnSpPr>
        <p:spPr>
          <a:xfrm>
            <a:off x="7616967" y="2099533"/>
            <a:ext cx="35700" cy="817200"/>
          </a:xfrm>
          <a:prstGeom prst="straightConnector1">
            <a:avLst/>
          </a:prstGeom>
          <a:noFill/>
          <a:ln cap="flat" cmpd="sng" w="9525">
            <a:solidFill>
              <a:srgbClr val="009287"/>
            </a:solidFill>
            <a:prstDash val="solid"/>
            <a:round/>
            <a:headEnd len="sm" w="sm" type="none"/>
            <a:tailEnd len="med" w="med" type="triangle"/>
          </a:ln>
        </p:spPr>
      </p:cxnSp>
      <p:cxnSp>
        <p:nvCxnSpPr>
          <p:cNvPr id="376" name="Google Shape;376;g23bf1224dec_2_280"/>
          <p:cNvCxnSpPr/>
          <p:nvPr/>
        </p:nvCxnSpPr>
        <p:spPr>
          <a:xfrm>
            <a:off x="8601933" y="2099533"/>
            <a:ext cx="35700" cy="817200"/>
          </a:xfrm>
          <a:prstGeom prst="straightConnector1">
            <a:avLst/>
          </a:prstGeom>
          <a:noFill/>
          <a:ln cap="flat" cmpd="sng" w="9525">
            <a:solidFill>
              <a:srgbClr val="009287"/>
            </a:solidFill>
            <a:prstDash val="solid"/>
            <a:round/>
            <a:headEnd len="sm" w="sm" type="none"/>
            <a:tailEnd len="med" w="med" type="triangle"/>
          </a:ln>
        </p:spPr>
      </p:cxnSp>
      <p:cxnSp>
        <p:nvCxnSpPr>
          <p:cNvPr id="377" name="Google Shape;377;g23bf1224dec_2_280"/>
          <p:cNvCxnSpPr/>
          <p:nvPr/>
        </p:nvCxnSpPr>
        <p:spPr>
          <a:xfrm>
            <a:off x="1319800" y="4290367"/>
            <a:ext cx="35700" cy="817200"/>
          </a:xfrm>
          <a:prstGeom prst="straightConnector1">
            <a:avLst/>
          </a:prstGeom>
          <a:noFill/>
          <a:ln cap="flat" cmpd="sng" w="9525">
            <a:solidFill>
              <a:srgbClr val="009287"/>
            </a:solidFill>
            <a:prstDash val="solid"/>
            <a:round/>
            <a:headEnd len="sm" w="sm" type="none"/>
            <a:tailEnd len="med" w="med" type="triangle"/>
          </a:ln>
        </p:spPr>
      </p:cxnSp>
      <p:cxnSp>
        <p:nvCxnSpPr>
          <p:cNvPr id="378" name="Google Shape;378;g23bf1224dec_2_280"/>
          <p:cNvCxnSpPr/>
          <p:nvPr/>
        </p:nvCxnSpPr>
        <p:spPr>
          <a:xfrm>
            <a:off x="2163000" y="4303133"/>
            <a:ext cx="35700" cy="817200"/>
          </a:xfrm>
          <a:prstGeom prst="straightConnector1">
            <a:avLst/>
          </a:prstGeom>
          <a:noFill/>
          <a:ln cap="flat" cmpd="sng" w="9525">
            <a:solidFill>
              <a:srgbClr val="009287"/>
            </a:solidFill>
            <a:prstDash val="solid"/>
            <a:round/>
            <a:headEnd len="sm" w="sm" type="none"/>
            <a:tailEnd len="med" w="med" type="triangle"/>
          </a:ln>
        </p:spPr>
      </p:cxnSp>
      <p:cxnSp>
        <p:nvCxnSpPr>
          <p:cNvPr id="379" name="Google Shape;379;g23bf1224dec_2_280"/>
          <p:cNvCxnSpPr/>
          <p:nvPr/>
        </p:nvCxnSpPr>
        <p:spPr>
          <a:xfrm>
            <a:off x="7616967" y="4412500"/>
            <a:ext cx="35700" cy="817200"/>
          </a:xfrm>
          <a:prstGeom prst="straightConnector1">
            <a:avLst/>
          </a:prstGeom>
          <a:noFill/>
          <a:ln cap="flat" cmpd="sng" w="9525">
            <a:solidFill>
              <a:srgbClr val="009287"/>
            </a:solidFill>
            <a:prstDash val="solid"/>
            <a:round/>
            <a:headEnd len="sm" w="sm" type="none"/>
            <a:tailEnd len="med" w="med" type="triangle"/>
          </a:ln>
        </p:spPr>
      </p:cxnSp>
      <p:cxnSp>
        <p:nvCxnSpPr>
          <p:cNvPr id="380" name="Google Shape;380;g23bf1224dec_2_280"/>
          <p:cNvCxnSpPr/>
          <p:nvPr/>
        </p:nvCxnSpPr>
        <p:spPr>
          <a:xfrm>
            <a:off x="8601933" y="4412500"/>
            <a:ext cx="35700" cy="817200"/>
          </a:xfrm>
          <a:prstGeom prst="straightConnector1">
            <a:avLst/>
          </a:prstGeom>
          <a:noFill/>
          <a:ln cap="flat" cmpd="sng" w="9525">
            <a:solidFill>
              <a:srgbClr val="009287"/>
            </a:solidFill>
            <a:prstDash val="solid"/>
            <a:round/>
            <a:headEnd len="sm" w="sm" type="none"/>
            <a:tailEnd len="med" w="med" type="triangle"/>
          </a:ln>
        </p:spPr>
      </p:cxnSp>
      <p:cxnSp>
        <p:nvCxnSpPr>
          <p:cNvPr id="381" name="Google Shape;381;g23bf1224dec_2_280"/>
          <p:cNvCxnSpPr/>
          <p:nvPr/>
        </p:nvCxnSpPr>
        <p:spPr>
          <a:xfrm flipH="1" rot="10800000">
            <a:off x="3731033" y="4690067"/>
            <a:ext cx="1688100" cy="17700"/>
          </a:xfrm>
          <a:prstGeom prst="straightConnector1">
            <a:avLst/>
          </a:prstGeom>
          <a:noFill/>
          <a:ln cap="flat" cmpd="sng" w="9525">
            <a:solidFill>
              <a:srgbClr val="009287"/>
            </a:solidFill>
            <a:prstDash val="solid"/>
            <a:round/>
            <a:headEnd len="sm" w="sm" type="none"/>
            <a:tailEnd len="sm" w="sm" type="none"/>
          </a:ln>
        </p:spPr>
      </p:cxnSp>
      <p:cxnSp>
        <p:nvCxnSpPr>
          <p:cNvPr id="382" name="Google Shape;382;g23bf1224dec_2_280"/>
          <p:cNvCxnSpPr/>
          <p:nvPr/>
        </p:nvCxnSpPr>
        <p:spPr>
          <a:xfrm flipH="1" rot="10800000">
            <a:off x="10288833" y="4503933"/>
            <a:ext cx="1688100" cy="17700"/>
          </a:xfrm>
          <a:prstGeom prst="straightConnector1">
            <a:avLst/>
          </a:prstGeom>
          <a:noFill/>
          <a:ln cap="flat" cmpd="sng" w="9525">
            <a:solidFill>
              <a:srgbClr val="009287"/>
            </a:solidFill>
            <a:prstDash val="solid"/>
            <a:round/>
            <a:headEnd len="sm" w="sm" type="none"/>
            <a:tailEnd len="sm" w="sm" type="none"/>
          </a:ln>
        </p:spPr>
      </p:cxnSp>
      <p:sp>
        <p:nvSpPr>
          <p:cNvPr id="383" name="Google Shape;383;g23bf1224dec_2_280"/>
          <p:cNvSpPr txBox="1"/>
          <p:nvPr/>
        </p:nvSpPr>
        <p:spPr>
          <a:xfrm>
            <a:off x="1012700" y="2913500"/>
            <a:ext cx="2675100" cy="738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300 +   300=</a:t>
            </a:r>
            <a:endParaRPr b="0" i="0" sz="1900" u="none" cap="none" strike="noStrike">
              <a:solidFill>
                <a:srgbClr val="000000"/>
              </a:solidFill>
              <a:latin typeface="Arial"/>
              <a:ea typeface="Arial"/>
              <a:cs typeface="Arial"/>
              <a:sym typeface="Arial"/>
            </a:endParaRPr>
          </a:p>
        </p:txBody>
      </p:sp>
      <p:sp>
        <p:nvSpPr>
          <p:cNvPr id="384" name="Google Shape;384;g23bf1224dec_2_280"/>
          <p:cNvSpPr txBox="1"/>
          <p:nvPr/>
        </p:nvSpPr>
        <p:spPr>
          <a:xfrm>
            <a:off x="3779433" y="1536633"/>
            <a:ext cx="1591200" cy="12315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    3 0 0</a:t>
            </a:r>
            <a:endParaRPr b="0" i="0" sz="3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  30 0</a:t>
            </a:r>
            <a:endParaRPr b="0" i="0" sz="3200" u="none" cap="none" strike="noStrike">
              <a:solidFill>
                <a:schemeClr val="dk1"/>
              </a:solidFill>
              <a:latin typeface="Patrick Hand"/>
              <a:ea typeface="Patrick Hand"/>
              <a:cs typeface="Patrick Hand"/>
              <a:sym typeface="Patrick Hand"/>
            </a:endParaRPr>
          </a:p>
        </p:txBody>
      </p:sp>
      <p:sp>
        <p:nvSpPr>
          <p:cNvPr id="385" name="Google Shape;385;g23bf1224dec_2_280"/>
          <p:cNvSpPr txBox="1"/>
          <p:nvPr/>
        </p:nvSpPr>
        <p:spPr>
          <a:xfrm>
            <a:off x="4146600" y="2693200"/>
            <a:ext cx="1110300" cy="738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6 0 0</a:t>
            </a:r>
            <a:endParaRPr b="0" i="0" sz="1900" u="none" cap="none" strike="noStrike">
              <a:solidFill>
                <a:srgbClr val="000000"/>
              </a:solidFill>
              <a:latin typeface="Arial"/>
              <a:ea typeface="Arial"/>
              <a:cs typeface="Arial"/>
              <a:sym typeface="Arial"/>
            </a:endParaRPr>
          </a:p>
        </p:txBody>
      </p:sp>
      <p:sp>
        <p:nvSpPr>
          <p:cNvPr id="386" name="Google Shape;386;g23bf1224dec_2_280"/>
          <p:cNvSpPr txBox="1"/>
          <p:nvPr/>
        </p:nvSpPr>
        <p:spPr>
          <a:xfrm>
            <a:off x="7515367" y="2974567"/>
            <a:ext cx="2675100" cy="738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200 + 200=</a:t>
            </a:r>
            <a:endParaRPr b="0" i="0" sz="1900" u="none" cap="none" strike="noStrike">
              <a:solidFill>
                <a:srgbClr val="000000"/>
              </a:solidFill>
              <a:latin typeface="Arial"/>
              <a:ea typeface="Arial"/>
              <a:cs typeface="Arial"/>
              <a:sym typeface="Arial"/>
            </a:endParaRPr>
          </a:p>
        </p:txBody>
      </p:sp>
      <p:sp>
        <p:nvSpPr>
          <p:cNvPr id="387" name="Google Shape;387;g23bf1224dec_2_280"/>
          <p:cNvSpPr txBox="1"/>
          <p:nvPr/>
        </p:nvSpPr>
        <p:spPr>
          <a:xfrm>
            <a:off x="10337233" y="1536633"/>
            <a:ext cx="1591200" cy="12315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    2 0 0</a:t>
            </a:r>
            <a:endParaRPr b="0" i="0" sz="3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200"/>
              <a:buFont typeface="Arial"/>
              <a:buNone/>
            </a:pPr>
            <a:r>
              <a:rPr lang="es-ES" sz="3200">
                <a:solidFill>
                  <a:schemeClr val="dk1"/>
                </a:solidFill>
                <a:latin typeface="Patrick Hand"/>
                <a:ea typeface="Patrick Hand"/>
                <a:cs typeface="Patrick Hand"/>
                <a:sym typeface="Patrick Hand"/>
              </a:rPr>
              <a:t>+</a:t>
            </a:r>
            <a:r>
              <a:rPr b="0" i="0" lang="es-ES" sz="3200" u="none" cap="none" strike="noStrike">
                <a:solidFill>
                  <a:schemeClr val="dk1"/>
                </a:solidFill>
                <a:latin typeface="Patrick Hand"/>
                <a:ea typeface="Patrick Hand"/>
                <a:cs typeface="Patrick Hand"/>
                <a:sym typeface="Patrick Hand"/>
              </a:rPr>
              <a:t>   2 0 0</a:t>
            </a:r>
            <a:endParaRPr b="0" i="0" sz="3200" u="none" cap="none" strike="noStrike">
              <a:solidFill>
                <a:schemeClr val="dk1"/>
              </a:solidFill>
              <a:latin typeface="Patrick Hand"/>
              <a:ea typeface="Patrick Hand"/>
              <a:cs typeface="Patrick Hand"/>
              <a:sym typeface="Patrick Hand"/>
            </a:endParaRPr>
          </a:p>
        </p:txBody>
      </p:sp>
      <p:sp>
        <p:nvSpPr>
          <p:cNvPr id="388" name="Google Shape;388;g23bf1224dec_2_280"/>
          <p:cNvSpPr txBox="1"/>
          <p:nvPr/>
        </p:nvSpPr>
        <p:spPr>
          <a:xfrm>
            <a:off x="10767600" y="2561100"/>
            <a:ext cx="1110300" cy="738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4 0 0</a:t>
            </a:r>
            <a:endParaRPr b="0" i="0" sz="1900" u="none" cap="none" strike="noStrike">
              <a:solidFill>
                <a:srgbClr val="000000"/>
              </a:solidFill>
              <a:latin typeface="Arial"/>
              <a:ea typeface="Arial"/>
              <a:cs typeface="Arial"/>
              <a:sym typeface="Arial"/>
            </a:endParaRPr>
          </a:p>
        </p:txBody>
      </p:sp>
      <p:sp>
        <p:nvSpPr>
          <p:cNvPr id="389" name="Google Shape;389;g23bf1224dec_2_280"/>
          <p:cNvSpPr txBox="1"/>
          <p:nvPr/>
        </p:nvSpPr>
        <p:spPr>
          <a:xfrm>
            <a:off x="1082000" y="5029167"/>
            <a:ext cx="2675100" cy="738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500 +   500=</a:t>
            </a:r>
            <a:endParaRPr b="0" i="0" sz="1900" u="none" cap="none" strike="noStrike">
              <a:solidFill>
                <a:srgbClr val="000000"/>
              </a:solidFill>
              <a:latin typeface="Arial"/>
              <a:ea typeface="Arial"/>
              <a:cs typeface="Arial"/>
              <a:sym typeface="Arial"/>
            </a:endParaRPr>
          </a:p>
        </p:txBody>
      </p:sp>
      <p:sp>
        <p:nvSpPr>
          <p:cNvPr id="390" name="Google Shape;390;g23bf1224dec_2_280"/>
          <p:cNvSpPr txBox="1"/>
          <p:nvPr/>
        </p:nvSpPr>
        <p:spPr>
          <a:xfrm>
            <a:off x="3881033" y="3574200"/>
            <a:ext cx="1591200" cy="12315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   5 0 0</a:t>
            </a:r>
            <a:endParaRPr b="0" i="0" sz="3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+ 5 0 0</a:t>
            </a:r>
            <a:endParaRPr b="0" i="0" sz="3200" u="none" cap="none" strike="noStrike">
              <a:solidFill>
                <a:schemeClr val="dk1"/>
              </a:solidFill>
              <a:latin typeface="Patrick Hand"/>
              <a:ea typeface="Patrick Hand"/>
              <a:cs typeface="Patrick Hand"/>
              <a:sym typeface="Patrick Hand"/>
            </a:endParaRPr>
          </a:p>
        </p:txBody>
      </p:sp>
      <p:sp>
        <p:nvSpPr>
          <p:cNvPr id="391" name="Google Shape;391;g23bf1224dec_2_280"/>
          <p:cNvSpPr txBox="1"/>
          <p:nvPr/>
        </p:nvSpPr>
        <p:spPr>
          <a:xfrm>
            <a:off x="3943400" y="4522000"/>
            <a:ext cx="1484700" cy="738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1 0 0 0</a:t>
            </a:r>
            <a:endParaRPr b="0" i="0" sz="1900" u="none" cap="none" strike="noStrike">
              <a:solidFill>
                <a:srgbClr val="000000"/>
              </a:solidFill>
              <a:latin typeface="Arial"/>
              <a:ea typeface="Arial"/>
              <a:cs typeface="Arial"/>
              <a:sym typeface="Arial"/>
            </a:endParaRPr>
          </a:p>
        </p:txBody>
      </p:sp>
      <p:sp>
        <p:nvSpPr>
          <p:cNvPr id="392" name="Google Shape;392;g23bf1224dec_2_280"/>
          <p:cNvSpPr txBox="1"/>
          <p:nvPr/>
        </p:nvSpPr>
        <p:spPr>
          <a:xfrm>
            <a:off x="7431700" y="5120333"/>
            <a:ext cx="2675100" cy="738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700 +   200=</a:t>
            </a:r>
            <a:endParaRPr b="0" i="0" sz="1900" u="none" cap="none" strike="noStrike">
              <a:solidFill>
                <a:srgbClr val="000000"/>
              </a:solidFill>
              <a:latin typeface="Arial"/>
              <a:ea typeface="Arial"/>
              <a:cs typeface="Arial"/>
              <a:sym typeface="Arial"/>
            </a:endParaRPr>
          </a:p>
        </p:txBody>
      </p:sp>
      <p:sp>
        <p:nvSpPr>
          <p:cNvPr id="393" name="Google Shape;393;g23bf1224dec_2_280"/>
          <p:cNvSpPr txBox="1"/>
          <p:nvPr/>
        </p:nvSpPr>
        <p:spPr>
          <a:xfrm>
            <a:off x="10438833" y="3429000"/>
            <a:ext cx="1591200" cy="12315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    7 0 0</a:t>
            </a:r>
            <a:endParaRPr b="0" i="0" sz="3200" u="none" cap="none" strike="noStrike">
              <a:solidFill>
                <a:schemeClr val="dk1"/>
              </a:solidFill>
              <a:latin typeface="Patrick Hand"/>
              <a:ea typeface="Patrick Hand"/>
              <a:cs typeface="Patrick Hand"/>
              <a:sym typeface="Patrick Hand"/>
            </a:endParaRPr>
          </a:p>
          <a:p>
            <a:pPr indent="-431800" lvl="0" marL="457200" marR="0" rtl="0" algn="l">
              <a:lnSpc>
                <a:spcPct val="100000"/>
              </a:lnSpc>
              <a:spcBef>
                <a:spcPts val="0"/>
              </a:spcBef>
              <a:spcAft>
                <a:spcPts val="0"/>
              </a:spcAft>
              <a:buClr>
                <a:schemeClr val="dk1"/>
              </a:buClr>
              <a:buSzPts val="3200"/>
              <a:buFont typeface="Patrick Hand"/>
              <a:buChar char="+"/>
            </a:pPr>
            <a:r>
              <a:rPr b="0" i="0" lang="es-ES" sz="3200" u="none" cap="none" strike="noStrike">
                <a:solidFill>
                  <a:schemeClr val="dk1"/>
                </a:solidFill>
                <a:latin typeface="Patrick Hand"/>
                <a:ea typeface="Patrick Hand"/>
                <a:cs typeface="Patrick Hand"/>
                <a:sym typeface="Patrick Hand"/>
              </a:rPr>
              <a:t>2 0 0</a:t>
            </a:r>
            <a:endParaRPr b="0" i="0" sz="3200" u="none" cap="none" strike="noStrike">
              <a:solidFill>
                <a:schemeClr val="dk1"/>
              </a:solidFill>
              <a:latin typeface="Patrick Hand"/>
              <a:ea typeface="Patrick Hand"/>
              <a:cs typeface="Patrick Hand"/>
              <a:sym typeface="Patrick Hand"/>
            </a:endParaRPr>
          </a:p>
        </p:txBody>
      </p:sp>
      <p:sp>
        <p:nvSpPr>
          <p:cNvPr id="394" name="Google Shape;394;g23bf1224dec_2_280"/>
          <p:cNvSpPr txBox="1"/>
          <p:nvPr/>
        </p:nvSpPr>
        <p:spPr>
          <a:xfrm>
            <a:off x="10925800" y="4504033"/>
            <a:ext cx="1110300" cy="738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9 0 0</a:t>
            </a:r>
            <a:endParaRPr b="0" i="0" sz="1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pic>
        <p:nvPicPr>
          <p:cNvPr descr="Forma&#10;&#10;Descripción generada automáticamente con confianza media" id="399" name="Google Shape;399;g2b51d25e598_0_0"/>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400" name="Google Shape;400;g2b51d25e598_0_0"/>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¡Resumen de hoy!</a:t>
            </a:r>
            <a:endParaRPr b="0" i="0" sz="1900" u="none" cap="none" strike="noStrike">
              <a:solidFill>
                <a:schemeClr val="lt1"/>
              </a:solidFill>
              <a:highlight>
                <a:srgbClr val="009287"/>
              </a:highlight>
              <a:latin typeface="Arial"/>
              <a:ea typeface="Arial"/>
              <a:cs typeface="Arial"/>
              <a:sym typeface="Arial"/>
            </a:endParaRPr>
          </a:p>
        </p:txBody>
      </p:sp>
      <p:sp>
        <p:nvSpPr>
          <p:cNvPr id="401" name="Google Shape;401;g2b51d25e598_0_0"/>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suma" id="402" name="Google Shape;402;g2b51d25e598_0_0" title="Resumen - Suma (4) - Descomponer y Estimar">
            <a:hlinkClick r:id="rId4"/>
          </p:cNvPr>
          <p:cNvPicPr preferRelativeResize="0"/>
          <p:nvPr/>
        </p:nvPicPr>
        <p:blipFill>
          <a:blip r:embed="rId5">
            <a:alphaModFix/>
          </a:blip>
          <a:stretch>
            <a:fillRect/>
          </a:stretch>
        </p:blipFill>
        <p:spPr>
          <a:xfrm>
            <a:off x="1788125" y="1398450"/>
            <a:ext cx="8615750" cy="4846350"/>
          </a:xfrm>
          <a:prstGeom prst="rect">
            <a:avLst/>
          </a:prstGeom>
          <a:noFill/>
          <a:ln cap="flat" cmpd="sng" w="28575">
            <a:solidFill>
              <a:schemeClr val="dk2"/>
            </a:solidFill>
            <a:prstDash val="solid"/>
            <a:round/>
            <a:headEnd len="sm" w="sm" type="none"/>
            <a:tailEnd len="sm" w="sm" type="none"/>
          </a:ln>
        </p:spPr>
      </p:pic>
      <p:pic>
        <p:nvPicPr>
          <p:cNvPr id="403" name="Google Shape;403;g2b51d25e598_0_0"/>
          <p:cNvPicPr preferRelativeResize="0"/>
          <p:nvPr/>
        </p:nvPicPr>
        <p:blipFill>
          <a:blip r:embed="rId6">
            <a:alphaModFix/>
          </a:blip>
          <a:stretch>
            <a:fillRect/>
          </a:stretch>
        </p:blipFill>
        <p:spPr>
          <a:xfrm>
            <a:off x="10906875" y="52346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1000"/>
                                        <p:tgtEl>
                                          <p:spTgt spid="4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2aed7882790_0_57"/>
          <p:cNvSpPr txBox="1"/>
          <p:nvPr/>
        </p:nvSpPr>
        <p:spPr>
          <a:xfrm>
            <a:off x="2842801" y="1268800"/>
            <a:ext cx="6506400" cy="45561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1) Descompone: 65</a:t>
            </a:r>
            <a:endParaRPr sz="32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2) Descompone: 13</a:t>
            </a:r>
            <a:endParaRPr sz="32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3) ¿Cuál es la suma de 65 y 13?</a:t>
            </a:r>
            <a:endParaRPr sz="32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t/>
            </a:r>
            <a:endParaRPr sz="32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4) Estima a la decena: 55</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None/>
            </a:pPr>
            <a:r>
              <a:rPr lang="es-ES" sz="3200">
                <a:solidFill>
                  <a:schemeClr val="dk1"/>
                </a:solidFill>
                <a:latin typeface="Patrick Hand"/>
                <a:ea typeface="Patrick Hand"/>
                <a:cs typeface="Patrick Hand"/>
                <a:sym typeface="Patrick Hand"/>
              </a:rPr>
              <a:t>5) Estima a la decena: 31</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None/>
            </a:pPr>
            <a:r>
              <a:rPr lang="es-ES" sz="3200">
                <a:solidFill>
                  <a:schemeClr val="dk1"/>
                </a:solidFill>
                <a:latin typeface="Patrick Hand"/>
                <a:ea typeface="Patrick Hand"/>
                <a:cs typeface="Patrick Hand"/>
                <a:sym typeface="Patrick Hand"/>
              </a:rPr>
              <a:t>6) Con las estimaciones, suma 55 y 31</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None/>
            </a:pPr>
            <a:r>
              <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None/>
            </a:pPr>
            <a:r>
              <a:t/>
            </a:r>
            <a:endParaRPr sz="3200">
              <a:solidFill>
                <a:schemeClr val="dk1"/>
              </a:solidFill>
              <a:latin typeface="Patrick Hand"/>
              <a:ea typeface="Patrick Hand"/>
              <a:cs typeface="Patrick Hand"/>
              <a:sym typeface="Patrick Hand"/>
            </a:endParaRPr>
          </a:p>
        </p:txBody>
      </p:sp>
      <p:sp>
        <p:nvSpPr>
          <p:cNvPr id="409" name="Google Shape;409;g2aed7882790_0_57"/>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410" name="Google Shape;410;g2aed7882790_0_57"/>
          <p:cNvSpPr txBox="1"/>
          <p:nvPr/>
        </p:nvSpPr>
        <p:spPr>
          <a:xfrm>
            <a:off x="3048016" y="5040359"/>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ES"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ES" sz="1900" u="sng">
                <a:solidFill>
                  <a:schemeClr val="hlink"/>
                </a:solidFill>
                <a:latin typeface="Calibri"/>
                <a:ea typeface="Calibri"/>
                <a:cs typeface="Calibri"/>
                <a:sym typeface="Calibri"/>
                <a:hlinkClick r:id="rId3"/>
              </a:rPr>
              <a:t>https://forms.gle/kKR1b7KaUjhMRttDA</a:t>
            </a:r>
            <a:r>
              <a:rPr b="1" lang="es-ES" sz="1900">
                <a:latin typeface="Calibri"/>
                <a:ea typeface="Calibri"/>
                <a:cs typeface="Calibri"/>
                <a:sym typeface="Calibri"/>
              </a:rPr>
              <a:t> </a:t>
            </a:r>
            <a:endParaRPr sz="1900"/>
          </a:p>
        </p:txBody>
      </p:sp>
      <p:pic>
        <p:nvPicPr>
          <p:cNvPr id="411" name="Google Shape;411;g2aed7882790_0_57"/>
          <p:cNvPicPr preferRelativeResize="0"/>
          <p:nvPr/>
        </p:nvPicPr>
        <p:blipFill rotWithShape="1">
          <a:blip r:embed="rId4">
            <a:alphaModFix/>
          </a:blip>
          <a:srcRect b="8053" l="8053" r="8053" t="8053"/>
          <a:stretch/>
        </p:blipFill>
        <p:spPr>
          <a:xfrm>
            <a:off x="9212167" y="1847700"/>
            <a:ext cx="2438400" cy="2438400"/>
          </a:xfrm>
          <a:prstGeom prst="rect">
            <a:avLst/>
          </a:prstGeom>
          <a:noFill/>
          <a:ln>
            <a:noFill/>
          </a:ln>
        </p:spPr>
      </p:pic>
      <p:pic>
        <p:nvPicPr>
          <p:cNvPr id="412" name="Google Shape;412;g2aed7882790_0_57"/>
          <p:cNvPicPr preferRelativeResize="0"/>
          <p:nvPr/>
        </p:nvPicPr>
        <p:blipFill>
          <a:blip r:embed="rId5">
            <a:alphaModFix/>
          </a:blip>
          <a:stretch>
            <a:fillRect/>
          </a:stretch>
        </p:blipFill>
        <p:spPr>
          <a:xfrm>
            <a:off x="10906875" y="52346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descr="Forma&#10;&#10;Descripción generada automáticamente con confianza media" id="417" name="Google Shape;417;g2b51d25e598_0_7"/>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418" name="Google Shape;418;g2b51d25e598_0_7"/>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¡Reforcemos lo aprendido!</a:t>
            </a:r>
            <a:endParaRPr b="0" i="0" sz="1900" u="none" cap="none" strike="noStrike">
              <a:solidFill>
                <a:schemeClr val="lt1"/>
              </a:solidFill>
              <a:highlight>
                <a:srgbClr val="009287"/>
              </a:highlight>
              <a:latin typeface="Arial"/>
              <a:ea typeface="Arial"/>
              <a:cs typeface="Arial"/>
              <a:sym typeface="Arial"/>
            </a:endParaRPr>
          </a:p>
        </p:txBody>
      </p:sp>
      <p:sp>
        <p:nvSpPr>
          <p:cNvPr id="419" name="Google Shape;419;g2b51d25e598_0_7"/>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suma" id="420" name="Google Shape;420;g2b51d25e598_0_7" title="Reforzamiento - Suma (4) - Descomponer y Estimar">
            <a:hlinkClick r:id="rId4"/>
          </p:cNvPr>
          <p:cNvPicPr preferRelativeResize="0"/>
          <p:nvPr/>
        </p:nvPicPr>
        <p:blipFill>
          <a:blip r:embed="rId5">
            <a:alphaModFix/>
          </a:blip>
          <a:stretch>
            <a:fillRect/>
          </a:stretch>
        </p:blipFill>
        <p:spPr>
          <a:xfrm>
            <a:off x="1722225" y="1398450"/>
            <a:ext cx="8747550" cy="4920500"/>
          </a:xfrm>
          <a:prstGeom prst="rect">
            <a:avLst/>
          </a:prstGeom>
          <a:noFill/>
          <a:ln cap="flat" cmpd="sng" w="28575">
            <a:solidFill>
              <a:schemeClr val="dk2"/>
            </a:solidFill>
            <a:prstDash val="solid"/>
            <a:round/>
            <a:headEnd len="sm" w="sm" type="none"/>
            <a:tailEnd len="sm" w="sm" type="none"/>
          </a:ln>
        </p:spPr>
      </p:pic>
      <p:pic>
        <p:nvPicPr>
          <p:cNvPr id="421" name="Google Shape;421;g2b51d25e598_0_7"/>
          <p:cNvPicPr preferRelativeResize="0"/>
          <p:nvPr/>
        </p:nvPicPr>
        <p:blipFill>
          <a:blip r:embed="rId6">
            <a:alphaModFix/>
          </a:blip>
          <a:stretch>
            <a:fillRect/>
          </a:stretch>
        </p:blipFill>
        <p:spPr>
          <a:xfrm>
            <a:off x="10906875" y="52346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1000"/>
                                        <p:tgtEl>
                                          <p:spTgt spid="4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2023-06-14T18:49:54Z</dcterms:created>
  <dc:creator>Antonia  Hola</dc:creator>
</cp:coreProperties>
</file>