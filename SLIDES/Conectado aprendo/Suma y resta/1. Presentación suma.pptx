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atrick Hand"/>
      <p:regular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Poppins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YVV0kH4HLC4FZCMVngDMHQodk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trickHand-regular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oppinsLight-bold.fntdata"/><Relationship Id="rId25" Type="http://schemas.openxmlformats.org/officeDocument/2006/relationships/font" Target="fonts/PoppinsLight-regular.fntdata"/><Relationship Id="rId28" Type="http://schemas.openxmlformats.org/officeDocument/2006/relationships/font" Target="fonts/PoppinsLight-boldItalic.fntdata"/><Relationship Id="rId27" Type="http://schemas.openxmlformats.org/officeDocument/2006/relationships/font" Target="fonts/Poppins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41888b28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41888b28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41888b284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41888b28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41888b284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41888b28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41888b28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41888b28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a1accf96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2a1accf9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00947766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260094776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00947766c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2600947766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600947766c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2600947766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600947766c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2600947766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600947766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2600947766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8e95cc697e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g28e95cc697e_1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8e95cc697e_1_1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6" name="Google Shape;86;g28e95cc697e_1_15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7" name="Google Shape;87;g28e95cc697e_1_15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28e95cc697e_1_15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28e95cc697e_1_15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8e95cc697e_1_156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92" name="Google Shape;92;g28e95cc697e_1_156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93" name="Google Shape;93;g28e95cc697e_1_15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8e95cc697e_1_160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6" name="Google Shape;96;g28e95cc697e_1_16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8e95cc697e_1_16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9" name="Google Shape;99;g28e95cc697e_1_163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0" name="Google Shape;100;g28e95cc697e_1_163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1" name="Google Shape;101;g28e95cc697e_1_16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e95cc697e_1_16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4" name="Google Shape;104;g28e95cc697e_1_16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8e95cc697e_1_171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7" name="Google Shape;107;g28e95cc697e_1_171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8" name="Google Shape;108;g28e95cc697e_1_17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e95cc697e_1_175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1" name="Google Shape;111;g28e95cc697e_1_17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8e95cc697e_1_17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28e95cc697e_1_178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15" name="Google Shape;115;g28e95cc697e_1_178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6" name="Google Shape;116;g28e95cc697e_1_178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7" name="Google Shape;117;g28e95cc697e_1_17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e95cc697e_1_184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20" name="Google Shape;120;g28e95cc697e_1_18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8e95cc697e_1_187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3" name="Google Shape;123;g28e95cc697e_1_187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4" name="Google Shape;124;g28e95cc697e_1_18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e95cc697e_1_19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8e95cc697e_1_14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28e95cc697e_1_14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28e95cc697e_1_14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hyperlink" Target="https://es.khanacademy.org/" TargetMode="External"/><Relationship Id="rId5" Type="http://schemas.openxmlformats.org/officeDocument/2006/relationships/hyperlink" Target="https://mateslibres.com/" TargetMode="External"/><Relationship Id="rId6" Type="http://schemas.openxmlformats.org/officeDocument/2006/relationships/hyperlink" Target="https://www.cokitos.com/" TargetMode="External"/><Relationship Id="rId7" Type="http://schemas.openxmlformats.org/officeDocument/2006/relationships/hyperlink" Target="http://www.teachy.app" TargetMode="External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forms.gle/4DKxmjoN2PZ5TFcb6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5850" y="5665762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41888b284_0_4"/>
          <p:cNvSpPr txBox="1"/>
          <p:nvPr/>
        </p:nvSpPr>
        <p:spPr>
          <a:xfrm>
            <a:off x="786350" y="1673375"/>
            <a:ext cx="109185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Introducir los elementos y propiedades básicas de la suma, junto con estrategias prácticas</a:t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para realizar sumas de forma efectiva.</a:t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8" name="Google Shape;138;g3341888b284_0_4"/>
          <p:cNvSpPr txBox="1"/>
          <p:nvPr/>
        </p:nvSpPr>
        <p:spPr>
          <a:xfrm>
            <a:off x="1158250" y="2640100"/>
            <a:ext cx="4698900" cy="32391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Presentar los elementos de la suma.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Enseñar estrategia “Contar hacia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adelante”.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Entender la propiedad conmutativa y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neutra de la suma.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g3341888b284_0_4"/>
          <p:cNvSpPr txBox="1"/>
          <p:nvPr/>
        </p:nvSpPr>
        <p:spPr>
          <a:xfrm>
            <a:off x="6376050" y="2639975"/>
            <a:ext cx="4698900" cy="32391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Sumar.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Sumando + Sumando = Total.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Adicionar.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Contar hacia adelante.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g3341888b284_0_4"/>
          <p:cNvSpPr txBox="1"/>
          <p:nvPr/>
        </p:nvSpPr>
        <p:spPr>
          <a:xfrm>
            <a:off x="197050" y="113775"/>
            <a:ext cx="45642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341888b284_0_4"/>
          <p:cNvSpPr/>
          <p:nvPr/>
        </p:nvSpPr>
        <p:spPr>
          <a:xfrm>
            <a:off x="2538175" y="630575"/>
            <a:ext cx="7727100" cy="6303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341888b284_0_4"/>
          <p:cNvSpPr txBox="1"/>
          <p:nvPr/>
        </p:nvSpPr>
        <p:spPr>
          <a:xfrm>
            <a:off x="3518200" y="676623"/>
            <a:ext cx="5757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g3341888b284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3725" y="27773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41888b284_0_23"/>
          <p:cNvSpPr txBox="1"/>
          <p:nvPr/>
        </p:nvSpPr>
        <p:spPr>
          <a:xfrm>
            <a:off x="786350" y="1597175"/>
            <a:ext cx="109185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9" name="Google Shape;149;g3341888b284_0_23"/>
          <p:cNvSpPr txBox="1"/>
          <p:nvPr/>
        </p:nvSpPr>
        <p:spPr>
          <a:xfrm>
            <a:off x="786350" y="2131575"/>
            <a:ext cx="10500000" cy="5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Poppins"/>
                <a:ea typeface="Poppins"/>
                <a:cs typeface="Poppins"/>
                <a:sym typeface="Poppins"/>
              </a:rPr>
              <a:t>Esta sesión está diseñada para introducir la noción de la suma. Recomendamos que tanto tú como tu estudiante </a:t>
            </a:r>
            <a:r>
              <a:rPr b="1" lang="es-ES" sz="1500">
                <a:latin typeface="Poppins"/>
                <a:ea typeface="Poppins"/>
                <a:cs typeface="Poppins"/>
                <a:sym typeface="Poppins"/>
              </a:rPr>
              <a:t>traigan 15 porotos</a:t>
            </a:r>
            <a:r>
              <a:rPr lang="es-ES" sz="1500">
                <a:latin typeface="Poppins"/>
                <a:ea typeface="Poppins"/>
                <a:cs typeface="Poppins"/>
                <a:sym typeface="Poppins"/>
              </a:rPr>
              <a:t> o elementos similares, de tal forma de ir </a:t>
            </a:r>
            <a:r>
              <a:rPr b="1" lang="es-ES" sz="1500">
                <a:latin typeface="Poppins"/>
                <a:ea typeface="Poppins"/>
                <a:cs typeface="Poppins"/>
                <a:sym typeface="Poppins"/>
              </a:rPr>
              <a:t>complementando los ejemplos.</a:t>
            </a:r>
            <a:endParaRPr b="1"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Poppins"/>
                <a:ea typeface="Poppins"/>
                <a:cs typeface="Poppins"/>
                <a:sym typeface="Poppins"/>
              </a:rPr>
              <a:t>Entonces inicialmente definirán: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Poppins"/>
                <a:ea typeface="Poppins"/>
                <a:cs typeface="Poppins"/>
                <a:sym typeface="Poppins"/>
              </a:rPr>
              <a:t>• ¿Qué es la suma?: El proceso de </a:t>
            </a:r>
            <a:r>
              <a:rPr b="1" lang="es-ES" sz="1500">
                <a:latin typeface="Poppins"/>
                <a:ea typeface="Poppins"/>
                <a:cs typeface="Poppins"/>
                <a:sym typeface="Poppins"/>
              </a:rPr>
              <a:t>adicionar o reunir 2 o más cantidades en una sola.</a:t>
            </a:r>
            <a:endParaRPr b="1"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500">
                <a:latin typeface="Poppins"/>
                <a:ea typeface="Poppins"/>
                <a:cs typeface="Poppins"/>
                <a:sym typeface="Poppins"/>
              </a:rPr>
              <a:t>Hazle notar a tu estudiante cómo el signo de </a:t>
            </a:r>
            <a:r>
              <a:rPr b="1" i="1" lang="es-ES" sz="1500">
                <a:latin typeface="Poppins"/>
                <a:ea typeface="Poppins"/>
                <a:cs typeface="Poppins"/>
                <a:sym typeface="Poppins"/>
              </a:rPr>
              <a:t>suma (+) e igual (=) conectan los números,</a:t>
            </a:r>
            <a:r>
              <a:rPr i="1" lang="es-ES" sz="1500">
                <a:latin typeface="Poppins"/>
                <a:ea typeface="Poppins"/>
                <a:cs typeface="Poppins"/>
                <a:sym typeface="Poppins"/>
              </a:rPr>
              <a:t> y explícale el rol de cada símbolo en una operación.</a:t>
            </a:r>
            <a:endParaRPr i="1"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s-ES" sz="1500">
                <a:latin typeface="Poppins"/>
                <a:ea typeface="Poppins"/>
                <a:cs typeface="Poppins"/>
                <a:sym typeface="Poppins"/>
              </a:rPr>
              <a:t>“Contar hacia adelante” </a:t>
            </a:r>
            <a:r>
              <a:rPr lang="es-ES" sz="1500">
                <a:latin typeface="Poppins"/>
                <a:ea typeface="Poppins"/>
                <a:cs typeface="Poppins"/>
                <a:sym typeface="Poppins"/>
              </a:rPr>
              <a:t>como estrategia para sumar.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500">
                <a:latin typeface="Poppins"/>
                <a:ea typeface="Poppins"/>
                <a:cs typeface="Poppins"/>
                <a:sym typeface="Poppins"/>
              </a:rPr>
              <a:t>Muéstrale a tu estudiante </a:t>
            </a:r>
            <a:r>
              <a:rPr b="1" i="1" lang="es-ES" sz="1500">
                <a:latin typeface="Poppins"/>
                <a:ea typeface="Poppins"/>
                <a:cs typeface="Poppins"/>
                <a:sym typeface="Poppins"/>
              </a:rPr>
              <a:t>cómo ubicar el primer número</a:t>
            </a:r>
            <a:r>
              <a:rPr i="1" lang="es-ES" sz="1500">
                <a:latin typeface="Poppins"/>
                <a:ea typeface="Poppins"/>
                <a:cs typeface="Poppins"/>
                <a:sym typeface="Poppins"/>
              </a:rPr>
              <a:t> y luego avanzar hacia adelante para sumar el siguiente. Utiliza los ejemplos de las diapositivas 4 y 5 para mostrar que el </a:t>
            </a:r>
            <a:r>
              <a:rPr b="1" i="1" lang="es-ES" sz="1500">
                <a:latin typeface="Poppins"/>
                <a:ea typeface="Poppins"/>
                <a:cs typeface="Poppins"/>
                <a:sym typeface="Poppins"/>
              </a:rPr>
              <a:t>procedimiento es equivalente al anterior</a:t>
            </a:r>
            <a:endParaRPr b="1" i="1"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g3341888b284_0_23"/>
          <p:cNvSpPr txBox="1"/>
          <p:nvPr/>
        </p:nvSpPr>
        <p:spPr>
          <a:xfrm>
            <a:off x="197050" y="113775"/>
            <a:ext cx="45642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341888b284_0_23"/>
          <p:cNvSpPr/>
          <p:nvPr/>
        </p:nvSpPr>
        <p:spPr>
          <a:xfrm>
            <a:off x="2538175" y="630575"/>
            <a:ext cx="7727100" cy="6303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341888b284_0_23"/>
          <p:cNvSpPr txBox="1"/>
          <p:nvPr/>
        </p:nvSpPr>
        <p:spPr>
          <a:xfrm>
            <a:off x="3518200" y="676623"/>
            <a:ext cx="5757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g3341888b284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3725" y="27773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41888b284_0_47"/>
          <p:cNvSpPr txBox="1"/>
          <p:nvPr/>
        </p:nvSpPr>
        <p:spPr>
          <a:xfrm>
            <a:off x="786350" y="1597175"/>
            <a:ext cx="109185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9" name="Google Shape;159;g3341888b284_0_47"/>
          <p:cNvSpPr txBox="1"/>
          <p:nvPr/>
        </p:nvSpPr>
        <p:spPr>
          <a:xfrm>
            <a:off x="786350" y="2283975"/>
            <a:ext cx="105000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Poppins"/>
                <a:ea typeface="Poppins"/>
                <a:cs typeface="Poppins"/>
                <a:sym typeface="Poppins"/>
              </a:rPr>
              <a:t>• Propiedad </a:t>
            </a:r>
            <a:r>
              <a:rPr b="1" lang="es-ES" sz="1600">
                <a:latin typeface="Poppins"/>
                <a:ea typeface="Poppins"/>
                <a:cs typeface="Poppins"/>
                <a:sym typeface="Poppins"/>
              </a:rPr>
              <a:t>conmutativa y neutra</a:t>
            </a:r>
            <a:r>
              <a:rPr lang="es-ES" sz="1600">
                <a:latin typeface="Poppins"/>
                <a:ea typeface="Poppins"/>
                <a:cs typeface="Poppins"/>
                <a:sym typeface="Poppins"/>
              </a:rPr>
              <a:t> de la adición.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Poppins"/>
                <a:ea typeface="Poppins"/>
                <a:cs typeface="Poppins"/>
                <a:sym typeface="Poppins"/>
              </a:rPr>
              <a:t>Explica la </a:t>
            </a:r>
            <a:r>
              <a:rPr b="1" i="1" lang="es-ES" sz="1600">
                <a:latin typeface="Poppins"/>
                <a:ea typeface="Poppins"/>
                <a:cs typeface="Poppins"/>
                <a:sym typeface="Poppins"/>
              </a:rPr>
              <a:t>propiedad conmutativa </a:t>
            </a:r>
            <a:r>
              <a:rPr i="1" lang="es-ES" sz="1600">
                <a:latin typeface="Poppins"/>
                <a:ea typeface="Poppins"/>
                <a:cs typeface="Poppins"/>
                <a:sym typeface="Poppins"/>
              </a:rPr>
              <a:t>con ejemplos prácticos, cómo cambiar el orden de dos grupos de porotos que suman la misma cantidad.</a:t>
            </a:r>
            <a:endParaRPr i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Poppins"/>
                <a:ea typeface="Poppins"/>
                <a:cs typeface="Poppins"/>
                <a:sym typeface="Poppins"/>
              </a:rPr>
              <a:t>Explica la </a:t>
            </a:r>
            <a:r>
              <a:rPr b="1" i="1" lang="es-ES" sz="1600">
                <a:latin typeface="Poppins"/>
                <a:ea typeface="Poppins"/>
                <a:cs typeface="Poppins"/>
                <a:sym typeface="Poppins"/>
              </a:rPr>
              <a:t>propiedad neutra</a:t>
            </a:r>
            <a:r>
              <a:rPr i="1" lang="es-ES" sz="1600">
                <a:latin typeface="Poppins"/>
                <a:ea typeface="Poppins"/>
                <a:cs typeface="Poppins"/>
                <a:sym typeface="Poppins"/>
              </a:rPr>
              <a:t> enseñando que el número 0 es "neutro" porque, al sumarlo con cualquier número, el resultado no cambia. Muestra con los porotos que, si no añades nada (representado por el 0) a un grupo de objetos, el grupo sigue siendo el mismo.</a:t>
            </a:r>
            <a:endParaRPr i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Poppins"/>
                <a:ea typeface="Poppins"/>
                <a:cs typeface="Poppins"/>
                <a:sym typeface="Poppins"/>
              </a:rPr>
              <a:t>Con todo ello, verifica al cierre que tu estudiante puede relacionar las acciones de </a:t>
            </a:r>
            <a:r>
              <a:rPr b="1" i="1" lang="es-ES" sz="1600">
                <a:latin typeface="Poppins"/>
                <a:ea typeface="Poppins"/>
                <a:cs typeface="Poppins"/>
                <a:sym typeface="Poppins"/>
              </a:rPr>
              <a:t>juntar, agregar y avanzar </a:t>
            </a:r>
            <a:r>
              <a:rPr i="1" lang="es-ES" sz="1600">
                <a:latin typeface="Poppins"/>
                <a:ea typeface="Poppins"/>
                <a:cs typeface="Poppins"/>
                <a:sym typeface="Poppins"/>
              </a:rPr>
              <a:t>con la suma.</a:t>
            </a:r>
            <a:endParaRPr i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g3341888b284_0_47"/>
          <p:cNvSpPr txBox="1"/>
          <p:nvPr/>
        </p:nvSpPr>
        <p:spPr>
          <a:xfrm>
            <a:off x="197050" y="113775"/>
            <a:ext cx="45642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341888b284_0_47"/>
          <p:cNvSpPr/>
          <p:nvPr/>
        </p:nvSpPr>
        <p:spPr>
          <a:xfrm>
            <a:off x="2538175" y="630575"/>
            <a:ext cx="7727100" cy="6303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341888b284_0_47"/>
          <p:cNvSpPr txBox="1"/>
          <p:nvPr/>
        </p:nvSpPr>
        <p:spPr>
          <a:xfrm>
            <a:off x="3518200" y="676623"/>
            <a:ext cx="5757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g3341888b284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3725" y="27773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41888b284_0_56"/>
          <p:cNvSpPr txBox="1"/>
          <p:nvPr/>
        </p:nvSpPr>
        <p:spPr>
          <a:xfrm>
            <a:off x="197050" y="113775"/>
            <a:ext cx="45642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341888b284_0_56"/>
          <p:cNvSpPr txBox="1"/>
          <p:nvPr/>
        </p:nvSpPr>
        <p:spPr>
          <a:xfrm>
            <a:off x="380275" y="1624950"/>
            <a:ext cx="11268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20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Pídele a tu estudiante que busque objetos pequeños en casa, como botones o legos, y que practique sumas simples usando esos objetos. La actividad consiste en contar diferentes cantidades, sumarlas, y comprobar que el resultado es el mismo si cambia el orden de los grupos.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g3341888b284_0_56"/>
          <p:cNvSpPr txBox="1"/>
          <p:nvPr/>
        </p:nvSpPr>
        <p:spPr>
          <a:xfrm>
            <a:off x="380275" y="4363525"/>
            <a:ext cx="11268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20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¿Con qué verbos se relaciona la adición?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se pueden sumar elementos?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¿Por qué no importa el orden de los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números en la suma?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341888b284_0_56"/>
          <p:cNvSpPr/>
          <p:nvPr/>
        </p:nvSpPr>
        <p:spPr>
          <a:xfrm>
            <a:off x="2538175" y="630575"/>
            <a:ext cx="7727100" cy="6303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341888b284_0_56"/>
          <p:cNvSpPr txBox="1"/>
          <p:nvPr/>
        </p:nvSpPr>
        <p:spPr>
          <a:xfrm>
            <a:off x="3518200" y="676623"/>
            <a:ext cx="5757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g3341888b284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3725" y="27773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2192000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1400" y="5216912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a1accf96d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2a1accf96d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86" name="Google Shape;186;g32a1accf96d_0_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" y="0"/>
            <a:ext cx="12192000" cy="696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2a1accf96d_0_0"/>
          <p:cNvSpPr txBox="1"/>
          <p:nvPr/>
        </p:nvSpPr>
        <p:spPr>
          <a:xfrm>
            <a:off x="3081175" y="630875"/>
            <a:ext cx="576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Algunas recomendaciones </a:t>
            </a:r>
            <a:endParaRPr/>
          </a:p>
        </p:txBody>
      </p:sp>
      <p:sp>
        <p:nvSpPr>
          <p:cNvPr id="188" name="Google Shape;188;g32a1accf96d_0_0"/>
          <p:cNvSpPr txBox="1"/>
          <p:nvPr/>
        </p:nvSpPr>
        <p:spPr>
          <a:xfrm>
            <a:off x="926950" y="1551700"/>
            <a:ext cx="10515600" cy="4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de comenzar recuerda revisar el Planificador de Tutorías que se encuentra en las diapositivas previas. Este </a:t>
            </a: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planificador</a:t>
            </a: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te permite organizar el contenido de esta ruta para guiar el desarrollo de cada sesión.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Ejercicios: Si quieres obtener más ejercicios para practicar con tu alumno te recomendamos las siguientes páginas web: 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-"/>
            </a:pP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Khan Academy : </a:t>
            </a:r>
            <a:r>
              <a:rPr lang="es-ES" sz="1300" u="sng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https://es.khanacademy.org/</a:t>
            </a: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Pagina gratuita. Es una página fácil de manejar y de buscar. Contiene numerosos ejercicios, videos y evaluaciones. 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Matematicas libre: </a:t>
            </a:r>
            <a:r>
              <a:rPr lang="es-ES" sz="1300" u="sng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https://mateslibres.com/</a:t>
            </a: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Pagina gratuita , con ejercicios variados.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Cokitos:  </a:t>
            </a:r>
            <a:r>
              <a:rPr lang="es-ES" sz="1300" u="sng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https://www.cokitos.com/</a:t>
            </a: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Página con juegos educativos. Orientación a diversos contenidos, pero muy útil en matemáticas. No requiere inscribirse. Abundante publicidad. 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-"/>
            </a:pP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Teachy: </a:t>
            </a:r>
            <a:r>
              <a:rPr lang="es-ES" sz="1300" u="sng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www.Teachy.app</a:t>
            </a: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Pagina de inteligencia artificial, muy buena para crear ejercicios y juegos. R</a:t>
            </a: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equiere inscribirse. En la opción herramientas de IA encontrarás variado contenido para crear y utilizar en tu sesión.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Importante: </a:t>
            </a:r>
            <a:r>
              <a:rPr lang="es-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 recomendamos  mirar estas páginas antes de la tutoría, para que puedas buscar y familiarizarte con la página web.</a:t>
            </a:r>
            <a:endParaRPr sz="1300"/>
          </a:p>
        </p:txBody>
      </p:sp>
      <p:pic>
        <p:nvPicPr>
          <p:cNvPr id="189" name="Google Shape;189;g32a1accf96d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45850" y="530573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95" name="Google Shape;195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3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"/>
          <p:cNvSpPr txBox="1"/>
          <p:nvPr/>
        </p:nvSpPr>
        <p:spPr>
          <a:xfrm>
            <a:off x="663751" y="511950"/>
            <a:ext cx="108645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s-ES" sz="4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es la suma o adición?</a:t>
            </a:r>
            <a:endParaRPr b="0" i="0" sz="4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Es una operación matemática que reúne 2 o más  cantidades en una sola. </a:t>
            </a:r>
            <a:endParaRPr b="0" i="0" sz="16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Una suma se plantea </a:t>
            </a:r>
            <a:r>
              <a:rPr b="1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simbólicamente</a:t>
            </a:r>
            <a:r>
              <a:rPr b="0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del siguiente modo.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Los números que se suman son los sumandos . El resultado es “suma” o total. El signo de la suma es + y se lee “más”.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+  8 = 12</a:t>
            </a:r>
            <a:endParaRPr b="1" i="0" sz="6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7789672" y="4428050"/>
            <a:ext cx="265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SUMA O TOTAL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8" name="Google Shape;198;p3"/>
          <p:cNvSpPr txBox="1"/>
          <p:nvPr/>
        </p:nvSpPr>
        <p:spPr>
          <a:xfrm>
            <a:off x="3540768" y="5573849"/>
            <a:ext cx="206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SUMANDO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5603276" y="5573850"/>
            <a:ext cx="178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SUMANDO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3908725" y="3859050"/>
            <a:ext cx="4026300" cy="114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5850" y="530573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2600947766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2600947766c_0_0"/>
          <p:cNvSpPr txBox="1"/>
          <p:nvPr/>
        </p:nvSpPr>
        <p:spPr>
          <a:xfrm>
            <a:off x="1154850" y="621850"/>
            <a:ext cx="1010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  				  8   					 					12</a:t>
            </a:r>
            <a:endParaRPr b="1" i="0" sz="6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08" name="Google Shape;208;g2600947766c_0_0"/>
          <p:cNvSpPr txBox="1"/>
          <p:nvPr/>
        </p:nvSpPr>
        <p:spPr>
          <a:xfrm>
            <a:off x="1662575" y="2604225"/>
            <a:ext cx="300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2600947766c_0_0"/>
          <p:cNvSpPr txBox="1"/>
          <p:nvPr/>
        </p:nvSpPr>
        <p:spPr>
          <a:xfrm>
            <a:off x="6459625" y="2688925"/>
            <a:ext cx="300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2600947766c_0_0"/>
          <p:cNvSpPr txBox="1"/>
          <p:nvPr/>
        </p:nvSpPr>
        <p:spPr>
          <a:xfrm>
            <a:off x="906100" y="4586600"/>
            <a:ext cx="7657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Juntamos 4 dulces más los 8 dulces y obtenemos 12 dulces en total.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600947766c_0_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6" name="Google Shape;216;g2600947766c_0_3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17" name="Google Shape;217;g2600947766c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2600947766c_0_39"/>
          <p:cNvSpPr txBox="1"/>
          <p:nvPr/>
        </p:nvSpPr>
        <p:spPr>
          <a:xfrm>
            <a:off x="159900" y="473875"/>
            <a:ext cx="765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suma representa?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2600947766c_0_39"/>
          <p:cNvSpPr txBox="1"/>
          <p:nvPr/>
        </p:nvSpPr>
        <p:spPr>
          <a:xfrm>
            <a:off x="838200" y="2657525"/>
            <a:ext cx="300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2600947766c_0_39"/>
          <p:cNvSpPr txBox="1"/>
          <p:nvPr/>
        </p:nvSpPr>
        <p:spPr>
          <a:xfrm>
            <a:off x="5020500" y="2657525"/>
            <a:ext cx="300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2600947766c_0_39"/>
          <p:cNvSpPr txBox="1"/>
          <p:nvPr/>
        </p:nvSpPr>
        <p:spPr>
          <a:xfrm>
            <a:off x="763975" y="1120375"/>
            <a:ext cx="1010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  				  9  					 					15</a:t>
            </a:r>
            <a:endParaRPr b="1" i="0" sz="6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600947766c_0_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7" name="Google Shape;227;g2600947766c_0_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28" name="Google Shape;228;g2600947766c_0_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3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600947766c_0_29"/>
          <p:cNvSpPr txBox="1"/>
          <p:nvPr/>
        </p:nvSpPr>
        <p:spPr>
          <a:xfrm>
            <a:off x="159900" y="473875"/>
            <a:ext cx="11388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nos puede ayudar a resolver una suma?</a:t>
            </a:r>
            <a:endParaRPr b="1" i="0" sz="3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Contar hacia delante: cuando sumamos agregamos una cantidad, por lo que ir contando hacia delante nos puede ayudar a encontrar el resultado.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Ejemplo:   					                </a:t>
            </a: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+ 5 = </a:t>
            </a:r>
            <a:endParaRPr b="0" i="0" sz="3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30" name="Google Shape;230;g2600947766c_0_29"/>
          <p:cNvCxnSpPr/>
          <p:nvPr/>
        </p:nvCxnSpPr>
        <p:spPr>
          <a:xfrm>
            <a:off x="-3532" y="3810000"/>
            <a:ext cx="12192000" cy="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1" name="Google Shape;231;g2600947766c_0_29"/>
          <p:cNvCxnSpPr/>
          <p:nvPr/>
        </p:nvCxnSpPr>
        <p:spPr>
          <a:xfrm>
            <a:off x="9771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2" name="Google Shape;232;g2600947766c_0_29"/>
          <p:cNvCxnSpPr/>
          <p:nvPr/>
        </p:nvCxnSpPr>
        <p:spPr>
          <a:xfrm>
            <a:off x="20439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3" name="Google Shape;233;g2600947766c_0_29"/>
          <p:cNvCxnSpPr/>
          <p:nvPr/>
        </p:nvCxnSpPr>
        <p:spPr>
          <a:xfrm>
            <a:off x="31107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4" name="Google Shape;234;g2600947766c_0_29"/>
          <p:cNvCxnSpPr/>
          <p:nvPr/>
        </p:nvCxnSpPr>
        <p:spPr>
          <a:xfrm>
            <a:off x="41013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5" name="Google Shape;235;g2600947766c_0_29"/>
          <p:cNvCxnSpPr/>
          <p:nvPr/>
        </p:nvCxnSpPr>
        <p:spPr>
          <a:xfrm>
            <a:off x="50157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6" name="Google Shape;236;g2600947766c_0_29"/>
          <p:cNvCxnSpPr/>
          <p:nvPr/>
        </p:nvCxnSpPr>
        <p:spPr>
          <a:xfrm>
            <a:off x="59301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7" name="Google Shape;237;g2600947766c_0_29"/>
          <p:cNvCxnSpPr/>
          <p:nvPr/>
        </p:nvCxnSpPr>
        <p:spPr>
          <a:xfrm>
            <a:off x="68445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8" name="Google Shape;238;g2600947766c_0_29"/>
          <p:cNvCxnSpPr/>
          <p:nvPr/>
        </p:nvCxnSpPr>
        <p:spPr>
          <a:xfrm>
            <a:off x="77589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9" name="Google Shape;239;g2600947766c_0_29"/>
          <p:cNvCxnSpPr/>
          <p:nvPr/>
        </p:nvCxnSpPr>
        <p:spPr>
          <a:xfrm>
            <a:off x="86733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40" name="Google Shape;240;g2600947766c_0_29"/>
          <p:cNvCxnSpPr/>
          <p:nvPr/>
        </p:nvCxnSpPr>
        <p:spPr>
          <a:xfrm>
            <a:off x="96639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41" name="Google Shape;241;g2600947766c_0_29"/>
          <p:cNvCxnSpPr/>
          <p:nvPr/>
        </p:nvCxnSpPr>
        <p:spPr>
          <a:xfrm>
            <a:off x="10730775" y="36244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42" name="Google Shape;242;g2600947766c_0_29"/>
          <p:cNvSpPr txBox="1"/>
          <p:nvPr/>
        </p:nvSpPr>
        <p:spPr>
          <a:xfrm>
            <a:off x="721650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600947766c_0_29"/>
          <p:cNvSpPr txBox="1"/>
          <p:nvPr/>
        </p:nvSpPr>
        <p:spPr>
          <a:xfrm>
            <a:off x="16724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2600947766c_0_29"/>
          <p:cNvSpPr txBox="1"/>
          <p:nvPr/>
        </p:nvSpPr>
        <p:spPr>
          <a:xfrm>
            <a:off x="27392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2600947766c_0_29"/>
          <p:cNvSpPr txBox="1"/>
          <p:nvPr/>
        </p:nvSpPr>
        <p:spPr>
          <a:xfrm>
            <a:off x="37298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2600947766c_0_29"/>
          <p:cNvSpPr txBox="1"/>
          <p:nvPr/>
        </p:nvSpPr>
        <p:spPr>
          <a:xfrm>
            <a:off x="47204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2600947766c_0_29"/>
          <p:cNvSpPr txBox="1"/>
          <p:nvPr/>
        </p:nvSpPr>
        <p:spPr>
          <a:xfrm>
            <a:off x="56729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2600947766c_0_29"/>
          <p:cNvSpPr txBox="1"/>
          <p:nvPr/>
        </p:nvSpPr>
        <p:spPr>
          <a:xfrm>
            <a:off x="64730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2600947766c_0_29"/>
          <p:cNvSpPr txBox="1"/>
          <p:nvPr/>
        </p:nvSpPr>
        <p:spPr>
          <a:xfrm>
            <a:off x="73874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2600947766c_0_29"/>
          <p:cNvSpPr txBox="1"/>
          <p:nvPr/>
        </p:nvSpPr>
        <p:spPr>
          <a:xfrm>
            <a:off x="83399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2600947766c_0_29"/>
          <p:cNvSpPr txBox="1"/>
          <p:nvPr/>
        </p:nvSpPr>
        <p:spPr>
          <a:xfrm>
            <a:off x="92924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2600947766c_0_29"/>
          <p:cNvSpPr txBox="1"/>
          <p:nvPr/>
        </p:nvSpPr>
        <p:spPr>
          <a:xfrm>
            <a:off x="10359225" y="39799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g2600947766c_0_29"/>
          <p:cNvCxnSpPr>
            <a:stCxn id="243" idx="0"/>
            <a:endCxn id="244" idx="0"/>
          </p:cNvCxnSpPr>
          <p:nvPr/>
        </p:nvCxnSpPr>
        <p:spPr>
          <a:xfrm flipH="1" rot="-5400000">
            <a:off x="2577075" y="3446825"/>
            <a:ext cx="600" cy="1066800"/>
          </a:xfrm>
          <a:prstGeom prst="curvedConnector3">
            <a:avLst>
              <a:gd fmla="val -77016667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" name="Google Shape;254;g2600947766c_0_29"/>
          <p:cNvCxnSpPr/>
          <p:nvPr/>
        </p:nvCxnSpPr>
        <p:spPr>
          <a:xfrm>
            <a:off x="3034575" y="39799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g2600947766c_0_29"/>
          <p:cNvCxnSpPr/>
          <p:nvPr/>
        </p:nvCxnSpPr>
        <p:spPr>
          <a:xfrm>
            <a:off x="4025175" y="39037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g2600947766c_0_29"/>
          <p:cNvCxnSpPr/>
          <p:nvPr/>
        </p:nvCxnSpPr>
        <p:spPr>
          <a:xfrm>
            <a:off x="4939575" y="39037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g2600947766c_0_29"/>
          <p:cNvCxnSpPr/>
          <p:nvPr/>
        </p:nvCxnSpPr>
        <p:spPr>
          <a:xfrm>
            <a:off x="977175" y="39037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g2600947766c_0_29"/>
          <p:cNvSpPr txBox="1"/>
          <p:nvPr/>
        </p:nvSpPr>
        <p:spPr>
          <a:xfrm>
            <a:off x="1822475" y="5038275"/>
            <a:ext cx="995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Comienzo desde el 12 y cuento 5 hacia adelante hasta llegar al resultado, en este caso 17.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g2600947766c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2325" y="47388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64" name="Google Shape;264;g2600947766c_0_8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875" y="-17375"/>
            <a:ext cx="12299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2600947766c_0_88"/>
          <p:cNvSpPr txBox="1"/>
          <p:nvPr/>
        </p:nvSpPr>
        <p:spPr>
          <a:xfrm>
            <a:off x="-22875" y="251525"/>
            <a:ext cx="1138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Resolvamos las siguientes sumas:</a:t>
            </a:r>
            <a:endParaRPr b="0" i="0" sz="3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66" name="Google Shape;266;g2600947766c_0_88"/>
          <p:cNvCxnSpPr/>
          <p:nvPr/>
        </p:nvCxnSpPr>
        <p:spPr>
          <a:xfrm>
            <a:off x="-3532" y="4267200"/>
            <a:ext cx="12192000" cy="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67" name="Google Shape;267;g2600947766c_0_88"/>
          <p:cNvCxnSpPr/>
          <p:nvPr/>
        </p:nvCxnSpPr>
        <p:spPr>
          <a:xfrm>
            <a:off x="9771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68" name="Google Shape;268;g2600947766c_0_88"/>
          <p:cNvCxnSpPr/>
          <p:nvPr/>
        </p:nvCxnSpPr>
        <p:spPr>
          <a:xfrm>
            <a:off x="20439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69" name="Google Shape;269;g2600947766c_0_88"/>
          <p:cNvCxnSpPr/>
          <p:nvPr/>
        </p:nvCxnSpPr>
        <p:spPr>
          <a:xfrm>
            <a:off x="31107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70" name="Google Shape;270;g2600947766c_0_88"/>
          <p:cNvCxnSpPr/>
          <p:nvPr/>
        </p:nvCxnSpPr>
        <p:spPr>
          <a:xfrm>
            <a:off x="41013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71" name="Google Shape;271;g2600947766c_0_88"/>
          <p:cNvCxnSpPr/>
          <p:nvPr/>
        </p:nvCxnSpPr>
        <p:spPr>
          <a:xfrm>
            <a:off x="50157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72" name="Google Shape;272;g2600947766c_0_88"/>
          <p:cNvCxnSpPr/>
          <p:nvPr/>
        </p:nvCxnSpPr>
        <p:spPr>
          <a:xfrm>
            <a:off x="59301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73" name="Google Shape;273;g2600947766c_0_88"/>
          <p:cNvCxnSpPr/>
          <p:nvPr/>
        </p:nvCxnSpPr>
        <p:spPr>
          <a:xfrm>
            <a:off x="68445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74" name="Google Shape;274;g2600947766c_0_88"/>
          <p:cNvCxnSpPr/>
          <p:nvPr/>
        </p:nvCxnSpPr>
        <p:spPr>
          <a:xfrm>
            <a:off x="77589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75" name="Google Shape;275;g2600947766c_0_88"/>
          <p:cNvCxnSpPr/>
          <p:nvPr/>
        </p:nvCxnSpPr>
        <p:spPr>
          <a:xfrm>
            <a:off x="86733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76" name="Google Shape;276;g2600947766c_0_88"/>
          <p:cNvCxnSpPr/>
          <p:nvPr/>
        </p:nvCxnSpPr>
        <p:spPr>
          <a:xfrm>
            <a:off x="96639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77" name="Google Shape;277;g2600947766c_0_88"/>
          <p:cNvCxnSpPr/>
          <p:nvPr/>
        </p:nvCxnSpPr>
        <p:spPr>
          <a:xfrm>
            <a:off x="10730775" y="4081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78" name="Google Shape;278;g2600947766c_0_88"/>
          <p:cNvSpPr txBox="1"/>
          <p:nvPr/>
        </p:nvSpPr>
        <p:spPr>
          <a:xfrm>
            <a:off x="721650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2600947766c_0_88"/>
          <p:cNvSpPr txBox="1"/>
          <p:nvPr/>
        </p:nvSpPr>
        <p:spPr>
          <a:xfrm>
            <a:off x="16724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2600947766c_0_88"/>
          <p:cNvSpPr txBox="1"/>
          <p:nvPr/>
        </p:nvSpPr>
        <p:spPr>
          <a:xfrm>
            <a:off x="27392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2600947766c_0_88"/>
          <p:cNvSpPr txBox="1"/>
          <p:nvPr/>
        </p:nvSpPr>
        <p:spPr>
          <a:xfrm>
            <a:off x="37298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2600947766c_0_88"/>
          <p:cNvSpPr txBox="1"/>
          <p:nvPr/>
        </p:nvSpPr>
        <p:spPr>
          <a:xfrm>
            <a:off x="47204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2600947766c_0_88"/>
          <p:cNvSpPr txBox="1"/>
          <p:nvPr/>
        </p:nvSpPr>
        <p:spPr>
          <a:xfrm>
            <a:off x="56729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2600947766c_0_88"/>
          <p:cNvSpPr txBox="1"/>
          <p:nvPr/>
        </p:nvSpPr>
        <p:spPr>
          <a:xfrm>
            <a:off x="64730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2600947766c_0_88"/>
          <p:cNvSpPr txBox="1"/>
          <p:nvPr/>
        </p:nvSpPr>
        <p:spPr>
          <a:xfrm>
            <a:off x="73874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2600947766c_0_88"/>
          <p:cNvSpPr txBox="1"/>
          <p:nvPr/>
        </p:nvSpPr>
        <p:spPr>
          <a:xfrm>
            <a:off x="83399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2600947766c_0_88"/>
          <p:cNvSpPr txBox="1"/>
          <p:nvPr/>
        </p:nvSpPr>
        <p:spPr>
          <a:xfrm>
            <a:off x="92924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2600947766c_0_88"/>
          <p:cNvSpPr txBox="1"/>
          <p:nvPr/>
        </p:nvSpPr>
        <p:spPr>
          <a:xfrm>
            <a:off x="10359225" y="4437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g2600947766c_0_88"/>
          <p:cNvCxnSpPr>
            <a:stCxn id="279" idx="0"/>
            <a:endCxn id="280" idx="0"/>
          </p:cNvCxnSpPr>
          <p:nvPr/>
        </p:nvCxnSpPr>
        <p:spPr>
          <a:xfrm flipH="1" rot="-5400000">
            <a:off x="2577075" y="3904025"/>
            <a:ext cx="600" cy="1066800"/>
          </a:xfrm>
          <a:prstGeom prst="curvedConnector3">
            <a:avLst>
              <a:gd fmla="val -77016667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g2600947766c_0_88"/>
          <p:cNvCxnSpPr/>
          <p:nvPr/>
        </p:nvCxnSpPr>
        <p:spPr>
          <a:xfrm>
            <a:off x="3034575" y="44371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g2600947766c_0_88"/>
          <p:cNvCxnSpPr/>
          <p:nvPr/>
        </p:nvCxnSpPr>
        <p:spPr>
          <a:xfrm>
            <a:off x="4025175" y="43609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g2600947766c_0_88"/>
          <p:cNvCxnSpPr/>
          <p:nvPr/>
        </p:nvCxnSpPr>
        <p:spPr>
          <a:xfrm>
            <a:off x="4939575" y="43609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g2600947766c_0_88"/>
          <p:cNvCxnSpPr/>
          <p:nvPr/>
        </p:nvCxnSpPr>
        <p:spPr>
          <a:xfrm>
            <a:off x="977175" y="43609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" name="Google Shape;294;g2600947766c_0_88"/>
          <p:cNvCxnSpPr/>
          <p:nvPr/>
        </p:nvCxnSpPr>
        <p:spPr>
          <a:xfrm>
            <a:off x="-3532" y="1981200"/>
            <a:ext cx="12192000" cy="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95" name="Google Shape;295;g2600947766c_0_88"/>
          <p:cNvCxnSpPr/>
          <p:nvPr/>
        </p:nvCxnSpPr>
        <p:spPr>
          <a:xfrm>
            <a:off x="20439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96" name="Google Shape;296;g2600947766c_0_88"/>
          <p:cNvCxnSpPr/>
          <p:nvPr/>
        </p:nvCxnSpPr>
        <p:spPr>
          <a:xfrm>
            <a:off x="31107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97" name="Google Shape;297;g2600947766c_0_88"/>
          <p:cNvCxnSpPr/>
          <p:nvPr/>
        </p:nvCxnSpPr>
        <p:spPr>
          <a:xfrm>
            <a:off x="41013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98" name="Google Shape;298;g2600947766c_0_88"/>
          <p:cNvCxnSpPr/>
          <p:nvPr/>
        </p:nvCxnSpPr>
        <p:spPr>
          <a:xfrm>
            <a:off x="50157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99" name="Google Shape;299;g2600947766c_0_88"/>
          <p:cNvCxnSpPr/>
          <p:nvPr/>
        </p:nvCxnSpPr>
        <p:spPr>
          <a:xfrm>
            <a:off x="59301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00" name="Google Shape;300;g2600947766c_0_88"/>
          <p:cNvCxnSpPr/>
          <p:nvPr/>
        </p:nvCxnSpPr>
        <p:spPr>
          <a:xfrm>
            <a:off x="68445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01" name="Google Shape;301;g2600947766c_0_88"/>
          <p:cNvCxnSpPr/>
          <p:nvPr/>
        </p:nvCxnSpPr>
        <p:spPr>
          <a:xfrm>
            <a:off x="77589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02" name="Google Shape;302;g2600947766c_0_88"/>
          <p:cNvCxnSpPr/>
          <p:nvPr/>
        </p:nvCxnSpPr>
        <p:spPr>
          <a:xfrm>
            <a:off x="86733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03" name="Google Shape;303;g2600947766c_0_88"/>
          <p:cNvCxnSpPr/>
          <p:nvPr/>
        </p:nvCxnSpPr>
        <p:spPr>
          <a:xfrm>
            <a:off x="96639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04" name="Google Shape;304;g2600947766c_0_88"/>
          <p:cNvCxnSpPr/>
          <p:nvPr/>
        </p:nvCxnSpPr>
        <p:spPr>
          <a:xfrm>
            <a:off x="10730775" y="1795625"/>
            <a:ext cx="0" cy="355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05" name="Google Shape;305;g2600947766c_0_88"/>
          <p:cNvSpPr txBox="1"/>
          <p:nvPr/>
        </p:nvSpPr>
        <p:spPr>
          <a:xfrm>
            <a:off x="721650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2600947766c_0_88"/>
          <p:cNvSpPr txBox="1"/>
          <p:nvPr/>
        </p:nvSpPr>
        <p:spPr>
          <a:xfrm>
            <a:off x="16724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2600947766c_0_88"/>
          <p:cNvSpPr txBox="1"/>
          <p:nvPr/>
        </p:nvSpPr>
        <p:spPr>
          <a:xfrm>
            <a:off x="27392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2600947766c_0_88"/>
          <p:cNvSpPr txBox="1"/>
          <p:nvPr/>
        </p:nvSpPr>
        <p:spPr>
          <a:xfrm>
            <a:off x="37298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2600947766c_0_88"/>
          <p:cNvSpPr txBox="1"/>
          <p:nvPr/>
        </p:nvSpPr>
        <p:spPr>
          <a:xfrm>
            <a:off x="47204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2600947766c_0_88"/>
          <p:cNvSpPr txBox="1"/>
          <p:nvPr/>
        </p:nvSpPr>
        <p:spPr>
          <a:xfrm>
            <a:off x="56729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2600947766c_0_88"/>
          <p:cNvSpPr txBox="1"/>
          <p:nvPr/>
        </p:nvSpPr>
        <p:spPr>
          <a:xfrm>
            <a:off x="64730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2600947766c_0_88"/>
          <p:cNvSpPr txBox="1"/>
          <p:nvPr/>
        </p:nvSpPr>
        <p:spPr>
          <a:xfrm>
            <a:off x="73874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2600947766c_0_88"/>
          <p:cNvSpPr txBox="1"/>
          <p:nvPr/>
        </p:nvSpPr>
        <p:spPr>
          <a:xfrm>
            <a:off x="83399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2600947766c_0_88"/>
          <p:cNvSpPr txBox="1"/>
          <p:nvPr/>
        </p:nvSpPr>
        <p:spPr>
          <a:xfrm>
            <a:off x="92924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2600947766c_0_88"/>
          <p:cNvSpPr txBox="1"/>
          <p:nvPr/>
        </p:nvSpPr>
        <p:spPr>
          <a:xfrm>
            <a:off x="10359225" y="2151125"/>
            <a:ext cx="74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g2600947766c_0_88"/>
          <p:cNvCxnSpPr/>
          <p:nvPr/>
        </p:nvCxnSpPr>
        <p:spPr>
          <a:xfrm>
            <a:off x="3034575" y="20749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g2600947766c_0_88"/>
          <p:cNvCxnSpPr/>
          <p:nvPr/>
        </p:nvCxnSpPr>
        <p:spPr>
          <a:xfrm>
            <a:off x="4025175" y="20749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" name="Google Shape;318;g2600947766c_0_88"/>
          <p:cNvCxnSpPr/>
          <p:nvPr/>
        </p:nvCxnSpPr>
        <p:spPr>
          <a:xfrm>
            <a:off x="4939575" y="20749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g2600947766c_0_88"/>
          <p:cNvCxnSpPr/>
          <p:nvPr/>
        </p:nvCxnSpPr>
        <p:spPr>
          <a:xfrm>
            <a:off x="977175" y="20749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g2600947766c_0_88"/>
          <p:cNvSpPr txBox="1"/>
          <p:nvPr/>
        </p:nvSpPr>
        <p:spPr>
          <a:xfrm>
            <a:off x="5520525" y="5105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14 + 6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2600947766c_0_88"/>
          <p:cNvSpPr txBox="1"/>
          <p:nvPr/>
        </p:nvSpPr>
        <p:spPr>
          <a:xfrm>
            <a:off x="5672925" y="30404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 + 8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g2600947766c_0_88"/>
          <p:cNvCxnSpPr/>
          <p:nvPr/>
        </p:nvCxnSpPr>
        <p:spPr>
          <a:xfrm>
            <a:off x="2120175" y="207492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" name="Google Shape;323;g2600947766c_0_88"/>
          <p:cNvCxnSpPr/>
          <p:nvPr/>
        </p:nvCxnSpPr>
        <p:spPr>
          <a:xfrm>
            <a:off x="5853975" y="2056800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" name="Google Shape;324;g2600947766c_0_88"/>
          <p:cNvCxnSpPr/>
          <p:nvPr/>
        </p:nvCxnSpPr>
        <p:spPr>
          <a:xfrm>
            <a:off x="5777775" y="430807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" name="Google Shape;325;g2600947766c_0_88"/>
          <p:cNvCxnSpPr/>
          <p:nvPr/>
        </p:nvCxnSpPr>
        <p:spPr>
          <a:xfrm>
            <a:off x="6768375" y="432527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g2600947766c_0_88"/>
          <p:cNvCxnSpPr/>
          <p:nvPr/>
        </p:nvCxnSpPr>
        <p:spPr>
          <a:xfrm>
            <a:off x="7682775" y="4325275"/>
            <a:ext cx="10668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7" name="Google Shape;327;g2600947766c_0_88"/>
          <p:cNvSpPr txBox="1"/>
          <p:nvPr/>
        </p:nvSpPr>
        <p:spPr>
          <a:xfrm>
            <a:off x="7035525" y="46997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2600947766c_0_88"/>
          <p:cNvSpPr txBox="1"/>
          <p:nvPr/>
        </p:nvSpPr>
        <p:spPr>
          <a:xfrm>
            <a:off x="7035525" y="3022600"/>
            <a:ext cx="959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-ES" sz="3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2600947766c_0_88"/>
          <p:cNvSpPr/>
          <p:nvPr/>
        </p:nvSpPr>
        <p:spPr>
          <a:xfrm>
            <a:off x="5378225" y="533000"/>
            <a:ext cx="2676000" cy="70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2600947766c_0_88"/>
          <p:cNvSpPr/>
          <p:nvPr/>
        </p:nvSpPr>
        <p:spPr>
          <a:xfrm>
            <a:off x="5454425" y="2971400"/>
            <a:ext cx="2676000" cy="70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g2600947766c_0_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2325" y="47388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600947766c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37" name="Google Shape;337;g2600947766c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338" name="Google Shape;338;g2600947766c_0_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3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2600947766c_0_6"/>
          <p:cNvSpPr txBox="1"/>
          <p:nvPr/>
        </p:nvSpPr>
        <p:spPr>
          <a:xfrm>
            <a:off x="454275" y="1197375"/>
            <a:ext cx="11534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trick Hand"/>
              <a:buChar char="★"/>
            </a:pPr>
            <a:r>
              <a:rPr b="0" i="0" lang="es-ES" sz="2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Propiedad conmutativa: </a:t>
            </a:r>
            <a:endParaRPr b="0" i="0" sz="2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No importa el orden de los sumandos, el resultado siempre es el mismo. </a:t>
            </a:r>
            <a:endParaRPr b="0" i="0" sz="2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	Ejemplo:      5 + 3 = 8    y    3 + 5 = 8</a:t>
            </a:r>
            <a:endParaRPr b="0" i="0" sz="2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0" name="Google Shape;340;g2600947766c_0_6"/>
          <p:cNvSpPr txBox="1"/>
          <p:nvPr/>
        </p:nvSpPr>
        <p:spPr>
          <a:xfrm>
            <a:off x="454275" y="3291725"/>
            <a:ext cx="11276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trick Hand"/>
              <a:buChar char="★"/>
            </a:pPr>
            <a:r>
              <a:rPr b="0" i="0" lang="es-ES" sz="2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Elemento neutro: </a:t>
            </a:r>
            <a:endParaRPr b="0" i="0" sz="2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Cuando a un n° le sumo cero no estoy agregando nada. El n° distinto a 0 queda igual </a:t>
            </a:r>
            <a:endParaRPr b="0" i="0" sz="2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	</a:t>
            </a:r>
            <a:endParaRPr b="0" i="0" sz="2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	Ejemplo:        4 +  0 = 4              15  +  0 =  15</a:t>
            </a:r>
            <a:endParaRPr b="0" i="0" sz="2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1" name="Google Shape;341;g2600947766c_0_6"/>
          <p:cNvSpPr txBox="1"/>
          <p:nvPr/>
        </p:nvSpPr>
        <p:spPr>
          <a:xfrm>
            <a:off x="230975" y="365125"/>
            <a:ext cx="525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Propiedades de la suma: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g2600947766c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2325" y="47388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8e95cc697e_1_97"/>
          <p:cNvSpPr txBox="1"/>
          <p:nvPr/>
        </p:nvSpPr>
        <p:spPr>
          <a:xfrm>
            <a:off x="1046979" y="488799"/>
            <a:ext cx="100980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s-ES" sz="43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43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28e95cc697e_1_97"/>
          <p:cNvSpPr txBox="1"/>
          <p:nvPr/>
        </p:nvSpPr>
        <p:spPr>
          <a:xfrm>
            <a:off x="800291" y="3802997"/>
            <a:ext cx="1059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¿Cuál es el resultado de esta suma?</a:t>
            </a:r>
            <a:endParaRPr sz="1900"/>
          </a:p>
        </p:txBody>
      </p:sp>
      <p:cxnSp>
        <p:nvCxnSpPr>
          <p:cNvPr id="349" name="Google Shape;349;g28e95cc697e_1_97"/>
          <p:cNvCxnSpPr/>
          <p:nvPr/>
        </p:nvCxnSpPr>
        <p:spPr>
          <a:xfrm>
            <a:off x="24548" y="5105971"/>
            <a:ext cx="12192000" cy="0"/>
          </a:xfrm>
          <a:prstGeom prst="straightConnector1">
            <a:avLst/>
          </a:prstGeom>
          <a:noFill/>
          <a:ln cap="flat" cmpd="sng" w="38100">
            <a:solidFill>
              <a:srgbClr val="009F98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50" name="Google Shape;350;g28e95cc697e_1_97"/>
          <p:cNvSpPr/>
          <p:nvPr/>
        </p:nvSpPr>
        <p:spPr>
          <a:xfrm>
            <a:off x="6105657" y="4987936"/>
            <a:ext cx="60900" cy="257100"/>
          </a:xfrm>
          <a:prstGeom prst="rect">
            <a:avLst/>
          </a:prstGeom>
          <a:solidFill>
            <a:srgbClr val="FAB235"/>
          </a:solidFill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28e95cc697e_1_97"/>
          <p:cNvSpPr/>
          <p:nvPr/>
        </p:nvSpPr>
        <p:spPr>
          <a:xfrm>
            <a:off x="4843427" y="4987936"/>
            <a:ext cx="60900" cy="257100"/>
          </a:xfrm>
          <a:prstGeom prst="rect">
            <a:avLst/>
          </a:prstGeom>
          <a:solidFill>
            <a:srgbClr val="FAB235"/>
          </a:solidFill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28e95cc697e_1_97"/>
          <p:cNvSpPr/>
          <p:nvPr/>
        </p:nvSpPr>
        <p:spPr>
          <a:xfrm>
            <a:off x="8630119" y="4987936"/>
            <a:ext cx="60900" cy="257100"/>
          </a:xfrm>
          <a:prstGeom prst="rect">
            <a:avLst/>
          </a:prstGeom>
          <a:solidFill>
            <a:srgbClr val="FAB235"/>
          </a:solidFill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28e95cc697e_1_97"/>
          <p:cNvSpPr/>
          <p:nvPr/>
        </p:nvSpPr>
        <p:spPr>
          <a:xfrm>
            <a:off x="7367888" y="4987936"/>
            <a:ext cx="60900" cy="257100"/>
          </a:xfrm>
          <a:prstGeom prst="rect">
            <a:avLst/>
          </a:prstGeom>
          <a:solidFill>
            <a:srgbClr val="FAB235"/>
          </a:solidFill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28e95cc697e_1_97"/>
          <p:cNvSpPr/>
          <p:nvPr/>
        </p:nvSpPr>
        <p:spPr>
          <a:xfrm>
            <a:off x="2318965" y="4987936"/>
            <a:ext cx="60900" cy="257100"/>
          </a:xfrm>
          <a:prstGeom prst="rect">
            <a:avLst/>
          </a:prstGeom>
          <a:solidFill>
            <a:srgbClr val="FAB235"/>
          </a:solidFill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28e95cc697e_1_97"/>
          <p:cNvSpPr/>
          <p:nvPr/>
        </p:nvSpPr>
        <p:spPr>
          <a:xfrm>
            <a:off x="1056735" y="4987936"/>
            <a:ext cx="60900" cy="257100"/>
          </a:xfrm>
          <a:prstGeom prst="rect">
            <a:avLst/>
          </a:prstGeom>
          <a:solidFill>
            <a:srgbClr val="FAB235"/>
          </a:solidFill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28e95cc697e_1_97"/>
          <p:cNvSpPr/>
          <p:nvPr/>
        </p:nvSpPr>
        <p:spPr>
          <a:xfrm>
            <a:off x="3581196" y="4987936"/>
            <a:ext cx="60900" cy="257100"/>
          </a:xfrm>
          <a:prstGeom prst="rect">
            <a:avLst/>
          </a:prstGeom>
          <a:solidFill>
            <a:srgbClr val="FAB235"/>
          </a:solidFill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28e95cc697e_1_97"/>
          <p:cNvSpPr/>
          <p:nvPr/>
        </p:nvSpPr>
        <p:spPr>
          <a:xfrm>
            <a:off x="9892349" y="4987936"/>
            <a:ext cx="60900" cy="257100"/>
          </a:xfrm>
          <a:prstGeom prst="rect">
            <a:avLst/>
          </a:prstGeom>
          <a:solidFill>
            <a:srgbClr val="FAB235"/>
          </a:solidFill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28e95cc697e_1_97"/>
          <p:cNvSpPr/>
          <p:nvPr/>
        </p:nvSpPr>
        <p:spPr>
          <a:xfrm>
            <a:off x="11154580" y="4987936"/>
            <a:ext cx="60900" cy="257100"/>
          </a:xfrm>
          <a:prstGeom prst="rect">
            <a:avLst/>
          </a:prstGeom>
          <a:solidFill>
            <a:srgbClr val="FAB235"/>
          </a:solidFill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28e95cc697e_1_97"/>
          <p:cNvSpPr txBox="1"/>
          <p:nvPr/>
        </p:nvSpPr>
        <p:spPr>
          <a:xfrm>
            <a:off x="3324752" y="5116577"/>
            <a:ext cx="57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3200" u="none" cap="none" strike="noStrike">
              <a:solidFill>
                <a:srgbClr val="FAB235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0" name="Google Shape;360;g28e95cc697e_1_97"/>
          <p:cNvSpPr/>
          <p:nvPr/>
        </p:nvSpPr>
        <p:spPr>
          <a:xfrm>
            <a:off x="3452973" y="4831727"/>
            <a:ext cx="317700" cy="317700"/>
          </a:xfrm>
          <a:prstGeom prst="ellipse">
            <a:avLst/>
          </a:prstGeom>
          <a:solidFill>
            <a:srgbClr val="00B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28e95cc697e_1_97"/>
          <p:cNvSpPr/>
          <p:nvPr/>
        </p:nvSpPr>
        <p:spPr>
          <a:xfrm>
            <a:off x="9764128" y="4823933"/>
            <a:ext cx="317700" cy="317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28e95cc697e_1_97"/>
          <p:cNvSpPr/>
          <p:nvPr/>
        </p:nvSpPr>
        <p:spPr>
          <a:xfrm>
            <a:off x="3554416" y="4533919"/>
            <a:ext cx="1504800" cy="449100"/>
          </a:xfrm>
          <a:prstGeom prst="curvedDownArrow">
            <a:avLst>
              <a:gd fmla="val 25000" name="adj1"/>
              <a:gd fmla="val 91835" name="adj2"/>
              <a:gd fmla="val 25000" name="adj3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28e95cc697e_1_97"/>
          <p:cNvSpPr/>
          <p:nvPr/>
        </p:nvSpPr>
        <p:spPr>
          <a:xfrm>
            <a:off x="4843424" y="4533919"/>
            <a:ext cx="1504800" cy="449100"/>
          </a:xfrm>
          <a:prstGeom prst="curvedDownArrow">
            <a:avLst>
              <a:gd fmla="val 25000" name="adj1"/>
              <a:gd fmla="val 91835" name="adj2"/>
              <a:gd fmla="val 25000" name="adj3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28e95cc697e_1_97"/>
          <p:cNvSpPr/>
          <p:nvPr/>
        </p:nvSpPr>
        <p:spPr>
          <a:xfrm>
            <a:off x="6107396" y="4533919"/>
            <a:ext cx="1504800" cy="449100"/>
          </a:xfrm>
          <a:prstGeom prst="curvedDownArrow">
            <a:avLst>
              <a:gd fmla="val 25000" name="adj1"/>
              <a:gd fmla="val 91835" name="adj2"/>
              <a:gd fmla="val 25000" name="adj3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28e95cc697e_1_97"/>
          <p:cNvSpPr/>
          <p:nvPr/>
        </p:nvSpPr>
        <p:spPr>
          <a:xfrm>
            <a:off x="7396404" y="4533919"/>
            <a:ext cx="1504800" cy="449100"/>
          </a:xfrm>
          <a:prstGeom prst="curvedDownArrow">
            <a:avLst>
              <a:gd fmla="val 25000" name="adj1"/>
              <a:gd fmla="val 91835" name="adj2"/>
              <a:gd fmla="val 25000" name="adj3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28e95cc697e_1_97"/>
          <p:cNvSpPr/>
          <p:nvPr/>
        </p:nvSpPr>
        <p:spPr>
          <a:xfrm>
            <a:off x="8622275" y="4533919"/>
            <a:ext cx="1504800" cy="449100"/>
          </a:xfrm>
          <a:prstGeom prst="curvedDownArrow">
            <a:avLst>
              <a:gd fmla="val 25000" name="adj1"/>
              <a:gd fmla="val 91835" name="adj2"/>
              <a:gd fmla="val 25000" name="adj3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28e95cc697e_1_97"/>
          <p:cNvSpPr txBox="1"/>
          <p:nvPr/>
        </p:nvSpPr>
        <p:spPr>
          <a:xfrm>
            <a:off x="809997" y="1392537"/>
            <a:ext cx="1059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¿Qué suma representa?</a:t>
            </a:r>
            <a:endParaRPr sz="1900"/>
          </a:p>
        </p:txBody>
      </p:sp>
      <p:sp>
        <p:nvSpPr>
          <p:cNvPr id="368" name="Google Shape;368;g28e95cc697e_1_97"/>
          <p:cNvSpPr/>
          <p:nvPr/>
        </p:nvSpPr>
        <p:spPr>
          <a:xfrm>
            <a:off x="3642155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28e95cc697e_1_97"/>
          <p:cNvSpPr/>
          <p:nvPr/>
        </p:nvSpPr>
        <p:spPr>
          <a:xfrm>
            <a:off x="4219588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28e95cc697e_1_97"/>
          <p:cNvSpPr/>
          <p:nvPr/>
        </p:nvSpPr>
        <p:spPr>
          <a:xfrm>
            <a:off x="3920841" y="2847700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28e95cc697e_1_97"/>
          <p:cNvSpPr/>
          <p:nvPr/>
        </p:nvSpPr>
        <p:spPr>
          <a:xfrm>
            <a:off x="8768604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28e95cc697e_1_97"/>
          <p:cNvSpPr/>
          <p:nvPr/>
        </p:nvSpPr>
        <p:spPr>
          <a:xfrm>
            <a:off x="9346037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28e95cc697e_1_97"/>
          <p:cNvSpPr/>
          <p:nvPr/>
        </p:nvSpPr>
        <p:spPr>
          <a:xfrm>
            <a:off x="9903411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28e95cc697e_1_97"/>
          <p:cNvSpPr/>
          <p:nvPr/>
        </p:nvSpPr>
        <p:spPr>
          <a:xfrm>
            <a:off x="9047291" y="2847700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28e95cc697e_1_97"/>
          <p:cNvSpPr/>
          <p:nvPr/>
        </p:nvSpPr>
        <p:spPr>
          <a:xfrm>
            <a:off x="9642288" y="2847700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28e95cc697e_1_97"/>
          <p:cNvSpPr/>
          <p:nvPr/>
        </p:nvSpPr>
        <p:spPr>
          <a:xfrm>
            <a:off x="10490341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28e95cc697e_1_97"/>
          <p:cNvSpPr/>
          <p:nvPr/>
        </p:nvSpPr>
        <p:spPr>
          <a:xfrm>
            <a:off x="11067775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28e95cc697e_1_97"/>
          <p:cNvSpPr/>
          <p:nvPr/>
        </p:nvSpPr>
        <p:spPr>
          <a:xfrm>
            <a:off x="11355959" y="2847700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28e95cc697e_1_97"/>
          <p:cNvSpPr/>
          <p:nvPr/>
        </p:nvSpPr>
        <p:spPr>
          <a:xfrm>
            <a:off x="10769028" y="2847700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28e95cc697e_1_97"/>
          <p:cNvSpPr/>
          <p:nvPr/>
        </p:nvSpPr>
        <p:spPr>
          <a:xfrm>
            <a:off x="10211655" y="2847700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28e95cc697e_1_97"/>
          <p:cNvSpPr/>
          <p:nvPr/>
        </p:nvSpPr>
        <p:spPr>
          <a:xfrm>
            <a:off x="5586376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28e95cc697e_1_97"/>
          <p:cNvSpPr/>
          <p:nvPr/>
        </p:nvSpPr>
        <p:spPr>
          <a:xfrm>
            <a:off x="6163809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28e95cc697e_1_97"/>
          <p:cNvSpPr/>
          <p:nvPr/>
        </p:nvSpPr>
        <p:spPr>
          <a:xfrm>
            <a:off x="6721183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28e95cc697e_1_97"/>
          <p:cNvSpPr/>
          <p:nvPr/>
        </p:nvSpPr>
        <p:spPr>
          <a:xfrm>
            <a:off x="5865063" y="2847700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28e95cc697e_1_97"/>
          <p:cNvSpPr/>
          <p:nvPr/>
        </p:nvSpPr>
        <p:spPr>
          <a:xfrm>
            <a:off x="6460060" y="2847700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28e95cc697e_1_97"/>
          <p:cNvSpPr/>
          <p:nvPr/>
        </p:nvSpPr>
        <p:spPr>
          <a:xfrm>
            <a:off x="7308113" y="2358172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28e95cc697e_1_97"/>
          <p:cNvSpPr/>
          <p:nvPr/>
        </p:nvSpPr>
        <p:spPr>
          <a:xfrm>
            <a:off x="7029427" y="2847700"/>
            <a:ext cx="557100" cy="557100"/>
          </a:xfrm>
          <a:prstGeom prst="smileyFace">
            <a:avLst>
              <a:gd fmla="val 4653" name="adj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28e95cc697e_1_97"/>
          <p:cNvSpPr txBox="1"/>
          <p:nvPr/>
        </p:nvSpPr>
        <p:spPr>
          <a:xfrm>
            <a:off x="4829924" y="2510833"/>
            <a:ext cx="70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sz="1900"/>
          </a:p>
        </p:txBody>
      </p:sp>
      <p:sp>
        <p:nvSpPr>
          <p:cNvPr id="389" name="Google Shape;389;g28e95cc697e_1_97"/>
          <p:cNvSpPr txBox="1"/>
          <p:nvPr/>
        </p:nvSpPr>
        <p:spPr>
          <a:xfrm>
            <a:off x="8000156" y="2510833"/>
            <a:ext cx="70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sz="1900"/>
          </a:p>
        </p:txBody>
      </p:sp>
      <p:sp>
        <p:nvSpPr>
          <p:cNvPr id="390" name="Google Shape;390;g28e95cc697e_1_97"/>
          <p:cNvSpPr txBox="1"/>
          <p:nvPr/>
        </p:nvSpPr>
        <p:spPr>
          <a:xfrm>
            <a:off x="-920776" y="576500"/>
            <a:ext cx="609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9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https://forms.gle/4DKxmjoN2PZ5TFcb6</a:t>
            </a:r>
            <a:r>
              <a:rPr b="1" lang="es-ES" sz="1900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s-E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900"/>
          </a:p>
        </p:txBody>
      </p:sp>
      <p:pic>
        <p:nvPicPr>
          <p:cNvPr id="391" name="Google Shape;391;g28e95cc697e_1_97"/>
          <p:cNvPicPr preferRelativeResize="0"/>
          <p:nvPr/>
        </p:nvPicPr>
        <p:blipFill rotWithShape="1">
          <a:blip r:embed="rId4">
            <a:alphaModFix/>
          </a:blip>
          <a:srcRect b="8270" l="8270" r="8270" t="8270"/>
          <a:stretch/>
        </p:blipFill>
        <p:spPr>
          <a:xfrm>
            <a:off x="984345" y="1407747"/>
            <a:ext cx="2285758" cy="2285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28e95cc697e_1_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2325" y="473887"/>
            <a:ext cx="975700" cy="1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2023-06-14T18:49:54Z</dcterms:created>
  <dc:creator>Antonia  Hola</dc:creator>
</cp:coreProperties>
</file>