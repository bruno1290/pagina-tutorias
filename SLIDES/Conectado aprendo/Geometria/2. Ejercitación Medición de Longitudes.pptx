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y="5143500" cx="9144000"/>
  <p:notesSz cx="6858000" cy="9144000"/>
  <p:embeddedFontLst>
    <p:embeddedFont>
      <p:font typeface="Patrick Hand"/>
      <p:regular r:id="rId26"/>
    </p:embeddedFont>
    <p:embeddedFont>
      <p:font typeface="Poppins"/>
      <p:regular r:id="rId27"/>
      <p:bold r:id="rId28"/>
      <p:italic r:id="rId29"/>
      <p:boldItalic r:id="rId30"/>
    </p:embeddedFont>
    <p:embeddedFont>
      <p:font typeface="Poppins Light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5" roundtripDataSignature="AMtx7mjs8L7ngt9WHVWyyeok4aouao3E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F88BE47-2ED1-4928-8F12-ECCCD5BDEDE5}">
  <a:tblStyle styleId="{EF88BE47-2ED1-4928-8F12-ECCCD5BDEDE5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PatrickHand-regular.fntdata"/><Relationship Id="rId25" Type="http://schemas.openxmlformats.org/officeDocument/2006/relationships/slide" Target="slides/slide18.xml"/><Relationship Id="rId28" Type="http://schemas.openxmlformats.org/officeDocument/2006/relationships/font" Target="fonts/Poppins-bold.fntdata"/><Relationship Id="rId27" Type="http://schemas.openxmlformats.org/officeDocument/2006/relationships/font" Target="fonts/Poppins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Poppins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PoppinsLight-regular.fntdata"/><Relationship Id="rId30" Type="http://schemas.openxmlformats.org/officeDocument/2006/relationships/font" Target="fonts/Poppins-boldItalic.fntdata"/><Relationship Id="rId11" Type="http://schemas.openxmlformats.org/officeDocument/2006/relationships/slide" Target="slides/slide4.xml"/><Relationship Id="rId33" Type="http://schemas.openxmlformats.org/officeDocument/2006/relationships/font" Target="fonts/PoppinsLight-italic.fntdata"/><Relationship Id="rId10" Type="http://schemas.openxmlformats.org/officeDocument/2006/relationships/slide" Target="slides/slide3.xml"/><Relationship Id="rId32" Type="http://schemas.openxmlformats.org/officeDocument/2006/relationships/font" Target="fonts/PoppinsLight-bold.fntdata"/><Relationship Id="rId13" Type="http://schemas.openxmlformats.org/officeDocument/2006/relationships/slide" Target="slides/slide6.xml"/><Relationship Id="rId35" Type="http://customschemas.google.com/relationships/presentationmetadata" Target="metadata"/><Relationship Id="rId12" Type="http://schemas.openxmlformats.org/officeDocument/2006/relationships/slide" Target="slides/slide5.xml"/><Relationship Id="rId34" Type="http://schemas.openxmlformats.org/officeDocument/2006/relationships/font" Target="fonts/PoppinsLight-bold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d948db01b5_0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d948db01b5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d948db01b5_0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d948db01b5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d948db01b5_0_1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d948db01b5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CL"/>
              <a:t>NOTAS PARA TUTOR/A: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Pedirle de antemano al pupilo que necesitará tener su cuaderno preparado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Tal vez no terminen todos los ejercicios pero lo importante es que el pupilo pueda entender los que haga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CL"/>
              <a:t>NOTAS PARA TUTOR/A: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No olvides recalcar las transformaciones de unidades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&lt;a href="https://www.freepik.es/icono/plano-casa_5116587"&gt;Icono de Freepik&lt;/a&gt;</a:t>
            </a:r>
            <a:endParaRPr/>
          </a:p>
        </p:txBody>
      </p:sp>
      <p:sp>
        <p:nvSpPr>
          <p:cNvPr id="190" name="Google Shape;19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CL"/>
              <a:t>NOTAS PARA TUTOR/A: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Este ejercicio es más largo, por lo que déjalo para el final si les queda tiempo. En caso contrario se lo puedes plantear como tarea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CL"/>
              <a:t>NOTAS PARA TUTOR/A: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Todos los ejercicios es importante que el pupilo los haga a su ritmo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&lt;a href="https://www.freepik.es/icono/muro_9629343#fromView=search&amp;term=cuadricula&amp;track=ais&amp;page=4&amp;position=58&amp;uuid=ee16ecf2-0a9d-42fc-821b-82dd614d380a"&gt;Icono de Prosymbols Premium&lt;/a&gt;</a:t>
            </a:r>
            <a:endParaRPr/>
          </a:p>
        </p:txBody>
      </p:sp>
      <p:sp>
        <p:nvSpPr>
          <p:cNvPr id="269" name="Google Shape;26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https://www.pngwing.com/es/free-png-zwval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&lt;a href="https://www.freepik.es/icono/lapiz_481874#fromView=search&amp;term=lapiz&amp;track=ais&amp;page=1&amp;position=0&amp;uuid=75d078c0-4e67-4c51-b975-9bfc36ee3f6f"&gt;Icono de Those Icons&lt;/a&gt;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&lt;a href="https://www.freepik.es/icono/libro_828370#fromView=search&amp;term=libro&amp;track=ais&amp;page=1&amp;position=4&amp;uuid=9de9248e-a000-4b3f-a890-6ddef57ff7f3"&gt;Icono de berkahicon&lt;/a&gt;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https://www.freepik.es/icono/bombilla_9482348#fromView=sear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ch&amp;term=ampolleta&amp;track=ais&amp;page=1&amp;position=17&amp;uuid=58ab9054-0e05-4a1f-960c-e10f81cbb8d9</a:t>
            </a:r>
            <a:endParaRPr/>
          </a:p>
        </p:txBody>
      </p:sp>
      <p:sp>
        <p:nvSpPr>
          <p:cNvPr id="281" name="Google Shape;28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Hacer una tablita de conversión de unidades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&lt;a href="https://www.freepik.es/icono/gusano_765737#fromView=search&amp;term=gusano&amp;track=ais&amp;page=1&amp;position=17&amp;uuid=84c7ccae-0355-482d-af85-d0dffeb9cb7b"&gt;Icono de Freepik&lt;/a&gt;</a:t>
            </a:r>
            <a:endParaRPr/>
          </a:p>
        </p:txBody>
      </p:sp>
      <p:sp>
        <p:nvSpPr>
          <p:cNvPr id="322" name="Google Shape;322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Videos Ejercicios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2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2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2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d948db01b5_0_15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g2d948db01b5_0_155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1" name="Google Shape;61;g2d948db01b5_0_15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g2d948db01b5_0_15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g2d948db01b5_0_15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d948db01b5_0_16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g2d948db01b5_0_16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g2d948db01b5_0_16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g2d948db01b5_0_16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g2d948db01b5_0_16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d948db01b5_0_167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g2d948db01b5_0_167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3" name="Google Shape;73;g2d948db01b5_0_16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g2d948db01b5_0_16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g2d948db01b5_0_16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d948db01b5_0_17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g2d948db01b5_0_173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g2d948db01b5_0_173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0" name="Google Shape;80;g2d948db01b5_0_17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g2d948db01b5_0_17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g2d948db01b5_0_17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d948db01b5_0_180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g2d948db01b5_0_180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g2d948db01b5_0_180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g2d948db01b5_0_180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g2d948db01b5_0_180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g2d948db01b5_0_18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g2d948db01b5_0_18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g2d948db01b5_0_18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d948db01b5_0_18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g2d948db01b5_0_18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g2d948db01b5_0_18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g2d948db01b5_0_18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948db01b5_0_19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g2d948db01b5_0_19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g2d948db01b5_0_19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d948db01b5_0_198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g2d948db01b5_0_198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4" name="Google Shape;104;g2d948db01b5_0_198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5" name="Google Shape;105;g2d948db01b5_0_19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g2d948db01b5_0_19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g2d948db01b5_0_19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d948db01b5_0_205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g2d948db01b5_0_205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g2d948db01b5_0_205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2" name="Google Shape;112;g2d948db01b5_0_20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g2d948db01b5_0_20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g2d948db01b5_0_20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d948db01b5_0_21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g2d948db01b5_0_212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8" name="Google Shape;118;g2d948db01b5_0_2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g2d948db01b5_0_2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g2d948db01b5_0_2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d948db01b5_0_218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g2d948db01b5_0_218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4" name="Google Shape;124;g2d948db01b5_0_2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g2d948db01b5_0_2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g2d948db01b5_0_2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d948db01b5_0_14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g2d948db01b5_0_14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g2d948db01b5_0_14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g2d948db01b5_0_14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g2d948db01b5_0_14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Relationship Id="rId4" Type="http://schemas.openxmlformats.org/officeDocument/2006/relationships/hyperlink" Target="http://www.youtube.com/watch?v=mK65gtujjrA" TargetMode="External"/><Relationship Id="rId5" Type="http://schemas.openxmlformats.org/officeDocument/2006/relationships/image" Target="../media/image17.jpg"/><Relationship Id="rId6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Relationship Id="rId7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jpg"/><Relationship Id="rId4" Type="http://schemas.openxmlformats.org/officeDocument/2006/relationships/hyperlink" Target="http://www.youtube.com/watch?v=dDm-IjvNjKw" TargetMode="External"/><Relationship Id="rId5" Type="http://schemas.openxmlformats.org/officeDocument/2006/relationships/image" Target="../media/image23.jpg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"/>
          <p:cNvSpPr txBox="1"/>
          <p:nvPr/>
        </p:nvSpPr>
        <p:spPr>
          <a:xfrm>
            <a:off x="1152939" y="502470"/>
            <a:ext cx="683812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CL" sz="60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LA RUTA MATEMÁTICA</a:t>
            </a:r>
            <a:endParaRPr/>
          </a:p>
        </p:txBody>
      </p:sp>
      <p:sp>
        <p:nvSpPr>
          <p:cNvPr id="132" name="Google Shape;132;p1"/>
          <p:cNvSpPr txBox="1"/>
          <p:nvPr/>
        </p:nvSpPr>
        <p:spPr>
          <a:xfrm>
            <a:off x="2335696" y="2102398"/>
            <a:ext cx="4472608" cy="83099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CL" sz="48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GEOMETRÍA 2D</a:t>
            </a:r>
            <a:endParaRPr b="1" i="0" sz="4800" u="none" cap="none" strike="noStrike">
              <a:solidFill>
                <a:srgbClr val="009F98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133" name="Google Shape;13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64" y="2738944"/>
            <a:ext cx="2239350" cy="224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"/>
          <p:cNvSpPr txBox="1"/>
          <p:nvPr/>
        </p:nvSpPr>
        <p:spPr>
          <a:xfrm>
            <a:off x="2335696" y="3235008"/>
            <a:ext cx="4472608" cy="83099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CL" sz="48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(agregar dibujos)</a:t>
            </a:r>
            <a:endParaRPr/>
          </a:p>
        </p:txBody>
      </p:sp>
      <p:pic>
        <p:nvPicPr>
          <p:cNvPr id="135" name="Google Shape;135;p1"/>
          <p:cNvPicPr preferRelativeResize="0"/>
          <p:nvPr/>
        </p:nvPicPr>
        <p:blipFill rotWithShape="1">
          <a:blip r:embed="rId4">
            <a:alphaModFix/>
          </a:blip>
          <a:srcRect b="17637" l="28322" r="13793" t="24438"/>
          <a:stretch/>
        </p:blipFill>
        <p:spPr>
          <a:xfrm>
            <a:off x="0" y="-64800"/>
            <a:ext cx="9248500" cy="526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19475" y="431436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d948db01b5_0_112"/>
          <p:cNvSpPr txBox="1"/>
          <p:nvPr/>
        </p:nvSpPr>
        <p:spPr>
          <a:xfrm>
            <a:off x="589763" y="125503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Propósito</a:t>
            </a:r>
            <a:r>
              <a:rPr b="1" lang="es-CL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s-CL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s-CL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Determinar los conocimientos adquiridos por los estudiantes a lo largo del desarrollo de la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lección.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42" name="Google Shape;142;g2d948db01b5_0_112"/>
          <p:cNvSpPr txBox="1"/>
          <p:nvPr/>
        </p:nvSpPr>
        <p:spPr>
          <a:xfrm>
            <a:off x="868700" y="1980075"/>
            <a:ext cx="3524100" cy="27114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Objetivos de la Clase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Ejercitar la medición de longitudes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Ejercitar la transformación de unidades de longitud.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3" name="Google Shape;143;g2d948db01b5_0_112"/>
          <p:cNvSpPr txBox="1"/>
          <p:nvPr/>
        </p:nvSpPr>
        <p:spPr>
          <a:xfrm>
            <a:off x="4782050" y="1979974"/>
            <a:ext cx="3524100" cy="27114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Conceptos Clave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Comparación de medidas de longitud.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Identificación de medidas de longitud.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Medición de medidas de longitud.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g2d948db01b5_0_112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2d948db01b5_0_112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2d948db01b5_0_112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7" name="Google Shape;147;g2d948db01b5_0_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6200" y="34346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d948db01b5_0_122"/>
          <p:cNvSpPr txBox="1"/>
          <p:nvPr/>
        </p:nvSpPr>
        <p:spPr>
          <a:xfrm>
            <a:off x="589763" y="119788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Consejos para realizar la sesión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53" name="Google Shape;153;g2d948db01b5_0_122"/>
          <p:cNvSpPr txBox="1"/>
          <p:nvPr/>
        </p:nvSpPr>
        <p:spPr>
          <a:xfrm>
            <a:off x="589763" y="1598681"/>
            <a:ext cx="7875000" cy="4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latin typeface="Poppins"/>
                <a:ea typeface="Poppins"/>
                <a:cs typeface="Poppins"/>
                <a:sym typeface="Poppins"/>
              </a:rPr>
              <a:t>A la hora de hacer los ejercicios, tu estudiante debe ser capaz de</a:t>
            </a:r>
            <a:r>
              <a:rPr b="1" lang="es-CL" sz="1100">
                <a:latin typeface="Poppins"/>
                <a:ea typeface="Poppins"/>
                <a:cs typeface="Poppins"/>
                <a:sym typeface="Poppins"/>
              </a:rPr>
              <a:t> justificar sus respuestas</a:t>
            </a:r>
            <a:r>
              <a:rPr lang="es-CL" sz="1100">
                <a:latin typeface="Poppins"/>
                <a:ea typeface="Poppins"/>
                <a:cs typeface="Poppins"/>
                <a:sym typeface="Poppins"/>
              </a:rPr>
              <a:t>, o sea que con sus palabras </a:t>
            </a:r>
            <a:r>
              <a:rPr b="1" lang="es-CL" sz="1100">
                <a:latin typeface="Poppins"/>
                <a:ea typeface="Poppins"/>
                <a:cs typeface="Poppins"/>
                <a:sym typeface="Poppins"/>
              </a:rPr>
              <a:t>explique cada uno de los pasos</a:t>
            </a:r>
            <a:r>
              <a:rPr lang="es-CL" sz="1100">
                <a:latin typeface="Poppins"/>
                <a:ea typeface="Poppins"/>
                <a:cs typeface="Poppins"/>
                <a:sym typeface="Poppins"/>
              </a:rPr>
              <a:t> que realiza. Con ello podrás identificar vacíos en su aprendizaje para así reforzarlos.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latin typeface="Poppins"/>
                <a:ea typeface="Poppins"/>
                <a:cs typeface="Poppins"/>
                <a:sym typeface="Poppins"/>
              </a:rPr>
              <a:t>Con lo anterior en mente, se realizarán ejercicios de </a:t>
            </a:r>
            <a:r>
              <a:rPr b="1" lang="es-CL" sz="1100">
                <a:latin typeface="Poppins"/>
                <a:ea typeface="Poppins"/>
                <a:cs typeface="Poppins"/>
                <a:sym typeface="Poppins"/>
              </a:rPr>
              <a:t>transformación, medición y comparación</a:t>
            </a:r>
            <a:r>
              <a:rPr lang="es-CL" sz="1100">
                <a:latin typeface="Poppins"/>
                <a:ea typeface="Poppins"/>
                <a:cs typeface="Poppins"/>
                <a:sym typeface="Poppins"/>
              </a:rPr>
              <a:t> de unidades de medida de longitud (en ese orden). Es muy importante que mantenga el orden de estos dado que la dificultad de estos va aumentando. Existe un </a:t>
            </a:r>
            <a:r>
              <a:rPr b="1" lang="es-CL" sz="1100">
                <a:latin typeface="Poppins"/>
                <a:ea typeface="Poppins"/>
                <a:cs typeface="Poppins"/>
                <a:sym typeface="Poppins"/>
              </a:rPr>
              <a:t>problema adicional oculto de transformación </a:t>
            </a:r>
            <a:r>
              <a:rPr lang="es-CL" sz="1100">
                <a:latin typeface="Poppins"/>
                <a:ea typeface="Poppins"/>
                <a:cs typeface="Poppins"/>
                <a:sym typeface="Poppins"/>
              </a:rPr>
              <a:t>(diapositivas 6 a 8) que pueden realizar en caso de tener más tiempo ya que posee una </a:t>
            </a:r>
            <a:r>
              <a:rPr b="1" lang="es-CL" sz="1100">
                <a:latin typeface="Poppins"/>
                <a:ea typeface="Poppins"/>
                <a:cs typeface="Poppins"/>
                <a:sym typeface="Poppins"/>
              </a:rPr>
              <a:t>mayor dificultad.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00">
                <a:latin typeface="Poppins"/>
                <a:ea typeface="Poppins"/>
                <a:cs typeface="Poppins"/>
                <a:sym typeface="Poppins"/>
              </a:rPr>
              <a:t>Para esta sesión es muy importante que el </a:t>
            </a:r>
            <a:r>
              <a:rPr b="1" lang="es-CL" sz="1100">
                <a:latin typeface="Poppins"/>
                <a:ea typeface="Poppins"/>
                <a:cs typeface="Poppins"/>
                <a:sym typeface="Poppins"/>
              </a:rPr>
              <a:t>ticket de salida sea realizado</a:t>
            </a:r>
            <a:r>
              <a:rPr lang="es-CL" sz="1100">
                <a:latin typeface="Poppins"/>
                <a:ea typeface="Poppins"/>
                <a:cs typeface="Poppins"/>
                <a:sym typeface="Poppins"/>
              </a:rPr>
              <a:t> y revisado de tal forma de cerrar adecuadamente el contenido.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" name="Google Shape;154;g2d948db01b5_0_122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2d948db01b5_0_122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2d948db01b5_0_122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7" name="Google Shape;157;g2d948db01b5_0_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6200" y="34346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d948db01b5_0_140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2d948db01b5_0_140"/>
          <p:cNvSpPr txBox="1"/>
          <p:nvPr/>
        </p:nvSpPr>
        <p:spPr>
          <a:xfrm>
            <a:off x="285206" y="1218713"/>
            <a:ext cx="84516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Para Complementar</a:t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Pídele a tu estudiante que para la siguiente sesión mida sus útiles escolares y que esto los exprese en cm y en mm. Haz lo mismo con los tuyos para que puedan compararlos la próxima vez que se encuentren.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" name="Google Shape;164;g2d948db01b5_0_140"/>
          <p:cNvSpPr txBox="1"/>
          <p:nvPr/>
        </p:nvSpPr>
        <p:spPr>
          <a:xfrm>
            <a:off x="285206" y="3044044"/>
            <a:ext cx="84516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Preguntas de Cierre</a:t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¿Cómo se relacionan los metros y centímetros?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¿Qué es más grande, un kilómetro o 1000 metros?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¿</a:t>
            </a:r>
            <a:r>
              <a:rPr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Cuántos</a:t>
            </a:r>
            <a:r>
              <a:rPr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mm son 1 cm?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5" name="Google Shape;165;g2d948db01b5_0_140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2d948db01b5_0_140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7" name="Google Shape;167;g2d948db01b5_0_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6200" y="34346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"/>
          <p:cNvSpPr txBox="1"/>
          <p:nvPr/>
        </p:nvSpPr>
        <p:spPr>
          <a:xfrm>
            <a:off x="1152889" y="2063845"/>
            <a:ext cx="6838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CL" sz="60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SESIÓN 2</a:t>
            </a:r>
            <a:endParaRPr/>
          </a:p>
        </p:txBody>
      </p:sp>
      <p:pic>
        <p:nvPicPr>
          <p:cNvPr id="173" name="Google Shape;17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9475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"/>
          <p:cNvSpPr txBox="1"/>
          <p:nvPr/>
        </p:nvSpPr>
        <p:spPr>
          <a:xfrm>
            <a:off x="-37" y="366599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Qué evalúa el MINEDUC (información para TUTOR/A)</a:t>
            </a:r>
            <a:endParaRPr/>
          </a:p>
        </p:txBody>
      </p:sp>
      <p:sp>
        <p:nvSpPr>
          <p:cNvPr id="179" name="Google Shape;179;p3"/>
          <p:cNvSpPr txBox="1"/>
          <p:nvPr/>
        </p:nvSpPr>
        <p:spPr>
          <a:xfrm>
            <a:off x="600218" y="1095159"/>
            <a:ext cx="7943489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OA22 4to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Medir longitudes con unidades estandarizadas (m, cm) y realizar transformaciones entre estas unidades (m a cm, y viceversa), en el contexto de la resolución de problemas.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OA19 5to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Medir longitudes con unidades estandarizadas (m, cm, mm) en el contexto de la resolución de problemas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*Adicionalmente se trabajará con kilómetro dado que también se pregunta en otros cursos</a:t>
            </a:r>
            <a:endParaRPr/>
          </a:p>
        </p:txBody>
      </p:sp>
      <p:pic>
        <p:nvPicPr>
          <p:cNvPr id="180" name="Google Shape;18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9475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"/>
          <p:cNvSpPr txBox="1"/>
          <p:nvPr/>
        </p:nvSpPr>
        <p:spPr>
          <a:xfrm>
            <a:off x="-37" y="366599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✨Objetivos de hoy✨</a:t>
            </a:r>
            <a:endParaRPr/>
          </a:p>
        </p:txBody>
      </p:sp>
      <p:sp>
        <p:nvSpPr>
          <p:cNvPr id="186" name="Google Shape;186;p4"/>
          <p:cNvSpPr txBox="1"/>
          <p:nvPr/>
        </p:nvSpPr>
        <p:spPr>
          <a:xfrm>
            <a:off x="600218" y="1095159"/>
            <a:ext cx="7943489" cy="1369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AutoNum type="arabicParenR"/>
            </a:pPr>
            <a:r>
              <a:rPr b="0" i="0" lang="es-CL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Ejercitar la medición de longitudes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AutoNum type="arabicParenR"/>
            </a:pPr>
            <a:r>
              <a:rPr b="0" i="0" lang="es-CL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Ejercitar la transformación de unidades de longitud</a:t>
            </a:r>
            <a:endParaRPr/>
          </a:p>
          <a:p>
            <a:pPr indent="-1968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187" name="Google Shape;18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9475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"/>
          <p:cNvSpPr txBox="1"/>
          <p:nvPr/>
        </p:nvSpPr>
        <p:spPr>
          <a:xfrm>
            <a:off x="337499" y="366600"/>
            <a:ext cx="8469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¡Trasformemos las unidades!</a:t>
            </a:r>
            <a:endParaRPr/>
          </a:p>
        </p:txBody>
      </p:sp>
      <p:pic>
        <p:nvPicPr>
          <p:cNvPr descr="Forma&#10;&#10;Descripción generada automáticamente con confianza baja" id="193" name="Google Shape;19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8153" y="1471640"/>
            <a:ext cx="2479620" cy="247962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6"/>
          <p:cNvSpPr txBox="1"/>
          <p:nvPr/>
        </p:nvSpPr>
        <p:spPr>
          <a:xfrm>
            <a:off x="2565399" y="1317752"/>
            <a:ext cx="965201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850 cm</a:t>
            </a:r>
            <a:endParaRPr/>
          </a:p>
        </p:txBody>
      </p:sp>
      <p:sp>
        <p:nvSpPr>
          <p:cNvPr id="195" name="Google Shape;195;p6"/>
          <p:cNvSpPr txBox="1"/>
          <p:nvPr/>
        </p:nvSpPr>
        <p:spPr>
          <a:xfrm>
            <a:off x="775560" y="2557561"/>
            <a:ext cx="911207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720 cm</a:t>
            </a:r>
            <a:endParaRPr/>
          </a:p>
        </p:txBody>
      </p:sp>
      <p:sp>
        <p:nvSpPr>
          <p:cNvPr id="196" name="Google Shape;196;p6"/>
          <p:cNvSpPr txBox="1"/>
          <p:nvPr/>
        </p:nvSpPr>
        <p:spPr>
          <a:xfrm>
            <a:off x="4613217" y="2095896"/>
            <a:ext cx="3209983" cy="123110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-296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197" name="Google Shape;197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19475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"/>
          <p:cNvSpPr txBox="1"/>
          <p:nvPr/>
        </p:nvSpPr>
        <p:spPr>
          <a:xfrm>
            <a:off x="-37" y="366599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¡Trasformemos las unidades!</a:t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1722296" y="1532155"/>
            <a:ext cx="863902" cy="2043953"/>
          </a:xfrm>
          <a:prstGeom prst="rect">
            <a:avLst/>
          </a:prstGeom>
          <a:solidFill>
            <a:srgbClr val="FAB2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1722296" y="1532155"/>
            <a:ext cx="1990460" cy="1222031"/>
          </a:xfrm>
          <a:prstGeom prst="rect">
            <a:avLst/>
          </a:prstGeom>
          <a:solidFill>
            <a:srgbClr val="FAB2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" name="Google Shape;205;p10"/>
          <p:cNvCxnSpPr/>
          <p:nvPr/>
        </p:nvCxnSpPr>
        <p:spPr>
          <a:xfrm>
            <a:off x="1433520" y="1532155"/>
            <a:ext cx="0" cy="2043953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06" name="Google Shape;206;p10"/>
          <p:cNvSpPr txBox="1"/>
          <p:nvPr/>
        </p:nvSpPr>
        <p:spPr>
          <a:xfrm>
            <a:off x="-66490" y="2354076"/>
            <a:ext cx="141526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18.000 mm</a:t>
            </a:r>
            <a:endParaRPr b="0" i="0" sz="1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07" name="Google Shape;207;p10"/>
          <p:cNvCxnSpPr/>
          <p:nvPr/>
        </p:nvCxnSpPr>
        <p:spPr>
          <a:xfrm>
            <a:off x="3797502" y="1493464"/>
            <a:ext cx="0" cy="1260722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08" name="Google Shape;208;p10"/>
          <p:cNvSpPr txBox="1"/>
          <p:nvPr/>
        </p:nvSpPr>
        <p:spPr>
          <a:xfrm>
            <a:off x="3741405" y="1923770"/>
            <a:ext cx="100271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1.000 cm</a:t>
            </a:r>
            <a:endParaRPr b="0" i="0" sz="1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09" name="Google Shape;209;p10"/>
          <p:cNvCxnSpPr/>
          <p:nvPr/>
        </p:nvCxnSpPr>
        <p:spPr>
          <a:xfrm>
            <a:off x="1693140" y="3700286"/>
            <a:ext cx="893058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10" name="Google Shape;210;p10"/>
          <p:cNvSpPr txBox="1"/>
          <p:nvPr/>
        </p:nvSpPr>
        <p:spPr>
          <a:xfrm>
            <a:off x="1693140" y="3756778"/>
            <a:ext cx="86390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 m</a:t>
            </a:r>
            <a:endParaRPr b="0" i="0" sz="1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11" name="Google Shape;211;p10"/>
          <p:cNvCxnSpPr/>
          <p:nvPr/>
        </p:nvCxnSpPr>
        <p:spPr>
          <a:xfrm>
            <a:off x="1722296" y="1438186"/>
            <a:ext cx="199046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12" name="Google Shape;212;p10"/>
          <p:cNvSpPr txBox="1"/>
          <p:nvPr/>
        </p:nvSpPr>
        <p:spPr>
          <a:xfrm>
            <a:off x="2285575" y="1051155"/>
            <a:ext cx="86390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12 m</a:t>
            </a:r>
            <a:endParaRPr b="0" i="0" sz="1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13" name="Google Shape;213;p10"/>
          <p:cNvSpPr txBox="1"/>
          <p:nvPr/>
        </p:nvSpPr>
        <p:spPr>
          <a:xfrm>
            <a:off x="4374984" y="1228127"/>
            <a:ext cx="4554392" cy="446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Considera que: </a:t>
            </a:r>
            <a:r>
              <a:rPr b="1" i="0" lang="es-CL" sz="23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1 cm = 10 mm </a:t>
            </a:r>
            <a:endParaRPr/>
          </a:p>
        </p:txBody>
      </p:sp>
      <p:sp>
        <p:nvSpPr>
          <p:cNvPr id="214" name="Google Shape;214;p10"/>
          <p:cNvSpPr txBox="1"/>
          <p:nvPr/>
        </p:nvSpPr>
        <p:spPr>
          <a:xfrm>
            <a:off x="4675694" y="1954747"/>
            <a:ext cx="4253681" cy="1862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300" u="none" cap="none" strike="noStrike">
                <a:solidFill>
                  <a:schemeClr val="accent2"/>
                </a:solidFill>
                <a:latin typeface="Patrick Hand"/>
                <a:ea typeface="Patrick Hand"/>
                <a:cs typeface="Patrick Hand"/>
                <a:sym typeface="Patrick Hand"/>
              </a:rPr>
              <a:t>Para comparar longitudes, debemos tener las mismas unidades de medida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En este caso conviene dejar todo en centímetros</a:t>
            </a:r>
            <a:endParaRPr b="0" i="0" sz="2300" u="none" cap="none" strike="noStrike">
              <a:solidFill>
                <a:srgbClr val="FF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215" name="Google Shape;215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9475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"/>
          <p:cNvSpPr txBox="1"/>
          <p:nvPr/>
        </p:nvSpPr>
        <p:spPr>
          <a:xfrm>
            <a:off x="-1638540" y="331991"/>
            <a:ext cx="455439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6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1 cm = 10 mm </a:t>
            </a: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1722296" y="1532155"/>
            <a:ext cx="863902" cy="2043953"/>
          </a:xfrm>
          <a:prstGeom prst="rect">
            <a:avLst/>
          </a:prstGeom>
          <a:solidFill>
            <a:srgbClr val="FAB2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1722296" y="1532155"/>
            <a:ext cx="1990460" cy="1222031"/>
          </a:xfrm>
          <a:prstGeom prst="rect">
            <a:avLst/>
          </a:prstGeom>
          <a:solidFill>
            <a:srgbClr val="FAB2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3336238" y="1532155"/>
            <a:ext cx="376518" cy="1222031"/>
          </a:xfrm>
          <a:prstGeom prst="rect">
            <a:avLst/>
          </a:prstGeom>
          <a:solidFill>
            <a:srgbClr val="FAB2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4" name="Google Shape;224;p11"/>
          <p:cNvCxnSpPr/>
          <p:nvPr/>
        </p:nvCxnSpPr>
        <p:spPr>
          <a:xfrm>
            <a:off x="1433520" y="1532155"/>
            <a:ext cx="0" cy="2043953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25" name="Google Shape;225;p11"/>
          <p:cNvSpPr txBox="1"/>
          <p:nvPr/>
        </p:nvSpPr>
        <p:spPr>
          <a:xfrm>
            <a:off x="-66490" y="2354076"/>
            <a:ext cx="141526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18.000 mm</a:t>
            </a:r>
            <a:endParaRPr b="0" i="0" sz="1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26" name="Google Shape;226;p11"/>
          <p:cNvCxnSpPr/>
          <p:nvPr/>
        </p:nvCxnSpPr>
        <p:spPr>
          <a:xfrm>
            <a:off x="3797502" y="1493464"/>
            <a:ext cx="0" cy="1260722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27" name="Google Shape;227;p11"/>
          <p:cNvSpPr txBox="1"/>
          <p:nvPr/>
        </p:nvSpPr>
        <p:spPr>
          <a:xfrm>
            <a:off x="3741405" y="1923770"/>
            <a:ext cx="100271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1.000 cm</a:t>
            </a:r>
            <a:endParaRPr b="0" i="0" sz="1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28" name="Google Shape;228;p11"/>
          <p:cNvCxnSpPr/>
          <p:nvPr/>
        </p:nvCxnSpPr>
        <p:spPr>
          <a:xfrm>
            <a:off x="1693140" y="3700286"/>
            <a:ext cx="893058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29" name="Google Shape;229;p11"/>
          <p:cNvSpPr txBox="1"/>
          <p:nvPr/>
        </p:nvSpPr>
        <p:spPr>
          <a:xfrm>
            <a:off x="1693140" y="3756778"/>
            <a:ext cx="86390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 m</a:t>
            </a:r>
            <a:endParaRPr b="0" i="0" sz="1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30" name="Google Shape;230;p11"/>
          <p:cNvCxnSpPr/>
          <p:nvPr/>
        </p:nvCxnSpPr>
        <p:spPr>
          <a:xfrm>
            <a:off x="1722296" y="1438186"/>
            <a:ext cx="199046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31" name="Google Shape;231;p11"/>
          <p:cNvSpPr txBox="1"/>
          <p:nvPr/>
        </p:nvSpPr>
        <p:spPr>
          <a:xfrm>
            <a:off x="2285575" y="1051155"/>
            <a:ext cx="86390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12 m</a:t>
            </a:r>
            <a:endParaRPr b="0" i="0" sz="1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5994525" y="1443618"/>
            <a:ext cx="863902" cy="2043953"/>
          </a:xfrm>
          <a:prstGeom prst="rect">
            <a:avLst/>
          </a:prstGeom>
          <a:solidFill>
            <a:srgbClr val="FAB2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5994525" y="1443618"/>
            <a:ext cx="1990460" cy="1222031"/>
          </a:xfrm>
          <a:prstGeom prst="rect">
            <a:avLst/>
          </a:prstGeom>
          <a:solidFill>
            <a:srgbClr val="FAB2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7608467" y="1443618"/>
            <a:ext cx="376518" cy="1222031"/>
          </a:xfrm>
          <a:prstGeom prst="rect">
            <a:avLst/>
          </a:prstGeom>
          <a:solidFill>
            <a:srgbClr val="FAB2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5" name="Google Shape;235;p11"/>
          <p:cNvCxnSpPr/>
          <p:nvPr/>
        </p:nvCxnSpPr>
        <p:spPr>
          <a:xfrm>
            <a:off x="5705749" y="1443618"/>
            <a:ext cx="0" cy="2043953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36" name="Google Shape;236;p11"/>
          <p:cNvSpPr txBox="1"/>
          <p:nvPr/>
        </p:nvSpPr>
        <p:spPr>
          <a:xfrm>
            <a:off x="4494445" y="2265539"/>
            <a:ext cx="1126558" cy="40011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3185" l="0" r="0" t="-5796"/>
            </a:stretch>
          </a:blip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237" name="Google Shape;237;p11"/>
          <p:cNvCxnSpPr/>
          <p:nvPr/>
        </p:nvCxnSpPr>
        <p:spPr>
          <a:xfrm>
            <a:off x="8069731" y="1404927"/>
            <a:ext cx="0" cy="1260722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38" name="Google Shape;238;p11"/>
          <p:cNvSpPr txBox="1"/>
          <p:nvPr/>
        </p:nvSpPr>
        <p:spPr>
          <a:xfrm>
            <a:off x="8141285" y="1854578"/>
            <a:ext cx="1002715" cy="40011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1426" l="0" r="0" t="-4284"/>
            </a:stretch>
          </a:blip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239" name="Google Shape;239;p11"/>
          <p:cNvCxnSpPr/>
          <p:nvPr/>
        </p:nvCxnSpPr>
        <p:spPr>
          <a:xfrm>
            <a:off x="5965369" y="3611749"/>
            <a:ext cx="893058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40" name="Google Shape;240;p11"/>
          <p:cNvSpPr txBox="1"/>
          <p:nvPr/>
        </p:nvSpPr>
        <p:spPr>
          <a:xfrm>
            <a:off x="5965369" y="3701979"/>
            <a:ext cx="863902" cy="400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1426" l="0" r="-2067" t="-4284"/>
            </a:stretch>
          </a:blip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241" name="Google Shape;241;p11"/>
          <p:cNvCxnSpPr/>
          <p:nvPr/>
        </p:nvCxnSpPr>
        <p:spPr>
          <a:xfrm>
            <a:off x="5994525" y="1349649"/>
            <a:ext cx="199046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42" name="Google Shape;242;p11"/>
          <p:cNvSpPr txBox="1"/>
          <p:nvPr/>
        </p:nvSpPr>
        <p:spPr>
          <a:xfrm>
            <a:off x="6829271" y="851100"/>
            <a:ext cx="863902" cy="40011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3185" l="0" r="-2054" t="-5796"/>
            </a:stretch>
          </a:blip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43" name="Google Shape;243;p11"/>
          <p:cNvSpPr txBox="1"/>
          <p:nvPr/>
        </p:nvSpPr>
        <p:spPr>
          <a:xfrm>
            <a:off x="374549" y="385275"/>
            <a:ext cx="8394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¡Trasformemos las unidades!</a:t>
            </a:r>
            <a:endParaRPr/>
          </a:p>
        </p:txBody>
      </p:sp>
      <p:pic>
        <p:nvPicPr>
          <p:cNvPr id="244" name="Google Shape;244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19475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"/>
          <p:cNvSpPr txBox="1"/>
          <p:nvPr/>
        </p:nvSpPr>
        <p:spPr>
          <a:xfrm>
            <a:off x="-1638540" y="331991"/>
            <a:ext cx="455439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6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1 cm = 10 mm </a:t>
            </a:r>
            <a:endParaRPr/>
          </a:p>
        </p:txBody>
      </p:sp>
      <p:sp>
        <p:nvSpPr>
          <p:cNvPr id="250" name="Google Shape;250;p12"/>
          <p:cNvSpPr/>
          <p:nvPr/>
        </p:nvSpPr>
        <p:spPr>
          <a:xfrm>
            <a:off x="1722296" y="1532155"/>
            <a:ext cx="863902" cy="2043953"/>
          </a:xfrm>
          <a:prstGeom prst="rect">
            <a:avLst/>
          </a:prstGeom>
          <a:solidFill>
            <a:srgbClr val="FAB2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1722296" y="1532155"/>
            <a:ext cx="1990460" cy="1222031"/>
          </a:xfrm>
          <a:prstGeom prst="rect">
            <a:avLst/>
          </a:prstGeom>
          <a:solidFill>
            <a:srgbClr val="FAB2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2" name="Google Shape;252;p12"/>
          <p:cNvCxnSpPr/>
          <p:nvPr/>
        </p:nvCxnSpPr>
        <p:spPr>
          <a:xfrm>
            <a:off x="1433520" y="1532155"/>
            <a:ext cx="0" cy="2043953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53" name="Google Shape;253;p12"/>
          <p:cNvSpPr txBox="1"/>
          <p:nvPr/>
        </p:nvSpPr>
        <p:spPr>
          <a:xfrm>
            <a:off x="306962" y="2354076"/>
            <a:ext cx="1041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1.800 cm</a:t>
            </a:r>
            <a:endParaRPr b="0" i="0" sz="1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54" name="Google Shape;254;p12"/>
          <p:cNvCxnSpPr/>
          <p:nvPr/>
        </p:nvCxnSpPr>
        <p:spPr>
          <a:xfrm>
            <a:off x="3797502" y="1493464"/>
            <a:ext cx="0" cy="1260722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55" name="Google Shape;255;p12"/>
          <p:cNvSpPr txBox="1"/>
          <p:nvPr/>
        </p:nvSpPr>
        <p:spPr>
          <a:xfrm>
            <a:off x="3741405" y="1923770"/>
            <a:ext cx="100271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1.000 cm</a:t>
            </a:r>
            <a:endParaRPr b="0" i="0" sz="1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56" name="Google Shape;256;p12"/>
          <p:cNvCxnSpPr/>
          <p:nvPr/>
        </p:nvCxnSpPr>
        <p:spPr>
          <a:xfrm>
            <a:off x="1693140" y="3700286"/>
            <a:ext cx="893058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57" name="Google Shape;257;p12"/>
          <p:cNvSpPr txBox="1"/>
          <p:nvPr/>
        </p:nvSpPr>
        <p:spPr>
          <a:xfrm>
            <a:off x="1693140" y="3756778"/>
            <a:ext cx="86390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200 cm</a:t>
            </a:r>
            <a:endParaRPr b="0" i="0" sz="1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58" name="Google Shape;258;p12"/>
          <p:cNvCxnSpPr/>
          <p:nvPr/>
        </p:nvCxnSpPr>
        <p:spPr>
          <a:xfrm>
            <a:off x="1722296" y="1438186"/>
            <a:ext cx="199046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59" name="Google Shape;259;p12"/>
          <p:cNvSpPr txBox="1"/>
          <p:nvPr/>
        </p:nvSpPr>
        <p:spPr>
          <a:xfrm>
            <a:off x="2285574" y="1051155"/>
            <a:ext cx="105066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1.200 cm</a:t>
            </a:r>
            <a:endParaRPr b="0" i="0" sz="1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60" name="Google Shape;260;p12"/>
          <p:cNvSpPr txBox="1"/>
          <p:nvPr/>
        </p:nvSpPr>
        <p:spPr>
          <a:xfrm>
            <a:off x="4692846" y="1351432"/>
            <a:ext cx="4253681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300" u="none" cap="none" strike="noStrike">
                <a:solidFill>
                  <a:schemeClr val="accent2"/>
                </a:solidFill>
                <a:latin typeface="Patrick Hand"/>
                <a:ea typeface="Patrick Hand"/>
                <a:cs typeface="Patrick Hand"/>
                <a:sym typeface="Patrick Hand"/>
              </a:rPr>
              <a:t>¿Cuánto miden los segmentos destacados?</a:t>
            </a:r>
            <a:endParaRPr b="0" i="0" sz="2300" u="none" cap="none" strike="noStrike">
              <a:solidFill>
                <a:srgbClr val="FF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61" name="Google Shape;261;p12"/>
          <p:cNvSpPr txBox="1"/>
          <p:nvPr/>
        </p:nvSpPr>
        <p:spPr>
          <a:xfrm>
            <a:off x="221399" y="385275"/>
            <a:ext cx="8701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¡Trasformemos las unidades!</a:t>
            </a:r>
            <a:endParaRPr/>
          </a:p>
        </p:txBody>
      </p:sp>
      <p:cxnSp>
        <p:nvCxnSpPr>
          <p:cNvPr id="262" name="Google Shape;262;p12"/>
          <p:cNvCxnSpPr/>
          <p:nvPr/>
        </p:nvCxnSpPr>
        <p:spPr>
          <a:xfrm>
            <a:off x="2666286" y="2789915"/>
            <a:ext cx="0" cy="786193"/>
          </a:xfrm>
          <a:prstGeom prst="straightConnector1">
            <a:avLst/>
          </a:prstGeom>
          <a:noFill/>
          <a:ln cap="flat" cmpd="sng" w="38100">
            <a:solidFill>
              <a:srgbClr val="03FF00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63" name="Google Shape;263;p12"/>
          <p:cNvCxnSpPr/>
          <p:nvPr/>
        </p:nvCxnSpPr>
        <p:spPr>
          <a:xfrm>
            <a:off x="2762054" y="2795227"/>
            <a:ext cx="950702" cy="0"/>
          </a:xfrm>
          <a:prstGeom prst="straightConnector1">
            <a:avLst/>
          </a:prstGeom>
          <a:noFill/>
          <a:ln cap="flat" cmpd="sng" w="38100">
            <a:solidFill>
              <a:srgbClr val="31EAFE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64" name="Google Shape;264;p12"/>
          <p:cNvSpPr/>
          <p:nvPr/>
        </p:nvSpPr>
        <p:spPr>
          <a:xfrm>
            <a:off x="5139403" y="2191912"/>
            <a:ext cx="1355464" cy="48641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3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7032748" y="2191912"/>
            <a:ext cx="1355464" cy="48641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31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6" name="Google Shape;266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9475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"/>
          <p:cNvSpPr txBox="1"/>
          <p:nvPr/>
        </p:nvSpPr>
        <p:spPr>
          <a:xfrm>
            <a:off x="1592131" y="366599"/>
            <a:ext cx="595966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Midamos Trayectos</a:t>
            </a:r>
            <a:endParaRPr/>
          </a:p>
        </p:txBody>
      </p:sp>
      <p:pic>
        <p:nvPicPr>
          <p:cNvPr descr="Imagen que contiene Patrón de fondo&#10;&#10;Descripción generada automáticamente" id="272" name="Google Shape;27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973" y="1159704"/>
            <a:ext cx="2758280" cy="275828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5"/>
          <p:cNvSpPr txBox="1"/>
          <p:nvPr/>
        </p:nvSpPr>
        <p:spPr>
          <a:xfrm>
            <a:off x="3130475" y="1159705"/>
            <a:ext cx="6013525" cy="1369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Si cada cuadrado son 10 m,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¿cuánto mide cada trayecto de A hacia B?</a:t>
            </a:r>
            <a:endParaRPr/>
          </a:p>
          <a:p>
            <a:pPr indent="-1968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74" name="Google Shape;274;p5"/>
          <p:cNvSpPr/>
          <p:nvPr/>
        </p:nvSpPr>
        <p:spPr>
          <a:xfrm>
            <a:off x="3508049" y="2127773"/>
            <a:ext cx="1355464" cy="48641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3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5"/>
          <p:cNvSpPr/>
          <p:nvPr/>
        </p:nvSpPr>
        <p:spPr>
          <a:xfrm>
            <a:off x="5401394" y="2127773"/>
            <a:ext cx="1355464" cy="48641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31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5"/>
          <p:cNvSpPr/>
          <p:nvPr/>
        </p:nvSpPr>
        <p:spPr>
          <a:xfrm>
            <a:off x="7294739" y="2127773"/>
            <a:ext cx="1355464" cy="48641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5"/>
          <p:cNvSpPr txBox="1"/>
          <p:nvPr/>
        </p:nvSpPr>
        <p:spPr>
          <a:xfrm>
            <a:off x="3014253" y="2806203"/>
            <a:ext cx="6129747" cy="446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¿Cuál es el más corto?</a:t>
            </a:r>
            <a:endParaRPr/>
          </a:p>
        </p:txBody>
      </p:sp>
      <p:pic>
        <p:nvPicPr>
          <p:cNvPr id="278" name="Google Shape;278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9475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7"/>
          <p:cNvSpPr txBox="1"/>
          <p:nvPr/>
        </p:nvSpPr>
        <p:spPr>
          <a:xfrm>
            <a:off x="174750" y="326025"/>
            <a:ext cx="8794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¡Midamos!</a:t>
            </a:r>
            <a:endParaRPr/>
          </a:p>
        </p:txBody>
      </p:sp>
      <p:sp>
        <p:nvSpPr>
          <p:cNvPr id="284" name="Google Shape;284;p7"/>
          <p:cNvSpPr txBox="1"/>
          <p:nvPr/>
        </p:nvSpPr>
        <p:spPr>
          <a:xfrm>
            <a:off x="600218" y="911027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Si la regla mide cm, ¿qué indican las líneas entre cada número?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descr="Imagen en blanco y negro&#10;&#10;Descripción generada automáticamente con confianza baja" id="285" name="Google Shape;285;p7"/>
          <p:cNvPicPr preferRelativeResize="0"/>
          <p:nvPr/>
        </p:nvPicPr>
        <p:blipFill rotWithShape="1">
          <a:blip r:embed="rId3">
            <a:alphaModFix/>
          </a:blip>
          <a:srcRect b="9095" l="5705" r="3755" t="74747"/>
          <a:stretch/>
        </p:blipFill>
        <p:spPr>
          <a:xfrm>
            <a:off x="600218" y="3604554"/>
            <a:ext cx="7943489" cy="8309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86" name="Google Shape;28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2667535">
            <a:off x="909383" y="2914126"/>
            <a:ext cx="1092182" cy="10921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87" name="Google Shape;28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49256" y="2124075"/>
            <a:ext cx="2336461" cy="17649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88" name="Google Shape;28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5400000">
            <a:off x="6440613" y="2037985"/>
            <a:ext cx="2012103" cy="1952031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7"/>
          <p:cNvSpPr txBox="1"/>
          <p:nvPr/>
        </p:nvSpPr>
        <p:spPr>
          <a:xfrm>
            <a:off x="731575" y="2815408"/>
            <a:ext cx="1447798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7"/>
          <p:cNvSpPr txBox="1"/>
          <p:nvPr/>
        </p:nvSpPr>
        <p:spPr>
          <a:xfrm>
            <a:off x="3493587" y="1913416"/>
            <a:ext cx="1447798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7"/>
          <p:cNvSpPr txBox="1"/>
          <p:nvPr/>
        </p:nvSpPr>
        <p:spPr>
          <a:xfrm>
            <a:off x="6722765" y="1876438"/>
            <a:ext cx="1447798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59450" y="3260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8"/>
          <p:cNvSpPr txBox="1"/>
          <p:nvPr/>
        </p:nvSpPr>
        <p:spPr>
          <a:xfrm>
            <a:off x="300149" y="341125"/>
            <a:ext cx="8543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Distancias largas</a:t>
            </a:r>
            <a:endParaRPr/>
          </a:p>
        </p:txBody>
      </p:sp>
      <p:graphicFrame>
        <p:nvGraphicFramePr>
          <p:cNvPr id="298" name="Google Shape;298;p8"/>
          <p:cNvGraphicFramePr/>
          <p:nvPr/>
        </p:nvGraphicFramePr>
        <p:xfrm>
          <a:off x="3101731" y="14605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{EF88BE47-2ED1-4928-8F12-ECCCD5BDEDE5}</a:tableStyleId>
              </a:tblPr>
              <a:tblGrid>
                <a:gridCol w="1470225"/>
                <a:gridCol w="14702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A Lampa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69,7 km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A Las Condes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73,7 km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A Puente Alto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46,8 km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99" name="Google Shape;299;p8"/>
          <p:cNvSpPr txBox="1"/>
          <p:nvPr/>
        </p:nvSpPr>
        <p:spPr>
          <a:xfrm>
            <a:off x="600217" y="970192"/>
            <a:ext cx="7943489" cy="446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Desde Isla de Maipo, se tienen las siguientes distancias a ciertas ciudades </a:t>
            </a:r>
            <a:endParaRPr b="0" i="0" sz="1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00" name="Google Shape;300;p8"/>
          <p:cNvSpPr txBox="1"/>
          <p:nvPr/>
        </p:nvSpPr>
        <p:spPr>
          <a:xfrm>
            <a:off x="600217" y="2679205"/>
            <a:ext cx="7943489" cy="446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¿Cuál es la ciudad más lejana?</a:t>
            </a:r>
            <a:endParaRPr b="0" i="0" sz="1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301" name="Google Shape;30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9475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"/>
          <p:cNvSpPr txBox="1"/>
          <p:nvPr/>
        </p:nvSpPr>
        <p:spPr>
          <a:xfrm>
            <a:off x="441149" y="341475"/>
            <a:ext cx="8261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Distancias largas</a:t>
            </a:r>
            <a:endParaRPr/>
          </a:p>
        </p:txBody>
      </p:sp>
      <p:graphicFrame>
        <p:nvGraphicFramePr>
          <p:cNvPr id="307" name="Google Shape;307;p9"/>
          <p:cNvGraphicFramePr/>
          <p:nvPr/>
        </p:nvGraphicFramePr>
        <p:xfrm>
          <a:off x="3101731" y="18141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{EF88BE47-2ED1-4928-8F12-ECCCD5BDEDE5}</a:tableStyleId>
              </a:tblPr>
              <a:tblGrid>
                <a:gridCol w="1470225"/>
                <a:gridCol w="14702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A Lampa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70 km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A Las Condes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74 km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A Puente Alto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47 km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08" name="Google Shape;308;p9"/>
          <p:cNvSpPr txBox="1"/>
          <p:nvPr/>
        </p:nvSpPr>
        <p:spPr>
          <a:xfrm>
            <a:off x="600217" y="970192"/>
            <a:ext cx="7943489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Desde Isla de Maipo, se tienen las siguientes distancias </a:t>
            </a:r>
            <a:r>
              <a:rPr b="1" i="0" lang="es-CL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aproximadas</a:t>
            </a:r>
            <a:r>
              <a:rPr b="0" i="0" lang="es-CL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a ciertas ciudades </a:t>
            </a:r>
            <a:endParaRPr b="0" i="0" sz="1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09" name="Google Shape;309;p9"/>
          <p:cNvSpPr txBox="1"/>
          <p:nvPr/>
        </p:nvSpPr>
        <p:spPr>
          <a:xfrm>
            <a:off x="600217" y="3065043"/>
            <a:ext cx="7943489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¿Cuántos kilómetros más hay que viajar para ir a Las Condes que a Puente Alto? </a:t>
            </a:r>
            <a:endParaRPr b="0" i="0" sz="1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310" name="Google Shape;310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9475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315" name="Google Shape;315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95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3"/>
          <p:cNvSpPr txBox="1"/>
          <p:nvPr/>
        </p:nvSpPr>
        <p:spPr>
          <a:xfrm>
            <a:off x="1393045" y="367771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¡Resumen de hoy!</a:t>
            </a:r>
            <a:endParaRPr b="0" i="0" sz="14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1844744" y="1220127"/>
            <a:ext cx="5454502" cy="2722396"/>
          </a:xfrm>
          <a:prstGeom prst="rect">
            <a:avLst/>
          </a:prstGeom>
          <a:solidFill>
            <a:srgbClr val="F5C57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¿Te gustaría ser Tutor o inscribirte como Estudiante de Conectado Aprendo? &#10;¡Regístrate en nuestro sitio web! https://www.conectadoaprendo.cl/&#10;&#10;¡Síguenos en nuestras redes sociales!&#10;https://www.instagram.com/conectado_aprendo&#10;https://www.linkedin.com/in/fundacion-conectado-aprendo-535bb4241&#10;https://www.instagram.com/clubdegoceporlalectura_ca/&#10;&#10;Consultas generales (mail):&#10;contacto@conectadoaprendo.cl&#10;&#10;Profesor y producción:&#10;https://www.youtube.com/@psudiego&#10;&#10;#tutorias #mineduc #geometria" id="318" name="Google Shape;318;p13" title="Resumen - Geometría (2) - Ejercicios longitudes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95300" y="982875"/>
            <a:ext cx="6858000" cy="337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19475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baja" id="324" name="Google Shape;32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0389" y="1800727"/>
            <a:ext cx="2386012" cy="2431746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4"/>
          <p:cNvSpPr txBox="1"/>
          <p:nvPr/>
        </p:nvSpPr>
        <p:spPr>
          <a:xfrm>
            <a:off x="300149" y="326025"/>
            <a:ext cx="8543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¡Ahora es tu turno!</a:t>
            </a:r>
            <a:endParaRPr b="0" i="0" sz="32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4"/>
          <p:cNvSpPr txBox="1"/>
          <p:nvPr/>
        </p:nvSpPr>
        <p:spPr>
          <a:xfrm>
            <a:off x="600218" y="911027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¿Cuánto mide el largo en cm y mm indicado del gusano?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descr="Imagen en blanco y negro&#10;&#10;Descripción generada automáticamente con confianza baja" id="327" name="Google Shape;327;p14"/>
          <p:cNvPicPr preferRelativeResize="0"/>
          <p:nvPr/>
        </p:nvPicPr>
        <p:blipFill rotWithShape="1">
          <a:blip r:embed="rId4">
            <a:alphaModFix/>
          </a:blip>
          <a:srcRect b="9095" l="5705" r="3755" t="74747"/>
          <a:stretch/>
        </p:blipFill>
        <p:spPr>
          <a:xfrm>
            <a:off x="600218" y="3604554"/>
            <a:ext cx="7943489" cy="83099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4"/>
          <p:cNvSpPr txBox="1"/>
          <p:nvPr/>
        </p:nvSpPr>
        <p:spPr>
          <a:xfrm>
            <a:off x="3250995" y="1646838"/>
            <a:ext cx="2084798" cy="30777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454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329" name="Google Shape;329;p14"/>
          <p:cNvCxnSpPr/>
          <p:nvPr/>
        </p:nvCxnSpPr>
        <p:spPr>
          <a:xfrm>
            <a:off x="3100388" y="2062163"/>
            <a:ext cx="0" cy="1661454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30" name="Google Shape;330;p14"/>
          <p:cNvCxnSpPr/>
          <p:nvPr/>
        </p:nvCxnSpPr>
        <p:spPr>
          <a:xfrm>
            <a:off x="5486401" y="2062163"/>
            <a:ext cx="0" cy="1661454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31" name="Google Shape;331;p14"/>
          <p:cNvCxnSpPr/>
          <p:nvPr/>
        </p:nvCxnSpPr>
        <p:spPr>
          <a:xfrm>
            <a:off x="3100388" y="2062163"/>
            <a:ext cx="2386013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diamond"/>
            <a:tailEnd len="med" w="med" type="diamond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332" name="Google Shape;332;p14"/>
          <p:cNvSpPr txBox="1"/>
          <p:nvPr/>
        </p:nvSpPr>
        <p:spPr>
          <a:xfrm>
            <a:off x="5835446" y="1418193"/>
            <a:ext cx="317657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RESPONDER ACÁ: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https://forms.gle/veh56vP2E9zQ2eAE7</a:t>
            </a:r>
            <a:endParaRPr/>
          </a:p>
        </p:txBody>
      </p:sp>
      <p:pic>
        <p:nvPicPr>
          <p:cNvPr id="333" name="Google Shape;333;p14"/>
          <p:cNvPicPr preferRelativeResize="0"/>
          <p:nvPr/>
        </p:nvPicPr>
        <p:blipFill rotWithShape="1">
          <a:blip r:embed="rId6">
            <a:alphaModFix/>
          </a:blip>
          <a:srcRect b="8545" l="8396" r="8396" t="8544"/>
          <a:stretch/>
        </p:blipFill>
        <p:spPr>
          <a:xfrm>
            <a:off x="6632447" y="1954615"/>
            <a:ext cx="1582576" cy="1576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18325" y="39266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339" name="Google Shape;339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95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5"/>
          <p:cNvSpPr txBox="1"/>
          <p:nvPr/>
        </p:nvSpPr>
        <p:spPr>
          <a:xfrm>
            <a:off x="1393045" y="367771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¡Reforcemos lo aprendido!</a:t>
            </a:r>
            <a:endParaRPr b="0" i="0" sz="14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5"/>
          <p:cNvSpPr/>
          <p:nvPr/>
        </p:nvSpPr>
        <p:spPr>
          <a:xfrm>
            <a:off x="1844744" y="1220127"/>
            <a:ext cx="5454502" cy="2722396"/>
          </a:xfrm>
          <a:prstGeom prst="rect">
            <a:avLst/>
          </a:prstGeom>
          <a:solidFill>
            <a:srgbClr val="F5C57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¿Te gustaría ser Tutor o inscribirte como Estudiante de Conectado Aprendo? &#10;¡Regístrate en nuestro sitio web! https://www.conectadoaprendo.cl/&#10;&#10;¡Síguenos en nuestras redes sociales!&#10;https://www.instagram.com/conectado_aprendo&#10;https://www.linkedin.com/in/fundacion-conectado-aprendo-535bb4241&#10;https://www.instagram.com/clubdegoceporlalectura_ca/&#10;&#10;Consultas generales (mail):&#10;contacto@conectadoaprendo.cl&#10;&#10;Profesor y producción:&#10;https://www.youtube.com/@psudiego&#10;&#10;#tutorias #mineduc #geometria" id="342" name="Google Shape;342;p15" title="Reforzamiento - Geometría (2) - Ejercicios longitudes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00650" y="1128475"/>
            <a:ext cx="6849750" cy="353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50400" y="3677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