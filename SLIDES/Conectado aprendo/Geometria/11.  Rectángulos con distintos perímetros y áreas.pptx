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Patrick Hand"/>
      <p:regular r:id="rId30"/>
    </p:embeddedFont>
    <p:embeddedFont>
      <p:font typeface="Poppins"/>
      <p:regular r:id="rId31"/>
      <p:bold r:id="rId32"/>
      <p:italic r:id="rId33"/>
      <p:boldItalic r:id="rId34"/>
    </p:embeddedFont>
    <p:embeddedFont>
      <p:font typeface="Poppins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39" roundtripDataSignature="AMtx7mhsOUalhbRR6dQwJ8DSEDM0I1MU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oppins-regular.fntdata"/><Relationship Id="rId30" Type="http://schemas.openxmlformats.org/officeDocument/2006/relationships/font" Target="fonts/PatrickHand-regular.fntdata"/><Relationship Id="rId11" Type="http://schemas.openxmlformats.org/officeDocument/2006/relationships/slide" Target="slides/slide5.xml"/><Relationship Id="rId33" Type="http://schemas.openxmlformats.org/officeDocument/2006/relationships/font" Target="fonts/Poppins-italic.fntdata"/><Relationship Id="rId10" Type="http://schemas.openxmlformats.org/officeDocument/2006/relationships/slide" Target="slides/slide4.xml"/><Relationship Id="rId32" Type="http://schemas.openxmlformats.org/officeDocument/2006/relationships/font" Target="fonts/Poppins-bold.fntdata"/><Relationship Id="rId13" Type="http://schemas.openxmlformats.org/officeDocument/2006/relationships/slide" Target="slides/slide7.xml"/><Relationship Id="rId35" Type="http://schemas.openxmlformats.org/officeDocument/2006/relationships/font" Target="fonts/PoppinsLight-regular.fntdata"/><Relationship Id="rId12" Type="http://schemas.openxmlformats.org/officeDocument/2006/relationships/slide" Target="slides/slide6.xml"/><Relationship Id="rId34" Type="http://schemas.openxmlformats.org/officeDocument/2006/relationships/font" Target="fonts/Poppins-boldItalic.fntdata"/><Relationship Id="rId15" Type="http://schemas.openxmlformats.org/officeDocument/2006/relationships/slide" Target="slides/slide9.xml"/><Relationship Id="rId37" Type="http://schemas.openxmlformats.org/officeDocument/2006/relationships/font" Target="fonts/PoppinsLight-italic.fntdata"/><Relationship Id="rId14" Type="http://schemas.openxmlformats.org/officeDocument/2006/relationships/slide" Target="slides/slide8.xml"/><Relationship Id="rId36" Type="http://schemas.openxmlformats.org/officeDocument/2006/relationships/font" Target="fonts/PoppinsLight-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PoppinsLight-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d953cd28af_0_1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d953cd28a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d953cd28af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d953cd28a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2d953cd28af_0_1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2d953cd28af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a:t>
            </a:r>
            <a:endParaRPr b="0"/>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Es importante que los dos ejercicios que se desarrollarán en la clase sean visto paso a paso según el ritmo del pupilo.</a:t>
            </a:r>
            <a:endParaRPr/>
          </a:p>
        </p:txBody>
      </p:sp>
      <p:sp>
        <p:nvSpPr>
          <p:cNvPr id="190" name="Google Shape;19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01" name="Google Shape;20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15" name="Google Shape;21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32" name="Google Shape;23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48" name="Google Shape;248;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63" name="Google Shape;26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&lt;a href="https://www.freepik.es/icono/bailarin_7695123#fromView=resource_detail&amp;position=75"&gt;Icono de smashingstocks&lt;/a&gt;</a:t>
            </a:r>
            <a:endParaRPr/>
          </a:p>
        </p:txBody>
      </p:sp>
      <p:sp>
        <p:nvSpPr>
          <p:cNvPr id="280" name="Google Shape;280;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291" name="Google Shape;291;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a:t>
            </a:r>
            <a:endParaRPr b="0"/>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Preguntar si el pupilo realmente entiende por qué la pregunta ¿cuál es el resultado de dividir 400 en 10? La entiende como consecuencia de que Largo x Ancho = Área</a:t>
            </a:r>
            <a:endParaRPr/>
          </a:p>
        </p:txBody>
      </p:sp>
      <p:sp>
        <p:nvSpPr>
          <p:cNvPr id="305" name="Google Shape;305;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a:t>
            </a:r>
            <a:endParaRPr b="0"/>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Preguntar si el pupilo realmente entiende por qué la pregunta ¿cuál es el resultado de dividir 400 en 10? La entiende como consecuencia de que Largo x Ancho = Área</a:t>
            </a:r>
            <a:endParaRPr/>
          </a:p>
        </p:txBody>
      </p:sp>
      <p:sp>
        <p:nvSpPr>
          <p:cNvPr id="319" name="Google Shape;319;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a:t>
            </a:r>
            <a:endParaRPr b="0"/>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Preguntar si el pupilo realmente entiende por qué la pregunta ¿cuál es el resultado de dividir 400 en 10? La entiende como consecuencia de que Largo x Ancho = Área</a:t>
            </a:r>
            <a:endParaRPr/>
          </a:p>
        </p:txBody>
      </p:sp>
      <p:sp>
        <p:nvSpPr>
          <p:cNvPr id="334" name="Google Shape;334;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50" name="Google Shape;35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s-ES"/>
              <a:t>NOTAS PARA TUTOR/A</a:t>
            </a:r>
            <a:endParaRPr b="0"/>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es-ES"/>
              <a:t>Pueden usar esta cuadrícula en caso de no tener cuaderno a la mano</a:t>
            </a:r>
            <a:endParaRPr/>
          </a:p>
        </p:txBody>
      </p:sp>
      <p:sp>
        <p:nvSpPr>
          <p:cNvPr id="357" name="Google Shape;35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72" name="Google Shape;372;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3" name="Shape 13"/>
        <p:cNvGrpSpPr/>
        <p:nvPr/>
      </p:nvGrpSpPr>
      <p:grpSpPr>
        <a:xfrm>
          <a:off x="0" y="0"/>
          <a:ext cx="0" cy="0"/>
          <a:chOff x="0" y="0"/>
          <a:chExt cx="0" cy="0"/>
        </a:xfrm>
      </p:grpSpPr>
      <p:sp>
        <p:nvSpPr>
          <p:cNvPr id="14" name="Google Shape;14;p2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5" name="Google Shape;15;p2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6" name="Google Shape;16;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7" name="Google Shape;17;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8" name="Google Shape;18;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3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3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3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58" name="Shape 58"/>
        <p:cNvGrpSpPr/>
        <p:nvPr/>
      </p:nvGrpSpPr>
      <p:grpSpPr>
        <a:xfrm>
          <a:off x="0" y="0"/>
          <a:ext cx="0" cy="0"/>
          <a:chOff x="0" y="0"/>
          <a:chExt cx="0" cy="0"/>
        </a:xfrm>
      </p:grpSpPr>
      <p:sp>
        <p:nvSpPr>
          <p:cNvPr id="59" name="Google Shape;59;g2d953cd28af_0_137"/>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0" name="Google Shape;60;g2d953cd28af_0_137"/>
          <p:cNvSpPr txBox="1"/>
          <p:nvPr>
            <p:ph idx="1" type="subTitle"/>
          </p:nvPr>
        </p:nvSpPr>
        <p:spPr>
          <a:xfrm>
            <a:off x="1143000" y="2701529"/>
            <a:ext cx="6858000" cy="1241700"/>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1" name="Google Shape;61;g2d953cd28af_0_13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2" name="Google Shape;62;g2d953cd28af_0_1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3" name="Google Shape;63;g2d953cd28af_0_1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64" name="Shape 64"/>
        <p:cNvGrpSpPr/>
        <p:nvPr/>
      </p:nvGrpSpPr>
      <p:grpSpPr>
        <a:xfrm>
          <a:off x="0" y="0"/>
          <a:ext cx="0" cy="0"/>
          <a:chOff x="0" y="0"/>
          <a:chExt cx="0" cy="0"/>
        </a:xfrm>
      </p:grpSpPr>
      <p:sp>
        <p:nvSpPr>
          <p:cNvPr id="65" name="Google Shape;65;g2d953cd28af_0_14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6" name="Google Shape;66;g2d953cd28af_0_14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7" name="Google Shape;67;g2d953cd28af_0_14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8" name="Google Shape;68;g2d953cd28af_0_1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69" name="Google Shape;69;g2d953cd28af_0_1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70" name="Shape 70"/>
        <p:cNvGrpSpPr/>
        <p:nvPr/>
      </p:nvGrpSpPr>
      <p:grpSpPr>
        <a:xfrm>
          <a:off x="0" y="0"/>
          <a:ext cx="0" cy="0"/>
          <a:chOff x="0" y="0"/>
          <a:chExt cx="0" cy="0"/>
        </a:xfrm>
      </p:grpSpPr>
      <p:sp>
        <p:nvSpPr>
          <p:cNvPr id="71" name="Google Shape;71;g2d953cd28af_0_149"/>
          <p:cNvSpPr txBox="1"/>
          <p:nvPr>
            <p:ph type="title"/>
          </p:nvPr>
        </p:nvSpPr>
        <p:spPr>
          <a:xfrm>
            <a:off x="623888" y="1282303"/>
            <a:ext cx="7886700" cy="21396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2" name="Google Shape;72;g2d953cd28af_0_149"/>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3" name="Google Shape;73;g2d953cd28af_0_14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4" name="Google Shape;74;g2d953cd28af_0_14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5" name="Google Shape;75;g2d953cd28af_0_1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76" name="Shape 76"/>
        <p:cNvGrpSpPr/>
        <p:nvPr/>
      </p:nvGrpSpPr>
      <p:grpSpPr>
        <a:xfrm>
          <a:off x="0" y="0"/>
          <a:ext cx="0" cy="0"/>
          <a:chOff x="0" y="0"/>
          <a:chExt cx="0" cy="0"/>
        </a:xfrm>
      </p:grpSpPr>
      <p:sp>
        <p:nvSpPr>
          <p:cNvPr id="77" name="Google Shape;77;g2d953cd28af_0_15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78" name="Google Shape;78;g2d953cd28af_0_155"/>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g2d953cd28af_0_155"/>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0" name="Google Shape;80;g2d953cd28af_0_15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1" name="Google Shape;81;g2d953cd28af_0_1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2" name="Google Shape;82;g2d953cd28af_0_1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83" name="Shape 83"/>
        <p:cNvGrpSpPr/>
        <p:nvPr/>
      </p:nvGrpSpPr>
      <p:grpSpPr>
        <a:xfrm>
          <a:off x="0" y="0"/>
          <a:ext cx="0" cy="0"/>
          <a:chOff x="0" y="0"/>
          <a:chExt cx="0" cy="0"/>
        </a:xfrm>
      </p:grpSpPr>
      <p:sp>
        <p:nvSpPr>
          <p:cNvPr id="84" name="Google Shape;84;g2d953cd28af_0_162"/>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85" name="Google Shape;85;g2d953cd28af_0_162"/>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6" name="Google Shape;86;g2d953cd28af_0_162"/>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7" name="Google Shape;87;g2d953cd28af_0_162"/>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8" name="Google Shape;88;g2d953cd28af_0_162"/>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g2d953cd28af_0_16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0" name="Google Shape;90;g2d953cd28af_0_1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1" name="Google Shape;91;g2d953cd28af_0_1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92" name="Shape 92"/>
        <p:cNvGrpSpPr/>
        <p:nvPr/>
      </p:nvGrpSpPr>
      <p:grpSpPr>
        <a:xfrm>
          <a:off x="0" y="0"/>
          <a:ext cx="0" cy="0"/>
          <a:chOff x="0" y="0"/>
          <a:chExt cx="0" cy="0"/>
        </a:xfrm>
      </p:grpSpPr>
      <p:sp>
        <p:nvSpPr>
          <p:cNvPr id="93" name="Google Shape;93;g2d953cd28af_0_17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4" name="Google Shape;94;g2d953cd28af_0_17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5" name="Google Shape;95;g2d953cd28af_0_17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6" name="Google Shape;96;g2d953cd28af_0_17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97" name="Shape 97"/>
        <p:cNvGrpSpPr/>
        <p:nvPr/>
      </p:nvGrpSpPr>
      <p:grpSpPr>
        <a:xfrm>
          <a:off x="0" y="0"/>
          <a:ext cx="0" cy="0"/>
          <a:chOff x="0" y="0"/>
          <a:chExt cx="0" cy="0"/>
        </a:xfrm>
      </p:grpSpPr>
      <p:sp>
        <p:nvSpPr>
          <p:cNvPr id="98" name="Google Shape;98;g2d953cd28af_0_17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99" name="Google Shape;99;g2d953cd28af_0_17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0" name="Google Shape;100;g2d953cd28af_0_17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01" name="Shape 101"/>
        <p:cNvGrpSpPr/>
        <p:nvPr/>
      </p:nvGrpSpPr>
      <p:grpSpPr>
        <a:xfrm>
          <a:off x="0" y="0"/>
          <a:ext cx="0" cy="0"/>
          <a:chOff x="0" y="0"/>
          <a:chExt cx="0" cy="0"/>
        </a:xfrm>
      </p:grpSpPr>
      <p:sp>
        <p:nvSpPr>
          <p:cNvPr id="102" name="Google Shape;102;g2d953cd28af_0_180"/>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3" name="Google Shape;103;g2d953cd28af_0_180"/>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4" name="Google Shape;104;g2d953cd28af_0_180"/>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5" name="Google Shape;105;g2d953cd28af_0_18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6" name="Google Shape;106;g2d953cd28af_0_18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07" name="Google Shape;107;g2d953cd28af_0_18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08" name="Shape 108"/>
        <p:cNvGrpSpPr/>
        <p:nvPr/>
      </p:nvGrpSpPr>
      <p:grpSpPr>
        <a:xfrm>
          <a:off x="0" y="0"/>
          <a:ext cx="0" cy="0"/>
          <a:chOff x="0" y="0"/>
          <a:chExt cx="0" cy="0"/>
        </a:xfrm>
      </p:grpSpPr>
      <p:sp>
        <p:nvSpPr>
          <p:cNvPr id="109" name="Google Shape;109;g2d953cd28af_0_187"/>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0" name="Google Shape;110;g2d953cd28af_0_187"/>
          <p:cNvSpPr/>
          <p:nvPr>
            <p:ph idx="2" type="pic"/>
          </p:nvPr>
        </p:nvSpPr>
        <p:spPr>
          <a:xfrm>
            <a:off x="3887391" y="740569"/>
            <a:ext cx="4629300" cy="3655200"/>
          </a:xfrm>
          <a:prstGeom prst="rect">
            <a:avLst/>
          </a:prstGeom>
          <a:noFill/>
          <a:ln>
            <a:noFill/>
          </a:ln>
        </p:spPr>
      </p:sp>
      <p:sp>
        <p:nvSpPr>
          <p:cNvPr id="111" name="Google Shape;111;g2d953cd28af_0_187"/>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2" name="Google Shape;112;g2d953cd28af_0_18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3" name="Google Shape;113;g2d953cd28af_0_18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4" name="Google Shape;114;g2d953cd28af_0_18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15" name="Shape 115"/>
        <p:cNvGrpSpPr/>
        <p:nvPr/>
      </p:nvGrpSpPr>
      <p:grpSpPr>
        <a:xfrm>
          <a:off x="0" y="0"/>
          <a:ext cx="0" cy="0"/>
          <a:chOff x="0" y="0"/>
          <a:chExt cx="0" cy="0"/>
        </a:xfrm>
      </p:grpSpPr>
      <p:sp>
        <p:nvSpPr>
          <p:cNvPr id="116" name="Google Shape;116;g2d953cd28af_0_19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7" name="Google Shape;117;g2d953cd28af_0_19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8" name="Google Shape;118;g2d953cd28af_0_19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19" name="Google Shape;119;g2d953cd28af_0_19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0" name="Google Shape;120;g2d953cd28af_0_19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21" name="Shape 121"/>
        <p:cNvGrpSpPr/>
        <p:nvPr/>
      </p:nvGrpSpPr>
      <p:grpSpPr>
        <a:xfrm>
          <a:off x="0" y="0"/>
          <a:ext cx="0" cy="0"/>
          <a:chOff x="0" y="0"/>
          <a:chExt cx="0" cy="0"/>
        </a:xfrm>
      </p:grpSpPr>
      <p:sp>
        <p:nvSpPr>
          <p:cNvPr id="122" name="Google Shape;122;g2d953cd28af_0_200"/>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3" name="Google Shape;123;g2d953cd28af_0_200"/>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g2d953cd28af_0_20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5" name="Google Shape;125;g2d953cd28af_0_20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26" name="Google Shape;126;g2d953cd28af_0_20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2" name="Shape 52"/>
        <p:cNvGrpSpPr/>
        <p:nvPr/>
      </p:nvGrpSpPr>
      <p:grpSpPr>
        <a:xfrm>
          <a:off x="0" y="0"/>
          <a:ext cx="0" cy="0"/>
          <a:chOff x="0" y="0"/>
          <a:chExt cx="0" cy="0"/>
        </a:xfrm>
      </p:grpSpPr>
      <p:sp>
        <p:nvSpPr>
          <p:cNvPr id="53" name="Google Shape;53;g2d953cd28af_0_13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1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g2d953cd28af_0_13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5" name="Google Shape;55;g2d953cd28af_0_13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6" name="Google Shape;56;g2d953cd28af_0_1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lnSpc>
                <a:spcPct val="100000"/>
              </a:lnSpc>
              <a:spcBef>
                <a:spcPts val="0"/>
              </a:spcBef>
              <a:spcAft>
                <a:spcPts val="0"/>
              </a:spcAft>
              <a:buClr>
                <a:srgbClr val="000000"/>
              </a:buClr>
              <a:buSzPts val="1100"/>
              <a:buFont typeface="Arial"/>
              <a:buNone/>
              <a:defRPr b="0" i="0" sz="9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100"/>
              <a:buFont typeface="Arial"/>
              <a:buNone/>
              <a:defRPr b="0" i="0" sz="1400" u="none" cap="none" strike="noStrike">
                <a:solidFill>
                  <a:schemeClr val="dk1"/>
                </a:solidFill>
                <a:latin typeface="Calibri"/>
                <a:ea typeface="Calibri"/>
                <a:cs typeface="Calibri"/>
                <a:sym typeface="Calibri"/>
              </a:defRPr>
            </a:lvl9pPr>
          </a:lstStyle>
          <a:p/>
        </p:txBody>
      </p:sp>
      <p:sp>
        <p:nvSpPr>
          <p:cNvPr id="57" name="Google Shape;57;g2d953cd28af_0_1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900"/>
              <a:buFont typeface="Arial"/>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jpg"/><Relationship Id="rId4" Type="http://schemas.openxmlformats.org/officeDocument/2006/relationships/hyperlink" Target="http://www.youtube.com/watch?v=rVm8U8I7Ujg" TargetMode="External"/><Relationship Id="rId5" Type="http://schemas.openxmlformats.org/officeDocument/2006/relationships/image" Target="../media/image12.jpg"/><Relationship Id="rId6"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forms.gle/VXEooZRhoGVbnVax5" TargetMode="External"/><Relationship Id="rId4" Type="http://schemas.openxmlformats.org/officeDocument/2006/relationships/image" Target="../media/image6.png"/><Relationship Id="rId5"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9.jpg"/><Relationship Id="rId4" Type="http://schemas.openxmlformats.org/officeDocument/2006/relationships/hyperlink" Target="http://www.youtube.com/watch?v=SL5lBEKtoCc" TargetMode="External"/><Relationship Id="rId5" Type="http://schemas.openxmlformats.org/officeDocument/2006/relationships/image" Target="../media/image8.jpg"/><Relationship Id="rId6"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
          <p:cNvSpPr txBox="1"/>
          <p:nvPr/>
        </p:nvSpPr>
        <p:spPr>
          <a:xfrm>
            <a:off x="1152939" y="502470"/>
            <a:ext cx="6838122" cy="10156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6000" u="none" cap="none" strike="noStrike">
                <a:solidFill>
                  <a:srgbClr val="009F98"/>
                </a:solidFill>
                <a:latin typeface="Patrick Hand"/>
                <a:ea typeface="Patrick Hand"/>
                <a:cs typeface="Patrick Hand"/>
                <a:sym typeface="Patrick Hand"/>
              </a:rPr>
              <a:t>LA RUTA MATEMÁTICA</a:t>
            </a:r>
            <a:endParaRPr/>
          </a:p>
        </p:txBody>
      </p:sp>
      <p:sp>
        <p:nvSpPr>
          <p:cNvPr id="132" name="Google Shape;132;p1"/>
          <p:cNvSpPr txBox="1"/>
          <p:nvPr/>
        </p:nvSpPr>
        <p:spPr>
          <a:xfrm>
            <a:off x="2335696" y="2102398"/>
            <a:ext cx="4472608"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4800" u="none" cap="none" strike="noStrike">
                <a:solidFill>
                  <a:srgbClr val="009F98"/>
                </a:solidFill>
                <a:latin typeface="Patrick Hand"/>
                <a:ea typeface="Patrick Hand"/>
                <a:cs typeface="Patrick Hand"/>
                <a:sym typeface="Patrick Hand"/>
              </a:rPr>
              <a:t>GEOMETRÍA 2D</a:t>
            </a:r>
            <a:endParaRPr b="1" i="0" sz="4800" u="none" cap="none" strike="noStrike">
              <a:solidFill>
                <a:srgbClr val="009F98"/>
              </a:solidFill>
              <a:latin typeface="Patrick Hand"/>
              <a:ea typeface="Patrick Hand"/>
              <a:cs typeface="Patrick Hand"/>
              <a:sym typeface="Patrick Hand"/>
            </a:endParaRPr>
          </a:p>
        </p:txBody>
      </p:sp>
      <p:pic>
        <p:nvPicPr>
          <p:cNvPr id="133" name="Google Shape;133;p1"/>
          <p:cNvPicPr preferRelativeResize="0"/>
          <p:nvPr/>
        </p:nvPicPr>
        <p:blipFill rotWithShape="1">
          <a:blip r:embed="rId3">
            <a:alphaModFix/>
          </a:blip>
          <a:srcRect b="0" l="0" r="0" t="0"/>
          <a:stretch/>
        </p:blipFill>
        <p:spPr>
          <a:xfrm>
            <a:off x="33264" y="2738944"/>
            <a:ext cx="2239350" cy="2245750"/>
          </a:xfrm>
          <a:prstGeom prst="rect">
            <a:avLst/>
          </a:prstGeom>
          <a:noFill/>
          <a:ln>
            <a:noFill/>
          </a:ln>
        </p:spPr>
      </p:pic>
      <p:sp>
        <p:nvSpPr>
          <p:cNvPr id="134" name="Google Shape;134;p1"/>
          <p:cNvSpPr txBox="1"/>
          <p:nvPr/>
        </p:nvSpPr>
        <p:spPr>
          <a:xfrm>
            <a:off x="2335696" y="3235008"/>
            <a:ext cx="4472608"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4800" u="none" cap="none" strike="noStrike">
                <a:solidFill>
                  <a:srgbClr val="009F98"/>
                </a:solidFill>
                <a:latin typeface="Patrick Hand"/>
                <a:ea typeface="Patrick Hand"/>
                <a:cs typeface="Patrick Hand"/>
                <a:sym typeface="Patrick Hand"/>
              </a:rPr>
              <a:t>(agregar dibujos)</a:t>
            </a:r>
            <a:endParaRPr/>
          </a:p>
        </p:txBody>
      </p:sp>
      <p:pic>
        <p:nvPicPr>
          <p:cNvPr id="135" name="Google Shape;135;p1"/>
          <p:cNvPicPr preferRelativeResize="0"/>
          <p:nvPr/>
        </p:nvPicPr>
        <p:blipFill rotWithShape="1">
          <a:blip r:embed="rId4">
            <a:alphaModFix/>
          </a:blip>
          <a:srcRect b="17637" l="28322" r="13793" t="24438"/>
          <a:stretch/>
        </p:blipFill>
        <p:spPr>
          <a:xfrm>
            <a:off x="0" y="-64800"/>
            <a:ext cx="9248500" cy="5268100"/>
          </a:xfrm>
          <a:prstGeom prst="rect">
            <a:avLst/>
          </a:prstGeom>
          <a:noFill/>
          <a:ln>
            <a:noFill/>
          </a:ln>
        </p:spPr>
      </p:pic>
      <p:pic>
        <p:nvPicPr>
          <p:cNvPr id="136" name="Google Shape;136;p1"/>
          <p:cNvPicPr preferRelativeResize="0"/>
          <p:nvPr/>
        </p:nvPicPr>
        <p:blipFill>
          <a:blip r:embed="rId5">
            <a:alphaModFix/>
          </a:blip>
          <a:stretch>
            <a:fillRect/>
          </a:stretch>
        </p:blipFill>
        <p:spPr>
          <a:xfrm>
            <a:off x="8359450" y="425296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g2d953cd28af_0_103"/>
          <p:cNvSpPr txBox="1"/>
          <p:nvPr/>
        </p:nvSpPr>
        <p:spPr>
          <a:xfrm>
            <a:off x="589763" y="125503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ES" sz="1200">
                <a:solidFill>
                  <a:srgbClr val="3259A4"/>
                </a:solidFill>
                <a:latin typeface="Poppins"/>
                <a:ea typeface="Poppins"/>
                <a:cs typeface="Poppins"/>
                <a:sym typeface="Poppins"/>
              </a:rPr>
              <a:t>Propósito</a:t>
            </a:r>
            <a:r>
              <a:rPr b="1" lang="es-ES" sz="1200">
                <a:solidFill>
                  <a:schemeClr val="dk1"/>
                </a:solidFill>
                <a:latin typeface="Poppins"/>
                <a:ea typeface="Poppins"/>
                <a:cs typeface="Poppins"/>
                <a:sym typeface="Poppins"/>
              </a:rPr>
              <a:t>:</a:t>
            </a:r>
            <a:r>
              <a:rPr lang="es-ES" sz="1200">
                <a:solidFill>
                  <a:schemeClr val="dk1"/>
                </a:solidFill>
                <a:latin typeface="Poppins Light"/>
                <a:ea typeface="Poppins Light"/>
                <a:cs typeface="Poppins Light"/>
                <a:sym typeface="Poppins Light"/>
              </a:rPr>
              <a:t> </a:t>
            </a:r>
            <a:r>
              <a:rPr lang="es-ES" sz="1200">
                <a:solidFill>
                  <a:schemeClr val="dk1"/>
                </a:solidFill>
                <a:latin typeface="Poppins Light"/>
                <a:ea typeface="Poppins Light"/>
                <a:cs typeface="Poppins Light"/>
                <a:sym typeface="Poppins Light"/>
              </a:rPr>
              <a:t>Desarrollar en los estudiantes la habilidad de diseñar y construir rectángulos con un área o</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200">
                <a:solidFill>
                  <a:schemeClr val="dk1"/>
                </a:solidFill>
                <a:latin typeface="Poppins Light"/>
                <a:ea typeface="Poppins Light"/>
                <a:cs typeface="Poppins Light"/>
                <a:sym typeface="Poppins Light"/>
              </a:rPr>
              <a:t>perímetro dado.</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42" name="Google Shape;142;g2d953cd28af_0_103"/>
          <p:cNvSpPr txBox="1"/>
          <p:nvPr/>
        </p:nvSpPr>
        <p:spPr>
          <a:xfrm>
            <a:off x="868700" y="1980075"/>
            <a:ext cx="3524100" cy="20796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ES" sz="1900">
                <a:solidFill>
                  <a:schemeClr val="dk1"/>
                </a:solidFill>
                <a:latin typeface="Poppins"/>
                <a:ea typeface="Poppins"/>
                <a:cs typeface="Poppins"/>
                <a:sym typeface="Poppins"/>
              </a:rPr>
              <a:t>Objetivos de la Clase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19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Construir Rectángulos con distintos</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perímetros y áreas.</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43" name="Google Shape;143;g2d953cd28af_0_103"/>
          <p:cNvSpPr txBox="1"/>
          <p:nvPr/>
        </p:nvSpPr>
        <p:spPr>
          <a:xfrm>
            <a:off x="4782050" y="1979975"/>
            <a:ext cx="3524100" cy="2079600"/>
          </a:xfrm>
          <a:prstGeom prst="rect">
            <a:avLst/>
          </a:prstGeom>
          <a:noFill/>
          <a:ln cap="flat" cmpd="sng" w="28575">
            <a:solidFill>
              <a:srgbClr val="3259A4"/>
            </a:solidFill>
            <a:prstDash val="solid"/>
            <a:round/>
            <a:headEnd len="sm" w="sm" type="none"/>
            <a:tailEnd len="sm" w="sm" type="none"/>
          </a:ln>
        </p:spPr>
        <p:txBody>
          <a:bodyPr anchorCtr="0" anchor="t" bIns="68575" lIns="68575" spcFirstLastPara="1" rIns="68575" wrap="square" tIns="68575">
            <a:noAutofit/>
          </a:bodyPr>
          <a:lstStyle/>
          <a:p>
            <a:pPr indent="0" lvl="0" marL="0" rtl="0" algn="ctr">
              <a:spcBef>
                <a:spcPts val="0"/>
              </a:spcBef>
              <a:spcAft>
                <a:spcPts val="0"/>
              </a:spcAft>
              <a:buNone/>
            </a:pPr>
            <a:r>
              <a:rPr lang="es-ES" sz="1900">
                <a:solidFill>
                  <a:schemeClr val="dk1"/>
                </a:solidFill>
                <a:latin typeface="Poppins"/>
                <a:ea typeface="Poppins"/>
                <a:cs typeface="Poppins"/>
                <a:sym typeface="Poppins"/>
              </a:rPr>
              <a:t>Conceptos Clave</a:t>
            </a:r>
            <a:endParaRPr sz="19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Área.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2. Rectángulo.</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ctr">
              <a:spcBef>
                <a:spcPts val="0"/>
              </a:spcBef>
              <a:spcAft>
                <a:spcPts val="0"/>
              </a:spcAft>
              <a:buNone/>
            </a:pPr>
            <a:r>
              <a:t/>
            </a:r>
            <a:endParaRPr sz="2100">
              <a:solidFill>
                <a:schemeClr val="dk1"/>
              </a:solidFill>
              <a:latin typeface="Poppins"/>
              <a:ea typeface="Poppins"/>
              <a:cs typeface="Poppins"/>
              <a:sym typeface="Poppins"/>
            </a:endParaRPr>
          </a:p>
        </p:txBody>
      </p:sp>
      <p:sp>
        <p:nvSpPr>
          <p:cNvPr id="144" name="Google Shape;144;g2d953cd28af_0_103"/>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45" name="Google Shape;145;g2d953cd28af_0_103"/>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46" name="Google Shape;146;g2d953cd28af_0_103"/>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47" name="Google Shape;147;g2d953cd28af_0_103"/>
          <p:cNvPicPr preferRelativeResize="0"/>
          <p:nvPr/>
        </p:nvPicPr>
        <p:blipFill>
          <a:blip r:embed="rId3">
            <a:alphaModFix/>
          </a:blip>
          <a:stretch>
            <a:fillRect/>
          </a:stretch>
        </p:blipFill>
        <p:spPr>
          <a:xfrm>
            <a:off x="8212875" y="213987"/>
            <a:ext cx="693700" cy="731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d953cd28af_0_113"/>
          <p:cNvSpPr txBox="1"/>
          <p:nvPr/>
        </p:nvSpPr>
        <p:spPr>
          <a:xfrm>
            <a:off x="589763" y="969281"/>
            <a:ext cx="8188800" cy="7029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b="1" lang="es-ES" sz="1200">
                <a:solidFill>
                  <a:srgbClr val="3259A4"/>
                </a:solidFill>
                <a:latin typeface="Poppins"/>
                <a:ea typeface="Poppins"/>
                <a:cs typeface="Poppins"/>
                <a:sym typeface="Poppins"/>
              </a:rPr>
              <a:t>Consejos para realizar la sesión</a:t>
            </a:r>
            <a:endParaRPr sz="12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200">
              <a:solidFill>
                <a:schemeClr val="dk1"/>
              </a:solidFill>
              <a:latin typeface="Poppins Light"/>
              <a:ea typeface="Poppins Light"/>
              <a:cs typeface="Poppins Light"/>
              <a:sym typeface="Poppins Light"/>
            </a:endParaRPr>
          </a:p>
        </p:txBody>
      </p:sp>
      <p:sp>
        <p:nvSpPr>
          <p:cNvPr id="153" name="Google Shape;153;g2d953cd28af_0_113"/>
          <p:cNvSpPr txBox="1"/>
          <p:nvPr/>
        </p:nvSpPr>
        <p:spPr>
          <a:xfrm>
            <a:off x="589763" y="1370081"/>
            <a:ext cx="7875000" cy="7419000"/>
          </a:xfrm>
          <a:prstGeom prst="rect">
            <a:avLst/>
          </a:prstGeom>
          <a:noFill/>
          <a:ln>
            <a:noFill/>
          </a:ln>
        </p:spPr>
        <p:txBody>
          <a:bodyPr anchorCtr="0" anchor="t" bIns="68575" lIns="68575" spcFirstLastPara="1" rIns="68575" wrap="square" tIns="68575">
            <a:spAutoFit/>
          </a:bodyPr>
          <a:lstStyle/>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Esta sesión tiene el foco de realizar ejercicios que le permitirán consolidar conocimientos que tu estudiante por cuenta propia ya podría inferior. Por ello es importante que revises con antelación la “</a:t>
            </a:r>
            <a:r>
              <a:rPr b="1" lang="es-ES" sz="1100">
                <a:latin typeface="Poppins"/>
                <a:ea typeface="Poppins"/>
                <a:cs typeface="Poppins"/>
                <a:sym typeface="Poppins"/>
              </a:rPr>
              <a:t>propuesta de Miguel</a:t>
            </a:r>
            <a:r>
              <a:rPr lang="es-ES" sz="1100">
                <a:latin typeface="Poppins"/>
                <a:ea typeface="Poppins"/>
                <a:cs typeface="Poppins"/>
                <a:sym typeface="Poppins"/>
              </a:rPr>
              <a:t>” y la “</a:t>
            </a:r>
            <a:r>
              <a:rPr b="1" lang="es-ES" sz="1100">
                <a:latin typeface="Poppins"/>
                <a:ea typeface="Poppins"/>
                <a:cs typeface="Poppins"/>
                <a:sym typeface="Poppins"/>
              </a:rPr>
              <a:t>propuesta de Sofía</a:t>
            </a:r>
            <a:r>
              <a:rPr lang="es-ES" sz="1100">
                <a:latin typeface="Poppins"/>
                <a:ea typeface="Poppins"/>
                <a:cs typeface="Poppins"/>
                <a:sym typeface="Poppins"/>
              </a:rPr>
              <a:t>” para </a:t>
            </a:r>
            <a:r>
              <a:rPr lang="es-ES" sz="1100">
                <a:latin typeface="Poppins"/>
                <a:ea typeface="Poppins"/>
                <a:cs typeface="Poppins"/>
                <a:sym typeface="Poppins"/>
              </a:rPr>
              <a:t>recalcar</a:t>
            </a:r>
            <a:r>
              <a:rPr lang="es-ES" sz="1100">
                <a:latin typeface="Poppins"/>
                <a:ea typeface="Poppins"/>
                <a:cs typeface="Poppins"/>
                <a:sym typeface="Poppins"/>
              </a:rPr>
              <a:t> los conceptos importantes que se desprenden de ellos.</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En el primer caso:</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 Debes estar atento si es </a:t>
            </a:r>
            <a:r>
              <a:rPr b="1" lang="es-ES" sz="1100">
                <a:latin typeface="Poppins"/>
                <a:ea typeface="Poppins"/>
                <a:cs typeface="Poppins"/>
                <a:sym typeface="Poppins"/>
              </a:rPr>
              <a:t>capaz de entender el procedimiento para calcular el ancho.</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 Conociendo el </a:t>
            </a:r>
            <a:r>
              <a:rPr b="1" lang="es-ES" sz="1100">
                <a:latin typeface="Poppins"/>
                <a:ea typeface="Poppins"/>
                <a:cs typeface="Poppins"/>
                <a:sym typeface="Poppins"/>
              </a:rPr>
              <a:t>perímetro y un lado del rectángulo se puede obtener su área.</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En el segundo caso:</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 También debes preguntarle a tu estudiante si </a:t>
            </a:r>
            <a:r>
              <a:rPr b="1" lang="es-ES" sz="1100">
                <a:latin typeface="Poppins"/>
                <a:ea typeface="Poppins"/>
                <a:cs typeface="Poppins"/>
                <a:sym typeface="Poppins"/>
              </a:rPr>
              <a:t>comprende el procedimiento para obtener el largo.</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100">
                <a:latin typeface="Poppins"/>
                <a:ea typeface="Poppins"/>
                <a:cs typeface="Poppins"/>
                <a:sym typeface="Poppins"/>
              </a:rPr>
              <a:t>• Conociendo el </a:t>
            </a:r>
            <a:r>
              <a:rPr b="1" lang="es-ES" sz="1100">
                <a:latin typeface="Poppins"/>
                <a:ea typeface="Poppins"/>
                <a:cs typeface="Poppins"/>
                <a:sym typeface="Poppins"/>
              </a:rPr>
              <a:t>área y un lado del rectángulo, puede obtener su perímetro.</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b="1"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sz="1100">
              <a:latin typeface="Poppins"/>
              <a:ea typeface="Poppins"/>
              <a:cs typeface="Poppins"/>
              <a:sym typeface="Poppins"/>
            </a:endParaRPr>
          </a:p>
          <a:p>
            <a:pPr indent="0" lvl="0" marL="0" rtl="0" algn="just">
              <a:lnSpc>
                <a:spcPct val="150000"/>
              </a:lnSpc>
              <a:spcBef>
                <a:spcPts val="0"/>
              </a:spcBef>
              <a:spcAft>
                <a:spcPts val="0"/>
              </a:spcAft>
              <a:buNone/>
            </a:pPr>
            <a:r>
              <a:t/>
            </a:r>
            <a:endParaRPr b="1" sz="1100">
              <a:latin typeface="Poppins"/>
              <a:ea typeface="Poppins"/>
              <a:cs typeface="Poppins"/>
              <a:sym typeface="Poppins"/>
            </a:endParaRPr>
          </a:p>
          <a:p>
            <a:pPr indent="0" lvl="0" marL="0" rtl="0" algn="just">
              <a:lnSpc>
                <a:spcPct val="150000"/>
              </a:lnSpc>
              <a:spcBef>
                <a:spcPts val="0"/>
              </a:spcBef>
              <a:spcAft>
                <a:spcPts val="0"/>
              </a:spcAft>
              <a:buNone/>
            </a:pPr>
            <a:r>
              <a:t/>
            </a:r>
            <a:endParaRPr i="1" sz="1100">
              <a:latin typeface="Poppins"/>
              <a:ea typeface="Poppins"/>
              <a:cs typeface="Poppins"/>
              <a:sym typeface="Poppins"/>
            </a:endParaRPr>
          </a:p>
        </p:txBody>
      </p:sp>
      <p:sp>
        <p:nvSpPr>
          <p:cNvPr id="154" name="Google Shape;154;g2d953cd28af_0_113"/>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55" name="Google Shape;155;g2d953cd28af_0_113"/>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56" name="Google Shape;156;g2d953cd28af_0_113"/>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57" name="Google Shape;157;g2d953cd28af_0_113"/>
          <p:cNvPicPr preferRelativeResize="0"/>
          <p:nvPr/>
        </p:nvPicPr>
        <p:blipFill>
          <a:blip r:embed="rId3">
            <a:alphaModFix/>
          </a:blip>
          <a:stretch>
            <a:fillRect/>
          </a:stretch>
        </p:blipFill>
        <p:spPr>
          <a:xfrm>
            <a:off x="8212875" y="213987"/>
            <a:ext cx="693700" cy="7317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2d953cd28af_0_122"/>
          <p:cNvSpPr txBox="1"/>
          <p:nvPr/>
        </p:nvSpPr>
        <p:spPr>
          <a:xfrm>
            <a:off x="147788" y="85331"/>
            <a:ext cx="3423300" cy="3273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lang="es-ES" sz="1400">
                <a:solidFill>
                  <a:schemeClr val="dk1"/>
                </a:solidFill>
                <a:latin typeface="Calibri"/>
                <a:ea typeface="Calibri"/>
                <a:cs typeface="Calibri"/>
                <a:sym typeface="Calibri"/>
              </a:rPr>
              <a:t>IMPORTANTE: Información sólo para tutor/a</a:t>
            </a:r>
            <a:endParaRPr sz="1400">
              <a:solidFill>
                <a:schemeClr val="dk1"/>
              </a:solidFill>
              <a:latin typeface="Calibri"/>
              <a:ea typeface="Calibri"/>
              <a:cs typeface="Calibri"/>
              <a:sym typeface="Calibri"/>
            </a:endParaRPr>
          </a:p>
        </p:txBody>
      </p:sp>
      <p:sp>
        <p:nvSpPr>
          <p:cNvPr id="163" name="Google Shape;163;g2d953cd28af_0_122"/>
          <p:cNvSpPr txBox="1"/>
          <p:nvPr/>
        </p:nvSpPr>
        <p:spPr>
          <a:xfrm>
            <a:off x="285206" y="1218713"/>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ES" sz="1500">
                <a:solidFill>
                  <a:srgbClr val="3259A4"/>
                </a:solidFill>
                <a:latin typeface="Poppins"/>
                <a:ea typeface="Poppins"/>
                <a:cs typeface="Poppins"/>
                <a:sym typeface="Poppins"/>
              </a:rPr>
              <a:t>Para Complementar</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De antemano calcula las dimensiones de tu escritorio y, en función de qué “propuesta” le costó más entender a tu estudiante, dale los datos necesarios para que lo replique por su cuenta. En la siguiente sesión revisa cómo le va.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64" name="Google Shape;164;g2d953cd28af_0_122"/>
          <p:cNvSpPr txBox="1"/>
          <p:nvPr/>
        </p:nvSpPr>
        <p:spPr>
          <a:xfrm>
            <a:off x="285206" y="2772719"/>
            <a:ext cx="8451600" cy="1554000"/>
          </a:xfrm>
          <a:prstGeom prst="rect">
            <a:avLst/>
          </a:prstGeom>
          <a:noFill/>
          <a:ln>
            <a:noFill/>
          </a:ln>
        </p:spPr>
        <p:txBody>
          <a:bodyPr anchorCtr="0" anchor="t" bIns="68575" lIns="68575" spcFirstLastPara="1" rIns="68575" wrap="square" tIns="68575">
            <a:noAutofit/>
          </a:bodyPr>
          <a:lstStyle/>
          <a:p>
            <a:pPr indent="0" lvl="0" marL="0" rtl="0" algn="l">
              <a:spcBef>
                <a:spcPts val="0"/>
              </a:spcBef>
              <a:spcAft>
                <a:spcPts val="0"/>
              </a:spcAft>
              <a:buNone/>
            </a:pPr>
            <a:r>
              <a:rPr b="1" lang="es-ES" sz="1500">
                <a:solidFill>
                  <a:srgbClr val="3259A4"/>
                </a:solidFill>
                <a:latin typeface="Poppins"/>
                <a:ea typeface="Poppins"/>
                <a:cs typeface="Poppins"/>
                <a:sym typeface="Poppins"/>
              </a:rPr>
              <a:t>Preguntas de Cierre</a:t>
            </a:r>
            <a:endParaRPr b="1" sz="1500">
              <a:solidFill>
                <a:srgbClr val="3259A4"/>
              </a:solidFill>
              <a:latin typeface="Poppins"/>
              <a:ea typeface="Poppins"/>
              <a:cs typeface="Poppins"/>
              <a:sym typeface="Poppins"/>
            </a:endParaRPr>
          </a:p>
          <a:p>
            <a:pPr indent="0" lvl="0" marL="0" rtl="0" algn="l">
              <a:spcBef>
                <a:spcPts val="0"/>
              </a:spcBef>
              <a:spcAft>
                <a:spcPts val="0"/>
              </a:spcAft>
              <a:buNone/>
            </a:pPr>
            <a:r>
              <a:t/>
            </a:r>
            <a:endParaRPr b="1" sz="15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solidFill>
                  <a:schemeClr val="dk1"/>
                </a:solidFill>
                <a:latin typeface="Poppins"/>
                <a:ea typeface="Poppins"/>
                <a:cs typeface="Poppins"/>
                <a:sym typeface="Poppins"/>
              </a:rPr>
              <a:t>1. Si tienes el área de un rectángulo, ¿qué necesitas conocer para obtener el perímetro? ¿Y viceversa?</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800"/>
              <a:buFont typeface="Arial"/>
              <a:buNone/>
            </a:pPr>
            <a:r>
              <a:t/>
            </a:r>
            <a:endParaRPr>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400">
              <a:solidFill>
                <a:schemeClr val="dk1"/>
              </a:solidFill>
              <a:latin typeface="Poppins"/>
              <a:ea typeface="Poppins"/>
              <a:cs typeface="Poppins"/>
              <a:sym typeface="Poppins"/>
            </a:endParaRPr>
          </a:p>
          <a:p>
            <a:pPr indent="0" lvl="0" marL="0" rtl="0" algn="l">
              <a:spcBef>
                <a:spcPts val="0"/>
              </a:spcBef>
              <a:spcAft>
                <a:spcPts val="0"/>
              </a:spcAft>
              <a:buNone/>
            </a:pPr>
            <a:r>
              <a:t/>
            </a:r>
            <a:endParaRPr sz="2100">
              <a:solidFill>
                <a:schemeClr val="dk1"/>
              </a:solidFill>
              <a:latin typeface="Poppins"/>
              <a:ea typeface="Poppins"/>
              <a:cs typeface="Poppins"/>
              <a:sym typeface="Poppins"/>
            </a:endParaRPr>
          </a:p>
        </p:txBody>
      </p:sp>
      <p:sp>
        <p:nvSpPr>
          <p:cNvPr id="165" name="Google Shape;165;g2d953cd28af_0_122"/>
          <p:cNvSpPr/>
          <p:nvPr/>
        </p:nvSpPr>
        <p:spPr>
          <a:xfrm>
            <a:off x="1903631" y="472931"/>
            <a:ext cx="5795400" cy="472800"/>
          </a:xfrm>
          <a:prstGeom prst="roundRect">
            <a:avLst>
              <a:gd fmla="val 16667" name="adj"/>
            </a:avLst>
          </a:prstGeom>
          <a:solidFill>
            <a:srgbClr val="3259A4"/>
          </a:solidFill>
          <a:ln cap="flat" cmpd="sng" w="9525">
            <a:solidFill>
              <a:srgbClr val="44546A"/>
            </a:solidFill>
            <a:prstDash val="solid"/>
            <a:round/>
            <a:headEnd len="sm" w="sm" type="none"/>
            <a:tailEnd len="sm" w="sm" type="none"/>
          </a:ln>
        </p:spPr>
        <p:txBody>
          <a:bodyPr anchorCtr="0" anchor="ctr" bIns="68575" lIns="68575" spcFirstLastPara="1" rIns="68575" wrap="square" tIns="68575">
            <a:noAutofit/>
          </a:bodyPr>
          <a:lstStyle/>
          <a:p>
            <a:pPr indent="0" lvl="0" marL="0" rtl="0" algn="ctr">
              <a:spcBef>
                <a:spcPts val="0"/>
              </a:spcBef>
              <a:spcAft>
                <a:spcPts val="0"/>
              </a:spcAft>
              <a:buNone/>
            </a:pPr>
            <a:r>
              <a:t/>
            </a:r>
            <a:endParaRPr sz="1100">
              <a:latin typeface="Calibri"/>
              <a:ea typeface="Calibri"/>
              <a:cs typeface="Calibri"/>
              <a:sym typeface="Calibri"/>
            </a:endParaRPr>
          </a:p>
        </p:txBody>
      </p:sp>
      <p:sp>
        <p:nvSpPr>
          <p:cNvPr id="166" name="Google Shape;166;g2d953cd28af_0_122"/>
          <p:cNvSpPr txBox="1"/>
          <p:nvPr/>
        </p:nvSpPr>
        <p:spPr>
          <a:xfrm>
            <a:off x="2638650" y="507467"/>
            <a:ext cx="4318500" cy="472800"/>
          </a:xfrm>
          <a:prstGeom prst="rect">
            <a:avLst/>
          </a:prstGeom>
          <a:noFill/>
          <a:ln>
            <a:noFill/>
          </a:ln>
        </p:spPr>
        <p:txBody>
          <a:bodyPr anchorCtr="0" anchor="t" bIns="68575" lIns="68575" spcFirstLastPara="1" rIns="68575" wrap="square" tIns="68575">
            <a:noAutofit/>
          </a:bodyPr>
          <a:lstStyle/>
          <a:p>
            <a:pPr indent="0" lvl="0" marL="0" rtl="0" algn="ctr">
              <a:spcBef>
                <a:spcPts val="0"/>
              </a:spcBef>
              <a:spcAft>
                <a:spcPts val="0"/>
              </a:spcAft>
              <a:buNone/>
            </a:pPr>
            <a:r>
              <a:rPr lang="es-ES" sz="2100">
                <a:solidFill>
                  <a:srgbClr val="FFFFFF"/>
                </a:solidFill>
                <a:latin typeface="Poppins"/>
                <a:ea typeface="Poppins"/>
                <a:cs typeface="Poppins"/>
                <a:sym typeface="Poppins"/>
              </a:rPr>
              <a:t>PLANIFICACIÓN TUTORÍA</a:t>
            </a:r>
            <a:endParaRPr sz="2100">
              <a:solidFill>
                <a:srgbClr val="FFFFFF"/>
              </a:solidFill>
              <a:latin typeface="Poppins"/>
              <a:ea typeface="Poppins"/>
              <a:cs typeface="Poppins"/>
              <a:sym typeface="Poppins"/>
            </a:endParaRPr>
          </a:p>
        </p:txBody>
      </p:sp>
      <p:pic>
        <p:nvPicPr>
          <p:cNvPr id="167" name="Google Shape;167;g2d953cd28af_0_122"/>
          <p:cNvPicPr preferRelativeResize="0"/>
          <p:nvPr/>
        </p:nvPicPr>
        <p:blipFill>
          <a:blip r:embed="rId3">
            <a:alphaModFix/>
          </a:blip>
          <a:stretch>
            <a:fillRect/>
          </a:stretch>
        </p:blipFill>
        <p:spPr>
          <a:xfrm>
            <a:off x="8212875" y="213987"/>
            <a:ext cx="693700" cy="731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
          <p:cNvSpPr txBox="1"/>
          <p:nvPr/>
        </p:nvSpPr>
        <p:spPr>
          <a:xfrm>
            <a:off x="1152939" y="2063920"/>
            <a:ext cx="6838200" cy="1015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1" i="0" lang="es-ES" sz="6000" u="none" cap="none" strike="noStrike">
                <a:solidFill>
                  <a:srgbClr val="009F98"/>
                </a:solidFill>
                <a:latin typeface="Patrick Hand"/>
                <a:ea typeface="Patrick Hand"/>
                <a:cs typeface="Patrick Hand"/>
                <a:sym typeface="Patrick Hand"/>
              </a:rPr>
              <a:t>SESIÓN 11</a:t>
            </a:r>
            <a:endParaRPr/>
          </a:p>
        </p:txBody>
      </p:sp>
      <p:pic>
        <p:nvPicPr>
          <p:cNvPr id="173" name="Google Shape;173;p2"/>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77" name="Shape 177"/>
        <p:cNvGrpSpPr/>
        <p:nvPr/>
      </p:nvGrpSpPr>
      <p:grpSpPr>
        <a:xfrm>
          <a:off x="0" y="0"/>
          <a:ext cx="0" cy="0"/>
          <a:chOff x="0" y="0"/>
          <a:chExt cx="0" cy="0"/>
        </a:xfrm>
      </p:grpSpPr>
      <p:sp>
        <p:nvSpPr>
          <p:cNvPr id="178" name="Google Shape;178;p3"/>
          <p:cNvSpPr txBox="1"/>
          <p:nvPr/>
        </p:nvSpPr>
        <p:spPr>
          <a:xfrm>
            <a:off x="-37" y="366599"/>
            <a:ext cx="9144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Qué evalúa el MINEDUC (información para TUTOR/A)</a:t>
            </a:r>
            <a:endParaRPr/>
          </a:p>
        </p:txBody>
      </p:sp>
      <p:sp>
        <p:nvSpPr>
          <p:cNvPr id="179" name="Google Shape;179;p3"/>
          <p:cNvSpPr txBox="1"/>
          <p:nvPr/>
        </p:nvSpPr>
        <p:spPr>
          <a:xfrm>
            <a:off x="600255" y="1095159"/>
            <a:ext cx="7943489" cy="24622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OA23 4to</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Demostrar que comprenden el concepto de área de un rectángulo y de un cuadrado:</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 reconociendo que el área de una superficie se mide en unidades cuadradas</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 seleccionando y justificando la elección de la unidad estandarizada (cm² y m2)</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 determinando y registrando el área en cm² y m² en contextos cercanos</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 construyendo diferentes rectángulos para un área dada (cm² y m²) para demostrar que distintos rectángulos pueden tener la misma área</a:t>
            </a:r>
            <a:endParaRPr/>
          </a:p>
          <a:p>
            <a:pPr indent="0" lvl="0" marL="0" marR="0" rtl="0" algn="l">
              <a:lnSpc>
                <a:spcPct val="100000"/>
              </a:lnSpc>
              <a:spcBef>
                <a:spcPts val="0"/>
              </a:spcBef>
              <a:spcAft>
                <a:spcPts val="0"/>
              </a:spcAft>
              <a:buClr>
                <a:srgbClr val="000000"/>
              </a:buClr>
              <a:buSzPts val="2300"/>
              <a:buFont typeface="Arial"/>
              <a:buNone/>
            </a:pPr>
            <a:r>
              <a:t/>
            </a:r>
            <a:endParaRPr b="0" i="0" sz="14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OA21 5to</a:t>
            </a:r>
            <a:endParaRPr/>
          </a:p>
          <a:p>
            <a:pPr indent="0" lvl="0" marL="0" marR="0" rtl="0" algn="l">
              <a:lnSpc>
                <a:spcPct val="100000"/>
              </a:lnSpc>
              <a:spcBef>
                <a:spcPts val="0"/>
              </a:spcBef>
              <a:spcAft>
                <a:spcPts val="0"/>
              </a:spcAft>
              <a:buClr>
                <a:srgbClr val="000000"/>
              </a:buClr>
              <a:buSzPts val="2300"/>
              <a:buFont typeface="Arial"/>
              <a:buNone/>
            </a:pPr>
            <a:r>
              <a:rPr b="0" i="0" lang="es-ES" sz="1400" u="none" cap="none" strike="noStrike">
                <a:solidFill>
                  <a:schemeClr val="dk1"/>
                </a:solidFill>
                <a:latin typeface="Patrick Hand"/>
                <a:ea typeface="Patrick Hand"/>
                <a:cs typeface="Patrick Hand"/>
                <a:sym typeface="Patrick Hand"/>
              </a:rPr>
              <a:t>Diseñar y construir diferentes rectángulos, dados el perímetro, el área o ambos, y sacar conclusiones.</a:t>
            </a:r>
            <a:endParaRPr/>
          </a:p>
          <a:p>
            <a:pPr indent="0" lvl="0" marL="0" marR="0" rtl="0" algn="l">
              <a:lnSpc>
                <a:spcPct val="100000"/>
              </a:lnSpc>
              <a:spcBef>
                <a:spcPts val="0"/>
              </a:spcBef>
              <a:spcAft>
                <a:spcPts val="0"/>
              </a:spcAft>
              <a:buClr>
                <a:srgbClr val="000000"/>
              </a:buClr>
              <a:buSzPts val="2300"/>
              <a:buFont typeface="Arial"/>
              <a:buNone/>
            </a:pPr>
            <a:r>
              <a:t/>
            </a:r>
            <a:endParaRPr b="0" i="0" sz="1400" u="none" cap="none" strike="noStrike">
              <a:solidFill>
                <a:schemeClr val="dk1"/>
              </a:solidFill>
              <a:latin typeface="Patrick Hand"/>
              <a:ea typeface="Patrick Hand"/>
              <a:cs typeface="Patrick Hand"/>
              <a:sym typeface="Patrick Hand"/>
            </a:endParaRPr>
          </a:p>
        </p:txBody>
      </p:sp>
      <p:pic>
        <p:nvPicPr>
          <p:cNvPr id="180" name="Google Shape;180;p3"/>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4"/>
          <p:cNvSpPr txBox="1"/>
          <p:nvPr/>
        </p:nvSpPr>
        <p:spPr>
          <a:xfrm>
            <a:off x="-37" y="366599"/>
            <a:ext cx="9144000"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✨Objetivos de hoy✨</a:t>
            </a:r>
            <a:endParaRPr/>
          </a:p>
        </p:txBody>
      </p:sp>
      <p:sp>
        <p:nvSpPr>
          <p:cNvPr id="186" name="Google Shape;186;p4"/>
          <p:cNvSpPr txBox="1"/>
          <p:nvPr/>
        </p:nvSpPr>
        <p:spPr>
          <a:xfrm>
            <a:off x="600218" y="1095159"/>
            <a:ext cx="7943489" cy="1015663"/>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0000"/>
              </a:buClr>
              <a:buSzPts val="2300"/>
              <a:buFont typeface="Arial"/>
              <a:buAutoNum type="arabicParenR"/>
            </a:pPr>
            <a:r>
              <a:rPr b="0" i="0" lang="es-ES" sz="2300" u="none" cap="none" strike="noStrike">
                <a:solidFill>
                  <a:schemeClr val="dk1"/>
                </a:solidFill>
                <a:latin typeface="Patrick Hand"/>
                <a:ea typeface="Patrick Hand"/>
                <a:cs typeface="Patrick Hand"/>
                <a:sym typeface="Patrick Hand"/>
              </a:rPr>
              <a:t>Construir Rectángulos con distintos perímetros y áreas.</a:t>
            </a:r>
            <a:endParaRPr/>
          </a:p>
          <a:p>
            <a:pPr indent="-196850" lvl="0" marL="342900" marR="0" rtl="0" algn="l">
              <a:lnSpc>
                <a:spcPct val="100000"/>
              </a:lnSpc>
              <a:spcBef>
                <a:spcPts val="0"/>
              </a:spcBef>
              <a:spcAft>
                <a:spcPts val="0"/>
              </a:spcAft>
              <a:buClr>
                <a:srgbClr val="000000"/>
              </a:buClr>
              <a:buSzPts val="2300"/>
              <a:buFont typeface="Arial"/>
              <a:buNone/>
            </a:pPr>
            <a:r>
              <a:t/>
            </a:r>
            <a:endParaRPr b="0" i="0" sz="23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Patrick Hand"/>
              <a:ea typeface="Patrick Hand"/>
              <a:cs typeface="Patrick Hand"/>
              <a:sym typeface="Patrick Hand"/>
            </a:endParaRPr>
          </a:p>
        </p:txBody>
      </p:sp>
      <p:pic>
        <p:nvPicPr>
          <p:cNvPr id="187" name="Google Shape;187;p4"/>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5"/>
          <p:cNvSpPr/>
          <p:nvPr/>
        </p:nvSpPr>
        <p:spPr>
          <a:xfrm>
            <a:off x="2124377" y="1914861"/>
            <a:ext cx="6241571" cy="1168793"/>
          </a:xfrm>
          <a:prstGeom prst="wedgeEllipseCallout">
            <a:avLst>
              <a:gd fmla="val -54190" name="adj1"/>
              <a:gd fmla="val 18238" name="adj2"/>
            </a:avLst>
          </a:prstGeom>
          <a:solidFill>
            <a:srgbClr val="009F9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93" name="Google Shape;193;p5"/>
          <p:cNvSpPr txBox="1"/>
          <p:nvPr/>
        </p:nvSpPr>
        <p:spPr>
          <a:xfrm>
            <a:off x="174750" y="300525"/>
            <a:ext cx="8794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Otra propuesta de Miguel</a:t>
            </a:r>
            <a:endParaRPr b="0" i="0" sz="3200" u="none" cap="none" strike="noStrike">
              <a:solidFill>
                <a:schemeClr val="lt1"/>
              </a:solidFill>
              <a:highlight>
                <a:srgbClr val="009287"/>
              </a:highlight>
              <a:latin typeface="Patrick Hand"/>
              <a:ea typeface="Patrick Hand"/>
              <a:cs typeface="Patrick Hand"/>
              <a:sym typeface="Patrick Hand"/>
            </a:endParaRPr>
          </a:p>
        </p:txBody>
      </p:sp>
      <p:sp>
        <p:nvSpPr>
          <p:cNvPr id="194" name="Google Shape;194;p5"/>
          <p:cNvSpPr txBox="1"/>
          <p:nvPr/>
        </p:nvSpPr>
        <p:spPr>
          <a:xfrm>
            <a:off x="-37" y="965487"/>
            <a:ext cx="9251652" cy="80021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Miguel ya nos dijo que bastaba saber el ancho de un cuadrado para conocer su área </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Ahora nos comenta lo siguiente: </a:t>
            </a:r>
            <a:endParaRPr/>
          </a:p>
        </p:txBody>
      </p:sp>
      <p:pic>
        <p:nvPicPr>
          <p:cNvPr descr="Forma&#10;&#10;Descripción generada automáticamente con confianza baja" id="195" name="Google Shape;195;p5"/>
          <p:cNvPicPr preferRelativeResize="0"/>
          <p:nvPr/>
        </p:nvPicPr>
        <p:blipFill rotWithShape="1">
          <a:blip r:embed="rId3">
            <a:alphaModFix/>
          </a:blip>
          <a:srcRect b="0" l="0" r="0" t="0"/>
          <a:stretch/>
        </p:blipFill>
        <p:spPr>
          <a:xfrm>
            <a:off x="107576" y="2066427"/>
            <a:ext cx="2811508" cy="2811506"/>
          </a:xfrm>
          <a:prstGeom prst="rect">
            <a:avLst/>
          </a:prstGeom>
          <a:noFill/>
          <a:ln>
            <a:noFill/>
          </a:ln>
        </p:spPr>
      </p:pic>
      <p:sp>
        <p:nvSpPr>
          <p:cNvPr id="196" name="Google Shape;196;p5"/>
          <p:cNvSpPr txBox="1"/>
          <p:nvPr/>
        </p:nvSpPr>
        <p:spPr>
          <a:xfrm>
            <a:off x="2544992" y="2122272"/>
            <a:ext cx="5400339"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chemeClr val="lt1"/>
                </a:solidFill>
                <a:latin typeface="Patrick Hand"/>
                <a:ea typeface="Patrick Hand"/>
                <a:cs typeface="Patrick Hand"/>
                <a:sym typeface="Patrick Hand"/>
              </a:rPr>
              <a:t>“Sabiendo el perímetro de un rectángulo y uno de sus lados puedes calcular su área”</a:t>
            </a:r>
            <a:endParaRPr/>
          </a:p>
        </p:txBody>
      </p:sp>
      <p:sp>
        <p:nvSpPr>
          <p:cNvPr id="197" name="Google Shape;197;p5"/>
          <p:cNvSpPr txBox="1"/>
          <p:nvPr/>
        </p:nvSpPr>
        <p:spPr>
          <a:xfrm>
            <a:off x="2339530" y="3377794"/>
            <a:ext cx="542177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800" u="none" cap="none" strike="noStrike">
                <a:solidFill>
                  <a:schemeClr val="dk1"/>
                </a:solidFill>
                <a:latin typeface="Patrick Hand"/>
                <a:ea typeface="Patrick Hand"/>
                <a:cs typeface="Patrick Hand"/>
                <a:sym typeface="Patrick Hand"/>
              </a:rPr>
              <a:t>¿Será eso cierto?</a:t>
            </a:r>
            <a:endParaRPr/>
          </a:p>
        </p:txBody>
      </p:sp>
      <p:pic>
        <p:nvPicPr>
          <p:cNvPr id="198" name="Google Shape;198;p5"/>
          <p:cNvPicPr preferRelativeResize="0"/>
          <p:nvPr/>
        </p:nvPicPr>
        <p:blipFill>
          <a:blip r:embed="rId4">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500"/>
                                        <p:tgtEl>
                                          <p:spTgt spid="194"/>
                                        </p:tgtEl>
                                      </p:cBhvr>
                                    </p:animEffect>
                                  </p:childTnLst>
                                </p:cTn>
                              </p:par>
                              <p:par>
                                <p:cTn fill="hold" nodeType="with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5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gtEl>
                                        <p:attrNameLst>
                                          <p:attrName>style.visibility</p:attrName>
                                        </p:attrNameLst>
                                      </p:cBhvr>
                                      <p:to>
                                        <p:strVal val="visible"/>
                                      </p:to>
                                    </p:set>
                                    <p:animEffect filter="fade" transition="in">
                                      <p:cBhvr>
                                        <p:cTn dur="500"/>
                                        <p:tgtEl>
                                          <p:spTgt spid="192"/>
                                        </p:tgtEl>
                                      </p:cBhvr>
                                    </p:animEffect>
                                  </p:childTnLst>
                                </p:cTn>
                              </p:par>
                              <p:par>
                                <p:cTn fill="hold" nodeType="with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6"/>
          <p:cNvSpPr txBox="1"/>
          <p:nvPr/>
        </p:nvSpPr>
        <p:spPr>
          <a:xfrm>
            <a:off x="181350" y="366600"/>
            <a:ext cx="87813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Miguel</a:t>
            </a:r>
            <a:endParaRPr/>
          </a:p>
        </p:txBody>
      </p:sp>
      <p:sp>
        <p:nvSpPr>
          <p:cNvPr id="204" name="Google Shape;204;p6"/>
          <p:cNvSpPr txBox="1"/>
          <p:nvPr/>
        </p:nvSpPr>
        <p:spPr>
          <a:xfrm>
            <a:off x="4310343" y="1483854"/>
            <a:ext cx="4833656" cy="2569934"/>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Supongamos que el perímetro del rectángulo es </a:t>
            </a:r>
            <a:r>
              <a:rPr b="1" i="0" lang="es-ES" sz="2300" u="none" cap="none" strike="noStrike">
                <a:solidFill>
                  <a:srgbClr val="FAB235"/>
                </a:solidFill>
                <a:latin typeface="Patrick Hand"/>
                <a:ea typeface="Patrick Hand"/>
                <a:cs typeface="Patrick Hand"/>
                <a:sym typeface="Patrick Hand"/>
              </a:rPr>
              <a:t>46 m</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Y que el largo que es </a:t>
            </a:r>
            <a:r>
              <a:rPr b="1" i="0" lang="es-ES" sz="2300" u="none" cap="none" strike="noStrike">
                <a:solidFill>
                  <a:schemeClr val="dk1"/>
                </a:solidFill>
                <a:latin typeface="Patrick Hand"/>
                <a:ea typeface="Patrick Hand"/>
                <a:cs typeface="Patrick Hand"/>
                <a:sym typeface="Patrick Hand"/>
              </a:rPr>
              <a:t>15 m</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El </a:t>
            </a:r>
            <a:r>
              <a:rPr b="1" i="0" lang="es-ES" sz="2300" u="none" cap="none" strike="noStrike">
                <a:solidFill>
                  <a:srgbClr val="00B0F0"/>
                </a:solidFill>
                <a:latin typeface="Patrick Hand"/>
                <a:ea typeface="Patrick Hand"/>
                <a:cs typeface="Patrick Hand"/>
                <a:sym typeface="Patrick Hand"/>
              </a:rPr>
              <a:t>ancho no lo conocemos </a:t>
            </a:r>
            <a:r>
              <a:rPr b="0" i="0" lang="es-ES" sz="2300" u="none" cap="none" strike="noStrike">
                <a:solidFill>
                  <a:schemeClr val="dk1"/>
                </a:solidFill>
                <a:latin typeface="Patrick Hand"/>
                <a:ea typeface="Patrick Hand"/>
                <a:cs typeface="Patrick Hand"/>
                <a:sym typeface="Patrick Hand"/>
              </a:rPr>
              <a:t>y además queremos </a:t>
            </a:r>
            <a:r>
              <a:rPr b="1" i="0" lang="es-ES" sz="2300" u="none" cap="none" strike="noStrike">
                <a:solidFill>
                  <a:srgbClr val="C00000"/>
                </a:solidFill>
                <a:latin typeface="Patrick Hand"/>
                <a:ea typeface="Patrick Hand"/>
                <a:cs typeface="Patrick Hand"/>
                <a:sym typeface="Patrick Hand"/>
              </a:rPr>
              <a:t>calcular el área</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¿Qué podemos hacer?</a:t>
            </a:r>
            <a:endParaRPr/>
          </a:p>
        </p:txBody>
      </p:sp>
      <p:sp>
        <p:nvSpPr>
          <p:cNvPr id="205" name="Google Shape;205;p6"/>
          <p:cNvSpPr/>
          <p:nvPr/>
        </p:nvSpPr>
        <p:spPr>
          <a:xfrm>
            <a:off x="840742" y="2281294"/>
            <a:ext cx="2628825" cy="975056"/>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06" name="Google Shape;206;p6"/>
          <p:cNvSpPr txBox="1"/>
          <p:nvPr/>
        </p:nvSpPr>
        <p:spPr>
          <a:xfrm>
            <a:off x="1734765" y="1851859"/>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07" name="Google Shape;207;p6"/>
          <p:cNvSpPr txBox="1"/>
          <p:nvPr/>
        </p:nvSpPr>
        <p:spPr>
          <a:xfrm>
            <a:off x="1734765" y="3375707"/>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08" name="Google Shape;208;p6"/>
          <p:cNvSpPr txBox="1"/>
          <p:nvPr/>
        </p:nvSpPr>
        <p:spPr>
          <a:xfrm>
            <a:off x="1453926" y="2363469"/>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P=46 m</a:t>
            </a:r>
            <a:endParaRPr/>
          </a:p>
        </p:txBody>
      </p:sp>
      <p:sp>
        <p:nvSpPr>
          <p:cNvPr id="209" name="Google Shape;209;p6"/>
          <p:cNvSpPr txBox="1"/>
          <p:nvPr/>
        </p:nvSpPr>
        <p:spPr>
          <a:xfrm>
            <a:off x="3469565" y="255337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Ancho</a:t>
            </a:r>
            <a:endParaRPr/>
          </a:p>
        </p:txBody>
      </p:sp>
      <p:sp>
        <p:nvSpPr>
          <p:cNvPr id="210" name="Google Shape;210;p6"/>
          <p:cNvSpPr txBox="1"/>
          <p:nvPr/>
        </p:nvSpPr>
        <p:spPr>
          <a:xfrm>
            <a:off x="-37" y="2530294"/>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Ancho</a:t>
            </a:r>
            <a:endParaRPr/>
          </a:p>
        </p:txBody>
      </p:sp>
      <p:sp>
        <p:nvSpPr>
          <p:cNvPr id="211" name="Google Shape;211;p6"/>
          <p:cNvSpPr txBox="1"/>
          <p:nvPr/>
        </p:nvSpPr>
        <p:spPr>
          <a:xfrm>
            <a:off x="1418487" y="2712181"/>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Área</a:t>
            </a:r>
            <a:endParaRPr/>
          </a:p>
        </p:txBody>
      </p:sp>
      <p:pic>
        <p:nvPicPr>
          <p:cNvPr id="212" name="Google Shape;212;p6"/>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0" st="0"/>
                                            </p:txEl>
                                          </p:spTgt>
                                        </p:tgtEl>
                                        <p:attrNameLst>
                                          <p:attrName>style.visibility</p:attrName>
                                        </p:attrNameLst>
                                      </p:cBhvr>
                                      <p:to>
                                        <p:strVal val="visible"/>
                                      </p:to>
                                    </p:set>
                                    <p:animEffect filter="fade" transition="in">
                                      <p:cBhvr>
                                        <p:cTn dur="500"/>
                                        <p:tgtEl>
                                          <p:spTgt spid="2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1" st="1"/>
                                            </p:txEl>
                                          </p:spTgt>
                                        </p:tgtEl>
                                        <p:attrNameLst>
                                          <p:attrName>style.visibility</p:attrName>
                                        </p:attrNameLst>
                                      </p:cBhvr>
                                      <p:to>
                                        <p:strVal val="visible"/>
                                      </p:to>
                                    </p:set>
                                    <p:animEffect filter="fade" transition="in">
                                      <p:cBhvr>
                                        <p:cTn dur="500"/>
                                        <p:tgtEl>
                                          <p:spTgt spid="2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2" st="2"/>
                                            </p:txEl>
                                          </p:spTgt>
                                        </p:tgtEl>
                                        <p:attrNameLst>
                                          <p:attrName>style.visibility</p:attrName>
                                        </p:attrNameLst>
                                      </p:cBhvr>
                                      <p:to>
                                        <p:strVal val="visible"/>
                                      </p:to>
                                    </p:set>
                                    <p:animEffect filter="fade" transition="in">
                                      <p:cBhvr>
                                        <p:cTn dur="500"/>
                                        <p:tgtEl>
                                          <p:spTgt spid="2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3" st="3"/>
                                            </p:txEl>
                                          </p:spTgt>
                                        </p:tgtEl>
                                        <p:attrNameLst>
                                          <p:attrName>style.visibility</p:attrName>
                                        </p:attrNameLst>
                                      </p:cBhvr>
                                      <p:to>
                                        <p:strVal val="visible"/>
                                      </p:to>
                                    </p:set>
                                    <p:animEffect filter="fade" transition="in">
                                      <p:cBhvr>
                                        <p:cTn dur="500"/>
                                        <p:tgtEl>
                                          <p:spTgt spid="2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xEl>
                                              <p:pRg end="4" st="4"/>
                                            </p:txEl>
                                          </p:spTgt>
                                        </p:tgtEl>
                                        <p:attrNameLst>
                                          <p:attrName>style.visibility</p:attrName>
                                        </p:attrNameLst>
                                      </p:cBhvr>
                                      <p:to>
                                        <p:strVal val="visible"/>
                                      </p:to>
                                    </p:set>
                                    <p:animEffect filter="fade" transition="in">
                                      <p:cBhvr>
                                        <p:cTn dur="500"/>
                                        <p:tgtEl>
                                          <p:spTgt spid="204">
                                            <p:txEl>
                                              <p:pRg end="4" st="4"/>
                                            </p:txEl>
                                          </p:spTgt>
                                        </p:tgtEl>
                                      </p:cBhvr>
                                    </p:animEffect>
                                  </p:childTnLst>
                                </p:cTn>
                              </p:par>
                              <p:par>
                                <p:cTn fill="hold" nodeType="with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500"/>
                                        <p:tgtEl>
                                          <p:spTgt spid="2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500"/>
                                        <p:tgtEl>
                                          <p:spTgt spid="206"/>
                                        </p:tgtEl>
                                      </p:cBhvr>
                                    </p:animEffect>
                                  </p:childTnLst>
                                </p:cTn>
                              </p:par>
                              <p:par>
                                <p:cTn fill="hold" nodeType="with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5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500"/>
                                        <p:tgtEl>
                                          <p:spTgt spid="209"/>
                                        </p:tgtEl>
                                      </p:cBhvr>
                                    </p:animEffect>
                                  </p:childTnLst>
                                </p:cTn>
                              </p:par>
                              <p:par>
                                <p:cTn fill="hold" nodeType="withEffect" presetClass="entr" presetID="10" presetSubtype="0">
                                  <p:stCondLst>
                                    <p:cond delay="0"/>
                                  </p:stCondLst>
                                  <p:childTnLst>
                                    <p:set>
                                      <p:cBhvr>
                                        <p:cTn dur="1" fill="hold">
                                          <p:stCondLst>
                                            <p:cond delay="0"/>
                                          </p:stCondLst>
                                        </p:cTn>
                                        <p:tgtEl>
                                          <p:spTgt spid="210"/>
                                        </p:tgtEl>
                                        <p:attrNameLst>
                                          <p:attrName>style.visibility</p:attrName>
                                        </p:attrNameLst>
                                      </p:cBhvr>
                                      <p:to>
                                        <p:strVal val="visible"/>
                                      </p:to>
                                    </p:set>
                                    <p:animEffect filter="fade" transition="in">
                                      <p:cBhvr>
                                        <p:cTn dur="500"/>
                                        <p:tgtEl>
                                          <p:spTgt spid="210"/>
                                        </p:tgtEl>
                                      </p:cBhvr>
                                    </p:animEffect>
                                  </p:childTnLst>
                                </p:cTn>
                              </p:par>
                              <p:par>
                                <p:cTn fill="hold" nodeType="with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7"/>
          <p:cNvSpPr txBox="1"/>
          <p:nvPr/>
        </p:nvSpPr>
        <p:spPr>
          <a:xfrm>
            <a:off x="-25" y="366600"/>
            <a:ext cx="89145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Miguel</a:t>
            </a:r>
            <a:endParaRPr/>
          </a:p>
        </p:txBody>
      </p:sp>
      <p:sp>
        <p:nvSpPr>
          <p:cNvPr id="218" name="Google Shape;218;p7"/>
          <p:cNvSpPr txBox="1"/>
          <p:nvPr/>
        </p:nvSpPr>
        <p:spPr>
          <a:xfrm>
            <a:off x="4310344" y="1133843"/>
            <a:ext cx="4833656" cy="398570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Podemos partir notando que la suma del doble del largo más el doble del ancho es el perímetro </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Entonces 30 m sumado con el doble del ancho debe ser 46 m</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¿Cuánto mide </a:t>
            </a:r>
            <a:r>
              <a:rPr b="1" i="0" lang="es-ES" sz="2000" u="none" cap="none" strike="noStrike">
                <a:solidFill>
                  <a:srgbClr val="00B0F0"/>
                </a:solidFill>
                <a:latin typeface="Patrick Hand"/>
                <a:ea typeface="Patrick Hand"/>
                <a:cs typeface="Patrick Hand"/>
                <a:sym typeface="Patrick Hand"/>
              </a:rPr>
              <a:t>2 x Ancho</a:t>
            </a:r>
            <a:r>
              <a:rPr b="0" i="0" lang="es-ES" sz="2300" u="none" cap="none" strike="noStrike">
                <a:solidFill>
                  <a:schemeClr val="dk1"/>
                </a:solidFill>
                <a:latin typeface="Patrick Hand"/>
                <a:ea typeface="Patrick Hand"/>
                <a:cs typeface="Patrick Hand"/>
                <a:sym typeface="Patrick Hand"/>
              </a:rPr>
              <a:t> para que el perímetro sea 46 m?</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a:t>
            </a:r>
            <a:r>
              <a:rPr b="1" i="0" lang="es-ES" sz="2300" u="none" cap="none" strike="noStrike">
                <a:solidFill>
                  <a:srgbClr val="FFFFFF"/>
                </a:solidFill>
                <a:highlight>
                  <a:srgbClr val="009F98"/>
                </a:highlight>
                <a:latin typeface="Patrick Hand"/>
                <a:ea typeface="Patrick Hand"/>
                <a:cs typeface="Patrick Hand"/>
                <a:sym typeface="Patrick Hand"/>
              </a:rPr>
              <a:t>16 m</a:t>
            </a:r>
            <a:r>
              <a:rPr b="0" i="0" lang="es-ES" sz="2300" u="none" cap="none" strike="noStrike">
                <a:solidFill>
                  <a:schemeClr val="dk1"/>
                </a:solidFill>
                <a:latin typeface="Patrick Hand"/>
                <a:ea typeface="Patrick Hand"/>
                <a:cs typeface="Patrick Hand"/>
                <a:sym typeface="Patrick Hand"/>
              </a:rPr>
              <a:t>!</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p:txBody>
      </p:sp>
      <p:sp>
        <p:nvSpPr>
          <p:cNvPr id="219" name="Google Shape;219;p7"/>
          <p:cNvSpPr/>
          <p:nvPr/>
        </p:nvSpPr>
        <p:spPr>
          <a:xfrm>
            <a:off x="817546" y="1453884"/>
            <a:ext cx="2628825" cy="975056"/>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20" name="Google Shape;220;p7"/>
          <p:cNvSpPr txBox="1"/>
          <p:nvPr/>
        </p:nvSpPr>
        <p:spPr>
          <a:xfrm>
            <a:off x="1711569" y="1024449"/>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21" name="Google Shape;221;p7"/>
          <p:cNvSpPr txBox="1"/>
          <p:nvPr/>
        </p:nvSpPr>
        <p:spPr>
          <a:xfrm>
            <a:off x="1711569" y="2548297"/>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22" name="Google Shape;222;p7"/>
          <p:cNvSpPr txBox="1"/>
          <p:nvPr/>
        </p:nvSpPr>
        <p:spPr>
          <a:xfrm>
            <a:off x="1430730" y="1536059"/>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P=46 m</a:t>
            </a:r>
            <a:endParaRPr/>
          </a:p>
        </p:txBody>
      </p:sp>
      <p:sp>
        <p:nvSpPr>
          <p:cNvPr id="223" name="Google Shape;223;p7"/>
          <p:cNvSpPr txBox="1"/>
          <p:nvPr/>
        </p:nvSpPr>
        <p:spPr>
          <a:xfrm>
            <a:off x="3446369" y="172596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Ancho</a:t>
            </a:r>
            <a:endParaRPr/>
          </a:p>
        </p:txBody>
      </p:sp>
      <p:sp>
        <p:nvSpPr>
          <p:cNvPr id="224" name="Google Shape;224;p7"/>
          <p:cNvSpPr txBox="1"/>
          <p:nvPr/>
        </p:nvSpPr>
        <p:spPr>
          <a:xfrm>
            <a:off x="-23233" y="1702884"/>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Ancho</a:t>
            </a:r>
            <a:endParaRPr/>
          </a:p>
        </p:txBody>
      </p:sp>
      <p:sp>
        <p:nvSpPr>
          <p:cNvPr id="225" name="Google Shape;225;p7"/>
          <p:cNvSpPr txBox="1"/>
          <p:nvPr/>
        </p:nvSpPr>
        <p:spPr>
          <a:xfrm>
            <a:off x="1395291" y="1884771"/>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Área</a:t>
            </a:r>
            <a:endParaRPr/>
          </a:p>
        </p:txBody>
      </p:sp>
      <p:sp>
        <p:nvSpPr>
          <p:cNvPr id="226" name="Google Shape;226;p7"/>
          <p:cNvSpPr txBox="1"/>
          <p:nvPr/>
        </p:nvSpPr>
        <p:spPr>
          <a:xfrm>
            <a:off x="-206076" y="2926641"/>
            <a:ext cx="467606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rgbClr val="FAB235"/>
                </a:solidFill>
                <a:latin typeface="Patrick Hand"/>
                <a:ea typeface="Patrick Hand"/>
                <a:cs typeface="Patrick Hand"/>
                <a:sym typeface="Patrick Hand"/>
              </a:rPr>
              <a:t>46 m </a:t>
            </a:r>
            <a:r>
              <a:rPr b="1" i="0" lang="es-ES" sz="2000" u="none" cap="none" strike="noStrike">
                <a:solidFill>
                  <a:schemeClr val="dk1"/>
                </a:solidFill>
                <a:latin typeface="Patrick Hand"/>
                <a:ea typeface="Patrick Hand"/>
                <a:cs typeface="Patrick Hand"/>
                <a:sym typeface="Patrick Hand"/>
              </a:rPr>
              <a:t>= 15 m + 15 m </a:t>
            </a:r>
            <a:r>
              <a:rPr b="1" i="0" lang="es-ES" sz="2000" u="none" cap="none" strike="noStrike">
                <a:solidFill>
                  <a:srgbClr val="00B0F0"/>
                </a:solidFill>
                <a:latin typeface="Patrick Hand"/>
                <a:ea typeface="Patrick Hand"/>
                <a:cs typeface="Patrick Hand"/>
                <a:sym typeface="Patrick Hand"/>
              </a:rPr>
              <a:t>+ Ancho + Ancho</a:t>
            </a:r>
            <a:endParaRPr/>
          </a:p>
        </p:txBody>
      </p:sp>
      <p:sp>
        <p:nvSpPr>
          <p:cNvPr id="227" name="Google Shape;227;p7"/>
          <p:cNvSpPr txBox="1"/>
          <p:nvPr/>
        </p:nvSpPr>
        <p:spPr>
          <a:xfrm>
            <a:off x="-206076" y="3357528"/>
            <a:ext cx="467606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rgbClr val="FAB235"/>
                </a:solidFill>
                <a:latin typeface="Patrick Hand"/>
                <a:ea typeface="Patrick Hand"/>
                <a:cs typeface="Patrick Hand"/>
                <a:sym typeface="Patrick Hand"/>
              </a:rPr>
              <a:t>46 m </a:t>
            </a:r>
            <a:r>
              <a:rPr b="1" i="0" lang="es-ES" sz="2000" u="none" cap="none" strike="noStrike">
                <a:solidFill>
                  <a:schemeClr val="dk1"/>
                </a:solidFill>
                <a:latin typeface="Patrick Hand"/>
                <a:ea typeface="Patrick Hand"/>
                <a:cs typeface="Patrick Hand"/>
                <a:sym typeface="Patrick Hand"/>
              </a:rPr>
              <a:t>= 30 m </a:t>
            </a:r>
            <a:r>
              <a:rPr b="1" i="0" lang="es-ES" sz="2000" u="none" cap="none" strike="noStrike">
                <a:solidFill>
                  <a:srgbClr val="00B0F0"/>
                </a:solidFill>
                <a:latin typeface="Patrick Hand"/>
                <a:ea typeface="Patrick Hand"/>
                <a:cs typeface="Patrick Hand"/>
                <a:sym typeface="Patrick Hand"/>
              </a:rPr>
              <a:t>+ 2 x Ancho</a:t>
            </a:r>
            <a:endParaRPr/>
          </a:p>
        </p:txBody>
      </p:sp>
      <p:sp>
        <p:nvSpPr>
          <p:cNvPr id="228" name="Google Shape;228;p7"/>
          <p:cNvSpPr txBox="1"/>
          <p:nvPr/>
        </p:nvSpPr>
        <p:spPr>
          <a:xfrm>
            <a:off x="-206076" y="3732012"/>
            <a:ext cx="467606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rgbClr val="FAB235"/>
                </a:solidFill>
                <a:latin typeface="Patrick Hand"/>
                <a:ea typeface="Patrick Hand"/>
                <a:cs typeface="Patrick Hand"/>
                <a:sym typeface="Patrick Hand"/>
              </a:rPr>
              <a:t>16 m </a:t>
            </a:r>
            <a:r>
              <a:rPr b="1" i="0" lang="es-ES" sz="2000" u="none" cap="none" strike="noStrike">
                <a:solidFill>
                  <a:schemeClr val="dk1"/>
                </a:solidFill>
                <a:latin typeface="Patrick Hand"/>
                <a:ea typeface="Patrick Hand"/>
                <a:cs typeface="Patrick Hand"/>
                <a:sym typeface="Patrick Hand"/>
              </a:rPr>
              <a:t>= </a:t>
            </a:r>
            <a:r>
              <a:rPr b="1" i="0" lang="es-ES" sz="2000" u="none" cap="none" strike="noStrike">
                <a:solidFill>
                  <a:srgbClr val="00B0F0"/>
                </a:solidFill>
                <a:latin typeface="Patrick Hand"/>
                <a:ea typeface="Patrick Hand"/>
                <a:cs typeface="Patrick Hand"/>
                <a:sym typeface="Patrick Hand"/>
              </a:rPr>
              <a:t>2 x Ancho</a:t>
            </a:r>
            <a:endParaRPr/>
          </a:p>
        </p:txBody>
      </p:sp>
      <p:pic>
        <p:nvPicPr>
          <p:cNvPr id="229" name="Google Shape;229;p7"/>
          <p:cNvPicPr preferRelativeResize="0"/>
          <p:nvPr/>
        </p:nvPicPr>
        <p:blipFill>
          <a:blip r:embed="rId3">
            <a:alphaModFix/>
          </a:blip>
          <a:stretch>
            <a:fillRect/>
          </a:stretch>
        </p:blipFill>
        <p:spPr>
          <a:xfrm>
            <a:off x="8359450"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0" st="0"/>
                                            </p:txEl>
                                          </p:spTgt>
                                        </p:tgtEl>
                                        <p:attrNameLst>
                                          <p:attrName>style.visibility</p:attrName>
                                        </p:attrNameLst>
                                      </p:cBhvr>
                                      <p:to>
                                        <p:strVal val="visible"/>
                                      </p:to>
                                    </p:set>
                                    <p:animEffect filter="fade" transition="in">
                                      <p:cBhvr>
                                        <p:cTn dur="500"/>
                                        <p:tgtEl>
                                          <p:spTgt spid="2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1" st="1"/>
                                            </p:txEl>
                                          </p:spTgt>
                                        </p:tgtEl>
                                        <p:attrNameLst>
                                          <p:attrName>style.visibility</p:attrName>
                                        </p:attrNameLst>
                                      </p:cBhvr>
                                      <p:to>
                                        <p:strVal val="visible"/>
                                      </p:to>
                                    </p:set>
                                    <p:animEffect filter="fade" transition="in">
                                      <p:cBhvr>
                                        <p:cTn dur="500"/>
                                        <p:tgtEl>
                                          <p:spTgt spid="2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2" st="2"/>
                                            </p:txEl>
                                          </p:spTgt>
                                        </p:tgtEl>
                                        <p:attrNameLst>
                                          <p:attrName>style.visibility</p:attrName>
                                        </p:attrNameLst>
                                      </p:cBhvr>
                                      <p:to>
                                        <p:strVal val="visible"/>
                                      </p:to>
                                    </p:set>
                                    <p:animEffect filter="fade" transition="in">
                                      <p:cBhvr>
                                        <p:cTn dur="500"/>
                                        <p:tgtEl>
                                          <p:spTgt spid="2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3" st="3"/>
                                            </p:txEl>
                                          </p:spTgt>
                                        </p:tgtEl>
                                        <p:attrNameLst>
                                          <p:attrName>style.visibility</p:attrName>
                                        </p:attrNameLst>
                                      </p:cBhvr>
                                      <p:to>
                                        <p:strVal val="visible"/>
                                      </p:to>
                                    </p:set>
                                    <p:animEffect filter="fade" transition="in">
                                      <p:cBhvr>
                                        <p:cTn dur="500"/>
                                        <p:tgtEl>
                                          <p:spTgt spid="2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4" st="4"/>
                                            </p:txEl>
                                          </p:spTgt>
                                        </p:tgtEl>
                                        <p:attrNameLst>
                                          <p:attrName>style.visibility</p:attrName>
                                        </p:attrNameLst>
                                      </p:cBhvr>
                                      <p:to>
                                        <p:strVal val="visible"/>
                                      </p:to>
                                    </p:set>
                                    <p:animEffect filter="fade" transition="in">
                                      <p:cBhvr>
                                        <p:cTn dur="500"/>
                                        <p:tgtEl>
                                          <p:spTgt spid="2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5" st="5"/>
                                            </p:txEl>
                                          </p:spTgt>
                                        </p:tgtEl>
                                        <p:attrNameLst>
                                          <p:attrName>style.visibility</p:attrName>
                                        </p:attrNameLst>
                                      </p:cBhvr>
                                      <p:to>
                                        <p:strVal val="visible"/>
                                      </p:to>
                                    </p:set>
                                    <p:animEffect filter="fade" transition="in">
                                      <p:cBhvr>
                                        <p:cTn dur="500"/>
                                        <p:tgtEl>
                                          <p:spTgt spid="21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xEl>
                                              <p:pRg end="6" st="6"/>
                                            </p:txEl>
                                          </p:spTgt>
                                        </p:tgtEl>
                                        <p:attrNameLst>
                                          <p:attrName>style.visibility</p:attrName>
                                        </p:attrNameLst>
                                      </p:cBhvr>
                                      <p:to>
                                        <p:strVal val="visible"/>
                                      </p:to>
                                    </p:set>
                                    <p:animEffect filter="fade" transition="in">
                                      <p:cBhvr>
                                        <p:cTn dur="500"/>
                                        <p:tgtEl>
                                          <p:spTgt spid="218">
                                            <p:txEl>
                                              <p:pRg end="6" st="6"/>
                                            </p:txEl>
                                          </p:spTgt>
                                        </p:tgtEl>
                                      </p:cBhvr>
                                    </p:animEffect>
                                  </p:childTnLst>
                                </p:cTn>
                              </p:par>
                            </p:childTnLst>
                          </p:cTn>
                        </p:par>
                        <p:par>
                          <p:cTn fill="hold">
                            <p:stCondLst>
                              <p:cond delay="500"/>
                            </p:stCondLst>
                            <p:childTnLst>
                              <p:par>
                                <p:cTn fill="hold" nodeType="afterEffect" presetClass="entr" presetID="10" presetSubtype="0">
                                  <p:stCondLst>
                                    <p:cond delay="0"/>
                                  </p:stCondLst>
                                  <p:childTnLst>
                                    <p:set>
                                      <p:cBhvr>
                                        <p:cTn dur="1" fill="hold">
                                          <p:stCondLst>
                                            <p:cond delay="0"/>
                                          </p:stCondLst>
                                        </p:cTn>
                                        <p:tgtEl>
                                          <p:spTgt spid="226">
                                            <p:txEl>
                                              <p:pRg end="0" st="0"/>
                                            </p:txEl>
                                          </p:spTgt>
                                        </p:tgtEl>
                                        <p:attrNameLst>
                                          <p:attrName>style.visibility</p:attrName>
                                        </p:attrNameLst>
                                      </p:cBhvr>
                                      <p:to>
                                        <p:strVal val="visible"/>
                                      </p:to>
                                    </p:set>
                                    <p:animEffect filter="fade" transition="in">
                                      <p:cBhvr>
                                        <p:cTn dur="500"/>
                                        <p:tgtEl>
                                          <p:spTgt spid="226">
                                            <p:txEl>
                                              <p:pRg end="0" st="0"/>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animEffect filter="fade" transition="in">
                                      <p:cBhvr>
                                        <p:cTn dur="500"/>
                                        <p:tgtEl>
                                          <p:spTgt spid="2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0" st="0"/>
                                            </p:txEl>
                                          </p:spTgt>
                                        </p:tgtEl>
                                        <p:attrNameLst>
                                          <p:attrName>style.visibility</p:attrName>
                                        </p:attrNameLst>
                                      </p:cBhvr>
                                      <p:to>
                                        <p:strVal val="visible"/>
                                      </p:to>
                                    </p:set>
                                    <p:animEffect filter="fade" transition="in">
                                      <p:cBhvr>
                                        <p:cTn dur="500"/>
                                        <p:tgtEl>
                                          <p:spTgt spid="22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8"/>
          <p:cNvSpPr txBox="1"/>
          <p:nvPr/>
        </p:nvSpPr>
        <p:spPr>
          <a:xfrm>
            <a:off x="94800" y="366600"/>
            <a:ext cx="8954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Miguel</a:t>
            </a:r>
            <a:endParaRPr/>
          </a:p>
        </p:txBody>
      </p:sp>
      <p:sp>
        <p:nvSpPr>
          <p:cNvPr id="235" name="Google Shape;235;p8"/>
          <p:cNvSpPr txBox="1"/>
          <p:nvPr/>
        </p:nvSpPr>
        <p:spPr>
          <a:xfrm>
            <a:off x="3926503" y="1743453"/>
            <a:ext cx="5217459" cy="22159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Ahora, si dos veces el ancho es 16 m, </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¿Qué número multiplicado por 2 resulta en 16? </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O visto de otra manera, ¿cuál es la mitad de 16?</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a:t>
            </a:r>
            <a:r>
              <a:rPr b="1" i="0" lang="es-ES" sz="2300" u="none" cap="none" strike="noStrike">
                <a:solidFill>
                  <a:srgbClr val="FFFFFF"/>
                </a:solidFill>
                <a:highlight>
                  <a:srgbClr val="009F98"/>
                </a:highlight>
                <a:latin typeface="Patrick Hand"/>
                <a:ea typeface="Patrick Hand"/>
                <a:cs typeface="Patrick Hand"/>
                <a:sym typeface="Patrick Hand"/>
              </a:rPr>
              <a:t>8 m</a:t>
            </a:r>
            <a:r>
              <a:rPr b="0" i="0" lang="es-ES" sz="2300" u="none" cap="none" strike="noStrike">
                <a:solidFill>
                  <a:schemeClr val="dk1"/>
                </a:solidFill>
                <a:latin typeface="Patrick Hand"/>
                <a:ea typeface="Patrick Hand"/>
                <a:cs typeface="Patrick Hand"/>
                <a:sym typeface="Patrick Hand"/>
              </a:rPr>
              <a:t>!</a:t>
            </a:r>
            <a:endParaRPr/>
          </a:p>
        </p:txBody>
      </p:sp>
      <p:sp>
        <p:nvSpPr>
          <p:cNvPr id="236" name="Google Shape;236;p8"/>
          <p:cNvSpPr/>
          <p:nvPr/>
        </p:nvSpPr>
        <p:spPr>
          <a:xfrm>
            <a:off x="817546" y="1733583"/>
            <a:ext cx="2628825" cy="975056"/>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37" name="Google Shape;237;p8"/>
          <p:cNvSpPr txBox="1"/>
          <p:nvPr/>
        </p:nvSpPr>
        <p:spPr>
          <a:xfrm>
            <a:off x="1711569" y="130414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38" name="Google Shape;238;p8"/>
          <p:cNvSpPr txBox="1"/>
          <p:nvPr/>
        </p:nvSpPr>
        <p:spPr>
          <a:xfrm>
            <a:off x="1711569" y="2827996"/>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39" name="Google Shape;239;p8"/>
          <p:cNvSpPr txBox="1"/>
          <p:nvPr/>
        </p:nvSpPr>
        <p:spPr>
          <a:xfrm>
            <a:off x="1430730" y="1815758"/>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P=46 m</a:t>
            </a:r>
            <a:endParaRPr/>
          </a:p>
        </p:txBody>
      </p:sp>
      <p:sp>
        <p:nvSpPr>
          <p:cNvPr id="240" name="Google Shape;240;p8"/>
          <p:cNvSpPr txBox="1"/>
          <p:nvPr/>
        </p:nvSpPr>
        <p:spPr>
          <a:xfrm>
            <a:off x="3446369" y="2005667"/>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Ancho</a:t>
            </a:r>
            <a:endParaRPr/>
          </a:p>
        </p:txBody>
      </p:sp>
      <p:sp>
        <p:nvSpPr>
          <p:cNvPr id="241" name="Google Shape;241;p8"/>
          <p:cNvSpPr txBox="1"/>
          <p:nvPr/>
        </p:nvSpPr>
        <p:spPr>
          <a:xfrm>
            <a:off x="-23233" y="1982583"/>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Ancho</a:t>
            </a:r>
            <a:endParaRPr/>
          </a:p>
        </p:txBody>
      </p:sp>
      <p:sp>
        <p:nvSpPr>
          <p:cNvPr id="242" name="Google Shape;242;p8"/>
          <p:cNvSpPr txBox="1"/>
          <p:nvPr/>
        </p:nvSpPr>
        <p:spPr>
          <a:xfrm>
            <a:off x="1395291" y="2164470"/>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Área</a:t>
            </a:r>
            <a:endParaRPr/>
          </a:p>
        </p:txBody>
      </p:sp>
      <p:sp>
        <p:nvSpPr>
          <p:cNvPr id="243" name="Google Shape;243;p8"/>
          <p:cNvSpPr txBox="1"/>
          <p:nvPr/>
        </p:nvSpPr>
        <p:spPr>
          <a:xfrm>
            <a:off x="-206076" y="3266345"/>
            <a:ext cx="467606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rgbClr val="FAB235"/>
                </a:solidFill>
                <a:latin typeface="Patrick Hand"/>
                <a:ea typeface="Patrick Hand"/>
                <a:cs typeface="Patrick Hand"/>
                <a:sym typeface="Patrick Hand"/>
              </a:rPr>
              <a:t>16 m </a:t>
            </a:r>
            <a:r>
              <a:rPr b="1" i="0" lang="es-ES" sz="2000" u="none" cap="none" strike="noStrike">
                <a:solidFill>
                  <a:schemeClr val="dk1"/>
                </a:solidFill>
                <a:latin typeface="Patrick Hand"/>
                <a:ea typeface="Patrick Hand"/>
                <a:cs typeface="Patrick Hand"/>
                <a:sym typeface="Patrick Hand"/>
              </a:rPr>
              <a:t>= </a:t>
            </a:r>
            <a:r>
              <a:rPr b="1" i="0" lang="es-ES" sz="2000" u="none" cap="none" strike="noStrike">
                <a:solidFill>
                  <a:srgbClr val="00B0F0"/>
                </a:solidFill>
                <a:latin typeface="Patrick Hand"/>
                <a:ea typeface="Patrick Hand"/>
                <a:cs typeface="Patrick Hand"/>
                <a:sym typeface="Patrick Hand"/>
              </a:rPr>
              <a:t>2 x Ancho</a:t>
            </a:r>
            <a:endParaRPr/>
          </a:p>
        </p:txBody>
      </p:sp>
      <p:sp>
        <p:nvSpPr>
          <p:cNvPr id="244" name="Google Shape;244;p8"/>
          <p:cNvSpPr txBox="1"/>
          <p:nvPr/>
        </p:nvSpPr>
        <p:spPr>
          <a:xfrm>
            <a:off x="-206076" y="3620039"/>
            <a:ext cx="4676068"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rgbClr val="FAB235"/>
                </a:solidFill>
                <a:latin typeface="Patrick Hand"/>
                <a:ea typeface="Patrick Hand"/>
                <a:cs typeface="Patrick Hand"/>
                <a:sym typeface="Patrick Hand"/>
              </a:rPr>
              <a:t>8 m </a:t>
            </a:r>
            <a:r>
              <a:rPr b="1" i="0" lang="es-ES" sz="2000" u="none" cap="none" strike="noStrike">
                <a:solidFill>
                  <a:schemeClr val="dk1"/>
                </a:solidFill>
                <a:latin typeface="Patrick Hand"/>
                <a:ea typeface="Patrick Hand"/>
                <a:cs typeface="Patrick Hand"/>
                <a:sym typeface="Patrick Hand"/>
              </a:rPr>
              <a:t>= </a:t>
            </a:r>
            <a:r>
              <a:rPr b="1" i="0" lang="es-ES" sz="2000" u="none" cap="none" strike="noStrike">
                <a:solidFill>
                  <a:srgbClr val="00B0F0"/>
                </a:solidFill>
                <a:latin typeface="Patrick Hand"/>
                <a:ea typeface="Patrick Hand"/>
                <a:cs typeface="Patrick Hand"/>
                <a:sym typeface="Patrick Hand"/>
              </a:rPr>
              <a:t>Ancho</a:t>
            </a:r>
            <a:endParaRPr/>
          </a:p>
        </p:txBody>
      </p:sp>
      <p:pic>
        <p:nvPicPr>
          <p:cNvPr id="245" name="Google Shape;245;p8"/>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0" st="0"/>
                                            </p:txEl>
                                          </p:spTgt>
                                        </p:tgtEl>
                                        <p:attrNameLst>
                                          <p:attrName>style.visibility</p:attrName>
                                        </p:attrNameLst>
                                      </p:cBhvr>
                                      <p:to>
                                        <p:strVal val="visible"/>
                                      </p:to>
                                    </p:set>
                                    <p:animEffect filter="fade" transition="in">
                                      <p:cBhvr>
                                        <p:cTn dur="500"/>
                                        <p:tgtEl>
                                          <p:spTgt spid="23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1" st="1"/>
                                            </p:txEl>
                                          </p:spTgt>
                                        </p:tgtEl>
                                        <p:attrNameLst>
                                          <p:attrName>style.visibility</p:attrName>
                                        </p:attrNameLst>
                                      </p:cBhvr>
                                      <p:to>
                                        <p:strVal val="visible"/>
                                      </p:to>
                                    </p:set>
                                    <p:animEffect filter="fade" transition="in">
                                      <p:cBhvr>
                                        <p:cTn dur="500"/>
                                        <p:tgtEl>
                                          <p:spTgt spid="23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2" st="2"/>
                                            </p:txEl>
                                          </p:spTgt>
                                        </p:tgtEl>
                                        <p:attrNameLst>
                                          <p:attrName>style.visibility</p:attrName>
                                        </p:attrNameLst>
                                      </p:cBhvr>
                                      <p:to>
                                        <p:strVal val="visible"/>
                                      </p:to>
                                    </p:set>
                                    <p:animEffect filter="fade" transition="in">
                                      <p:cBhvr>
                                        <p:cTn dur="500"/>
                                        <p:tgtEl>
                                          <p:spTgt spid="23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3" st="3"/>
                                            </p:txEl>
                                          </p:spTgt>
                                        </p:tgtEl>
                                        <p:attrNameLst>
                                          <p:attrName>style.visibility</p:attrName>
                                        </p:attrNameLst>
                                      </p:cBhvr>
                                      <p:to>
                                        <p:strVal val="visible"/>
                                      </p:to>
                                    </p:set>
                                    <p:animEffect filter="fade" transition="in">
                                      <p:cBhvr>
                                        <p:cTn dur="500"/>
                                        <p:tgtEl>
                                          <p:spTgt spid="23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4" st="4"/>
                                            </p:txEl>
                                          </p:spTgt>
                                        </p:tgtEl>
                                        <p:attrNameLst>
                                          <p:attrName>style.visibility</p:attrName>
                                        </p:attrNameLst>
                                      </p:cBhvr>
                                      <p:to>
                                        <p:strVal val="visible"/>
                                      </p:to>
                                    </p:set>
                                    <p:animEffect filter="fade" transition="in">
                                      <p:cBhvr>
                                        <p:cTn dur="500"/>
                                        <p:tgtEl>
                                          <p:spTgt spid="23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xEl>
                                              <p:pRg end="5" st="5"/>
                                            </p:txEl>
                                          </p:spTgt>
                                        </p:tgtEl>
                                        <p:attrNameLst>
                                          <p:attrName>style.visibility</p:attrName>
                                        </p:attrNameLst>
                                      </p:cBhvr>
                                      <p:to>
                                        <p:strVal val="visible"/>
                                      </p:to>
                                    </p:set>
                                    <p:animEffect filter="fade" transition="in">
                                      <p:cBhvr>
                                        <p:cTn dur="500"/>
                                        <p:tgtEl>
                                          <p:spTgt spid="23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
                                            <p:txEl>
                                              <p:pRg end="0" st="0"/>
                                            </p:txEl>
                                          </p:spTgt>
                                        </p:tgtEl>
                                        <p:attrNameLst>
                                          <p:attrName>style.visibility</p:attrName>
                                        </p:attrNameLst>
                                      </p:cBhvr>
                                      <p:to>
                                        <p:strVal val="visible"/>
                                      </p:to>
                                    </p:set>
                                    <p:animEffect filter="fade" transition="in">
                                      <p:cBhvr>
                                        <p:cTn dur="500"/>
                                        <p:tgtEl>
                                          <p:spTgt spid="243">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244">
                                            <p:txEl>
                                              <p:pRg end="0" st="0"/>
                                            </p:txEl>
                                          </p:spTgt>
                                        </p:tgtEl>
                                        <p:attrNameLst>
                                          <p:attrName>style.visibility</p:attrName>
                                        </p:attrNameLst>
                                      </p:cBhvr>
                                      <p:to>
                                        <p:strVal val="visible"/>
                                      </p:to>
                                    </p:set>
                                    <p:animEffect filter="fade" transition="in">
                                      <p:cBhvr>
                                        <p:cTn dur="500"/>
                                        <p:tgtEl>
                                          <p:spTgt spid="244">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9"/>
          <p:cNvSpPr txBox="1"/>
          <p:nvPr/>
        </p:nvSpPr>
        <p:spPr>
          <a:xfrm>
            <a:off x="227999" y="377350"/>
            <a:ext cx="8688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Miguel</a:t>
            </a:r>
            <a:endParaRPr/>
          </a:p>
        </p:txBody>
      </p:sp>
      <p:sp>
        <p:nvSpPr>
          <p:cNvPr id="251" name="Google Shape;251;p9"/>
          <p:cNvSpPr txBox="1"/>
          <p:nvPr/>
        </p:nvSpPr>
        <p:spPr>
          <a:xfrm>
            <a:off x="3926466" y="1463754"/>
            <a:ext cx="5217459" cy="22159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Ya podemos obtener el </a:t>
            </a:r>
            <a:r>
              <a:rPr b="1" i="0" lang="es-ES" sz="2300" u="none" cap="none" strike="noStrike">
                <a:solidFill>
                  <a:srgbClr val="C00000"/>
                </a:solidFill>
                <a:latin typeface="Patrick Hand"/>
                <a:ea typeface="Patrick Hand"/>
                <a:cs typeface="Patrick Hand"/>
                <a:sym typeface="Patrick Hand"/>
              </a:rPr>
              <a:t>área</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¿Cómo se calculaba?</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Largo x Ancho = </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15 m x 8 m =</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120 m</a:t>
            </a:r>
            <a:r>
              <a:rPr b="0" i="0" lang="es-ES" sz="2400" u="none" cap="none" strike="noStrike">
                <a:solidFill>
                  <a:schemeClr val="dk1"/>
                </a:solidFill>
                <a:latin typeface="Patrick Hand"/>
                <a:ea typeface="Patrick Hand"/>
                <a:cs typeface="Patrick Hand"/>
                <a:sym typeface="Patrick Hand"/>
              </a:rPr>
              <a:t>²</a:t>
            </a:r>
            <a:endParaRPr b="0" i="0" sz="2300" u="none" cap="none" strike="noStrike">
              <a:solidFill>
                <a:schemeClr val="dk1"/>
              </a:solidFill>
              <a:latin typeface="Patrick Hand"/>
              <a:ea typeface="Patrick Hand"/>
              <a:cs typeface="Patrick Hand"/>
              <a:sym typeface="Patrick Hand"/>
            </a:endParaRPr>
          </a:p>
        </p:txBody>
      </p:sp>
      <p:sp>
        <p:nvSpPr>
          <p:cNvPr id="252" name="Google Shape;252;p9"/>
          <p:cNvSpPr/>
          <p:nvPr/>
        </p:nvSpPr>
        <p:spPr>
          <a:xfrm>
            <a:off x="840742" y="1893188"/>
            <a:ext cx="2628825" cy="975056"/>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53" name="Google Shape;253;p9"/>
          <p:cNvSpPr txBox="1"/>
          <p:nvPr/>
        </p:nvSpPr>
        <p:spPr>
          <a:xfrm>
            <a:off x="1734765" y="1463753"/>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54" name="Google Shape;254;p9"/>
          <p:cNvSpPr txBox="1"/>
          <p:nvPr/>
        </p:nvSpPr>
        <p:spPr>
          <a:xfrm>
            <a:off x="1734765" y="2987601"/>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55" name="Google Shape;255;p9"/>
          <p:cNvSpPr txBox="1"/>
          <p:nvPr/>
        </p:nvSpPr>
        <p:spPr>
          <a:xfrm>
            <a:off x="1453926" y="1975363"/>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P=46 m</a:t>
            </a:r>
            <a:endParaRPr/>
          </a:p>
        </p:txBody>
      </p:sp>
      <p:sp>
        <p:nvSpPr>
          <p:cNvPr id="256" name="Google Shape;256;p9"/>
          <p:cNvSpPr txBox="1"/>
          <p:nvPr/>
        </p:nvSpPr>
        <p:spPr>
          <a:xfrm>
            <a:off x="3469565" y="216527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8 m</a:t>
            </a:r>
            <a:endParaRPr/>
          </a:p>
        </p:txBody>
      </p:sp>
      <p:sp>
        <p:nvSpPr>
          <p:cNvPr id="257" name="Google Shape;257;p9"/>
          <p:cNvSpPr txBox="1"/>
          <p:nvPr/>
        </p:nvSpPr>
        <p:spPr>
          <a:xfrm>
            <a:off x="-37" y="214218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8 m</a:t>
            </a:r>
            <a:endParaRPr/>
          </a:p>
        </p:txBody>
      </p:sp>
      <p:sp>
        <p:nvSpPr>
          <p:cNvPr id="258" name="Google Shape;258;p9"/>
          <p:cNvSpPr txBox="1"/>
          <p:nvPr/>
        </p:nvSpPr>
        <p:spPr>
          <a:xfrm>
            <a:off x="1418487" y="2324075"/>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Á = 120 m²  </a:t>
            </a:r>
            <a:endParaRPr/>
          </a:p>
        </p:txBody>
      </p:sp>
      <p:sp>
        <p:nvSpPr>
          <p:cNvPr id="259" name="Google Shape;259;p9"/>
          <p:cNvSpPr txBox="1"/>
          <p:nvPr/>
        </p:nvSpPr>
        <p:spPr>
          <a:xfrm>
            <a:off x="1861074" y="3799102"/>
            <a:ext cx="542177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800" u="none" cap="none" strike="noStrike">
                <a:solidFill>
                  <a:schemeClr val="dk1"/>
                </a:solidFill>
                <a:latin typeface="Patrick Hand"/>
                <a:ea typeface="Patrick Hand"/>
                <a:cs typeface="Patrick Hand"/>
                <a:sym typeface="Patrick Hand"/>
              </a:rPr>
              <a:t>¡Miguel tenía razón!</a:t>
            </a:r>
            <a:endParaRPr/>
          </a:p>
        </p:txBody>
      </p:sp>
      <p:pic>
        <p:nvPicPr>
          <p:cNvPr id="260" name="Google Shape;260;p9"/>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0" st="0"/>
                                            </p:txEl>
                                          </p:spTgt>
                                        </p:tgtEl>
                                        <p:attrNameLst>
                                          <p:attrName>style.visibility</p:attrName>
                                        </p:attrNameLst>
                                      </p:cBhvr>
                                      <p:to>
                                        <p:strVal val="visible"/>
                                      </p:to>
                                    </p:set>
                                    <p:animEffect filter="fade" transition="in">
                                      <p:cBhvr>
                                        <p:cTn dur="500"/>
                                        <p:tgtEl>
                                          <p:spTgt spid="25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1" st="1"/>
                                            </p:txEl>
                                          </p:spTgt>
                                        </p:tgtEl>
                                        <p:attrNameLst>
                                          <p:attrName>style.visibility</p:attrName>
                                        </p:attrNameLst>
                                      </p:cBhvr>
                                      <p:to>
                                        <p:strVal val="visible"/>
                                      </p:to>
                                    </p:set>
                                    <p:animEffect filter="fade" transition="in">
                                      <p:cBhvr>
                                        <p:cTn dur="500"/>
                                        <p:tgtEl>
                                          <p:spTgt spid="25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2" st="2"/>
                                            </p:txEl>
                                          </p:spTgt>
                                        </p:tgtEl>
                                        <p:attrNameLst>
                                          <p:attrName>style.visibility</p:attrName>
                                        </p:attrNameLst>
                                      </p:cBhvr>
                                      <p:to>
                                        <p:strVal val="visible"/>
                                      </p:to>
                                    </p:set>
                                    <p:animEffect filter="fade" transition="in">
                                      <p:cBhvr>
                                        <p:cTn dur="500"/>
                                        <p:tgtEl>
                                          <p:spTgt spid="25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3" st="3"/>
                                            </p:txEl>
                                          </p:spTgt>
                                        </p:tgtEl>
                                        <p:attrNameLst>
                                          <p:attrName>style.visibility</p:attrName>
                                        </p:attrNameLst>
                                      </p:cBhvr>
                                      <p:to>
                                        <p:strVal val="visible"/>
                                      </p:to>
                                    </p:set>
                                    <p:animEffect filter="fade" transition="in">
                                      <p:cBhvr>
                                        <p:cTn dur="500"/>
                                        <p:tgtEl>
                                          <p:spTgt spid="25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4" st="4"/>
                                            </p:txEl>
                                          </p:spTgt>
                                        </p:tgtEl>
                                        <p:attrNameLst>
                                          <p:attrName>style.visibility</p:attrName>
                                        </p:attrNameLst>
                                      </p:cBhvr>
                                      <p:to>
                                        <p:strVal val="visible"/>
                                      </p:to>
                                    </p:set>
                                    <p:animEffect filter="fade" transition="in">
                                      <p:cBhvr>
                                        <p:cTn dur="500"/>
                                        <p:tgtEl>
                                          <p:spTgt spid="25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xEl>
                                              <p:pRg end="5" st="5"/>
                                            </p:txEl>
                                          </p:spTgt>
                                        </p:tgtEl>
                                        <p:attrNameLst>
                                          <p:attrName>style.visibility</p:attrName>
                                        </p:attrNameLst>
                                      </p:cBhvr>
                                      <p:to>
                                        <p:strVal val="visible"/>
                                      </p:to>
                                    </p:set>
                                    <p:animEffect filter="fade" transition="in">
                                      <p:cBhvr>
                                        <p:cTn dur="500"/>
                                        <p:tgtEl>
                                          <p:spTgt spid="25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9"/>
                                        </p:tgtEl>
                                        <p:attrNameLst>
                                          <p:attrName>style.visibility</p:attrName>
                                        </p:attrNameLst>
                                      </p:cBhvr>
                                      <p:to>
                                        <p:strVal val="visible"/>
                                      </p:to>
                                    </p:set>
                                    <p:animEffect filter="fade" transition="in">
                                      <p:cBhvr>
                                        <p:cTn dur="500"/>
                                        <p:tgtEl>
                                          <p:spTgt spid="2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0"/>
          <p:cNvSpPr txBox="1"/>
          <p:nvPr/>
        </p:nvSpPr>
        <p:spPr>
          <a:xfrm>
            <a:off x="261299" y="347425"/>
            <a:ext cx="8621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3200" u="none" cap="none" strike="noStrike">
                <a:solidFill>
                  <a:schemeClr val="lt1"/>
                </a:solidFill>
                <a:highlight>
                  <a:srgbClr val="009287"/>
                </a:highlight>
                <a:latin typeface="Patrick Hand"/>
                <a:ea typeface="Patrick Hand"/>
                <a:cs typeface="Patrick Hand"/>
                <a:sym typeface="Patrick Hand"/>
              </a:rPr>
              <a:t>Resumamos el procedimiento</a:t>
            </a:r>
            <a:endParaRPr/>
          </a:p>
        </p:txBody>
      </p:sp>
      <p:sp>
        <p:nvSpPr>
          <p:cNvPr id="266" name="Google Shape;266;p10"/>
          <p:cNvSpPr txBox="1"/>
          <p:nvPr/>
        </p:nvSpPr>
        <p:spPr>
          <a:xfrm>
            <a:off x="3926503" y="1146830"/>
            <a:ext cx="5217459" cy="32778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 Al perímetro le restamos el doble del lado que conocemos</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2° El resultado anterior lo dividimos por 2 para obtener el lado desconocido</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3° Con ello, calculamos el área </a:t>
            </a:r>
            <a:endParaRPr/>
          </a:p>
        </p:txBody>
      </p:sp>
      <p:sp>
        <p:nvSpPr>
          <p:cNvPr id="267" name="Google Shape;267;p10"/>
          <p:cNvSpPr/>
          <p:nvPr/>
        </p:nvSpPr>
        <p:spPr>
          <a:xfrm>
            <a:off x="840742" y="1893188"/>
            <a:ext cx="2628825" cy="975056"/>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68" name="Google Shape;268;p10"/>
          <p:cNvSpPr txBox="1"/>
          <p:nvPr/>
        </p:nvSpPr>
        <p:spPr>
          <a:xfrm>
            <a:off x="1734765" y="1463753"/>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69" name="Google Shape;269;p10"/>
          <p:cNvSpPr txBox="1"/>
          <p:nvPr/>
        </p:nvSpPr>
        <p:spPr>
          <a:xfrm>
            <a:off x="1734765" y="2987601"/>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15 m</a:t>
            </a:r>
            <a:endParaRPr/>
          </a:p>
        </p:txBody>
      </p:sp>
      <p:sp>
        <p:nvSpPr>
          <p:cNvPr id="270" name="Google Shape;270;p10"/>
          <p:cNvSpPr txBox="1"/>
          <p:nvPr/>
        </p:nvSpPr>
        <p:spPr>
          <a:xfrm>
            <a:off x="1453926" y="1975363"/>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P=46 m</a:t>
            </a:r>
            <a:endParaRPr/>
          </a:p>
        </p:txBody>
      </p:sp>
      <p:sp>
        <p:nvSpPr>
          <p:cNvPr id="271" name="Google Shape;271;p10"/>
          <p:cNvSpPr txBox="1"/>
          <p:nvPr/>
        </p:nvSpPr>
        <p:spPr>
          <a:xfrm>
            <a:off x="3469565" y="216527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8 m</a:t>
            </a:r>
            <a:endParaRPr/>
          </a:p>
        </p:txBody>
      </p:sp>
      <p:sp>
        <p:nvSpPr>
          <p:cNvPr id="272" name="Google Shape;272;p10"/>
          <p:cNvSpPr txBox="1"/>
          <p:nvPr/>
        </p:nvSpPr>
        <p:spPr>
          <a:xfrm>
            <a:off x="-37" y="214218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8 m</a:t>
            </a:r>
            <a:endParaRPr/>
          </a:p>
        </p:txBody>
      </p:sp>
      <p:sp>
        <p:nvSpPr>
          <p:cNvPr id="273" name="Google Shape;273;p10"/>
          <p:cNvSpPr txBox="1"/>
          <p:nvPr/>
        </p:nvSpPr>
        <p:spPr>
          <a:xfrm>
            <a:off x="5514779" y="1920049"/>
            <a:ext cx="2040906" cy="400110"/>
          </a:xfrm>
          <a:prstGeom prst="rect">
            <a:avLst/>
          </a:prstGeom>
          <a:solidFill>
            <a:schemeClr val="lt1"/>
          </a:solidFill>
          <a:ln cap="flat" cmpd="sng" w="9525">
            <a:solidFill>
              <a:srgbClr val="009F9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chemeClr val="dk1"/>
                </a:solidFill>
                <a:latin typeface="Patrick Hand"/>
                <a:ea typeface="Patrick Hand"/>
                <a:cs typeface="Patrick Hand"/>
                <a:sym typeface="Patrick Hand"/>
              </a:rPr>
              <a:t>46 m – 30 m = 16 m</a:t>
            </a:r>
            <a:endParaRPr/>
          </a:p>
        </p:txBody>
      </p:sp>
      <p:sp>
        <p:nvSpPr>
          <p:cNvPr id="274" name="Google Shape;274;p10"/>
          <p:cNvSpPr txBox="1"/>
          <p:nvPr/>
        </p:nvSpPr>
        <p:spPr>
          <a:xfrm>
            <a:off x="5514779" y="3307785"/>
            <a:ext cx="2040906" cy="400110"/>
          </a:xfrm>
          <a:prstGeom prst="rect">
            <a:avLst/>
          </a:prstGeom>
          <a:solidFill>
            <a:schemeClr val="lt1"/>
          </a:solidFill>
          <a:ln cap="flat" cmpd="sng" w="9525">
            <a:solidFill>
              <a:srgbClr val="009F9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chemeClr val="dk1"/>
                </a:solidFill>
                <a:latin typeface="Patrick Hand"/>
                <a:ea typeface="Patrick Hand"/>
                <a:cs typeface="Patrick Hand"/>
                <a:sym typeface="Patrick Hand"/>
              </a:rPr>
              <a:t> 16 m ÷ 2 = 8 m </a:t>
            </a:r>
            <a:endParaRPr/>
          </a:p>
        </p:txBody>
      </p:sp>
      <p:sp>
        <p:nvSpPr>
          <p:cNvPr id="275" name="Google Shape;275;p10"/>
          <p:cNvSpPr txBox="1"/>
          <p:nvPr/>
        </p:nvSpPr>
        <p:spPr>
          <a:xfrm>
            <a:off x="5357231" y="4376791"/>
            <a:ext cx="2356002" cy="400110"/>
          </a:xfrm>
          <a:prstGeom prst="rect">
            <a:avLst/>
          </a:prstGeom>
          <a:solidFill>
            <a:schemeClr val="lt1"/>
          </a:solidFill>
          <a:ln cap="flat" cmpd="sng" w="9525">
            <a:solidFill>
              <a:srgbClr val="009F9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chemeClr val="dk1"/>
                </a:solidFill>
                <a:latin typeface="Patrick Hand"/>
                <a:ea typeface="Patrick Hand"/>
                <a:cs typeface="Patrick Hand"/>
                <a:sym typeface="Patrick Hand"/>
              </a:rPr>
              <a:t> 15 m x 8 m = 120 m² </a:t>
            </a:r>
            <a:endParaRPr/>
          </a:p>
        </p:txBody>
      </p:sp>
      <p:sp>
        <p:nvSpPr>
          <p:cNvPr id="276" name="Google Shape;276;p10"/>
          <p:cNvSpPr txBox="1"/>
          <p:nvPr/>
        </p:nvSpPr>
        <p:spPr>
          <a:xfrm>
            <a:off x="1418487" y="2324075"/>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Á = 120 m²  </a:t>
            </a:r>
            <a:endParaRPr/>
          </a:p>
        </p:txBody>
      </p:sp>
      <p:pic>
        <p:nvPicPr>
          <p:cNvPr id="277" name="Google Shape;277;p10"/>
          <p:cNvPicPr preferRelativeResize="0"/>
          <p:nvPr/>
        </p:nvPicPr>
        <p:blipFill>
          <a:blip r:embed="rId3">
            <a:alphaModFix/>
          </a:blip>
          <a:stretch>
            <a:fillRect/>
          </a:stretch>
        </p:blipFill>
        <p:spPr>
          <a:xfrm>
            <a:off x="8332800" y="3666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0" st="0"/>
                                            </p:txEl>
                                          </p:spTgt>
                                        </p:tgtEl>
                                        <p:attrNameLst>
                                          <p:attrName>style.visibility</p:attrName>
                                        </p:attrNameLst>
                                      </p:cBhvr>
                                      <p:to>
                                        <p:strVal val="visible"/>
                                      </p:to>
                                    </p:set>
                                    <p:animEffect filter="fade" transition="in">
                                      <p:cBhvr>
                                        <p:cTn dur="500"/>
                                        <p:tgtEl>
                                          <p:spTgt spid="26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1" st="1"/>
                                            </p:txEl>
                                          </p:spTgt>
                                        </p:tgtEl>
                                        <p:attrNameLst>
                                          <p:attrName>style.visibility</p:attrName>
                                        </p:attrNameLst>
                                      </p:cBhvr>
                                      <p:to>
                                        <p:strVal val="visible"/>
                                      </p:to>
                                    </p:set>
                                    <p:animEffect filter="fade" transition="in">
                                      <p:cBhvr>
                                        <p:cTn dur="500"/>
                                        <p:tgtEl>
                                          <p:spTgt spid="26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2" st="2"/>
                                            </p:txEl>
                                          </p:spTgt>
                                        </p:tgtEl>
                                        <p:attrNameLst>
                                          <p:attrName>style.visibility</p:attrName>
                                        </p:attrNameLst>
                                      </p:cBhvr>
                                      <p:to>
                                        <p:strVal val="visible"/>
                                      </p:to>
                                    </p:set>
                                    <p:animEffect filter="fade" transition="in">
                                      <p:cBhvr>
                                        <p:cTn dur="500"/>
                                        <p:tgtEl>
                                          <p:spTgt spid="26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3" st="3"/>
                                            </p:txEl>
                                          </p:spTgt>
                                        </p:tgtEl>
                                        <p:attrNameLst>
                                          <p:attrName>style.visibility</p:attrName>
                                        </p:attrNameLst>
                                      </p:cBhvr>
                                      <p:to>
                                        <p:strVal val="visible"/>
                                      </p:to>
                                    </p:set>
                                    <p:animEffect filter="fade" transition="in">
                                      <p:cBhvr>
                                        <p:cTn dur="500"/>
                                        <p:tgtEl>
                                          <p:spTgt spid="26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4" st="4"/>
                                            </p:txEl>
                                          </p:spTgt>
                                        </p:tgtEl>
                                        <p:attrNameLst>
                                          <p:attrName>style.visibility</p:attrName>
                                        </p:attrNameLst>
                                      </p:cBhvr>
                                      <p:to>
                                        <p:strVal val="visible"/>
                                      </p:to>
                                    </p:set>
                                    <p:animEffect filter="fade" transition="in">
                                      <p:cBhvr>
                                        <p:cTn dur="500"/>
                                        <p:tgtEl>
                                          <p:spTgt spid="26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5" st="5"/>
                                            </p:txEl>
                                          </p:spTgt>
                                        </p:tgtEl>
                                        <p:attrNameLst>
                                          <p:attrName>style.visibility</p:attrName>
                                        </p:attrNameLst>
                                      </p:cBhvr>
                                      <p:to>
                                        <p:strVal val="visible"/>
                                      </p:to>
                                    </p:set>
                                    <p:animEffect filter="fade" transition="in">
                                      <p:cBhvr>
                                        <p:cTn dur="500"/>
                                        <p:tgtEl>
                                          <p:spTgt spid="26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6">
                                            <p:txEl>
                                              <p:pRg end="6" st="6"/>
                                            </p:txEl>
                                          </p:spTgt>
                                        </p:tgtEl>
                                        <p:attrNameLst>
                                          <p:attrName>style.visibility</p:attrName>
                                        </p:attrNameLst>
                                      </p:cBhvr>
                                      <p:to>
                                        <p:strVal val="visible"/>
                                      </p:to>
                                    </p:set>
                                    <p:animEffect filter="fade" transition="in">
                                      <p:cBhvr>
                                        <p:cTn dur="500"/>
                                        <p:tgtEl>
                                          <p:spTgt spid="266">
                                            <p:txEl>
                                              <p:pRg end="6" st="6"/>
                                            </p:txEl>
                                          </p:spTgt>
                                        </p:tgtEl>
                                      </p:cBhvr>
                                    </p:animEffect>
                                  </p:childTnLst>
                                </p:cTn>
                              </p:par>
                              <p:par>
                                <p:cTn fill="hold" nodeType="with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500"/>
                                        <p:tgtEl>
                                          <p:spTgt spid="2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animEffect filter="fade" transition="in">
                                      <p:cBhvr>
                                        <p:cTn dur="500"/>
                                        <p:tgtEl>
                                          <p:spTgt spid="27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xEl>
                                              <p:pRg end="0" st="0"/>
                                            </p:txEl>
                                          </p:spTgt>
                                        </p:tgtEl>
                                        <p:attrNameLst>
                                          <p:attrName>style.visibility</p:attrName>
                                        </p:attrNameLst>
                                      </p:cBhvr>
                                      <p:to>
                                        <p:strVal val="visible"/>
                                      </p:to>
                                    </p:set>
                                    <p:animEffect filter="fade" transition="in">
                                      <p:cBhvr>
                                        <p:cTn dur="500"/>
                                        <p:tgtEl>
                                          <p:spTgt spid="27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pic>
        <p:nvPicPr>
          <p:cNvPr descr="Forma&#10;&#10;Descripción generada automáticamente con confianza baja" id="282" name="Google Shape;282;p11"/>
          <p:cNvPicPr preferRelativeResize="0"/>
          <p:nvPr/>
        </p:nvPicPr>
        <p:blipFill rotWithShape="1">
          <a:blip r:embed="rId3">
            <a:alphaModFix/>
          </a:blip>
          <a:srcRect b="0" l="0" r="0" t="0"/>
          <a:stretch/>
        </p:blipFill>
        <p:spPr>
          <a:xfrm>
            <a:off x="-207086" y="1972040"/>
            <a:ext cx="2811509" cy="2811509"/>
          </a:xfrm>
          <a:prstGeom prst="rect">
            <a:avLst/>
          </a:prstGeom>
          <a:noFill/>
          <a:ln>
            <a:noFill/>
          </a:ln>
        </p:spPr>
      </p:pic>
      <p:sp>
        <p:nvSpPr>
          <p:cNvPr id="283" name="Google Shape;283;p11"/>
          <p:cNvSpPr/>
          <p:nvPr/>
        </p:nvSpPr>
        <p:spPr>
          <a:xfrm>
            <a:off x="2124377" y="1735372"/>
            <a:ext cx="6241571" cy="1111614"/>
          </a:xfrm>
          <a:prstGeom prst="wedgeEllipseCallout">
            <a:avLst>
              <a:gd fmla="val -55224" name="adj1"/>
              <a:gd fmla="val 42432" name="adj2"/>
            </a:avLst>
          </a:prstGeom>
          <a:solidFill>
            <a:srgbClr val="009F98"/>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84" name="Google Shape;284;p11"/>
          <p:cNvSpPr txBox="1"/>
          <p:nvPr/>
        </p:nvSpPr>
        <p:spPr>
          <a:xfrm>
            <a:off x="-12" y="308162"/>
            <a:ext cx="9144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Sofía propone algo</a:t>
            </a:r>
            <a:endParaRPr b="0" i="0" sz="3200" u="none" cap="none" strike="noStrike">
              <a:solidFill>
                <a:schemeClr val="lt1"/>
              </a:solidFill>
              <a:highlight>
                <a:srgbClr val="009287"/>
              </a:highlight>
              <a:latin typeface="Patrick Hand"/>
              <a:ea typeface="Patrick Hand"/>
              <a:cs typeface="Patrick Hand"/>
              <a:sym typeface="Patrick Hand"/>
            </a:endParaRPr>
          </a:p>
        </p:txBody>
      </p:sp>
      <p:sp>
        <p:nvSpPr>
          <p:cNvPr id="285" name="Google Shape;285;p11"/>
          <p:cNvSpPr txBox="1"/>
          <p:nvPr/>
        </p:nvSpPr>
        <p:spPr>
          <a:xfrm>
            <a:off x="-37" y="965487"/>
            <a:ext cx="9251652" cy="44627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Sofía también quiere comentarnos una cosa</a:t>
            </a:r>
            <a:endParaRPr/>
          </a:p>
        </p:txBody>
      </p:sp>
      <p:sp>
        <p:nvSpPr>
          <p:cNvPr id="286" name="Google Shape;286;p11"/>
          <p:cNvSpPr txBox="1"/>
          <p:nvPr/>
        </p:nvSpPr>
        <p:spPr>
          <a:xfrm>
            <a:off x="2544992" y="1885604"/>
            <a:ext cx="5400339"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chemeClr val="lt1"/>
                </a:solidFill>
                <a:latin typeface="Patrick Hand"/>
                <a:ea typeface="Patrick Hand"/>
                <a:cs typeface="Patrick Hand"/>
                <a:sym typeface="Patrick Hand"/>
              </a:rPr>
              <a:t>“Con el área y un lado de un rectángulo, puedes calcular su perímetro”</a:t>
            </a:r>
            <a:endParaRPr/>
          </a:p>
        </p:txBody>
      </p:sp>
      <p:sp>
        <p:nvSpPr>
          <p:cNvPr id="287" name="Google Shape;287;p11"/>
          <p:cNvSpPr txBox="1"/>
          <p:nvPr/>
        </p:nvSpPr>
        <p:spPr>
          <a:xfrm>
            <a:off x="2339530" y="3377794"/>
            <a:ext cx="542177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800" u="none" cap="none" strike="noStrike">
                <a:solidFill>
                  <a:schemeClr val="dk1"/>
                </a:solidFill>
                <a:latin typeface="Patrick Hand"/>
                <a:ea typeface="Patrick Hand"/>
                <a:cs typeface="Patrick Hand"/>
                <a:sym typeface="Patrick Hand"/>
              </a:rPr>
              <a:t>¿Será eso cierto?</a:t>
            </a:r>
            <a:endParaRPr/>
          </a:p>
        </p:txBody>
      </p:sp>
      <p:pic>
        <p:nvPicPr>
          <p:cNvPr id="288" name="Google Shape;288;p11"/>
          <p:cNvPicPr preferRelativeResize="0"/>
          <p:nvPr/>
        </p:nvPicPr>
        <p:blipFill>
          <a:blip r:embed="rId4">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gtEl>
                                        <p:attrNameLst>
                                          <p:attrName>style.visibility</p:attrName>
                                        </p:attrNameLst>
                                      </p:cBhvr>
                                      <p:to>
                                        <p:strVal val="visible"/>
                                      </p:to>
                                    </p:set>
                                    <p:animEffect filter="fade" transition="in">
                                      <p:cBhvr>
                                        <p:cTn dur="500"/>
                                        <p:tgtEl>
                                          <p:spTgt spid="285"/>
                                        </p:tgtEl>
                                      </p:cBhvr>
                                    </p:animEffect>
                                  </p:childTnLst>
                                </p:cTn>
                              </p:par>
                              <p:par>
                                <p:cTn fill="hold" nodeType="with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par>
                                <p:cTn fill="hold" nodeType="withEffect" presetClass="entr" presetID="10" presetSubtype="0">
                                  <p:stCondLst>
                                    <p:cond delay="0"/>
                                  </p:stCondLst>
                                  <p:childTnLst>
                                    <p:set>
                                      <p:cBhvr>
                                        <p:cTn dur="1" fill="hold">
                                          <p:stCondLst>
                                            <p:cond delay="0"/>
                                          </p:stCondLst>
                                        </p:cTn>
                                        <p:tgtEl>
                                          <p:spTgt spid="286"/>
                                        </p:tgtEl>
                                        <p:attrNameLst>
                                          <p:attrName>style.visibility</p:attrName>
                                        </p:attrNameLst>
                                      </p:cBhvr>
                                      <p:to>
                                        <p:strVal val="visible"/>
                                      </p:to>
                                    </p:set>
                                    <p:animEffect filter="fade" transition="in">
                                      <p:cBhvr>
                                        <p:cTn dur="500"/>
                                        <p:tgtEl>
                                          <p:spTgt spid="2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gtEl>
                                        <p:attrNameLst>
                                          <p:attrName>style.visibility</p:attrName>
                                        </p:attrNameLst>
                                      </p:cBhvr>
                                      <p:to>
                                        <p:strVal val="visible"/>
                                      </p:to>
                                    </p:set>
                                    <p:animEffect filter="fade" transition="in">
                                      <p:cBhvr>
                                        <p:cTn dur="500"/>
                                        <p:tgtEl>
                                          <p:spTgt spid="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2"/>
          <p:cNvSpPr txBox="1"/>
          <p:nvPr/>
        </p:nvSpPr>
        <p:spPr>
          <a:xfrm>
            <a:off x="187950" y="353275"/>
            <a:ext cx="87681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Sofía</a:t>
            </a:r>
            <a:endParaRPr/>
          </a:p>
        </p:txBody>
      </p:sp>
      <p:sp>
        <p:nvSpPr>
          <p:cNvPr id="294" name="Google Shape;294;p12"/>
          <p:cNvSpPr txBox="1"/>
          <p:nvPr/>
        </p:nvSpPr>
        <p:spPr>
          <a:xfrm>
            <a:off x="3187439" y="1630047"/>
            <a:ext cx="5862917" cy="223138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Supongamos que el área es </a:t>
            </a:r>
            <a:r>
              <a:rPr b="1" i="0" lang="es-ES" sz="2300" u="none" cap="none" strike="noStrike">
                <a:solidFill>
                  <a:srgbClr val="C00000"/>
                </a:solidFill>
                <a:latin typeface="Patrick Hand"/>
                <a:ea typeface="Patrick Hand"/>
                <a:cs typeface="Patrick Hand"/>
                <a:sym typeface="Patrick Hand"/>
              </a:rPr>
              <a:t>400 cm</a:t>
            </a:r>
            <a:r>
              <a:rPr b="1" i="0" lang="es-ES" sz="2400" u="none" cap="none" strike="noStrike">
                <a:solidFill>
                  <a:srgbClr val="C00000"/>
                </a:solidFill>
                <a:latin typeface="Patrick Hand"/>
                <a:ea typeface="Patrick Hand"/>
                <a:cs typeface="Patrick Hand"/>
                <a:sym typeface="Patrick Hand"/>
              </a:rPr>
              <a:t>²</a:t>
            </a:r>
            <a:endParaRPr b="1" i="0" sz="2300" u="none" cap="none" strike="noStrike">
              <a:solidFill>
                <a:srgbClr val="C00000"/>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Y que el ancho es </a:t>
            </a:r>
            <a:r>
              <a:rPr b="1" i="0" lang="es-ES" sz="2300" u="none" cap="none" strike="noStrike">
                <a:solidFill>
                  <a:schemeClr val="dk1"/>
                </a:solidFill>
                <a:latin typeface="Patrick Hand"/>
                <a:ea typeface="Patrick Hand"/>
                <a:cs typeface="Patrick Hand"/>
                <a:sym typeface="Patrick Hand"/>
              </a:rPr>
              <a:t>10 cm</a:t>
            </a:r>
            <a:r>
              <a:rPr b="1" i="0" lang="es-ES" sz="2400" u="none" cap="none" strike="noStrike">
                <a:solidFill>
                  <a:schemeClr val="dk1"/>
                </a:solidFill>
                <a:latin typeface="Patrick Hand"/>
                <a:ea typeface="Patrick Hand"/>
                <a:cs typeface="Patrick Hand"/>
                <a:sym typeface="Patrick Hand"/>
              </a:rPr>
              <a:t>²</a:t>
            </a:r>
            <a:endParaRPr b="1"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El </a:t>
            </a:r>
            <a:r>
              <a:rPr b="1" i="0" lang="es-ES" sz="2300" u="none" cap="none" strike="noStrike">
                <a:solidFill>
                  <a:srgbClr val="00B0F0"/>
                </a:solidFill>
                <a:latin typeface="Patrick Hand"/>
                <a:ea typeface="Patrick Hand"/>
                <a:cs typeface="Patrick Hand"/>
                <a:sym typeface="Patrick Hand"/>
              </a:rPr>
              <a:t>largo no lo conocemos </a:t>
            </a:r>
            <a:r>
              <a:rPr b="0" i="0" lang="es-ES" sz="2300" u="none" cap="none" strike="noStrike">
                <a:solidFill>
                  <a:schemeClr val="dk1"/>
                </a:solidFill>
                <a:latin typeface="Patrick Hand"/>
                <a:ea typeface="Patrick Hand"/>
                <a:cs typeface="Patrick Hand"/>
                <a:sym typeface="Patrick Hand"/>
              </a:rPr>
              <a:t>y además </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queremos </a:t>
            </a:r>
            <a:r>
              <a:rPr b="1" i="0" lang="es-ES" sz="2300" u="none" cap="none" strike="noStrike">
                <a:solidFill>
                  <a:srgbClr val="FAB235"/>
                </a:solidFill>
                <a:latin typeface="Patrick Hand"/>
                <a:ea typeface="Patrick Hand"/>
                <a:cs typeface="Patrick Hand"/>
                <a:sym typeface="Patrick Hand"/>
              </a:rPr>
              <a:t>calcular el perímetro</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¿Qué podemos hacer?</a:t>
            </a:r>
            <a:endParaRPr/>
          </a:p>
        </p:txBody>
      </p:sp>
      <p:sp>
        <p:nvSpPr>
          <p:cNvPr id="295" name="Google Shape;295;p12"/>
          <p:cNvSpPr/>
          <p:nvPr/>
        </p:nvSpPr>
        <p:spPr>
          <a:xfrm>
            <a:off x="980592" y="1485490"/>
            <a:ext cx="1453960" cy="2569932"/>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296" name="Google Shape;296;p12"/>
          <p:cNvSpPr txBox="1"/>
          <p:nvPr/>
        </p:nvSpPr>
        <p:spPr>
          <a:xfrm>
            <a:off x="1287183" y="405542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sp>
        <p:nvSpPr>
          <p:cNvPr id="297" name="Google Shape;297;p12"/>
          <p:cNvSpPr txBox="1"/>
          <p:nvPr/>
        </p:nvSpPr>
        <p:spPr>
          <a:xfrm>
            <a:off x="1032096" y="2372976"/>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Perímetro</a:t>
            </a:r>
            <a:endParaRPr/>
          </a:p>
        </p:txBody>
      </p:sp>
      <p:sp>
        <p:nvSpPr>
          <p:cNvPr id="298" name="Google Shape;298;p12"/>
          <p:cNvSpPr txBox="1"/>
          <p:nvPr/>
        </p:nvSpPr>
        <p:spPr>
          <a:xfrm>
            <a:off x="2460531" y="255501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Largo</a:t>
            </a:r>
            <a:endParaRPr/>
          </a:p>
        </p:txBody>
      </p:sp>
      <p:sp>
        <p:nvSpPr>
          <p:cNvPr id="299" name="Google Shape;299;p12"/>
          <p:cNvSpPr txBox="1"/>
          <p:nvPr/>
        </p:nvSpPr>
        <p:spPr>
          <a:xfrm>
            <a:off x="139812" y="253192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Largo</a:t>
            </a:r>
            <a:endParaRPr/>
          </a:p>
        </p:txBody>
      </p:sp>
      <p:sp>
        <p:nvSpPr>
          <p:cNvPr id="300" name="Google Shape;300;p12"/>
          <p:cNvSpPr txBox="1"/>
          <p:nvPr/>
        </p:nvSpPr>
        <p:spPr>
          <a:xfrm>
            <a:off x="902092" y="2758330"/>
            <a:ext cx="161096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A = 400 cm</a:t>
            </a:r>
            <a:r>
              <a:rPr b="1" i="0" lang="es-ES" sz="2800" u="none" cap="none" strike="noStrike">
                <a:solidFill>
                  <a:srgbClr val="C00000"/>
                </a:solidFill>
                <a:latin typeface="Patrick Hand"/>
                <a:ea typeface="Patrick Hand"/>
                <a:cs typeface="Patrick Hand"/>
                <a:sym typeface="Patrick Hand"/>
              </a:rPr>
              <a:t>²</a:t>
            </a:r>
            <a:endParaRPr b="1" i="0" sz="2400" u="none" cap="none" strike="noStrike">
              <a:solidFill>
                <a:srgbClr val="C00000"/>
              </a:solidFill>
              <a:latin typeface="Patrick Hand"/>
              <a:ea typeface="Patrick Hand"/>
              <a:cs typeface="Patrick Hand"/>
              <a:sym typeface="Patrick Hand"/>
            </a:endParaRPr>
          </a:p>
        </p:txBody>
      </p:sp>
      <p:sp>
        <p:nvSpPr>
          <p:cNvPr id="301" name="Google Shape;301;p12"/>
          <p:cNvSpPr txBox="1"/>
          <p:nvPr/>
        </p:nvSpPr>
        <p:spPr>
          <a:xfrm>
            <a:off x="1287183" y="1041604"/>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pic>
        <p:nvPicPr>
          <p:cNvPr id="302" name="Google Shape;302;p12"/>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animEffect filter="fade" transition="in">
                                      <p:cBhvr>
                                        <p:cTn dur="500"/>
                                        <p:tgtEl>
                                          <p:spTgt spid="2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animEffect filter="fade" transition="in">
                                      <p:cBhvr>
                                        <p:cTn dur="500"/>
                                        <p:tgtEl>
                                          <p:spTgt spid="2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animEffect filter="fade" transition="in">
                                      <p:cBhvr>
                                        <p:cTn dur="500"/>
                                        <p:tgtEl>
                                          <p:spTgt spid="2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animEffect filter="fade" transition="in">
                                      <p:cBhvr>
                                        <p:cTn dur="500"/>
                                        <p:tgtEl>
                                          <p:spTgt spid="2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animEffect filter="fade" transition="in">
                                      <p:cBhvr>
                                        <p:cTn dur="500"/>
                                        <p:tgtEl>
                                          <p:spTgt spid="2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animEffect filter="fade" transition="in">
                                      <p:cBhvr>
                                        <p:cTn dur="500"/>
                                        <p:tgtEl>
                                          <p:spTgt spid="294">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3"/>
          <p:cNvSpPr txBox="1"/>
          <p:nvPr/>
        </p:nvSpPr>
        <p:spPr>
          <a:xfrm>
            <a:off x="128100" y="339950"/>
            <a:ext cx="88878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Sofía</a:t>
            </a:r>
            <a:endParaRPr/>
          </a:p>
        </p:txBody>
      </p:sp>
      <p:sp>
        <p:nvSpPr>
          <p:cNvPr id="308" name="Google Shape;308;p13"/>
          <p:cNvSpPr txBox="1"/>
          <p:nvPr/>
        </p:nvSpPr>
        <p:spPr>
          <a:xfrm>
            <a:off x="3019724" y="1202424"/>
            <a:ext cx="6124276" cy="363176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Como el área es Largo x Ancho y ello debe ser 400 cm², nos preguntamos:</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¿Qué número multiplicado por 10 resulta en 400?</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a:t>
            </a:r>
            <a:r>
              <a:rPr b="1" i="0" lang="es-ES" sz="2300" u="none" cap="none" strike="noStrike">
                <a:solidFill>
                  <a:schemeClr val="lt1"/>
                </a:solidFill>
                <a:highlight>
                  <a:srgbClr val="009F98"/>
                </a:highlight>
                <a:latin typeface="Patrick Hand"/>
                <a:ea typeface="Patrick Hand"/>
                <a:cs typeface="Patrick Hand"/>
                <a:sym typeface="Patrick Hand"/>
              </a:rPr>
              <a:t>40</a:t>
            </a:r>
            <a:r>
              <a:rPr b="0" i="0" lang="es-ES" sz="2300" u="none" cap="none" strike="noStrike">
                <a:solidFill>
                  <a:schemeClr val="dk1"/>
                </a:solidFill>
                <a:latin typeface="Patrick Hand"/>
                <a:ea typeface="Patrick Hand"/>
                <a:cs typeface="Patrick Hand"/>
                <a:sym typeface="Patrick Hand"/>
              </a:rPr>
              <a:t>!</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Si la pregunta fuera: </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“¿cuál es el resultado de dividir 400 en 10?”, </a:t>
            </a:r>
            <a:endParaRPr/>
          </a:p>
          <a:p>
            <a:pPr indent="0" lvl="0" marL="0" marR="0" rtl="0" algn="ctr">
              <a:lnSpc>
                <a:spcPct val="100000"/>
              </a:lnSpc>
              <a:spcBef>
                <a:spcPts val="0"/>
              </a:spcBef>
              <a:spcAft>
                <a:spcPts val="0"/>
              </a:spcAft>
              <a:buNone/>
            </a:pPr>
            <a:r>
              <a:rPr b="1" i="0" lang="es-ES" sz="2300" u="none" cap="none" strike="noStrike">
                <a:solidFill>
                  <a:schemeClr val="dk1"/>
                </a:solidFill>
                <a:latin typeface="Patrick Hand"/>
                <a:ea typeface="Patrick Hand"/>
                <a:cs typeface="Patrick Hand"/>
                <a:sym typeface="Patrick Hand"/>
              </a:rPr>
              <a:t>¿obtenemos lo mismo?</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a:t>
            </a:r>
            <a:r>
              <a:rPr b="1" i="0" lang="es-ES" sz="2300" u="none" cap="none" strike="noStrike">
                <a:solidFill>
                  <a:schemeClr val="lt1"/>
                </a:solidFill>
                <a:highlight>
                  <a:srgbClr val="009F98"/>
                </a:highlight>
                <a:latin typeface="Patrick Hand"/>
                <a:ea typeface="Patrick Hand"/>
                <a:cs typeface="Patrick Hand"/>
                <a:sym typeface="Patrick Hand"/>
              </a:rPr>
              <a:t>Sí</a:t>
            </a:r>
            <a:r>
              <a:rPr b="0" i="0" lang="es-ES" sz="2300" u="none" cap="none" strike="noStrike">
                <a:solidFill>
                  <a:schemeClr val="dk1"/>
                </a:solidFill>
                <a:latin typeface="Patrick Hand"/>
                <a:ea typeface="Patrick Hand"/>
                <a:cs typeface="Patrick Hand"/>
                <a:sym typeface="Patrick Hand"/>
              </a:rPr>
              <a:t>!</a:t>
            </a:r>
            <a:endParaRPr/>
          </a:p>
        </p:txBody>
      </p:sp>
      <p:sp>
        <p:nvSpPr>
          <p:cNvPr id="309" name="Google Shape;309;p13"/>
          <p:cNvSpPr/>
          <p:nvPr/>
        </p:nvSpPr>
        <p:spPr>
          <a:xfrm>
            <a:off x="980592" y="1485490"/>
            <a:ext cx="1453960" cy="2569932"/>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10" name="Google Shape;310;p13"/>
          <p:cNvSpPr txBox="1"/>
          <p:nvPr/>
        </p:nvSpPr>
        <p:spPr>
          <a:xfrm>
            <a:off x="1287183" y="405542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sp>
        <p:nvSpPr>
          <p:cNvPr id="311" name="Google Shape;311;p13"/>
          <p:cNvSpPr txBox="1"/>
          <p:nvPr/>
        </p:nvSpPr>
        <p:spPr>
          <a:xfrm>
            <a:off x="1032096" y="2372976"/>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Perímetro</a:t>
            </a:r>
            <a:endParaRPr/>
          </a:p>
        </p:txBody>
      </p:sp>
      <p:sp>
        <p:nvSpPr>
          <p:cNvPr id="312" name="Google Shape;312;p13"/>
          <p:cNvSpPr txBox="1"/>
          <p:nvPr/>
        </p:nvSpPr>
        <p:spPr>
          <a:xfrm>
            <a:off x="2460531" y="255501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Largo</a:t>
            </a:r>
            <a:endParaRPr/>
          </a:p>
        </p:txBody>
      </p:sp>
      <p:sp>
        <p:nvSpPr>
          <p:cNvPr id="313" name="Google Shape;313;p13"/>
          <p:cNvSpPr txBox="1"/>
          <p:nvPr/>
        </p:nvSpPr>
        <p:spPr>
          <a:xfrm>
            <a:off x="139812" y="253192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Largo</a:t>
            </a:r>
            <a:endParaRPr/>
          </a:p>
        </p:txBody>
      </p:sp>
      <p:sp>
        <p:nvSpPr>
          <p:cNvPr id="314" name="Google Shape;314;p13"/>
          <p:cNvSpPr txBox="1"/>
          <p:nvPr/>
        </p:nvSpPr>
        <p:spPr>
          <a:xfrm>
            <a:off x="902092" y="2758330"/>
            <a:ext cx="161096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A = 400 cm</a:t>
            </a:r>
            <a:r>
              <a:rPr b="1" i="0" lang="es-ES" sz="2800" u="none" cap="none" strike="noStrike">
                <a:solidFill>
                  <a:srgbClr val="C00000"/>
                </a:solidFill>
                <a:latin typeface="Patrick Hand"/>
                <a:ea typeface="Patrick Hand"/>
                <a:cs typeface="Patrick Hand"/>
                <a:sym typeface="Patrick Hand"/>
              </a:rPr>
              <a:t>²</a:t>
            </a:r>
            <a:endParaRPr b="1" i="0" sz="2400" u="none" cap="none" strike="noStrike">
              <a:solidFill>
                <a:srgbClr val="C00000"/>
              </a:solidFill>
              <a:latin typeface="Patrick Hand"/>
              <a:ea typeface="Patrick Hand"/>
              <a:cs typeface="Patrick Hand"/>
              <a:sym typeface="Patrick Hand"/>
            </a:endParaRPr>
          </a:p>
        </p:txBody>
      </p:sp>
      <p:sp>
        <p:nvSpPr>
          <p:cNvPr id="315" name="Google Shape;315;p13"/>
          <p:cNvSpPr txBox="1"/>
          <p:nvPr/>
        </p:nvSpPr>
        <p:spPr>
          <a:xfrm>
            <a:off x="1287183" y="1041604"/>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pic>
        <p:nvPicPr>
          <p:cNvPr id="316" name="Google Shape;316;p13"/>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animEffect filter="fade" transition="in">
                                      <p:cBhvr>
                                        <p:cTn dur="500"/>
                                        <p:tgtEl>
                                          <p:spTgt spid="30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animEffect filter="fade" transition="in">
                                      <p:cBhvr>
                                        <p:cTn dur="500"/>
                                        <p:tgtEl>
                                          <p:spTgt spid="30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animEffect filter="fade" transition="in">
                                      <p:cBhvr>
                                        <p:cTn dur="500"/>
                                        <p:tgtEl>
                                          <p:spTgt spid="30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animEffect filter="fade" transition="in">
                                      <p:cBhvr>
                                        <p:cTn dur="500"/>
                                        <p:tgtEl>
                                          <p:spTgt spid="30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animEffect filter="fade" transition="in">
                                      <p:cBhvr>
                                        <p:cTn dur="500"/>
                                        <p:tgtEl>
                                          <p:spTgt spid="30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animEffect filter="fade" transition="in">
                                      <p:cBhvr>
                                        <p:cTn dur="500"/>
                                        <p:tgtEl>
                                          <p:spTgt spid="30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animEffect filter="fade" transition="in">
                                      <p:cBhvr>
                                        <p:cTn dur="500"/>
                                        <p:tgtEl>
                                          <p:spTgt spid="30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7" st="7"/>
                                            </p:txEl>
                                          </p:spTgt>
                                        </p:tgtEl>
                                        <p:attrNameLst>
                                          <p:attrName>style.visibility</p:attrName>
                                        </p:attrNameLst>
                                      </p:cBhvr>
                                      <p:to>
                                        <p:strVal val="visible"/>
                                      </p:to>
                                    </p:set>
                                    <p:animEffect filter="fade" transition="in">
                                      <p:cBhvr>
                                        <p:cTn dur="500"/>
                                        <p:tgtEl>
                                          <p:spTgt spid="30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xEl>
                                              <p:pRg end="8" st="8"/>
                                            </p:txEl>
                                          </p:spTgt>
                                        </p:tgtEl>
                                        <p:attrNameLst>
                                          <p:attrName>style.visibility</p:attrName>
                                        </p:attrNameLst>
                                      </p:cBhvr>
                                      <p:to>
                                        <p:strVal val="visible"/>
                                      </p:to>
                                    </p:set>
                                    <p:animEffect filter="fade" transition="in">
                                      <p:cBhvr>
                                        <p:cTn dur="500"/>
                                        <p:tgtEl>
                                          <p:spTgt spid="308">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14"/>
          <p:cNvSpPr txBox="1"/>
          <p:nvPr/>
        </p:nvSpPr>
        <p:spPr>
          <a:xfrm>
            <a:off x="221399" y="369025"/>
            <a:ext cx="87012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Analicemos la propuesta de Sofía</a:t>
            </a:r>
            <a:endParaRPr/>
          </a:p>
        </p:txBody>
      </p:sp>
      <p:sp>
        <p:nvSpPr>
          <p:cNvPr id="322" name="Google Shape;322;p14"/>
          <p:cNvSpPr txBox="1"/>
          <p:nvPr/>
        </p:nvSpPr>
        <p:spPr>
          <a:xfrm>
            <a:off x="3019724" y="1865778"/>
            <a:ext cx="6124276" cy="11541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Calculemos el </a:t>
            </a:r>
            <a:r>
              <a:rPr b="1" i="0" lang="es-ES" sz="2300" u="none" cap="none" strike="noStrike">
                <a:solidFill>
                  <a:srgbClr val="FAB235"/>
                </a:solidFill>
                <a:latin typeface="Patrick Hand"/>
                <a:ea typeface="Patrick Hand"/>
                <a:cs typeface="Patrick Hand"/>
                <a:sym typeface="Patrick Hand"/>
              </a:rPr>
              <a:t>perímetro</a:t>
            </a:r>
            <a:r>
              <a:rPr b="0" i="0" lang="es-ES" sz="2300" u="none" cap="none" strike="noStrike">
                <a:solidFill>
                  <a:schemeClr val="dk1"/>
                </a:solidFill>
                <a:latin typeface="Patrick Hand"/>
                <a:ea typeface="Patrick Hand"/>
                <a:cs typeface="Patrick Hand"/>
                <a:sym typeface="Patrick Hand"/>
              </a:rPr>
              <a:t>:</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10 cm + </a:t>
            </a:r>
            <a:r>
              <a:rPr b="0" i="0" lang="es-ES" sz="2300" u="none" cap="none" strike="noStrike">
                <a:solidFill>
                  <a:srgbClr val="00B0F0"/>
                </a:solidFill>
                <a:latin typeface="Patrick Hand"/>
                <a:ea typeface="Patrick Hand"/>
                <a:cs typeface="Patrick Hand"/>
                <a:sym typeface="Patrick Hand"/>
              </a:rPr>
              <a:t>40 cm</a:t>
            </a:r>
            <a:r>
              <a:rPr b="0" i="0" lang="es-ES" sz="2300" u="none" cap="none" strike="noStrike">
                <a:solidFill>
                  <a:schemeClr val="dk1"/>
                </a:solidFill>
                <a:latin typeface="Patrick Hand"/>
                <a:ea typeface="Patrick Hand"/>
                <a:cs typeface="Patrick Hand"/>
                <a:sym typeface="Patrick Hand"/>
              </a:rPr>
              <a:t> + 10 cm + </a:t>
            </a:r>
            <a:r>
              <a:rPr b="0" i="0" lang="es-ES" sz="2300" u="none" cap="none" strike="noStrike">
                <a:solidFill>
                  <a:srgbClr val="00B0F0"/>
                </a:solidFill>
                <a:latin typeface="Patrick Hand"/>
                <a:ea typeface="Patrick Hand"/>
                <a:cs typeface="Patrick Hand"/>
                <a:sym typeface="Patrick Hand"/>
              </a:rPr>
              <a:t>40 cm </a:t>
            </a:r>
            <a:r>
              <a:rPr b="0" i="0" lang="es-ES" sz="2300" u="none" cap="none" strike="noStrike">
                <a:solidFill>
                  <a:schemeClr val="dk1"/>
                </a:solidFill>
                <a:latin typeface="Patrick Hand"/>
                <a:ea typeface="Patrick Hand"/>
                <a:cs typeface="Patrick Hand"/>
                <a:sym typeface="Patrick Hand"/>
              </a:rPr>
              <a:t>=</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100 cm</a:t>
            </a:r>
            <a:endParaRPr/>
          </a:p>
        </p:txBody>
      </p:sp>
      <p:sp>
        <p:nvSpPr>
          <p:cNvPr id="323" name="Google Shape;323;p14"/>
          <p:cNvSpPr/>
          <p:nvPr/>
        </p:nvSpPr>
        <p:spPr>
          <a:xfrm>
            <a:off x="980592" y="1485490"/>
            <a:ext cx="1453960" cy="2569932"/>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24" name="Google Shape;324;p14"/>
          <p:cNvSpPr txBox="1"/>
          <p:nvPr/>
        </p:nvSpPr>
        <p:spPr>
          <a:xfrm>
            <a:off x="1287183" y="405542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sp>
        <p:nvSpPr>
          <p:cNvPr id="325" name="Google Shape;325;p14"/>
          <p:cNvSpPr txBox="1"/>
          <p:nvPr/>
        </p:nvSpPr>
        <p:spPr>
          <a:xfrm>
            <a:off x="1032096" y="2372976"/>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Perímetro</a:t>
            </a:r>
            <a:endParaRPr/>
          </a:p>
        </p:txBody>
      </p:sp>
      <p:sp>
        <p:nvSpPr>
          <p:cNvPr id="326" name="Google Shape;326;p14"/>
          <p:cNvSpPr txBox="1"/>
          <p:nvPr/>
        </p:nvSpPr>
        <p:spPr>
          <a:xfrm>
            <a:off x="2460531" y="255501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40 cm</a:t>
            </a:r>
            <a:endParaRPr/>
          </a:p>
        </p:txBody>
      </p:sp>
      <p:sp>
        <p:nvSpPr>
          <p:cNvPr id="327" name="Google Shape;327;p14"/>
          <p:cNvSpPr txBox="1"/>
          <p:nvPr/>
        </p:nvSpPr>
        <p:spPr>
          <a:xfrm>
            <a:off x="139812" y="253192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40 cm</a:t>
            </a:r>
            <a:endParaRPr/>
          </a:p>
        </p:txBody>
      </p:sp>
      <p:sp>
        <p:nvSpPr>
          <p:cNvPr id="328" name="Google Shape;328;p14"/>
          <p:cNvSpPr txBox="1"/>
          <p:nvPr/>
        </p:nvSpPr>
        <p:spPr>
          <a:xfrm>
            <a:off x="902092" y="2758330"/>
            <a:ext cx="161096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A = 400 cm</a:t>
            </a:r>
            <a:r>
              <a:rPr b="1" i="0" lang="es-ES" sz="2800" u="none" cap="none" strike="noStrike">
                <a:solidFill>
                  <a:srgbClr val="C00000"/>
                </a:solidFill>
                <a:latin typeface="Patrick Hand"/>
                <a:ea typeface="Patrick Hand"/>
                <a:cs typeface="Patrick Hand"/>
                <a:sym typeface="Patrick Hand"/>
              </a:rPr>
              <a:t>²</a:t>
            </a:r>
            <a:endParaRPr b="1" i="0" sz="2400" u="none" cap="none" strike="noStrike">
              <a:solidFill>
                <a:srgbClr val="C00000"/>
              </a:solidFill>
              <a:latin typeface="Patrick Hand"/>
              <a:ea typeface="Patrick Hand"/>
              <a:cs typeface="Patrick Hand"/>
              <a:sym typeface="Patrick Hand"/>
            </a:endParaRPr>
          </a:p>
        </p:txBody>
      </p:sp>
      <p:sp>
        <p:nvSpPr>
          <p:cNvPr id="329" name="Google Shape;329;p14"/>
          <p:cNvSpPr txBox="1"/>
          <p:nvPr/>
        </p:nvSpPr>
        <p:spPr>
          <a:xfrm>
            <a:off x="1287183" y="1041604"/>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sp>
        <p:nvSpPr>
          <p:cNvPr id="330" name="Google Shape;330;p14"/>
          <p:cNvSpPr txBox="1"/>
          <p:nvPr/>
        </p:nvSpPr>
        <p:spPr>
          <a:xfrm>
            <a:off x="3370973" y="3281550"/>
            <a:ext cx="5421778"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800" u="none" cap="none" strike="noStrike">
                <a:solidFill>
                  <a:schemeClr val="dk1"/>
                </a:solidFill>
                <a:latin typeface="Patrick Hand"/>
                <a:ea typeface="Patrick Hand"/>
                <a:cs typeface="Patrick Hand"/>
                <a:sym typeface="Patrick Hand"/>
              </a:rPr>
              <a:t>¡Sofía tenía razón!</a:t>
            </a:r>
            <a:endParaRPr/>
          </a:p>
        </p:txBody>
      </p:sp>
      <p:pic>
        <p:nvPicPr>
          <p:cNvPr id="331" name="Google Shape;331;p14"/>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5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5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animEffect filter="fade" transition="in">
                                      <p:cBhvr>
                                        <p:cTn dur="500"/>
                                        <p:tgtEl>
                                          <p:spTgt spid="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5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15"/>
          <p:cNvSpPr txBox="1"/>
          <p:nvPr/>
        </p:nvSpPr>
        <p:spPr>
          <a:xfrm>
            <a:off x="139800" y="366600"/>
            <a:ext cx="88644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Resumamos el procedimiento</a:t>
            </a:r>
            <a:endParaRPr/>
          </a:p>
        </p:txBody>
      </p:sp>
      <p:sp>
        <p:nvSpPr>
          <p:cNvPr id="337" name="Google Shape;337;p15"/>
          <p:cNvSpPr/>
          <p:nvPr/>
        </p:nvSpPr>
        <p:spPr>
          <a:xfrm>
            <a:off x="980592" y="1485490"/>
            <a:ext cx="1453960" cy="2569932"/>
          </a:xfrm>
          <a:prstGeom prst="rect">
            <a:avLst/>
          </a:prstGeom>
          <a:solidFill>
            <a:srgbClr val="009F98"/>
          </a:solidFill>
          <a:ln cap="flat" cmpd="sng" w="38100">
            <a:solidFill>
              <a:srgbClr val="FAB23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38" name="Google Shape;338;p15"/>
          <p:cNvSpPr txBox="1"/>
          <p:nvPr/>
        </p:nvSpPr>
        <p:spPr>
          <a:xfrm>
            <a:off x="1287183" y="405542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sp>
        <p:nvSpPr>
          <p:cNvPr id="339" name="Google Shape;339;p15"/>
          <p:cNvSpPr txBox="1"/>
          <p:nvPr/>
        </p:nvSpPr>
        <p:spPr>
          <a:xfrm>
            <a:off x="1032096" y="2372976"/>
            <a:ext cx="1402456"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FAB235"/>
                </a:solidFill>
                <a:latin typeface="Patrick Hand"/>
                <a:ea typeface="Patrick Hand"/>
                <a:cs typeface="Patrick Hand"/>
                <a:sym typeface="Patrick Hand"/>
              </a:rPr>
              <a:t>Perímetro</a:t>
            </a:r>
            <a:endParaRPr/>
          </a:p>
        </p:txBody>
      </p:sp>
      <p:sp>
        <p:nvSpPr>
          <p:cNvPr id="340" name="Google Shape;340;p15"/>
          <p:cNvSpPr txBox="1"/>
          <p:nvPr/>
        </p:nvSpPr>
        <p:spPr>
          <a:xfrm>
            <a:off x="2460531" y="2555012"/>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40 cm</a:t>
            </a:r>
            <a:endParaRPr/>
          </a:p>
        </p:txBody>
      </p:sp>
      <p:sp>
        <p:nvSpPr>
          <p:cNvPr id="341" name="Google Shape;341;p15"/>
          <p:cNvSpPr txBox="1"/>
          <p:nvPr/>
        </p:nvSpPr>
        <p:spPr>
          <a:xfrm>
            <a:off x="139812" y="2531928"/>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200" u="none" cap="none" strike="noStrike">
                <a:solidFill>
                  <a:srgbClr val="00B0F0"/>
                </a:solidFill>
                <a:latin typeface="Patrick Hand"/>
                <a:ea typeface="Patrick Hand"/>
                <a:cs typeface="Patrick Hand"/>
                <a:sym typeface="Patrick Hand"/>
              </a:rPr>
              <a:t>40 cm</a:t>
            </a:r>
            <a:endParaRPr/>
          </a:p>
        </p:txBody>
      </p:sp>
      <p:sp>
        <p:nvSpPr>
          <p:cNvPr id="342" name="Google Shape;342;p15"/>
          <p:cNvSpPr txBox="1"/>
          <p:nvPr/>
        </p:nvSpPr>
        <p:spPr>
          <a:xfrm>
            <a:off x="902092" y="2758330"/>
            <a:ext cx="161096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400" u="none" cap="none" strike="noStrike">
                <a:solidFill>
                  <a:srgbClr val="C00000"/>
                </a:solidFill>
                <a:latin typeface="Patrick Hand"/>
                <a:ea typeface="Patrick Hand"/>
                <a:cs typeface="Patrick Hand"/>
                <a:sym typeface="Patrick Hand"/>
              </a:rPr>
              <a:t>A = 400 cm</a:t>
            </a:r>
            <a:r>
              <a:rPr b="1" i="0" lang="es-ES" sz="2800" u="none" cap="none" strike="noStrike">
                <a:solidFill>
                  <a:srgbClr val="C00000"/>
                </a:solidFill>
                <a:latin typeface="Patrick Hand"/>
                <a:ea typeface="Patrick Hand"/>
                <a:cs typeface="Patrick Hand"/>
                <a:sym typeface="Patrick Hand"/>
              </a:rPr>
              <a:t>²</a:t>
            </a:r>
            <a:endParaRPr b="1" i="0" sz="2400" u="none" cap="none" strike="noStrike">
              <a:solidFill>
                <a:srgbClr val="C00000"/>
              </a:solidFill>
              <a:latin typeface="Patrick Hand"/>
              <a:ea typeface="Patrick Hand"/>
              <a:cs typeface="Patrick Hand"/>
              <a:sym typeface="Patrick Hand"/>
            </a:endParaRPr>
          </a:p>
        </p:txBody>
      </p:sp>
      <p:sp>
        <p:nvSpPr>
          <p:cNvPr id="343" name="Google Shape;343;p15"/>
          <p:cNvSpPr txBox="1"/>
          <p:nvPr/>
        </p:nvSpPr>
        <p:spPr>
          <a:xfrm>
            <a:off x="1287183" y="1041604"/>
            <a:ext cx="840778"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200" u="none" cap="none" strike="noStrike">
                <a:solidFill>
                  <a:schemeClr val="dk1"/>
                </a:solidFill>
                <a:latin typeface="Patrick Hand"/>
                <a:ea typeface="Patrick Hand"/>
                <a:cs typeface="Patrick Hand"/>
                <a:sym typeface="Patrick Hand"/>
              </a:rPr>
              <a:t>10 cm</a:t>
            </a:r>
            <a:endParaRPr/>
          </a:p>
        </p:txBody>
      </p:sp>
      <p:sp>
        <p:nvSpPr>
          <p:cNvPr id="344" name="Google Shape;344;p15"/>
          <p:cNvSpPr txBox="1"/>
          <p:nvPr/>
        </p:nvSpPr>
        <p:spPr>
          <a:xfrm>
            <a:off x="3646804" y="1119420"/>
            <a:ext cx="5217459" cy="32778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1° Buscamos un número que multiplicado por el lado conocido resulte en el área</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O de otra manera, dividimos el área por el lado conocido</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2° Calculamos el perímetro del rectángulo</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p:txBody>
      </p:sp>
      <p:sp>
        <p:nvSpPr>
          <p:cNvPr id="345" name="Google Shape;345;p15"/>
          <p:cNvSpPr txBox="1"/>
          <p:nvPr/>
        </p:nvSpPr>
        <p:spPr>
          <a:xfrm>
            <a:off x="4819348" y="2531928"/>
            <a:ext cx="2872370" cy="400110"/>
          </a:xfrm>
          <a:prstGeom prst="rect">
            <a:avLst/>
          </a:prstGeom>
          <a:solidFill>
            <a:schemeClr val="lt1"/>
          </a:solidFill>
          <a:ln cap="flat" cmpd="sng" w="9525">
            <a:solidFill>
              <a:srgbClr val="009F9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chemeClr val="dk1"/>
                </a:solidFill>
                <a:latin typeface="Patrick Hand"/>
                <a:ea typeface="Patrick Hand"/>
                <a:cs typeface="Patrick Hand"/>
                <a:sym typeface="Patrick Hand"/>
              </a:rPr>
              <a:t>400 cm² ÷ 10 cm = 40 cm</a:t>
            </a:r>
            <a:endParaRPr/>
          </a:p>
        </p:txBody>
      </p:sp>
      <p:sp>
        <p:nvSpPr>
          <p:cNvPr id="346" name="Google Shape;346;p15"/>
          <p:cNvSpPr txBox="1"/>
          <p:nvPr/>
        </p:nvSpPr>
        <p:spPr>
          <a:xfrm>
            <a:off x="4238435" y="3651443"/>
            <a:ext cx="4034196" cy="400110"/>
          </a:xfrm>
          <a:prstGeom prst="rect">
            <a:avLst/>
          </a:prstGeom>
          <a:solidFill>
            <a:schemeClr val="lt1"/>
          </a:solidFill>
          <a:ln cap="flat" cmpd="sng" w="9525">
            <a:solidFill>
              <a:srgbClr val="009F98"/>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2000" u="none" cap="none" strike="noStrike">
                <a:solidFill>
                  <a:schemeClr val="dk1"/>
                </a:solidFill>
                <a:latin typeface="Patrick Hand"/>
                <a:ea typeface="Patrick Hand"/>
                <a:cs typeface="Patrick Hand"/>
                <a:sym typeface="Patrick Hand"/>
              </a:rPr>
              <a:t>10 cm + 40 cm + 10 cm + 40 cm = 100 cm</a:t>
            </a:r>
            <a:endParaRPr/>
          </a:p>
        </p:txBody>
      </p:sp>
      <p:pic>
        <p:nvPicPr>
          <p:cNvPr id="347" name="Google Shape;347;p15"/>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0" st="0"/>
                                            </p:txEl>
                                          </p:spTgt>
                                        </p:tgtEl>
                                        <p:attrNameLst>
                                          <p:attrName>style.visibility</p:attrName>
                                        </p:attrNameLst>
                                      </p:cBhvr>
                                      <p:to>
                                        <p:strVal val="visible"/>
                                      </p:to>
                                    </p:set>
                                    <p:animEffect filter="fade" transition="in">
                                      <p:cBhvr>
                                        <p:cTn dur="500"/>
                                        <p:tgtEl>
                                          <p:spTgt spid="34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1" st="1"/>
                                            </p:txEl>
                                          </p:spTgt>
                                        </p:tgtEl>
                                        <p:attrNameLst>
                                          <p:attrName>style.visibility</p:attrName>
                                        </p:attrNameLst>
                                      </p:cBhvr>
                                      <p:to>
                                        <p:strVal val="visible"/>
                                      </p:to>
                                    </p:set>
                                    <p:animEffect filter="fade" transition="in">
                                      <p:cBhvr>
                                        <p:cTn dur="500"/>
                                        <p:tgtEl>
                                          <p:spTgt spid="34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2" st="2"/>
                                            </p:txEl>
                                          </p:spTgt>
                                        </p:tgtEl>
                                        <p:attrNameLst>
                                          <p:attrName>style.visibility</p:attrName>
                                        </p:attrNameLst>
                                      </p:cBhvr>
                                      <p:to>
                                        <p:strVal val="visible"/>
                                      </p:to>
                                    </p:set>
                                    <p:animEffect filter="fade" transition="in">
                                      <p:cBhvr>
                                        <p:cTn dur="500"/>
                                        <p:tgtEl>
                                          <p:spTgt spid="34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3" st="3"/>
                                            </p:txEl>
                                          </p:spTgt>
                                        </p:tgtEl>
                                        <p:attrNameLst>
                                          <p:attrName>style.visibility</p:attrName>
                                        </p:attrNameLst>
                                      </p:cBhvr>
                                      <p:to>
                                        <p:strVal val="visible"/>
                                      </p:to>
                                    </p:set>
                                    <p:animEffect filter="fade" transition="in">
                                      <p:cBhvr>
                                        <p:cTn dur="500"/>
                                        <p:tgtEl>
                                          <p:spTgt spid="34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4" st="4"/>
                                            </p:txEl>
                                          </p:spTgt>
                                        </p:tgtEl>
                                        <p:attrNameLst>
                                          <p:attrName>style.visibility</p:attrName>
                                        </p:attrNameLst>
                                      </p:cBhvr>
                                      <p:to>
                                        <p:strVal val="visible"/>
                                      </p:to>
                                    </p:set>
                                    <p:animEffect filter="fade" transition="in">
                                      <p:cBhvr>
                                        <p:cTn dur="500"/>
                                        <p:tgtEl>
                                          <p:spTgt spid="34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5" st="5"/>
                                            </p:txEl>
                                          </p:spTgt>
                                        </p:tgtEl>
                                        <p:attrNameLst>
                                          <p:attrName>style.visibility</p:attrName>
                                        </p:attrNameLst>
                                      </p:cBhvr>
                                      <p:to>
                                        <p:strVal val="visible"/>
                                      </p:to>
                                    </p:set>
                                    <p:animEffect filter="fade" transition="in">
                                      <p:cBhvr>
                                        <p:cTn dur="500"/>
                                        <p:tgtEl>
                                          <p:spTgt spid="34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4">
                                            <p:txEl>
                                              <p:pRg end="6" st="6"/>
                                            </p:txEl>
                                          </p:spTgt>
                                        </p:tgtEl>
                                        <p:attrNameLst>
                                          <p:attrName>style.visibility</p:attrName>
                                        </p:attrNameLst>
                                      </p:cBhvr>
                                      <p:to>
                                        <p:strVal val="visible"/>
                                      </p:to>
                                    </p:set>
                                    <p:animEffect filter="fade" transition="in">
                                      <p:cBhvr>
                                        <p:cTn dur="500"/>
                                        <p:tgtEl>
                                          <p:spTgt spid="34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5">
                                            <p:txEl>
                                              <p:pRg end="0" st="0"/>
                                            </p:txEl>
                                          </p:spTgt>
                                        </p:tgtEl>
                                        <p:attrNameLst>
                                          <p:attrName>style.visibility</p:attrName>
                                        </p:attrNameLst>
                                      </p:cBhvr>
                                      <p:to>
                                        <p:strVal val="visible"/>
                                      </p:to>
                                    </p:set>
                                    <p:animEffect filter="fade" transition="in">
                                      <p:cBhvr>
                                        <p:cTn dur="500"/>
                                        <p:tgtEl>
                                          <p:spTgt spid="34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6">
                                            <p:txEl>
                                              <p:pRg end="0" st="0"/>
                                            </p:txEl>
                                          </p:spTgt>
                                        </p:tgtEl>
                                        <p:attrNameLst>
                                          <p:attrName>style.visibility</p:attrName>
                                        </p:attrNameLst>
                                      </p:cBhvr>
                                      <p:to>
                                        <p:strVal val="visible"/>
                                      </p:to>
                                    </p:set>
                                    <p:animEffect filter="fade" transition="in">
                                      <p:cBhvr>
                                        <p:cTn dur="500"/>
                                        <p:tgtEl>
                                          <p:spTgt spid="34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1" name="Shape 351"/>
        <p:cNvGrpSpPr/>
        <p:nvPr/>
      </p:nvGrpSpPr>
      <p:grpSpPr>
        <a:xfrm>
          <a:off x="0" y="0"/>
          <a:ext cx="0" cy="0"/>
          <a:chOff x="0" y="0"/>
          <a:chExt cx="0" cy="0"/>
        </a:xfrm>
      </p:grpSpPr>
      <p:sp>
        <p:nvSpPr>
          <p:cNvPr id="352" name="Google Shape;352;p16"/>
          <p:cNvSpPr txBox="1"/>
          <p:nvPr/>
        </p:nvSpPr>
        <p:spPr>
          <a:xfrm>
            <a:off x="168012" y="366600"/>
            <a:ext cx="8808000" cy="585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EJERCICIO ADICIONAL EN CASO DE TENER TIEMPO</a:t>
            </a:r>
            <a:endParaRPr/>
          </a:p>
        </p:txBody>
      </p:sp>
      <p:sp>
        <p:nvSpPr>
          <p:cNvPr id="353" name="Google Shape;353;p16"/>
          <p:cNvSpPr txBox="1"/>
          <p:nvPr/>
        </p:nvSpPr>
        <p:spPr>
          <a:xfrm>
            <a:off x="600218" y="1400500"/>
            <a:ext cx="7943489" cy="3046988"/>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Pídale a su pupilo que en su cuaderno dibuje un rectángulo cuyo perímetro sea 30 [_] y área menor a 120 [_]. </a:t>
            </a:r>
            <a:endParaRPr/>
          </a:p>
          <a:p>
            <a:pPr indent="0" lvl="0" marL="0" marR="0" rtl="0" algn="ctr">
              <a:lnSpc>
                <a:spcPct val="100000"/>
              </a:lnSpc>
              <a:spcBef>
                <a:spcPts val="0"/>
              </a:spcBef>
              <a:spcAft>
                <a:spcPts val="0"/>
              </a:spcAft>
              <a:buNone/>
            </a:pPr>
            <a:r>
              <a:rPr b="0" i="0" lang="es-ES" sz="2400" u="none" cap="none" strike="noStrike">
                <a:solidFill>
                  <a:schemeClr val="dk1"/>
                </a:solidFill>
                <a:latin typeface="Patrick Hand"/>
                <a:ea typeface="Patrick Hand"/>
                <a:cs typeface="Patrick Hand"/>
                <a:sym typeface="Patrick Hand"/>
              </a:rPr>
              <a:t>Usted también haga el ejercicio en su cuaderno.</a:t>
            </a:r>
            <a:endParaRPr/>
          </a:p>
          <a:p>
            <a:pPr indent="0" lvl="0" marL="0" marR="0" rtl="0" algn="ctr">
              <a:lnSpc>
                <a:spcPct val="100000"/>
              </a:lnSpc>
              <a:spcBef>
                <a:spcPts val="0"/>
              </a:spcBef>
              <a:spcAft>
                <a:spcPts val="0"/>
              </a:spcAft>
              <a:buNone/>
            </a:pPr>
            <a:r>
              <a:t/>
            </a:r>
            <a:endParaRPr b="1" i="0" sz="2400" u="none" cap="none" strike="noStrike">
              <a:solidFill>
                <a:schemeClr val="dk1"/>
              </a:solidFill>
              <a:highlight>
                <a:srgbClr val="009F98"/>
              </a:highlight>
              <a:latin typeface="Patrick Hand"/>
              <a:ea typeface="Patrick Hand"/>
              <a:cs typeface="Patrick Hand"/>
              <a:sym typeface="Patrick Hand"/>
            </a:endParaRPr>
          </a:p>
          <a:p>
            <a:pPr indent="0" lvl="0" marL="0" marR="0" rtl="0" algn="ctr">
              <a:lnSpc>
                <a:spcPct val="100000"/>
              </a:lnSpc>
              <a:spcBef>
                <a:spcPts val="0"/>
              </a:spcBef>
              <a:spcAft>
                <a:spcPts val="0"/>
              </a:spcAft>
              <a:buNone/>
            </a:pPr>
            <a:r>
              <a:rPr b="1" i="0" lang="es-ES" sz="2400" u="none" cap="none" strike="noStrike">
                <a:solidFill>
                  <a:schemeClr val="lt1"/>
                </a:solidFill>
                <a:highlight>
                  <a:srgbClr val="009F98"/>
                </a:highlight>
                <a:latin typeface="Patrick Hand"/>
                <a:ea typeface="Patrick Hand"/>
                <a:cs typeface="Patrick Hand"/>
                <a:sym typeface="Patrick Hand"/>
              </a:rPr>
              <a:t>La idea es que él proponga cuánto mide cada cuadrícula de su cuaderno (con su respectiva unidad de medida) y así él diseñe el rectángulo. </a:t>
            </a:r>
            <a:endParaRPr/>
          </a:p>
          <a:p>
            <a:pPr indent="0" lvl="0" marL="0" marR="0" rtl="0" algn="ctr">
              <a:lnSpc>
                <a:spcPct val="100000"/>
              </a:lnSpc>
              <a:spcBef>
                <a:spcPts val="0"/>
              </a:spcBef>
              <a:spcAft>
                <a:spcPts val="0"/>
              </a:spcAft>
              <a:buNone/>
            </a:pPr>
            <a:r>
              <a:rPr b="1" i="0" lang="es-ES" sz="2400" u="none" cap="none" strike="noStrike">
                <a:solidFill>
                  <a:schemeClr val="lt1"/>
                </a:solidFill>
                <a:highlight>
                  <a:srgbClr val="009F98"/>
                </a:highlight>
                <a:latin typeface="Patrick Hand"/>
                <a:ea typeface="Patrick Hand"/>
                <a:cs typeface="Patrick Hand"/>
                <a:sym typeface="Patrick Hand"/>
              </a:rPr>
              <a:t>Luego discutan las diferencias</a:t>
            </a:r>
            <a:endParaRPr/>
          </a:p>
          <a:p>
            <a:pPr indent="0" lvl="0" marL="0" marR="0" rtl="0" algn="ctr">
              <a:lnSpc>
                <a:spcPct val="100000"/>
              </a:lnSpc>
              <a:spcBef>
                <a:spcPts val="0"/>
              </a:spcBef>
              <a:spcAft>
                <a:spcPts val="0"/>
              </a:spcAft>
              <a:buNone/>
            </a:pPr>
            <a:r>
              <a:t/>
            </a:r>
            <a:endParaRPr b="1" i="0" sz="2400" u="none" cap="none" strike="noStrike">
              <a:solidFill>
                <a:schemeClr val="lt1"/>
              </a:solidFill>
              <a:highlight>
                <a:srgbClr val="009F98"/>
              </a:highlight>
              <a:latin typeface="Patrick Hand"/>
              <a:ea typeface="Patrick Hand"/>
              <a:cs typeface="Patrick Hand"/>
              <a:sym typeface="Patrick Hand"/>
            </a:endParaRPr>
          </a:p>
        </p:txBody>
      </p:sp>
      <p:pic>
        <p:nvPicPr>
          <p:cNvPr id="354" name="Google Shape;354;p16"/>
          <p:cNvPicPr preferRelativeResize="0"/>
          <p:nvPr/>
        </p:nvPicPr>
        <p:blipFill>
          <a:blip r:embed="rId3">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pic>
        <p:nvPicPr>
          <p:cNvPr descr="Patrón de fondo&#10;&#10;Descripción generada automáticamente" id="359" name="Google Shape;359;p17"/>
          <p:cNvPicPr preferRelativeResize="0"/>
          <p:nvPr/>
        </p:nvPicPr>
        <p:blipFill rotWithShape="1">
          <a:blip r:embed="rId3">
            <a:alphaModFix/>
          </a:blip>
          <a:srcRect b="0" l="0" r="0" t="0"/>
          <a:stretch/>
        </p:blipFill>
        <p:spPr>
          <a:xfrm>
            <a:off x="878187" y="503975"/>
            <a:ext cx="7387625" cy="3919975"/>
          </a:xfrm>
          <a:prstGeom prst="rect">
            <a:avLst/>
          </a:prstGeom>
          <a:noFill/>
          <a:ln>
            <a:noFill/>
          </a:ln>
        </p:spPr>
      </p:pic>
      <p:pic>
        <p:nvPicPr>
          <p:cNvPr id="360" name="Google Shape;360;p17"/>
          <p:cNvPicPr preferRelativeResize="0"/>
          <p:nvPr/>
        </p:nvPicPr>
        <p:blipFill>
          <a:blip r:embed="rId4">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pic>
        <p:nvPicPr>
          <p:cNvPr descr="Forma&#10;&#10;Descripción generada automáticamente con confianza media" id="365" name="Google Shape;365;p18"/>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366" name="Google Shape;366;p18"/>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¡Resumen de hoy!</a:t>
            </a:r>
            <a:endParaRPr b="0" i="0" sz="1400" u="none" cap="none" strike="noStrike">
              <a:solidFill>
                <a:schemeClr val="lt1"/>
              </a:solidFill>
              <a:highlight>
                <a:srgbClr val="009287"/>
              </a:highlight>
              <a:latin typeface="Arial"/>
              <a:ea typeface="Arial"/>
              <a:cs typeface="Arial"/>
              <a:sym typeface="Arial"/>
            </a:endParaRPr>
          </a:p>
        </p:txBody>
      </p:sp>
      <p:sp>
        <p:nvSpPr>
          <p:cNvPr id="367" name="Google Shape;367;p18"/>
          <p:cNvSpPr/>
          <p:nvPr/>
        </p:nvSpPr>
        <p:spPr>
          <a:xfrm>
            <a:off x="1844744" y="1220127"/>
            <a:ext cx="5454502" cy="2722396"/>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geometria" id="368" name="Google Shape;368;p18" title="Resumen - Geometría (11) - Rectángulos">
            <a:hlinkClick r:id="rId4"/>
          </p:cNvPr>
          <p:cNvPicPr preferRelativeResize="0"/>
          <p:nvPr/>
        </p:nvPicPr>
        <p:blipFill>
          <a:blip r:embed="rId5">
            <a:alphaModFix/>
          </a:blip>
          <a:stretch>
            <a:fillRect/>
          </a:stretch>
        </p:blipFill>
        <p:spPr>
          <a:xfrm>
            <a:off x="1233775" y="1138150"/>
            <a:ext cx="6676450" cy="3532600"/>
          </a:xfrm>
          <a:prstGeom prst="rect">
            <a:avLst/>
          </a:prstGeom>
          <a:noFill/>
          <a:ln>
            <a:noFill/>
          </a:ln>
        </p:spPr>
      </p:pic>
      <p:pic>
        <p:nvPicPr>
          <p:cNvPr id="369" name="Google Shape;369;p18"/>
          <p:cNvPicPr preferRelativeResize="0"/>
          <p:nvPr/>
        </p:nvPicPr>
        <p:blipFill>
          <a:blip r:embed="rId6">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9"/>
          <p:cNvSpPr txBox="1"/>
          <p:nvPr/>
        </p:nvSpPr>
        <p:spPr>
          <a:xfrm>
            <a:off x="785234" y="366599"/>
            <a:ext cx="7573458" cy="5847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¡Ahora es tu turno!</a:t>
            </a:r>
            <a:endParaRPr b="0" i="0" sz="3200" u="none" cap="none" strike="noStrike">
              <a:solidFill>
                <a:schemeClr val="lt1"/>
              </a:solidFill>
              <a:highlight>
                <a:srgbClr val="009287"/>
              </a:highlight>
              <a:latin typeface="Arial"/>
              <a:ea typeface="Arial"/>
              <a:cs typeface="Arial"/>
              <a:sym typeface="Arial"/>
            </a:endParaRPr>
          </a:p>
        </p:txBody>
      </p:sp>
      <p:sp>
        <p:nvSpPr>
          <p:cNvPr id="375" name="Google Shape;375;p19"/>
          <p:cNvSpPr txBox="1"/>
          <p:nvPr/>
        </p:nvSpPr>
        <p:spPr>
          <a:xfrm>
            <a:off x="1241727" y="3632552"/>
            <a:ext cx="4572000"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s-ES" sz="1400" u="none" cap="none" strike="noStrike">
                <a:solidFill>
                  <a:srgbClr val="000000"/>
                </a:solidFill>
                <a:latin typeface="Calibri"/>
                <a:ea typeface="Calibri"/>
                <a:cs typeface="Calibri"/>
                <a:sym typeface="Calibri"/>
              </a:rPr>
              <a:t>RESPONDER ACÁ:</a:t>
            </a:r>
            <a:endParaRPr/>
          </a:p>
          <a:p>
            <a:pPr indent="0" lvl="0" marL="0" marR="0" rtl="0" algn="ctr">
              <a:lnSpc>
                <a:spcPct val="100000"/>
              </a:lnSpc>
              <a:spcBef>
                <a:spcPts val="0"/>
              </a:spcBef>
              <a:spcAft>
                <a:spcPts val="0"/>
              </a:spcAft>
              <a:buNone/>
            </a:pPr>
            <a:r>
              <a:rPr b="1" i="0" lang="es-ES" sz="1400" u="sng" cap="none" strike="noStrike">
                <a:solidFill>
                  <a:schemeClr val="hlink"/>
                </a:solidFill>
                <a:latin typeface="Calibri"/>
                <a:ea typeface="Calibri"/>
                <a:cs typeface="Calibri"/>
                <a:sym typeface="Calibri"/>
                <a:hlinkClick r:id="rId3"/>
              </a:rPr>
              <a:t>https://forms.gle/VXEooZRhoGVbnVax5</a:t>
            </a:r>
            <a:endParaRPr/>
          </a:p>
        </p:txBody>
      </p:sp>
      <p:sp>
        <p:nvSpPr>
          <p:cNvPr id="376" name="Google Shape;376;p19"/>
          <p:cNvSpPr txBox="1"/>
          <p:nvPr/>
        </p:nvSpPr>
        <p:spPr>
          <a:xfrm>
            <a:off x="-37" y="965487"/>
            <a:ext cx="9251652" cy="221599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Los lados de cierto rectángulo son 8 y 10 metros.</a:t>
            </a:r>
            <a:endParaRPr/>
          </a:p>
          <a:p>
            <a:pPr indent="0" lvl="0" marL="0" marR="0" rtl="0" algn="ctr">
              <a:lnSpc>
                <a:spcPct val="100000"/>
              </a:lnSpc>
              <a:spcBef>
                <a:spcPts val="0"/>
              </a:spcBef>
              <a:spcAft>
                <a:spcPts val="0"/>
              </a:spcAft>
              <a:buNone/>
            </a:pPr>
            <a:r>
              <a:rPr b="0" i="0" lang="es-ES" sz="2300" u="none" cap="none" strike="noStrike">
                <a:solidFill>
                  <a:schemeClr val="dk1"/>
                </a:solidFill>
                <a:latin typeface="Patrick Hand"/>
                <a:ea typeface="Patrick Hand"/>
                <a:cs typeface="Patrick Hand"/>
                <a:sym typeface="Patrick Hand"/>
              </a:rPr>
              <a:t>Cada lado se reduce en 2 metros. </a:t>
            </a:r>
            <a:endParaRPr/>
          </a:p>
          <a:p>
            <a:pPr indent="0" lvl="0" marL="0" marR="0" rtl="0" algn="ctr">
              <a:lnSpc>
                <a:spcPct val="100000"/>
              </a:lnSpc>
              <a:spcBef>
                <a:spcPts val="0"/>
              </a:spcBef>
              <a:spcAft>
                <a:spcPts val="0"/>
              </a:spcAft>
              <a:buNone/>
            </a:pPr>
            <a:r>
              <a:t/>
            </a:r>
            <a:endParaRPr b="0" i="0" sz="2300" u="none" cap="none" strike="noStrike">
              <a:solidFill>
                <a:schemeClr val="dk1"/>
              </a:solidFill>
              <a:latin typeface="Patrick Hand"/>
              <a:ea typeface="Patrick Hand"/>
              <a:cs typeface="Patrick Hand"/>
              <a:sym typeface="Patrick Hand"/>
            </a:endParaRPr>
          </a:p>
          <a:p>
            <a:pPr indent="-457200" lvl="0" marL="457200" marR="0" rtl="0" algn="ctr">
              <a:lnSpc>
                <a:spcPct val="100000"/>
              </a:lnSpc>
              <a:spcBef>
                <a:spcPts val="0"/>
              </a:spcBef>
              <a:spcAft>
                <a:spcPts val="0"/>
              </a:spcAft>
              <a:buClr>
                <a:srgbClr val="000000"/>
              </a:buClr>
              <a:buSzPts val="2300"/>
              <a:buFont typeface="Arial"/>
              <a:buAutoNum type="arabicParenR"/>
            </a:pPr>
            <a:r>
              <a:rPr b="0" i="0" lang="es-ES" sz="2300" u="none" cap="none" strike="noStrike">
                <a:solidFill>
                  <a:schemeClr val="dk1"/>
                </a:solidFill>
                <a:latin typeface="Patrick Hand"/>
                <a:ea typeface="Patrick Hand"/>
                <a:cs typeface="Patrick Hand"/>
                <a:sym typeface="Patrick Hand"/>
              </a:rPr>
              <a:t>¿Cuánto mide el área original? </a:t>
            </a:r>
            <a:endParaRPr/>
          </a:p>
          <a:p>
            <a:pPr indent="-457200" lvl="0" marL="457200" marR="0" rtl="0" algn="ctr">
              <a:lnSpc>
                <a:spcPct val="100000"/>
              </a:lnSpc>
              <a:spcBef>
                <a:spcPts val="0"/>
              </a:spcBef>
              <a:spcAft>
                <a:spcPts val="0"/>
              </a:spcAft>
              <a:buClr>
                <a:srgbClr val="000000"/>
              </a:buClr>
              <a:buSzPts val="2300"/>
              <a:buFont typeface="Arial"/>
              <a:buAutoNum type="arabicParenR"/>
            </a:pPr>
            <a:r>
              <a:rPr b="0" i="0" lang="es-ES" sz="2300" u="none" cap="none" strike="noStrike">
                <a:solidFill>
                  <a:schemeClr val="dk1"/>
                </a:solidFill>
                <a:latin typeface="Patrick Hand"/>
                <a:ea typeface="Patrick Hand"/>
                <a:cs typeface="Patrick Hand"/>
                <a:sym typeface="Patrick Hand"/>
              </a:rPr>
              <a:t> ¿Cuánto mide la nueva área?</a:t>
            </a:r>
            <a:endParaRPr/>
          </a:p>
          <a:p>
            <a:pPr indent="-457200" lvl="0" marL="457200" marR="0" rtl="0" algn="ctr">
              <a:lnSpc>
                <a:spcPct val="100000"/>
              </a:lnSpc>
              <a:spcBef>
                <a:spcPts val="0"/>
              </a:spcBef>
              <a:spcAft>
                <a:spcPts val="0"/>
              </a:spcAft>
              <a:buClr>
                <a:srgbClr val="000000"/>
              </a:buClr>
              <a:buSzPts val="2300"/>
              <a:buFont typeface="Arial"/>
              <a:buAutoNum type="arabicParenR"/>
            </a:pPr>
            <a:r>
              <a:rPr b="0" i="0" lang="es-ES" sz="2300" u="none" cap="none" strike="noStrike">
                <a:solidFill>
                  <a:schemeClr val="dk1"/>
                </a:solidFill>
                <a:latin typeface="Patrick Hand"/>
                <a:ea typeface="Patrick Hand"/>
                <a:cs typeface="Patrick Hand"/>
                <a:sym typeface="Patrick Hand"/>
              </a:rPr>
              <a:t>¿Cuál es la diferencia entre las áreas? </a:t>
            </a:r>
            <a:endParaRPr/>
          </a:p>
        </p:txBody>
      </p:sp>
      <p:pic>
        <p:nvPicPr>
          <p:cNvPr id="377" name="Google Shape;377;p19"/>
          <p:cNvPicPr preferRelativeResize="0"/>
          <p:nvPr/>
        </p:nvPicPr>
        <p:blipFill rotWithShape="1">
          <a:blip r:embed="rId4">
            <a:alphaModFix/>
          </a:blip>
          <a:srcRect b="8889" l="8519" r="8519" t="8889"/>
          <a:stretch/>
        </p:blipFill>
        <p:spPr>
          <a:xfrm>
            <a:off x="5242227" y="3195303"/>
            <a:ext cx="1554390" cy="1540512"/>
          </a:xfrm>
          <a:prstGeom prst="rect">
            <a:avLst/>
          </a:prstGeom>
          <a:noFill/>
          <a:ln>
            <a:noFill/>
          </a:ln>
        </p:spPr>
      </p:pic>
      <p:pic>
        <p:nvPicPr>
          <p:cNvPr id="378" name="Google Shape;378;p19"/>
          <p:cNvPicPr preferRelativeResize="0"/>
          <p:nvPr/>
        </p:nvPicPr>
        <p:blipFill>
          <a:blip r:embed="rId5">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pic>
        <p:nvPicPr>
          <p:cNvPr descr="Forma&#10;&#10;Descripción generada automáticamente con confianza media" id="383" name="Google Shape;383;p20"/>
          <p:cNvPicPr preferRelativeResize="0"/>
          <p:nvPr>
            <p:ph idx="1" type="body"/>
          </p:nvPr>
        </p:nvPicPr>
        <p:blipFill rotWithShape="1">
          <a:blip r:embed="rId3">
            <a:alphaModFix/>
          </a:blip>
          <a:srcRect b="0" l="0" r="0" t="0"/>
          <a:stretch/>
        </p:blipFill>
        <p:spPr>
          <a:xfrm>
            <a:off x="-5" y="9575"/>
            <a:ext cx="9144000" cy="5143500"/>
          </a:xfrm>
          <a:prstGeom prst="rect">
            <a:avLst/>
          </a:prstGeom>
          <a:noFill/>
          <a:ln>
            <a:noFill/>
          </a:ln>
        </p:spPr>
      </p:pic>
      <p:sp>
        <p:nvSpPr>
          <p:cNvPr id="384" name="Google Shape;384;p20"/>
          <p:cNvSpPr txBox="1"/>
          <p:nvPr/>
        </p:nvSpPr>
        <p:spPr>
          <a:xfrm>
            <a:off x="1393045" y="367771"/>
            <a:ext cx="6357900" cy="677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b="0" i="0" lang="es-ES" sz="3200" u="none" cap="none" strike="noStrike">
                <a:solidFill>
                  <a:schemeClr val="lt1"/>
                </a:solidFill>
                <a:highlight>
                  <a:srgbClr val="009287"/>
                </a:highlight>
                <a:latin typeface="Patrick Hand"/>
                <a:ea typeface="Patrick Hand"/>
                <a:cs typeface="Patrick Hand"/>
                <a:sym typeface="Patrick Hand"/>
              </a:rPr>
              <a:t>¡Reforcemos lo aprendido!</a:t>
            </a:r>
            <a:endParaRPr b="0" i="0" sz="1400" u="none" cap="none" strike="noStrike">
              <a:solidFill>
                <a:schemeClr val="lt1"/>
              </a:solidFill>
              <a:highlight>
                <a:srgbClr val="009287"/>
              </a:highlight>
              <a:latin typeface="Arial"/>
              <a:ea typeface="Arial"/>
              <a:cs typeface="Arial"/>
              <a:sym typeface="Arial"/>
            </a:endParaRPr>
          </a:p>
        </p:txBody>
      </p:sp>
      <p:sp>
        <p:nvSpPr>
          <p:cNvPr id="385" name="Google Shape;385;p20"/>
          <p:cNvSpPr/>
          <p:nvPr/>
        </p:nvSpPr>
        <p:spPr>
          <a:xfrm>
            <a:off x="1844744" y="1220127"/>
            <a:ext cx="5454502" cy="2722396"/>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geometria" id="386" name="Google Shape;386;p20" title="Reforzamiento - Geometría (11) - Rectángulos">
            <a:hlinkClick r:id="rId4"/>
          </p:cNvPr>
          <p:cNvPicPr preferRelativeResize="0"/>
          <p:nvPr/>
        </p:nvPicPr>
        <p:blipFill>
          <a:blip r:embed="rId5">
            <a:alphaModFix/>
          </a:blip>
          <a:stretch>
            <a:fillRect/>
          </a:stretch>
        </p:blipFill>
        <p:spPr>
          <a:xfrm>
            <a:off x="1050000" y="1044875"/>
            <a:ext cx="7044000" cy="3655950"/>
          </a:xfrm>
          <a:prstGeom prst="rect">
            <a:avLst/>
          </a:prstGeom>
          <a:noFill/>
          <a:ln>
            <a:noFill/>
          </a:ln>
        </p:spPr>
      </p:pic>
      <p:pic>
        <p:nvPicPr>
          <p:cNvPr id="387" name="Google Shape;387;p20"/>
          <p:cNvPicPr preferRelativeResize="0"/>
          <p:nvPr/>
        </p:nvPicPr>
        <p:blipFill>
          <a:blip r:embed="rId6">
            <a:alphaModFix/>
          </a:blip>
          <a:stretch>
            <a:fillRect/>
          </a:stretch>
        </p:blipFill>
        <p:spPr>
          <a:xfrm>
            <a:off x="8292825" y="3931712"/>
            <a:ext cx="693700" cy="73172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6"/>
                                        </p:tgtEl>
                                        <p:attrNameLst>
                                          <p:attrName>style.visibility</p:attrName>
                                        </p:attrNameLst>
                                      </p:cBhvr>
                                      <p:to>
                                        <p:strVal val="visible"/>
                                      </p:to>
                                    </p:set>
                                    <p:animEffect filter="fade" transition="in">
                                      <p:cBhvr>
                                        <p:cTn dur="1000"/>
                                        <p:tgtEl>
                                          <p:spTgt spid="3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