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Patrick Hand"/>
      <p:regular r:id="rId46"/>
    </p:embeddedFont>
    <p:embeddedFont>
      <p:font typeface="Poppins"/>
      <p:regular r:id="rId47"/>
      <p:bold r:id="rId48"/>
      <p:italic r:id="rId49"/>
      <p:boldItalic r:id="rId50"/>
    </p:embeddedFont>
    <p:embeddedFont>
      <p:font typeface="Poppins Ligh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j8tPxZDwK42SBg0fFerK4wXmFB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PatrickHand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-bold.fntdata"/><Relationship Id="rId47" Type="http://schemas.openxmlformats.org/officeDocument/2006/relationships/font" Target="fonts/Poppins-regular.fntdata"/><Relationship Id="rId49" Type="http://schemas.openxmlformats.org/officeDocument/2006/relationships/font" Target="fonts/Poppi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Light-regular.fntdata"/><Relationship Id="rId50" Type="http://schemas.openxmlformats.org/officeDocument/2006/relationships/font" Target="fonts/Poppins-boldItalic.fntdata"/><Relationship Id="rId53" Type="http://schemas.openxmlformats.org/officeDocument/2006/relationships/font" Target="fonts/PoppinsLight-italic.fntdata"/><Relationship Id="rId52" Type="http://schemas.openxmlformats.org/officeDocument/2006/relationships/font" Target="fonts/PoppinsLight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Poppins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79e86ca46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79e86ca4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79e86ca46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79e86ca4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79e86ca46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79e86ca4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Esta clase retomará los temas más importantes vistos en cada sesión. Se espera que el pupilo pueda responder de manera relativamente fácil a las preguntas que se harán recordando cada tópico.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/>
              <a:t>Independiente de lo anterior, pedirle que de esta sesión haga un apunte resumido sobre cada tema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9" name="Google Shape;45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8" name="Google Shape;56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5" name="Google Shape;59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8" name="Google Shape;60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2" name="Google Shape;64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79e86ca46_0_1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379e86ca46_0_1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3379e86ca46_0_1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3379e86ca46_0_1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379e86ca46_0_1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9e86ca46_0_1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379e86ca46_0_1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3379e86ca46_0_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379e86ca46_0_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3379e86ca46_0_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79e86ca46_0_14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3379e86ca46_0_14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3379e86ca46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379e86ca46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379e86ca46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79e86ca46_0_1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3379e86ca46_0_15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3379e86ca46_0_15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3379e86ca46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379e86ca46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3379e86ca46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79e86ca46_0_16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379e86ca46_0_16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3379e86ca46_0_16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3379e86ca46_0_16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3379e86ca46_0_16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3379e86ca46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3379e86ca46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379e86ca46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79e86ca46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379e86ca46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379e86ca46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3379e86ca46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79e86ca46_0_1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3379e86ca46_0_1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3379e86ca46_0_1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79e86ca46_0_1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379e86ca46_0_18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3379e86ca46_0_18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3379e86ca46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379e86ca46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3379e86ca46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79e86ca46_0_18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379e86ca46_0_18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3379e86ca46_0_18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3379e86ca46_0_18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379e86ca46_0_18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3379e86ca46_0_1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79e86ca46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379e86ca46_0_19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3379e86ca46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3379e86ca46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379e86ca46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79e86ca46_0_20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3379e86ca46_0_20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3379e86ca46_0_2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3379e86ca46_0_2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379e86ca46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79e86ca46_0_1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379e86ca46_0_1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379e86ca46_0_1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3379e86ca46_0_1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3379e86ca46_0_1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32.png"/><Relationship Id="rId6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jpg"/><Relationship Id="rId4" Type="http://schemas.openxmlformats.org/officeDocument/2006/relationships/hyperlink" Target="http://www.youtube.com/watch?v=dUMC6gUn-0k" TargetMode="External"/><Relationship Id="rId5" Type="http://schemas.openxmlformats.org/officeDocument/2006/relationships/image" Target="../media/image30.jpg"/><Relationship Id="rId6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forms.gle/HKEqrVT1zDiiTDoC6" TargetMode="External"/><Relationship Id="rId4" Type="http://schemas.openxmlformats.org/officeDocument/2006/relationships/image" Target="../media/image28.png"/><Relationship Id="rId5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jpg"/><Relationship Id="rId4" Type="http://schemas.openxmlformats.org/officeDocument/2006/relationships/hyperlink" Target="http://www.youtube.com/watch?v=Iny9d5Lu7rw" TargetMode="External"/><Relationship Id="rId5" Type="http://schemas.openxmlformats.org/officeDocument/2006/relationships/image" Target="../media/image27.jp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7025" y="4319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79e86ca46_0_103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Sintetizar y consolidar los conceptos clave del eje de geometría.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3379e86ca46_0_103"/>
          <p:cNvSpPr txBox="1"/>
          <p:nvPr/>
        </p:nvSpPr>
        <p:spPr>
          <a:xfrm>
            <a:off x="868700" y="19800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Recordar y resumir lo estudiado en las sesiones de Geometría 2D.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379e86ca46_0_103"/>
          <p:cNvSpPr txBox="1"/>
          <p:nvPr/>
        </p:nvSpPr>
        <p:spPr>
          <a:xfrm>
            <a:off x="4782050" y="19799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Todos los conceptos revisados hasta el momento en cada sesión.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379e86ca46_0_10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379e86ca46_0_10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379e86ca46_0_10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3379e86ca46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79e86ca46_0_113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3379e86ca46_0_113"/>
          <p:cNvSpPr txBox="1"/>
          <p:nvPr/>
        </p:nvSpPr>
        <p:spPr>
          <a:xfrm>
            <a:off x="589763" y="1370081"/>
            <a:ext cx="7875000" cy="7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esta sesión se revisará cada uno de los conceptos vistos anteriormente. Es por ello que debes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estudiar con antelación la presentación para recordar lo necesario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y así explicarle a tu estudiante adecuadamente lo que han aprendieron.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Si estimas pertinente, podrías preguntarle a tu estudiante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qué es lo que menos ha entendido en las sesiones de aprendizaje.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En función de eso puedes dedicarle más tiempo a ese contenido, incluso si significa no repasar otras cosas.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379e86ca46_0_1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379e86ca46_0_1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379e86ca46_0_1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3379e86ca46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79e86ca46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379e86ca46_0_122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Haz que para la siguiente sesión tu estudiante tenga listo un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resumen de cada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contenido revisado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Recalcar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la importancia que sea capaz de poner en sus palabras el conocimiento adquirido.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379e86ca46_0_122"/>
          <p:cNvSpPr txBox="1"/>
          <p:nvPr/>
        </p:nvSpPr>
        <p:spPr>
          <a:xfrm>
            <a:off x="285206" y="32299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fue lo que más te gustó?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¿Qué fue lo que más te costó?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¿Qué estrategias aplicaste para entender cada uno de los conceptos de la ruta?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3379e86ca46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379e86ca46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3379e86ca46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939" y="20147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600255" y="1095159"/>
            <a:ext cx="794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Todos los OA vistos hasta el momento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Recordar y resumir lo visto en las sesiones de Geometría2D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/>
        </p:nvSpPr>
        <p:spPr>
          <a:xfrm>
            <a:off x="175650" y="326025"/>
            <a:ext cx="879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dijimos sobre la longitud?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247351" y="911027"/>
            <a:ext cx="8649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longitud es el espacio que hay entre dos puntos, o sea la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distancia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que hay entre ellas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¿Y cómo las medimos?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¡Con unidades de medida! ¿Cuáles?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3016777" y="3617914"/>
            <a:ext cx="1029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4103817" y="3248583"/>
            <a:ext cx="18150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Milí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Centí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Kiló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988477" y="3248583"/>
            <a:ext cx="393700" cy="123131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525466" y="441803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¡Todas son referenciadas al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457439" y="2401948"/>
            <a:ext cx="14458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Milímetro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2703689" y="2401272"/>
            <a:ext cx="14704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Centímetro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5328930" y="2417751"/>
            <a:ext cx="1029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7259032" y="2401272"/>
            <a:ext cx="15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Kilómetro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595792" y="2771610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relación tenían?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/>
        </p:nvSpPr>
        <p:spPr>
          <a:xfrm>
            <a:off x="221399" y="326025"/>
            <a:ext cx="870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¿Cuáles eran las relaciones con el 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600218" y="911027"/>
            <a:ext cx="794348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metro = 1000 milímetros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cm = 10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metro = 100 centímetros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1.000 metro = 1 kilómetro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10" name="Google Shape;21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337499" y="326025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hacíamos para identificar puntos en un plano?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600218" y="911027"/>
            <a:ext cx="79434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¡Utilizábamos un plano cuadriculado!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¿Y qué otra cosa?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¡Coordenadas!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a ventana&#10;&#10;Descripción generada automáticamente con confianza baja"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7542" y="2111356"/>
            <a:ext cx="2568840" cy="2568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/>
        </p:nvSpPr>
        <p:spPr>
          <a:xfrm>
            <a:off x="227999" y="366375"/>
            <a:ext cx="868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Coordenadas… ¿qué eran?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24" name="Google Shape;224;p8"/>
          <p:cNvSpPr txBox="1"/>
          <p:nvPr>
            <p:ph idx="1" type="body"/>
          </p:nvPr>
        </p:nvSpPr>
        <p:spPr>
          <a:xfrm>
            <a:off x="628613" y="951374"/>
            <a:ext cx="7886700" cy="5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ES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Nos dicen la locación de objetos o puntos en un plano</a:t>
            </a:r>
            <a:endParaRPr/>
          </a:p>
        </p:txBody>
      </p:sp>
      <p:pic>
        <p:nvPicPr>
          <p:cNvPr descr="Imagen de la pantalla de una ventana&#10;&#10;Descripción generada automáticamente con confianza baja"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271" y="1484861"/>
            <a:ext cx="3050620" cy="30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1887224" y="1985713"/>
            <a:ext cx="1897376" cy="586037"/>
          </a:xfrm>
          <a:prstGeom prst="curvedDownArrow">
            <a:avLst>
              <a:gd fmla="val 12473" name="adj1"/>
              <a:gd fmla="val 46827" name="adj2"/>
              <a:gd fmla="val 14506" name="adj3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2474044" y="2571750"/>
            <a:ext cx="2463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(D, 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011691" y="1700233"/>
            <a:ext cx="4185364" cy="2619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indicar coordenadas: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Buscamos el valor del eje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horizontal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🡪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Buscamos el valor del eje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vertical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🡪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Los juntamos en un </a:t>
            </a:r>
            <a:b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“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 ordenado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” 🡪 (D,4)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29" name="Google Shape;22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/>
        </p:nvSpPr>
        <p:spPr>
          <a:xfrm>
            <a:off x="214599" y="326025"/>
            <a:ext cx="871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Pero también había otra cosa…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¡Un plano cartesiano!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Tabla&#10;&#10;Descripción generada automáticamente" id="236" name="Google Shape;2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6987" y="1372692"/>
            <a:ext cx="34099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/>
          <p:nvPr/>
        </p:nvSpPr>
        <p:spPr>
          <a:xfrm>
            <a:off x="243650" y="330550"/>
            <a:ext cx="880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Plano Cartesiano… ¿qué era?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>
            <p:ph idx="1" type="body"/>
          </p:nvPr>
        </p:nvSpPr>
        <p:spPr>
          <a:xfrm>
            <a:off x="628613" y="915538"/>
            <a:ext cx="7886700" cy="9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ES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Matemáticamente, en vez de utilizar un Plano Cuadriculado para localizar objetos, usamos el </a:t>
            </a:r>
            <a:r>
              <a:rPr b="1" lang="es-ES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Plano Cartesiano</a:t>
            </a:r>
            <a:endParaRPr/>
          </a:p>
        </p:txBody>
      </p:sp>
      <p:pic>
        <p:nvPicPr>
          <p:cNvPr descr="Imagen que contiene Tabla&#10;&#10;Descripción generada automáticamente" id="244" name="Google Shape;2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4" y="1387409"/>
            <a:ext cx="34099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2913985" y="2067218"/>
            <a:ext cx="1683653" cy="533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Tiene 2 ejes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583350" y="1818364"/>
            <a:ext cx="2336800" cy="1037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1397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Horizontal (</a:t>
            </a:r>
            <a:r>
              <a:rPr b="0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eje X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Vertical (</a:t>
            </a:r>
            <a:r>
              <a:rPr b="0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eje Y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6988412" y="1883709"/>
            <a:ext cx="1991866" cy="9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cruzan en el </a:t>
            </a:r>
            <a:b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</a:br>
            <a:r>
              <a:rPr b="0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Origen</a:t>
            </a:r>
            <a:endParaRPr b="1" i="0" sz="2400" u="none" cap="none" strike="noStrike">
              <a:solidFill>
                <a:srgbClr val="FFFFFF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8" name="Google Shape;248;p10"/>
          <p:cNvSpPr/>
          <p:nvPr/>
        </p:nvSpPr>
        <p:spPr>
          <a:xfrm flipH="1">
            <a:off x="4515088" y="2038643"/>
            <a:ext cx="265112" cy="64471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855856" y="2038643"/>
            <a:ext cx="265112" cy="64471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2951086" y="3035389"/>
            <a:ext cx="5601328" cy="13741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 par ordenado se escribe </a:t>
            </a:r>
            <a:r>
              <a:rPr b="0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(X, Y)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La coordenada horizontal 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La coordenada vertical (Y) 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948240" y="3246866"/>
            <a:ext cx="1123580" cy="533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Origen</a:t>
            </a:r>
            <a:endParaRPr b="1" i="0" sz="2400" u="none" cap="none" strike="noStrike">
              <a:solidFill>
                <a:srgbClr val="FFFFFF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2" name="Google Shape;252;p10"/>
          <p:cNvCxnSpPr/>
          <p:nvPr/>
        </p:nvCxnSpPr>
        <p:spPr>
          <a:xfrm flipH="1">
            <a:off x="533400" y="3733800"/>
            <a:ext cx="635000" cy="558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53" name="Google Shape;253;p10"/>
          <p:cNvSpPr txBox="1"/>
          <p:nvPr/>
        </p:nvSpPr>
        <p:spPr>
          <a:xfrm>
            <a:off x="1147443" y="3779973"/>
            <a:ext cx="725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(0, 0)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 txBox="1"/>
          <p:nvPr/>
        </p:nvSpPr>
        <p:spPr>
          <a:xfrm>
            <a:off x="-37" y="1204202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esto?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-75" y="1748630"/>
            <a:ext cx="91440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¡Un ángulo!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1" name="Google Shape;261;p11"/>
          <p:cNvCxnSpPr/>
          <p:nvPr/>
        </p:nvCxnSpPr>
        <p:spPr>
          <a:xfrm rot="10800000">
            <a:off x="3698875" y="2282214"/>
            <a:ext cx="685800" cy="119435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2" name="Google Shape;262;p11"/>
          <p:cNvCxnSpPr/>
          <p:nvPr/>
        </p:nvCxnSpPr>
        <p:spPr>
          <a:xfrm flipH="1" rot="10800000">
            <a:off x="4356100" y="2862636"/>
            <a:ext cx="1206500" cy="60758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3" name="Google Shape;263;p11"/>
          <p:cNvSpPr/>
          <p:nvPr/>
        </p:nvSpPr>
        <p:spPr>
          <a:xfrm>
            <a:off x="4283075" y="3338942"/>
            <a:ext cx="203200" cy="203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229100" y="3145267"/>
            <a:ext cx="466725" cy="142875"/>
          </a:xfrm>
          <a:custGeom>
            <a:rect b="b" l="l" r="r" t="t"/>
            <a:pathLst>
              <a:path extrusionOk="0" h="274955" w="523875">
                <a:moveTo>
                  <a:pt x="0" y="93980"/>
                </a:moveTo>
                <a:cubicBezTo>
                  <a:pt x="89694" y="36036"/>
                  <a:pt x="179388" y="-21907"/>
                  <a:pt x="266700" y="8255"/>
                </a:cubicBezTo>
                <a:cubicBezTo>
                  <a:pt x="354012" y="38417"/>
                  <a:pt x="503238" y="227330"/>
                  <a:pt x="523875" y="274955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 txBox="1"/>
          <p:nvPr/>
        </p:nvSpPr>
        <p:spPr>
          <a:xfrm>
            <a:off x="138412" y="326025"/>
            <a:ext cx="864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un ángulo?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-75" y="911027"/>
            <a:ext cx="91440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 ángulo es la </a:t>
            </a:r>
            <a:r>
              <a:rPr b="0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región del plano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limitada por </a:t>
            </a: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dos segmentos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que se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cortan en un punto (vértice)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796527" y="2280621"/>
            <a:ext cx="5550946" cy="2334410"/>
          </a:xfrm>
          <a:prstGeom prst="rect">
            <a:avLst/>
          </a:prstGeom>
          <a:noFill/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2"/>
          <p:cNvCxnSpPr/>
          <p:nvPr/>
        </p:nvCxnSpPr>
        <p:spPr>
          <a:xfrm rot="10800000">
            <a:off x="2463800" y="2746014"/>
            <a:ext cx="685800" cy="119435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4" name="Google Shape;274;p12"/>
          <p:cNvCxnSpPr/>
          <p:nvPr/>
        </p:nvCxnSpPr>
        <p:spPr>
          <a:xfrm flipH="1" rot="10800000">
            <a:off x="5384800" y="3332786"/>
            <a:ext cx="1206500" cy="60758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5" name="Google Shape;275;p12"/>
          <p:cNvCxnSpPr/>
          <p:nvPr/>
        </p:nvCxnSpPr>
        <p:spPr>
          <a:xfrm rot="10800000">
            <a:off x="3698875" y="2680247"/>
            <a:ext cx="685800" cy="119435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6" name="Google Shape;276;p12"/>
          <p:cNvCxnSpPr/>
          <p:nvPr/>
        </p:nvCxnSpPr>
        <p:spPr>
          <a:xfrm flipH="1" rot="10800000">
            <a:off x="4356100" y="3260669"/>
            <a:ext cx="1206500" cy="60758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7" name="Google Shape;277;p12"/>
          <p:cNvSpPr/>
          <p:nvPr/>
        </p:nvSpPr>
        <p:spPr>
          <a:xfrm>
            <a:off x="4283075" y="3736975"/>
            <a:ext cx="203200" cy="203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229100" y="3543300"/>
            <a:ext cx="466725" cy="142875"/>
          </a:xfrm>
          <a:custGeom>
            <a:rect b="b" l="l" r="r" t="t"/>
            <a:pathLst>
              <a:path extrusionOk="0" h="274955" w="523875">
                <a:moveTo>
                  <a:pt x="0" y="93980"/>
                </a:moveTo>
                <a:cubicBezTo>
                  <a:pt x="89694" y="36036"/>
                  <a:pt x="179388" y="-21907"/>
                  <a:pt x="266700" y="8255"/>
                </a:cubicBezTo>
                <a:cubicBezTo>
                  <a:pt x="354012" y="38417"/>
                  <a:pt x="503238" y="227330"/>
                  <a:pt x="523875" y="274955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 txBox="1"/>
          <p:nvPr/>
        </p:nvSpPr>
        <p:spPr>
          <a:xfrm>
            <a:off x="141450" y="326025"/>
            <a:ext cx="8861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podíamos medirlo?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¡Con un transportador!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reloj de aguja&#10;&#10;Descripción generada automáticamente con confianza media" id="286" name="Google Shape;286;p13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2270522" y="1495802"/>
            <a:ext cx="4602879" cy="246484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/>
          <p:nvPr/>
        </p:nvSpPr>
        <p:spPr>
          <a:xfrm rot="-5400000">
            <a:off x="2127265" y="1328432"/>
            <a:ext cx="4889392" cy="5105484"/>
          </a:xfrm>
          <a:prstGeom prst="arc">
            <a:avLst>
              <a:gd fmla="val 16200000" name="adj1"/>
              <a:gd fmla="val 5330655" name="adj2"/>
            </a:avLst>
          </a:prstGeom>
          <a:noFill/>
          <a:ln cap="flat" cmpd="sng" w="190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010341" y="1938046"/>
            <a:ext cx="13891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Divido en 180 partes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7063901" y="2760816"/>
            <a:ext cx="16847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Cada división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1°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13"/>
          <p:cNvCxnSpPr/>
          <p:nvPr/>
        </p:nvCxnSpPr>
        <p:spPr>
          <a:xfrm flipH="1">
            <a:off x="6828795" y="3365500"/>
            <a:ext cx="610230" cy="415925"/>
          </a:xfrm>
          <a:prstGeom prst="straightConnector1">
            <a:avLst/>
          </a:prstGeom>
          <a:noFill/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pic>
        <p:nvPicPr>
          <p:cNvPr id="291" name="Google Shape;2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8917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 reloj de aguja&#10;&#10;Descripción generada automáticamente con confianza media" id="296" name="Google Shape;296;p14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 rot="-2355604">
            <a:off x="-412787" y="1285304"/>
            <a:ext cx="3024210" cy="161946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4"/>
          <p:cNvSpPr txBox="1"/>
          <p:nvPr/>
        </p:nvSpPr>
        <p:spPr>
          <a:xfrm>
            <a:off x="337499" y="309288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¿Recuerdas cómo medirlos?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2859110" y="1007453"/>
            <a:ext cx="6119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Miguel realiza un tiro con la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dirección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que se muestra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medimos el ángulo de lanzamiento?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Descripción generada automáticamente con confianza baja" id="299" name="Google Shape;2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286" y="2073888"/>
            <a:ext cx="2464842" cy="2464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reloj de aguja&#10;&#10;Descripción generada automáticamente con confianza media" id="300" name="Google Shape;300;p14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0" y="1141859"/>
            <a:ext cx="3024210" cy="16194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14"/>
          <p:cNvCxnSpPr/>
          <p:nvPr/>
        </p:nvCxnSpPr>
        <p:spPr>
          <a:xfrm flipH="1" rot="10800000">
            <a:off x="1514475" y="1951592"/>
            <a:ext cx="848773" cy="720171"/>
          </a:xfrm>
          <a:prstGeom prst="straightConnector1">
            <a:avLst/>
          </a:prstGeom>
          <a:noFill/>
          <a:ln cap="flat" cmpd="sng" w="254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02" name="Google Shape;302;p14"/>
          <p:cNvSpPr txBox="1"/>
          <p:nvPr/>
        </p:nvSpPr>
        <p:spPr>
          <a:xfrm>
            <a:off x="2859110" y="1951592"/>
            <a:ext cx="6119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Desde el punto de lanzamiento,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traza una </a:t>
            </a:r>
            <a:r>
              <a:rPr b="1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línea horizontal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4"/>
          <p:cNvCxnSpPr/>
          <p:nvPr/>
        </p:nvCxnSpPr>
        <p:spPr>
          <a:xfrm>
            <a:off x="736600" y="2680151"/>
            <a:ext cx="2205060" cy="0"/>
          </a:xfrm>
          <a:prstGeom prst="straightConnector1">
            <a:avLst/>
          </a:prstGeom>
          <a:noFill/>
          <a:ln cap="flat" cmpd="sng" w="28575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4"/>
          <p:cNvSpPr txBox="1"/>
          <p:nvPr/>
        </p:nvSpPr>
        <p:spPr>
          <a:xfrm>
            <a:off x="2941660" y="2732087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Ubica el centro del transportador en el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vértice</a:t>
            </a:r>
            <a:endParaRPr b="1" i="0" sz="2400" u="none" cap="none" strike="noStrike">
              <a:solidFill>
                <a:srgbClr val="FF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2941660" y="3150516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Alinea el 0° con la línea horizontal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2941660" y="3625724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4° Desde los 0° “</a:t>
            </a:r>
            <a:r>
              <a:rPr b="1" i="0" lang="es-ES" sz="2400" u="none" cap="none" strike="noStrike">
                <a:solidFill>
                  <a:srgbClr val="0070C0"/>
                </a:solidFill>
                <a:latin typeface="Patrick Hand"/>
                <a:ea typeface="Patrick Hand"/>
                <a:cs typeface="Patrick Hand"/>
                <a:sym typeface="Patrick Hand"/>
              </a:rPr>
              <a:t>sube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” hasta donde indica la dirección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2941660" y="4048274"/>
            <a:ext cx="6119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5° La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punta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indica el ángulo ¿cuánto mide? 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1466850" y="2616200"/>
            <a:ext cx="101600" cy="101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2298700" y="1739900"/>
            <a:ext cx="808060" cy="1718016"/>
          </a:xfrm>
          <a:prstGeom prst="arc">
            <a:avLst>
              <a:gd fmla="val 16445983" name="adj1"/>
              <a:gd fmla="val 864628" name="adj2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0922" y="376726"/>
            <a:ext cx="597928" cy="6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/>
          <p:nvPr/>
        </p:nvSpPr>
        <p:spPr>
          <a:xfrm>
            <a:off x="-12" y="331224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los clasificábamos?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clasificación se hace según la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apertura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entre la intersección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-177796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Agudo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1866904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Recto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4241784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Obtuso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6616663" y="1504356"/>
            <a:ext cx="2527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Extendido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304844" y="1943809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entre 0° y 90°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2349544" y="1972345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4724424" y="1975415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90° y 180°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7099304" y="1997627"/>
            <a:ext cx="15620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25" name="Google Shape;325;p15"/>
          <p:cNvCxnSpPr/>
          <p:nvPr/>
        </p:nvCxnSpPr>
        <p:spPr>
          <a:xfrm flipH="1" rot="10800000">
            <a:off x="533444" y="3138059"/>
            <a:ext cx="848773" cy="720171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26" name="Google Shape;326;p15"/>
          <p:cNvCxnSpPr/>
          <p:nvPr/>
        </p:nvCxnSpPr>
        <p:spPr>
          <a:xfrm>
            <a:off x="533444" y="3858230"/>
            <a:ext cx="1427185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27" name="Google Shape;327;p15"/>
          <p:cNvSpPr/>
          <p:nvPr/>
        </p:nvSpPr>
        <p:spPr>
          <a:xfrm>
            <a:off x="868680" y="3581400"/>
            <a:ext cx="152555" cy="281940"/>
          </a:xfrm>
          <a:custGeom>
            <a:rect b="b" l="l" r="r" t="t"/>
            <a:pathLst>
              <a:path extrusionOk="0" h="281940" w="152555">
                <a:moveTo>
                  <a:pt x="22860" y="281940"/>
                </a:moveTo>
                <a:cubicBezTo>
                  <a:pt x="89535" y="225425"/>
                  <a:pt x="156210" y="168910"/>
                  <a:pt x="152400" y="121920"/>
                </a:cubicBezTo>
                <a:cubicBezTo>
                  <a:pt x="148590" y="74930"/>
                  <a:pt x="27940" y="19050"/>
                  <a:pt x="0" y="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2758506" y="3675569"/>
            <a:ext cx="220933" cy="185387"/>
          </a:xfrm>
          <a:prstGeom prst="rect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5"/>
          <p:cNvCxnSpPr/>
          <p:nvPr/>
        </p:nvCxnSpPr>
        <p:spPr>
          <a:xfrm rot="10800000">
            <a:off x="2741837" y="2833734"/>
            <a:ext cx="0" cy="1029606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0" name="Google Shape;330;p15"/>
          <p:cNvCxnSpPr/>
          <p:nvPr/>
        </p:nvCxnSpPr>
        <p:spPr>
          <a:xfrm>
            <a:off x="2741837" y="3863340"/>
            <a:ext cx="1427185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1" name="Google Shape;331;p15"/>
          <p:cNvCxnSpPr/>
          <p:nvPr/>
        </p:nvCxnSpPr>
        <p:spPr>
          <a:xfrm rot="10800000">
            <a:off x="4560308" y="2962881"/>
            <a:ext cx="557396" cy="89154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2" name="Google Shape;332;p15"/>
          <p:cNvCxnSpPr/>
          <p:nvPr/>
        </p:nvCxnSpPr>
        <p:spPr>
          <a:xfrm>
            <a:off x="5117704" y="3854421"/>
            <a:ext cx="1427185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33" name="Google Shape;333;p15"/>
          <p:cNvSpPr/>
          <p:nvPr/>
        </p:nvSpPr>
        <p:spPr>
          <a:xfrm>
            <a:off x="4931748" y="3547081"/>
            <a:ext cx="596894" cy="311149"/>
          </a:xfrm>
          <a:custGeom>
            <a:rect b="b" l="l" r="r" t="t"/>
            <a:pathLst>
              <a:path extrusionOk="0" h="351226" w="590550">
                <a:moveTo>
                  <a:pt x="590550" y="351226"/>
                </a:moveTo>
                <a:cubicBezTo>
                  <a:pt x="549275" y="217876"/>
                  <a:pt x="508000" y="84526"/>
                  <a:pt x="409575" y="27376"/>
                </a:cubicBezTo>
                <a:cubicBezTo>
                  <a:pt x="311150" y="-29774"/>
                  <a:pt x="44450" y="22613"/>
                  <a:pt x="0" y="8326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5"/>
          <p:cNvCxnSpPr/>
          <p:nvPr/>
        </p:nvCxnSpPr>
        <p:spPr>
          <a:xfrm rot="10800000">
            <a:off x="6903806" y="3854421"/>
            <a:ext cx="988083" cy="6535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35" name="Google Shape;335;p15"/>
          <p:cNvCxnSpPr/>
          <p:nvPr/>
        </p:nvCxnSpPr>
        <p:spPr>
          <a:xfrm flipH="1" rot="10800000">
            <a:off x="7891889" y="3854421"/>
            <a:ext cx="1016247" cy="3809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36" name="Google Shape;336;p15"/>
          <p:cNvSpPr/>
          <p:nvPr/>
        </p:nvSpPr>
        <p:spPr>
          <a:xfrm flipH="1">
            <a:off x="490056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/>
          <p:nvPr/>
        </p:nvSpPr>
        <p:spPr>
          <a:xfrm flipH="1">
            <a:off x="2670679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 flipH="1">
            <a:off x="5072904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 flipH="1">
            <a:off x="7836021" y="3802363"/>
            <a:ext cx="111736" cy="111736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7534275" y="3688639"/>
            <a:ext cx="704850" cy="188036"/>
          </a:xfrm>
          <a:custGeom>
            <a:rect b="b" l="l" r="r" t="t"/>
            <a:pathLst>
              <a:path extrusionOk="0" h="304827" w="704850">
                <a:moveTo>
                  <a:pt x="704850" y="304827"/>
                </a:moveTo>
                <a:cubicBezTo>
                  <a:pt x="587375" y="154014"/>
                  <a:pt x="469900" y="3202"/>
                  <a:pt x="352425" y="27"/>
                </a:cubicBezTo>
                <a:cubicBezTo>
                  <a:pt x="234950" y="-3148"/>
                  <a:pt x="19050" y="265140"/>
                  <a:pt x="0" y="285777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 reloj de aguja&#10;&#10;Descripción generada automáticamente con confianza media" id="346" name="Google Shape;346;p16"/>
          <p:cNvPicPr preferRelativeResize="0"/>
          <p:nvPr/>
        </p:nvPicPr>
        <p:blipFill rotWithShape="1">
          <a:blip r:embed="rId3">
            <a:alphaModFix/>
          </a:blip>
          <a:srcRect b="4193" l="0" r="0" t="0"/>
          <a:stretch/>
        </p:blipFill>
        <p:spPr>
          <a:xfrm>
            <a:off x="269047" y="1929857"/>
            <a:ext cx="3437820" cy="184095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6"/>
          <p:cNvSpPr txBox="1"/>
          <p:nvPr/>
        </p:nvSpPr>
        <p:spPr>
          <a:xfrm>
            <a:off x="774626" y="366599"/>
            <a:ext cx="75946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¿Y cómo era su construcción?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Construyamos el ángulo de 40° del lanzamiento de Miguel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49" name="Google Shape;349;p16"/>
          <p:cNvCxnSpPr/>
          <p:nvPr/>
        </p:nvCxnSpPr>
        <p:spPr>
          <a:xfrm>
            <a:off x="1958290" y="3670300"/>
            <a:ext cx="1425142" cy="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0" name="Google Shape;350;p16"/>
          <p:cNvSpPr txBox="1"/>
          <p:nvPr/>
        </p:nvSpPr>
        <p:spPr>
          <a:xfrm>
            <a:off x="3417284" y="1596801"/>
            <a:ext cx="6119752" cy="51328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37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4056117" y="2118151"/>
            <a:ext cx="484208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Ubicamos el centro del transportador en el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vértice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y el 0° con la punta del rayo</a:t>
            </a:r>
            <a:endParaRPr b="1" i="0" sz="24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4056117" y="2957216"/>
            <a:ext cx="4842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Marca el </a:t>
            </a:r>
            <a:r>
              <a:rPr b="0" i="0" lang="es-ES" sz="2400" u="none" cap="none" strike="noStrike">
                <a:solidFill>
                  <a:srgbClr val="7030A0"/>
                </a:solidFill>
                <a:latin typeface="Patrick Hand"/>
                <a:ea typeface="Patrick Hand"/>
                <a:cs typeface="Patrick Hand"/>
                <a:sym typeface="Patrick Hand"/>
              </a:rPr>
              <a:t>ángulo deseado</a:t>
            </a:r>
            <a:endParaRPr b="1" i="0" sz="2400" u="none" cap="none" strike="noStrike">
              <a:solidFill>
                <a:srgbClr val="7030A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53" name="Google Shape;353;p16"/>
          <p:cNvCxnSpPr>
            <a:stCxn id="354" idx="3"/>
          </p:cNvCxnSpPr>
          <p:nvPr/>
        </p:nvCxnSpPr>
        <p:spPr>
          <a:xfrm flipH="1" rot="10800000">
            <a:off x="1934636" y="2876621"/>
            <a:ext cx="985200" cy="816900"/>
          </a:xfrm>
          <a:prstGeom prst="straightConnector1">
            <a:avLst/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4" name="Google Shape;354;p16"/>
          <p:cNvSpPr/>
          <p:nvPr/>
        </p:nvSpPr>
        <p:spPr>
          <a:xfrm>
            <a:off x="1919757" y="3606800"/>
            <a:ext cx="101600" cy="101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3227857" y="2533650"/>
            <a:ext cx="101600" cy="1016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AB2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4056117" y="3418881"/>
            <a:ext cx="4842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4° Traza </a:t>
            </a:r>
            <a:r>
              <a:rPr b="0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otro rayo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apuntando al punto</a:t>
            </a:r>
            <a:endParaRPr b="1" i="0" sz="2400" u="none" cap="none" strike="noStrike">
              <a:solidFill>
                <a:srgbClr val="FAB235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4056117" y="3844260"/>
            <a:ext cx="48420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F0"/>
                </a:solidFill>
                <a:latin typeface="Patrick Hand"/>
                <a:ea typeface="Patrick Hand"/>
                <a:cs typeface="Patrick Hand"/>
                <a:sym typeface="Patrick Hand"/>
              </a:rPr>
              <a:t>¡Listo!</a:t>
            </a:r>
            <a:endParaRPr b="1" i="0" sz="2400" u="none" cap="none" strike="noStrike">
              <a:solidFill>
                <a:srgbClr val="00B0F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2370607" y="3340100"/>
            <a:ext cx="168479" cy="311150"/>
          </a:xfrm>
          <a:custGeom>
            <a:rect b="b" l="l" r="r" t="t"/>
            <a:pathLst>
              <a:path extrusionOk="0" h="311150" w="168479">
                <a:moveTo>
                  <a:pt x="95250" y="311150"/>
                </a:moveTo>
                <a:cubicBezTo>
                  <a:pt x="138112" y="245004"/>
                  <a:pt x="180975" y="178858"/>
                  <a:pt x="165100" y="127000"/>
                </a:cubicBezTo>
                <a:cubicBezTo>
                  <a:pt x="149225" y="75142"/>
                  <a:pt x="30692" y="22225"/>
                  <a:pt x="0" y="0"/>
                </a:cubicBezTo>
              </a:path>
            </a:pathLst>
          </a:cu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"/>
          <p:cNvSpPr txBox="1"/>
          <p:nvPr/>
        </p:nvSpPr>
        <p:spPr>
          <a:xfrm>
            <a:off x="185962" y="387200"/>
            <a:ext cx="86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¿Recuerdas lo que era una recta?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600218" y="1041604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recta o línea recta es una línea que se </a:t>
            </a:r>
            <a:r>
              <a:rPr b="1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extiende por el plano</a:t>
            </a:r>
            <a:endParaRPr b="1" i="0" sz="2400" u="none" cap="none" strike="noStrike">
              <a:solidFill>
                <a:srgbClr val="009F98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6" name="Google Shape;366;p17"/>
          <p:cNvCxnSpPr/>
          <p:nvPr/>
        </p:nvCxnSpPr>
        <p:spPr>
          <a:xfrm>
            <a:off x="-258184" y="1818042"/>
            <a:ext cx="9617337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367" name="Google Shape;367;p17"/>
          <p:cNvSpPr txBox="1"/>
          <p:nvPr/>
        </p:nvSpPr>
        <p:spPr>
          <a:xfrm>
            <a:off x="925155" y="2125129"/>
            <a:ext cx="72506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otro lado, el 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rayo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como vimos la clase pasada, es una línea con </a:t>
            </a:r>
            <a:r>
              <a:rPr b="1" i="0" lang="es-ES" sz="2400" u="none" cap="none" strike="noStrike">
                <a:solidFill>
                  <a:schemeClr val="accent1"/>
                </a:solidFill>
                <a:latin typeface="Patrick Hand"/>
                <a:ea typeface="Patrick Hand"/>
                <a:cs typeface="Patrick Hand"/>
                <a:sym typeface="Patrick Hand"/>
              </a:rPr>
              <a:t>punto inicial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pero</a:t>
            </a:r>
            <a:r>
              <a:rPr b="1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 sin punto final</a:t>
            </a:r>
            <a:endParaRPr b="1" i="0" sz="2400" u="none" cap="none" strike="noStrike">
              <a:solidFill>
                <a:srgbClr val="FAB235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8" name="Google Shape;368;p17"/>
          <p:cNvCxnSpPr/>
          <p:nvPr/>
        </p:nvCxnSpPr>
        <p:spPr>
          <a:xfrm flipH="1" rot="10800000">
            <a:off x="4496658" y="3528508"/>
            <a:ext cx="2011718" cy="22591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69" name="Google Shape;369;p17"/>
          <p:cNvCxnSpPr/>
          <p:nvPr/>
        </p:nvCxnSpPr>
        <p:spPr>
          <a:xfrm>
            <a:off x="4480560" y="3764280"/>
            <a:ext cx="647700" cy="88392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70" name="Google Shape;370;p17"/>
          <p:cNvCxnSpPr/>
          <p:nvPr/>
        </p:nvCxnSpPr>
        <p:spPr>
          <a:xfrm rot="10800000">
            <a:off x="2484941" y="3528508"/>
            <a:ext cx="2011717" cy="225910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371" name="Google Shape;371;p17"/>
          <p:cNvSpPr/>
          <p:nvPr/>
        </p:nvSpPr>
        <p:spPr>
          <a:xfrm>
            <a:off x="4421355" y="3679115"/>
            <a:ext cx="150607" cy="150607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"/>
          <p:cNvSpPr txBox="1"/>
          <p:nvPr/>
        </p:nvSpPr>
        <p:spPr>
          <a:xfrm>
            <a:off x="498449" y="326025"/>
            <a:ext cx="8147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tipos había?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700214" y="911027"/>
            <a:ext cx="3651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Rectas paralelas (//):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-283820" y="3371560"/>
            <a:ext cx="51743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Mantienen entre sí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la misma distancia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18"/>
          <p:cNvCxnSpPr/>
          <p:nvPr/>
        </p:nvCxnSpPr>
        <p:spPr>
          <a:xfrm>
            <a:off x="2810712" y="1372692"/>
            <a:ext cx="0" cy="173626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81" name="Google Shape;381;p18"/>
          <p:cNvCxnSpPr/>
          <p:nvPr/>
        </p:nvCxnSpPr>
        <p:spPr>
          <a:xfrm>
            <a:off x="1917827" y="1372692"/>
            <a:ext cx="0" cy="173626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382" name="Google Shape;382;p18"/>
          <p:cNvSpPr txBox="1"/>
          <p:nvPr/>
        </p:nvSpPr>
        <p:spPr>
          <a:xfrm>
            <a:off x="-419991" y="4001640"/>
            <a:ext cx="53010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Nunca se intersecan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5052330" y="911027"/>
            <a:ext cx="36518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Rectas perpendiculares (⊥):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5052330" y="3309143"/>
            <a:ext cx="36218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Se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intersecan en un punto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5120336" y="4023710"/>
            <a:ext cx="34858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El cruce lo hacen en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90°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86" name="Google Shape;386;p18"/>
          <p:cNvCxnSpPr/>
          <p:nvPr/>
        </p:nvCxnSpPr>
        <p:spPr>
          <a:xfrm>
            <a:off x="7095921" y="1372692"/>
            <a:ext cx="0" cy="173626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87" name="Google Shape;387;p18"/>
          <p:cNvCxnSpPr/>
          <p:nvPr/>
        </p:nvCxnSpPr>
        <p:spPr>
          <a:xfrm rot="10800000">
            <a:off x="6044819" y="2221275"/>
            <a:ext cx="2102204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388" name="Google Shape;3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244" y="387203"/>
            <a:ext cx="554581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"/>
          <p:cNvSpPr txBox="1"/>
          <p:nvPr/>
        </p:nvSpPr>
        <p:spPr>
          <a:xfrm>
            <a:off x="221399" y="387200"/>
            <a:ext cx="870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pasaba con cada lado de una mariposa?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600218" y="91102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¡Era simétrico! … ¿respecto a qué?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¡A un eje de simetría!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insecto con alas de colores&#10;&#10;Descripción generada automáticamente con confianza media" id="395" name="Google Shape;3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4950" y="2036234"/>
            <a:ext cx="2614100" cy="18461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19"/>
          <p:cNvCxnSpPr/>
          <p:nvPr/>
        </p:nvCxnSpPr>
        <p:spPr>
          <a:xfrm flipH="1" rot="10800000">
            <a:off x="4567948" y="1742024"/>
            <a:ext cx="4052" cy="2565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7" name="Google Shape;3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 txBox="1"/>
          <p:nvPr/>
        </p:nvSpPr>
        <p:spPr>
          <a:xfrm>
            <a:off x="337499" y="387200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Eje de simetría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3774848" y="1173414"/>
            <a:ext cx="514429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eje de simetría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 una línea invisible que puedes dibujar a través de una figura.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dibujas esta línea, la figura se divide en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dos partes que son como imágenes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un espejo, una reflejando a la otra.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 sea 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cada parte es exactamente igual</a:t>
            </a:r>
            <a:r>
              <a:rPr b="1" i="0" lang="es-ES" sz="2400" u="none" cap="none" strike="noStrike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y están a la misma distancia de la línea.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Un insecto con alas de colores&#10;&#10;Descripción generada automáticamente con confianza media" id="404" name="Google Shape;4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57" y="1784444"/>
            <a:ext cx="2614100" cy="18461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" name="Google Shape;405;p20"/>
          <p:cNvCxnSpPr/>
          <p:nvPr/>
        </p:nvCxnSpPr>
        <p:spPr>
          <a:xfrm flipH="1" rot="10800000">
            <a:off x="1795255" y="1490234"/>
            <a:ext cx="4052" cy="2565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6" name="Google Shape;4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baja" id="411" name="Google Shape;411;p2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-356469" y="2123429"/>
            <a:ext cx="1964802" cy="196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412" name="Google Shape;4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798" y="2123429"/>
            <a:ext cx="1964802" cy="19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206" y="2077542"/>
            <a:ext cx="1856794" cy="186041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1"/>
          <p:cNvSpPr txBox="1"/>
          <p:nvPr/>
        </p:nvSpPr>
        <p:spPr>
          <a:xfrm>
            <a:off x="370799" y="268550"/>
            <a:ext cx="840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era una transformación isométrica?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600255" y="853552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¡Transformaciones que no alteran la forma de la figura!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¿Cuáles eran?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21"/>
          <p:cNvCxnSpPr/>
          <p:nvPr/>
        </p:nvCxnSpPr>
        <p:spPr>
          <a:xfrm>
            <a:off x="961562" y="3010182"/>
            <a:ext cx="842007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17" name="Google Shape;417;p21"/>
          <p:cNvSpPr txBox="1"/>
          <p:nvPr/>
        </p:nvSpPr>
        <p:spPr>
          <a:xfrm>
            <a:off x="600256" y="1583789"/>
            <a:ext cx="15389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Traslación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3539049" y="3970045"/>
            <a:ext cx="206510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La distancia respecto al eje de simetría es la misma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La recta que une los puntos es perpendicular al eje de simetría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3802131" y="1583788"/>
            <a:ext cx="15389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Reflexión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20" name="Google Shape;4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244" y="2077541"/>
            <a:ext cx="2065108" cy="1854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1"/>
          <p:cNvSpPr txBox="1"/>
          <p:nvPr/>
        </p:nvSpPr>
        <p:spPr>
          <a:xfrm>
            <a:off x="6863326" y="1586571"/>
            <a:ext cx="15389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Rotación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6269926" y="4062377"/>
            <a:ext cx="27257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Se hace respecto a un cierto punto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(centro o punto de rotación)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Se hace según un cierto ángulo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107784" y="4088229"/>
            <a:ext cx="25495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traslación cambia la posición de una figura según una dirección y un sentido determinado.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 txBox="1"/>
          <p:nvPr/>
        </p:nvSpPr>
        <p:spPr>
          <a:xfrm>
            <a:off x="421199" y="387200"/>
            <a:ext cx="830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Ahora con las figuras…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600218" y="911027"/>
            <a:ext cx="79434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es el perímetro?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La medida de su contorno.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pasaba con estas figuras?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2026" y="2498189"/>
            <a:ext cx="1717814" cy="173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7177" y="2509415"/>
            <a:ext cx="2554445" cy="170702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2"/>
          <p:cNvSpPr txBox="1"/>
          <p:nvPr/>
        </p:nvSpPr>
        <p:spPr>
          <a:xfrm>
            <a:off x="455042" y="2047750"/>
            <a:ext cx="39717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4008509" y="2047750"/>
            <a:ext cx="39717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Rectángulo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568319" y="4310416"/>
            <a:ext cx="365253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Todos sus lados son iguales</a:t>
            </a: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4220853" y="4310415"/>
            <a:ext cx="365253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Sus lados paralelos son iguales</a:t>
            </a: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/>
        </p:nvSpPr>
        <p:spPr>
          <a:xfrm>
            <a:off x="194662" y="326025"/>
            <a:ext cx="875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hay de su interior? ¿Qué era la superficie?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600218" y="911027"/>
            <a:ext cx="794348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puede definir como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todo lo interior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dado por los límites de la figura.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lo medimos?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¡Con el área!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¿Y con qué unidades lo hacemos?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¡Con unidades cuadráticas como cm², m², km², entre otras!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oscuro&#10;&#10;Descripción generada automáticamente" id="444" name="Google Shape;444;p23"/>
          <p:cNvPicPr preferRelativeResize="0"/>
          <p:nvPr/>
        </p:nvPicPr>
        <p:blipFill rotWithShape="1">
          <a:blip r:embed="rId3">
            <a:alphaModFix/>
          </a:blip>
          <a:srcRect b="0" l="36640" r="36640" t="0"/>
          <a:stretch/>
        </p:blipFill>
        <p:spPr>
          <a:xfrm rot="-5400000">
            <a:off x="4008623" y="-99934"/>
            <a:ext cx="1126678" cy="421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9583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 txBox="1"/>
          <p:nvPr/>
        </p:nvSpPr>
        <p:spPr>
          <a:xfrm>
            <a:off x="394499" y="387200"/>
            <a:ext cx="835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se calculaba el área de estas figuras?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4"/>
          <p:cNvSpPr txBox="1"/>
          <p:nvPr/>
        </p:nvSpPr>
        <p:spPr>
          <a:xfrm>
            <a:off x="600255" y="373681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Largo por Ancho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1939" y="1678386"/>
            <a:ext cx="1717814" cy="173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5931" y="1721411"/>
            <a:ext cx="2554445" cy="170702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4"/>
          <p:cNvSpPr txBox="1"/>
          <p:nvPr/>
        </p:nvSpPr>
        <p:spPr>
          <a:xfrm>
            <a:off x="1304955" y="1259746"/>
            <a:ext cx="39717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55" name="Google Shape;455;p24"/>
          <p:cNvSpPr txBox="1"/>
          <p:nvPr/>
        </p:nvSpPr>
        <p:spPr>
          <a:xfrm>
            <a:off x="3867263" y="1259746"/>
            <a:ext cx="39717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Rectángulo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56" name="Google Shape;4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"/>
          <p:cNvSpPr/>
          <p:nvPr/>
        </p:nvSpPr>
        <p:spPr>
          <a:xfrm>
            <a:off x="7048913" y="1475142"/>
            <a:ext cx="1043832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3882952" y="1472636"/>
            <a:ext cx="1360050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1525058" y="1472636"/>
            <a:ext cx="1360050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4880793" y="2679175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1525058" y="267316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1525058" y="1469154"/>
            <a:ext cx="1360050" cy="1397658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3873531" y="1469153"/>
            <a:ext cx="1381623" cy="1397657"/>
          </a:xfrm>
          <a:prstGeom prst="triangle">
            <a:avLst>
              <a:gd fmla="val 74584" name="adj"/>
            </a:avLst>
          </a:prstGeom>
          <a:noFill/>
          <a:ln cap="flat" cmpd="sng" w="571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25"/>
          <p:cNvCxnSpPr/>
          <p:nvPr/>
        </p:nvCxnSpPr>
        <p:spPr>
          <a:xfrm>
            <a:off x="7048806" y="2866812"/>
            <a:ext cx="103632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469" name="Google Shape;469;p25"/>
          <p:cNvCxnSpPr/>
          <p:nvPr/>
        </p:nvCxnSpPr>
        <p:spPr>
          <a:xfrm>
            <a:off x="6347766" y="1469157"/>
            <a:ext cx="1737360" cy="139765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470" name="Google Shape;470;p25"/>
          <p:cNvCxnSpPr/>
          <p:nvPr/>
        </p:nvCxnSpPr>
        <p:spPr>
          <a:xfrm>
            <a:off x="6347766" y="1469156"/>
            <a:ext cx="701040" cy="1397656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71" name="Google Shape;471;p25"/>
          <p:cNvSpPr txBox="1"/>
          <p:nvPr/>
        </p:nvSpPr>
        <p:spPr>
          <a:xfrm>
            <a:off x="1866488" y="2866810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2" name="Google Shape;472;p25"/>
          <p:cNvCxnSpPr>
            <a:stCxn id="466" idx="2"/>
            <a:endCxn id="466" idx="4"/>
          </p:cNvCxnSpPr>
          <p:nvPr/>
        </p:nvCxnSpPr>
        <p:spPr>
          <a:xfrm>
            <a:off x="1525058" y="2866812"/>
            <a:ext cx="1360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73" name="Google Shape;473;p25"/>
          <p:cNvSpPr txBox="1"/>
          <p:nvPr/>
        </p:nvSpPr>
        <p:spPr>
          <a:xfrm>
            <a:off x="4225786" y="2866810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4" name="Google Shape;474;p25"/>
          <p:cNvCxnSpPr/>
          <p:nvPr/>
        </p:nvCxnSpPr>
        <p:spPr>
          <a:xfrm>
            <a:off x="3884356" y="2866812"/>
            <a:ext cx="136005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75" name="Google Shape;475;p25"/>
          <p:cNvSpPr txBox="1"/>
          <p:nvPr/>
        </p:nvSpPr>
        <p:spPr>
          <a:xfrm>
            <a:off x="7262274" y="2861718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6" name="Google Shape;476;p25"/>
          <p:cNvCxnSpPr/>
          <p:nvPr/>
        </p:nvCxnSpPr>
        <p:spPr>
          <a:xfrm>
            <a:off x="7072656" y="2866812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477" name="Google Shape;477;p25"/>
          <p:cNvCxnSpPr>
            <a:stCxn id="466" idx="0"/>
            <a:endCxn id="466" idx="2"/>
          </p:cNvCxnSpPr>
          <p:nvPr/>
        </p:nvCxnSpPr>
        <p:spPr>
          <a:xfrm>
            <a:off x="1525058" y="1469154"/>
            <a:ext cx="0" cy="1397700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78" name="Google Shape;478;p25"/>
          <p:cNvSpPr txBox="1"/>
          <p:nvPr/>
        </p:nvSpPr>
        <p:spPr>
          <a:xfrm>
            <a:off x="1149609" y="1937148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9" name="Google Shape;479;p25"/>
          <p:cNvCxnSpPr/>
          <p:nvPr/>
        </p:nvCxnSpPr>
        <p:spPr>
          <a:xfrm>
            <a:off x="4880793" y="1475162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80" name="Google Shape;480;p25"/>
          <p:cNvSpPr txBox="1"/>
          <p:nvPr/>
        </p:nvSpPr>
        <p:spPr>
          <a:xfrm>
            <a:off x="4505344" y="1943156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6371616" y="2684269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25"/>
          <p:cNvCxnSpPr/>
          <p:nvPr/>
        </p:nvCxnSpPr>
        <p:spPr>
          <a:xfrm>
            <a:off x="6371616" y="1480256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83" name="Google Shape;483;p25"/>
          <p:cNvSpPr txBox="1"/>
          <p:nvPr/>
        </p:nvSpPr>
        <p:spPr>
          <a:xfrm>
            <a:off x="5996167" y="1948250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84" name="Google Shape;484;p25"/>
          <p:cNvCxnSpPr/>
          <p:nvPr/>
        </p:nvCxnSpPr>
        <p:spPr>
          <a:xfrm>
            <a:off x="6371616" y="2861718"/>
            <a:ext cx="70104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485" name="Google Shape;485;p25"/>
          <p:cNvSpPr txBox="1"/>
          <p:nvPr/>
        </p:nvSpPr>
        <p:spPr>
          <a:xfrm>
            <a:off x="261660" y="3328475"/>
            <a:ext cx="7943489" cy="8088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2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5262773" y="3367170"/>
            <a:ext cx="212869" cy="34451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5574745" y="3379643"/>
            <a:ext cx="212869" cy="34451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5413380" y="3831464"/>
            <a:ext cx="212869" cy="34451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227999" y="387200"/>
            <a:ext cx="868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¿Y cómo lo hacemos para el triángulo?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 txBox="1"/>
          <p:nvPr/>
        </p:nvSpPr>
        <p:spPr>
          <a:xfrm>
            <a:off x="214649" y="353275"/>
            <a:ext cx="871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Y esta figura, ¿por qué le decíamos paralelógramo?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3691388" y="1156996"/>
            <a:ext cx="1478902" cy="3405301"/>
          </a:xfrm>
          <a:prstGeom prst="parallelogram">
            <a:avLst>
              <a:gd fmla="val 32152" name="adj"/>
            </a:avLst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26"/>
          <p:cNvCxnSpPr/>
          <p:nvPr/>
        </p:nvCxnSpPr>
        <p:spPr>
          <a:xfrm flipH="1" rot="10800000">
            <a:off x="3590925" y="-238125"/>
            <a:ext cx="771525" cy="552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498" name="Google Shape;498;p26"/>
          <p:cNvCxnSpPr/>
          <p:nvPr/>
        </p:nvCxnSpPr>
        <p:spPr>
          <a:xfrm flipH="1" rot="10800000">
            <a:off x="4600575" y="-238125"/>
            <a:ext cx="771525" cy="552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499" name="Google Shape;499;p26"/>
          <p:cNvCxnSpPr/>
          <p:nvPr/>
        </p:nvCxnSpPr>
        <p:spPr>
          <a:xfrm>
            <a:off x="-666750" y="1143000"/>
            <a:ext cx="1017270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500" name="Google Shape;500;p26"/>
          <p:cNvCxnSpPr/>
          <p:nvPr/>
        </p:nvCxnSpPr>
        <p:spPr>
          <a:xfrm>
            <a:off x="-657225" y="4571822"/>
            <a:ext cx="1017270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501" name="Google Shape;501;p26"/>
          <p:cNvSpPr txBox="1"/>
          <p:nvPr/>
        </p:nvSpPr>
        <p:spPr>
          <a:xfrm>
            <a:off x="5408415" y="2441913"/>
            <a:ext cx="284703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Porque los lados opuestos son paralelos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7584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7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en blanco y negro&#10;&#10;Descripción generada automáticamente con confianza media" id="508" name="Google Shape;5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7"/>
          <p:cNvSpPr/>
          <p:nvPr/>
        </p:nvSpPr>
        <p:spPr>
          <a:xfrm rot="5400000">
            <a:off x="4044949" y="2844803"/>
            <a:ext cx="2457450" cy="374650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4057650" y="1803403"/>
            <a:ext cx="1035050" cy="2438397"/>
          </a:xfrm>
          <a:custGeom>
            <a:rect b="b" l="l" r="r" t="t"/>
            <a:pathLst>
              <a:path extrusionOk="0" h="2425700" w="1035050">
                <a:moveTo>
                  <a:pt x="336550" y="0"/>
                </a:moveTo>
                <a:lnTo>
                  <a:pt x="0" y="2425700"/>
                </a:lnTo>
                <a:lnTo>
                  <a:pt x="1035050" y="2425700"/>
                </a:lnTo>
                <a:lnTo>
                  <a:pt x="1035050" y="6350"/>
                </a:lnTo>
                <a:lnTo>
                  <a:pt x="336550" y="0"/>
                </a:lnTo>
                <a:close/>
              </a:path>
            </a:pathLst>
          </a:cu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88624" y="326025"/>
            <a:ext cx="822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¿Y para calcular el área qué hacíamos?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600218" y="911027"/>
            <a:ext cx="7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15" name="Google Shape;515;p27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516" name="Google Shape;516;p27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517" name="Google Shape;517;p27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518" name="Google Shape;51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&#10;&#10;Descripción generada automáticamente con confianza media"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FAB23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/>
          <p:nvPr/>
        </p:nvSpPr>
        <p:spPr>
          <a:xfrm rot="5400000">
            <a:off x="3015290" y="2844803"/>
            <a:ext cx="2457450" cy="374650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4057650" y="1803403"/>
            <a:ext cx="1035050" cy="2438397"/>
          </a:xfrm>
          <a:custGeom>
            <a:rect b="b" l="l" r="r" t="t"/>
            <a:pathLst>
              <a:path extrusionOk="0" h="2425700" w="1035050">
                <a:moveTo>
                  <a:pt x="336550" y="0"/>
                </a:moveTo>
                <a:lnTo>
                  <a:pt x="0" y="2425700"/>
                </a:lnTo>
                <a:lnTo>
                  <a:pt x="1035050" y="2425700"/>
                </a:lnTo>
                <a:lnTo>
                  <a:pt x="1035050" y="6350"/>
                </a:lnTo>
                <a:lnTo>
                  <a:pt x="336550" y="0"/>
                </a:lnTo>
                <a:close/>
              </a:path>
            </a:pathLst>
          </a:cu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8"/>
          <p:cNvSpPr txBox="1"/>
          <p:nvPr/>
        </p:nvSpPr>
        <p:spPr>
          <a:xfrm>
            <a:off x="127524" y="326025"/>
            <a:ext cx="8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¿Y para calcular el área qué hacíamos?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8"/>
          <p:cNvSpPr txBox="1"/>
          <p:nvPr/>
        </p:nvSpPr>
        <p:spPr>
          <a:xfrm>
            <a:off x="600218" y="911027"/>
            <a:ext cx="7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8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31" name="Google Shape;531;p28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532" name="Google Shape;532;p28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533" name="Google Shape;533;p28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534" name="Google Shape;5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&#10;&#10;Descripción generada automáticamente con confianza media" id="539" name="Google Shape;5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9"/>
          <p:cNvSpPr/>
          <p:nvPr/>
        </p:nvSpPr>
        <p:spPr>
          <a:xfrm>
            <a:off x="4054437" y="1830502"/>
            <a:ext cx="1035050" cy="2405825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9"/>
          <p:cNvSpPr txBox="1"/>
          <p:nvPr/>
        </p:nvSpPr>
        <p:spPr>
          <a:xfrm>
            <a:off x="188324" y="387200"/>
            <a:ext cx="86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¿Y para calcular el área qué hacíamos?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43" name="Google Shape;543;p29"/>
          <p:cNvSpPr txBox="1"/>
          <p:nvPr/>
        </p:nvSpPr>
        <p:spPr>
          <a:xfrm>
            <a:off x="-76" y="1711262"/>
            <a:ext cx="26574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es eso?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0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Un rectángulo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¿Y cómo se calcula su área?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0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Ancho por largo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2400" u="none" cap="none" strike="noStrike">
              <a:solidFill>
                <a:srgbClr val="7030A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46" name="Google Shape;546;p29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547" name="Google Shape;547;p29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548" name="Google Shape;548;p29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549" name="Google Shape;54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&#10;&#10;Descripción generada automáticamente con confianza media" id="554" name="Google Shape;5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74" y="1438652"/>
            <a:ext cx="3829052" cy="31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0"/>
          <p:cNvSpPr/>
          <p:nvPr/>
        </p:nvSpPr>
        <p:spPr>
          <a:xfrm>
            <a:off x="4054437" y="1830502"/>
            <a:ext cx="1035050" cy="2405825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0"/>
          <p:cNvSpPr/>
          <p:nvPr/>
        </p:nvSpPr>
        <p:spPr>
          <a:xfrm>
            <a:off x="4048306" y="1809035"/>
            <a:ext cx="1390507" cy="2419349"/>
          </a:xfrm>
          <a:prstGeom prst="parallelogram">
            <a:avLst>
              <a:gd fmla="val 25987" name="adj"/>
            </a:avLst>
          </a:prstGeom>
          <a:noFill/>
          <a:ln cap="flat" cmpd="sng" w="57150">
            <a:solidFill>
              <a:srgbClr val="BCBCB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164874" y="326025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¿Y para calcular el área qué hacíamos?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0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¡Dividamos por figuras conocidas!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59" name="Google Shape;559;p30"/>
          <p:cNvSpPr txBox="1"/>
          <p:nvPr/>
        </p:nvSpPr>
        <p:spPr>
          <a:xfrm>
            <a:off x="0" y="2571750"/>
            <a:ext cx="2657474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171" l="0" r="0" t="-58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4392291" y="402067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0"/>
          <p:cNvSpPr txBox="1"/>
          <p:nvPr/>
        </p:nvSpPr>
        <p:spPr>
          <a:xfrm>
            <a:off x="4389699" y="422838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562" name="Google Shape;562;p30"/>
          <p:cNvCxnSpPr/>
          <p:nvPr/>
        </p:nvCxnSpPr>
        <p:spPr>
          <a:xfrm>
            <a:off x="4048269" y="4228384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563" name="Google Shape;563;p30"/>
          <p:cNvCxnSpPr/>
          <p:nvPr/>
        </p:nvCxnSpPr>
        <p:spPr>
          <a:xfrm>
            <a:off x="4399368" y="1809035"/>
            <a:ext cx="0" cy="2419347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564" name="Google Shape;564;p30"/>
          <p:cNvSpPr txBox="1"/>
          <p:nvPr/>
        </p:nvSpPr>
        <p:spPr>
          <a:xfrm>
            <a:off x="4399368" y="2453191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565" name="Google Shape;56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1"/>
          <p:cNvSpPr txBox="1"/>
          <p:nvPr/>
        </p:nvSpPr>
        <p:spPr>
          <a:xfrm>
            <a:off x="262049" y="342950"/>
            <a:ext cx="812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se llamaba esta última figura?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1"/>
          <p:cNvSpPr txBox="1"/>
          <p:nvPr/>
        </p:nvSpPr>
        <p:spPr>
          <a:xfrm>
            <a:off x="581168" y="927950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¡Se llama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Trapecio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921051" y="1485566"/>
            <a:ext cx="731520" cy="1075765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1647193" y="1485562"/>
            <a:ext cx="1086522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3588952" y="1485394"/>
            <a:ext cx="1463038" cy="1075765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5051990" y="1485394"/>
            <a:ext cx="419546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"/>
          <p:cNvSpPr/>
          <p:nvPr/>
        </p:nvSpPr>
        <p:spPr>
          <a:xfrm flipH="1">
            <a:off x="3169406" y="1485394"/>
            <a:ext cx="419546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"/>
          <p:cNvSpPr/>
          <p:nvPr/>
        </p:nvSpPr>
        <p:spPr>
          <a:xfrm>
            <a:off x="6188114" y="1482219"/>
            <a:ext cx="1463038" cy="1075765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7651152" y="1482219"/>
            <a:ext cx="1086522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"/>
          <p:cNvSpPr/>
          <p:nvPr/>
        </p:nvSpPr>
        <p:spPr>
          <a:xfrm flipH="1">
            <a:off x="5937176" y="1482219"/>
            <a:ext cx="250938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1"/>
          <p:cNvSpPr/>
          <p:nvPr/>
        </p:nvSpPr>
        <p:spPr>
          <a:xfrm>
            <a:off x="916345" y="1485900"/>
            <a:ext cx="1831975" cy="1085850"/>
          </a:xfrm>
          <a:custGeom>
            <a:rect b="b" l="l" r="r" t="t"/>
            <a:pathLst>
              <a:path extrusionOk="0" h="1085850" w="1831975">
                <a:moveTo>
                  <a:pt x="0" y="3175"/>
                </a:moveTo>
                <a:cubicBezTo>
                  <a:pt x="2117" y="364067"/>
                  <a:pt x="4233" y="724958"/>
                  <a:pt x="6350" y="1085850"/>
                </a:cubicBezTo>
                <a:lnTo>
                  <a:pt x="1831975" y="1085850"/>
                </a:lnTo>
                <a:lnTo>
                  <a:pt x="733425" y="0"/>
                </a:lnTo>
                <a:lnTo>
                  <a:pt x="0" y="3175"/>
                </a:lnTo>
                <a:close/>
              </a:path>
            </a:pathLst>
          </a:custGeom>
          <a:solidFill>
            <a:srgbClr val="009F98"/>
          </a:solidFill>
          <a:ln cap="flat" cmpd="sng" w="28575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1"/>
          <p:cNvSpPr/>
          <p:nvPr/>
        </p:nvSpPr>
        <p:spPr>
          <a:xfrm>
            <a:off x="3176945" y="1479550"/>
            <a:ext cx="2298700" cy="1076325"/>
          </a:xfrm>
          <a:custGeom>
            <a:rect b="b" l="l" r="r" t="t"/>
            <a:pathLst>
              <a:path extrusionOk="0" h="1076325" w="2298700">
                <a:moveTo>
                  <a:pt x="412750" y="0"/>
                </a:moveTo>
                <a:lnTo>
                  <a:pt x="1876425" y="0"/>
                </a:lnTo>
                <a:lnTo>
                  <a:pt x="2298700" y="1076325"/>
                </a:lnTo>
                <a:lnTo>
                  <a:pt x="0" y="1076325"/>
                </a:lnTo>
                <a:lnTo>
                  <a:pt x="412750" y="0"/>
                </a:lnTo>
                <a:close/>
              </a:path>
            </a:pathLst>
          </a:custGeom>
          <a:solidFill>
            <a:srgbClr val="009F98"/>
          </a:solidFill>
          <a:ln cap="flat" cmpd="sng" w="28575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1"/>
          <p:cNvSpPr/>
          <p:nvPr/>
        </p:nvSpPr>
        <p:spPr>
          <a:xfrm>
            <a:off x="5943600" y="1482725"/>
            <a:ext cx="2787650" cy="1073150"/>
          </a:xfrm>
          <a:custGeom>
            <a:rect b="b" l="l" r="r" t="t"/>
            <a:pathLst>
              <a:path extrusionOk="0" h="1073150" w="2787650">
                <a:moveTo>
                  <a:pt x="247650" y="0"/>
                </a:moveTo>
                <a:lnTo>
                  <a:pt x="1701800" y="0"/>
                </a:lnTo>
                <a:lnTo>
                  <a:pt x="2787650" y="1073150"/>
                </a:lnTo>
                <a:lnTo>
                  <a:pt x="0" y="1073150"/>
                </a:lnTo>
                <a:lnTo>
                  <a:pt x="247650" y="0"/>
                </a:lnTo>
                <a:close/>
              </a:path>
            </a:pathLst>
          </a:custGeom>
          <a:solidFill>
            <a:srgbClr val="009F98"/>
          </a:solidFill>
          <a:ln cap="flat" cmpd="sng" w="28575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1"/>
          <p:cNvSpPr txBox="1"/>
          <p:nvPr/>
        </p:nvSpPr>
        <p:spPr>
          <a:xfrm>
            <a:off x="600218" y="2756504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¿Ves cómo está formada?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940101" y="3403266"/>
            <a:ext cx="731520" cy="1075765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1666243" y="3403262"/>
            <a:ext cx="1086522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3608002" y="3403094"/>
            <a:ext cx="1463038" cy="1075765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5071040" y="3403094"/>
            <a:ext cx="419546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1"/>
          <p:cNvSpPr/>
          <p:nvPr/>
        </p:nvSpPr>
        <p:spPr>
          <a:xfrm flipH="1">
            <a:off x="3188456" y="3403094"/>
            <a:ext cx="419546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6207164" y="3399919"/>
            <a:ext cx="1463038" cy="1075765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7670202" y="3399919"/>
            <a:ext cx="1086522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1"/>
          <p:cNvSpPr/>
          <p:nvPr/>
        </p:nvSpPr>
        <p:spPr>
          <a:xfrm flipH="1">
            <a:off x="5956226" y="3399919"/>
            <a:ext cx="250938" cy="1075765"/>
          </a:xfrm>
          <a:prstGeom prst="rtTriangle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2"/>
          <p:cNvSpPr txBox="1"/>
          <p:nvPr/>
        </p:nvSpPr>
        <p:spPr>
          <a:xfrm>
            <a:off x="207549" y="326025"/>
            <a:ext cx="836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calculábamos su área?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2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¡Dividiendo con figuras conocidas!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en blanco y negro&#10;&#10;Descripción generada automáticamente con confianza media" id="599" name="Google Shape;5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5224" y="1372692"/>
            <a:ext cx="3993552" cy="3321446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2"/>
          <p:cNvSpPr/>
          <p:nvPr/>
        </p:nvSpPr>
        <p:spPr>
          <a:xfrm>
            <a:off x="2962893" y="2124075"/>
            <a:ext cx="2857500" cy="1809750"/>
          </a:xfrm>
          <a:custGeom>
            <a:rect b="b" l="l" r="r" t="t"/>
            <a:pathLst>
              <a:path extrusionOk="0" h="1809750" w="2857500">
                <a:moveTo>
                  <a:pt x="0" y="0"/>
                </a:moveTo>
                <a:lnTo>
                  <a:pt x="2143125" y="0"/>
                </a:lnTo>
                <a:lnTo>
                  <a:pt x="2857500" y="1809750"/>
                </a:lnTo>
                <a:lnTo>
                  <a:pt x="19050" y="1809750"/>
                </a:lnTo>
                <a:lnTo>
                  <a:pt x="0" y="0"/>
                </a:lnTo>
                <a:close/>
              </a:path>
            </a:pathLst>
          </a:custGeom>
          <a:solidFill>
            <a:srgbClr val="009F98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2969111" y="2119256"/>
            <a:ext cx="2140773" cy="1828800"/>
          </a:xfrm>
          <a:prstGeom prst="rect">
            <a:avLst/>
          </a:prstGeom>
          <a:solidFill>
            <a:srgbClr val="FFC000"/>
          </a:solidFill>
          <a:ln cap="flat" cmpd="sng" w="5715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2"/>
          <p:cNvSpPr/>
          <p:nvPr/>
        </p:nvSpPr>
        <p:spPr>
          <a:xfrm>
            <a:off x="5109884" y="2119256"/>
            <a:ext cx="710509" cy="1828800"/>
          </a:xfrm>
          <a:prstGeom prst="rtTriangle">
            <a:avLst/>
          </a:prstGeom>
          <a:solidFill>
            <a:srgbClr val="FFC000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2"/>
          <p:cNvSpPr txBox="1"/>
          <p:nvPr/>
        </p:nvSpPr>
        <p:spPr>
          <a:xfrm>
            <a:off x="3283993" y="2868450"/>
            <a:ext cx="1579434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2"/>
          <p:cNvSpPr txBox="1"/>
          <p:nvPr/>
        </p:nvSpPr>
        <p:spPr>
          <a:xfrm>
            <a:off x="4573817" y="2868450"/>
            <a:ext cx="1579434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3"/>
          <p:cNvSpPr txBox="1"/>
          <p:nvPr/>
        </p:nvSpPr>
        <p:spPr>
          <a:xfrm>
            <a:off x="208049" y="366375"/>
            <a:ext cx="872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era el otro método?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600218" y="3020526"/>
            <a:ext cx="7943489" cy="1176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41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3"/>
          <p:cNvSpPr/>
          <p:nvPr/>
        </p:nvSpPr>
        <p:spPr>
          <a:xfrm>
            <a:off x="2522255" y="1403527"/>
            <a:ext cx="2426262" cy="1204308"/>
          </a:xfrm>
          <a:prstGeom prst="trapezoid">
            <a:avLst>
              <a:gd fmla="val 53585" name="adj"/>
            </a:avLst>
          </a:prstGeom>
          <a:solidFill>
            <a:srgbClr val="FFC000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3"/>
          <p:cNvSpPr/>
          <p:nvPr/>
        </p:nvSpPr>
        <p:spPr>
          <a:xfrm flipH="1" rot="10800000">
            <a:off x="4303058" y="1403527"/>
            <a:ext cx="2426262" cy="1204308"/>
          </a:xfrm>
          <a:prstGeom prst="trapezoid">
            <a:avLst>
              <a:gd fmla="val 53585" name="adj"/>
            </a:avLst>
          </a:prstGeom>
          <a:noFill/>
          <a:ln cap="flat" cmpd="sng" w="571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3637110" y="951374"/>
            <a:ext cx="300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15" name="Google Shape;615;p33"/>
          <p:cNvSpPr txBox="1"/>
          <p:nvPr/>
        </p:nvSpPr>
        <p:spPr>
          <a:xfrm>
            <a:off x="3551047" y="2598323"/>
            <a:ext cx="4723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16" name="Google Shape;616;p33"/>
          <p:cNvSpPr/>
          <p:nvPr/>
        </p:nvSpPr>
        <p:spPr>
          <a:xfrm>
            <a:off x="5407668" y="1086522"/>
            <a:ext cx="300190" cy="25121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5407668" y="2689663"/>
            <a:ext cx="300190" cy="25121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3"/>
          <p:cNvSpPr txBox="1"/>
          <p:nvPr/>
        </p:nvSpPr>
        <p:spPr>
          <a:xfrm>
            <a:off x="5408178" y="2558861"/>
            <a:ext cx="300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5417913" y="990835"/>
            <a:ext cx="300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3153103" y="2419284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1" name="Google Shape;621;p33"/>
          <p:cNvCxnSpPr/>
          <p:nvPr/>
        </p:nvCxnSpPr>
        <p:spPr>
          <a:xfrm>
            <a:off x="3160180" y="1403527"/>
            <a:ext cx="0" cy="122346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22" name="Google Shape;622;p33"/>
          <p:cNvSpPr txBox="1"/>
          <p:nvPr/>
        </p:nvSpPr>
        <p:spPr>
          <a:xfrm>
            <a:off x="3153103" y="1661865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chemeClr val="dk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4137660" y="3429000"/>
            <a:ext cx="1021080" cy="35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5319603" y="3429000"/>
            <a:ext cx="300190" cy="35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4748060" y="3925683"/>
            <a:ext cx="300190" cy="35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2112979" y="3493770"/>
            <a:ext cx="96806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3"/>
          <p:cNvSpPr txBox="1"/>
          <p:nvPr/>
        </p:nvSpPr>
        <p:spPr>
          <a:xfrm>
            <a:off x="6303898" y="3188761"/>
            <a:ext cx="20051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Trapecio “imaginario”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5048250" y="2066925"/>
            <a:ext cx="1585229" cy="2009775"/>
          </a:xfrm>
          <a:custGeom>
            <a:rect b="b" l="l" r="r" t="t"/>
            <a:pathLst>
              <a:path extrusionOk="0" h="2009775" w="1585229">
                <a:moveTo>
                  <a:pt x="1390650" y="0"/>
                </a:moveTo>
                <a:cubicBezTo>
                  <a:pt x="1544637" y="704056"/>
                  <a:pt x="1698625" y="1408113"/>
                  <a:pt x="1466850" y="1743075"/>
                </a:cubicBezTo>
                <a:cubicBezTo>
                  <a:pt x="1235075" y="2078037"/>
                  <a:pt x="223837" y="1976438"/>
                  <a:pt x="0" y="2009775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33"/>
          <p:cNvCxnSpPr/>
          <p:nvPr/>
        </p:nvCxnSpPr>
        <p:spPr>
          <a:xfrm>
            <a:off x="2943225" y="3604259"/>
            <a:ext cx="1143000" cy="24766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630" name="Google Shape;63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635" name="Google Shape;63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4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638" name="Google Shape;638;p34" title="Resumen - Geometría (15) - Repas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8725" y="1095450"/>
            <a:ext cx="6052225" cy="354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5"/>
          <p:cNvSpPr txBox="1"/>
          <p:nvPr/>
        </p:nvSpPr>
        <p:spPr>
          <a:xfrm>
            <a:off x="785234" y="366599"/>
            <a:ext cx="7573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5"/>
          <p:cNvSpPr txBox="1"/>
          <p:nvPr/>
        </p:nvSpPr>
        <p:spPr>
          <a:xfrm>
            <a:off x="4881003" y="1605516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https://forms.gle/HKEqrVT1zDiiTDoC6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35"/>
          <p:cNvPicPr preferRelativeResize="0"/>
          <p:nvPr/>
        </p:nvPicPr>
        <p:blipFill rotWithShape="1">
          <a:blip r:embed="rId4">
            <a:alphaModFix/>
          </a:blip>
          <a:srcRect b="8271" l="8270" r="8271" t="8270"/>
          <a:stretch/>
        </p:blipFill>
        <p:spPr>
          <a:xfrm>
            <a:off x="6225502" y="2128736"/>
            <a:ext cx="1883002" cy="1883002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5"/>
          <p:cNvSpPr txBox="1"/>
          <p:nvPr/>
        </p:nvSpPr>
        <p:spPr>
          <a:xfrm>
            <a:off x="349502" y="1090738"/>
            <a:ext cx="532371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Preguntas conceptuales: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¿Qué es el perímetro?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¿Cómo calculamos el perímetro?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¿Qué unidad de medida podemos usar para el perímetro?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4) ¿Cuáles son tipos de ángulos?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5) ¿Cuánto mide un ángulo obtuso?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6) ¿Qué caracteriza a las rectas paralelas?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7) ¿Qué caracteriza a una Rotación?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648" name="Google Shape;64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653" name="Google Shape;653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6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656" name="Google Shape;656;p36" title="Reforzamiento - Geometría (15) - Resumen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9688" y="1098625"/>
            <a:ext cx="6864625" cy="358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3872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