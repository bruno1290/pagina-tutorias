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Patrick Hand"/>
      <p:regular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Poppins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igcaudRwp+xnru13UOB79TPN7B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1EC538-2597-4F07-B9AD-96D4167D527D}">
  <a:tblStyle styleId="{E71EC538-2597-4F07-B9AD-96D4167D527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font" Target="fonts/PatrickHand-regular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4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3.xml"/><Relationship Id="rId32" Type="http://schemas.openxmlformats.org/officeDocument/2006/relationships/font" Target="fonts/Poppins-italic.fntdata"/><Relationship Id="rId13" Type="http://schemas.openxmlformats.org/officeDocument/2006/relationships/slide" Target="slides/slide6.xml"/><Relationship Id="rId35" Type="http://schemas.openxmlformats.org/officeDocument/2006/relationships/font" Target="fonts/PoppinsLight-bold.fntdata"/><Relationship Id="rId12" Type="http://schemas.openxmlformats.org/officeDocument/2006/relationships/slide" Target="slides/slide5.xml"/><Relationship Id="rId34" Type="http://schemas.openxmlformats.org/officeDocument/2006/relationships/font" Target="fonts/PoppinsLight-regular.fntdata"/><Relationship Id="rId15" Type="http://schemas.openxmlformats.org/officeDocument/2006/relationships/slide" Target="slides/slide8.xml"/><Relationship Id="rId37" Type="http://schemas.openxmlformats.org/officeDocument/2006/relationships/font" Target="fonts/PoppinsLight-boldItalic.fntdata"/><Relationship Id="rId14" Type="http://schemas.openxmlformats.org/officeDocument/2006/relationships/slide" Target="slides/slide7.xml"/><Relationship Id="rId36" Type="http://schemas.openxmlformats.org/officeDocument/2006/relationships/font" Target="fonts/PoppinsLight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9492d3cd4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d9492d3cd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9492d3cd4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9492d3cd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9492d3cd4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9492d3cd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9492d3cd4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9492d3cd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Introducir el mapa de referencia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Después meter el plano cartesiano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Darle el espacio al pupilo para que responda con sus palabras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href="https://www.flaticon.es/iconos-gratis/mapa" title="mapa iconos"&gt;Mapa iconos creados por Freepik - Flaticon&lt;/a&gt;</a:t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Le podrías preguntar por otro punto en el plano para que pueda responderlo por su cuenta antes de pasar a la actividad de la siguiente diapositiva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href="https://www.flaticon.es/iconos-gratis/mapa" title="mapa iconos"&gt;Mapa iconos creados por Freepik - Flaticon&lt;/a&gt;</a:t>
            </a:r>
            <a:endParaRPr/>
          </a:p>
        </p:txBody>
      </p:sp>
      <p:sp>
        <p:nvSpPr>
          <p:cNvPr id="215" name="Google Shape;21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CL"/>
              <a:t>Que sea el pupilo quien responda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href="https://www.freepik.es/icono/casa_2769472#fromView=search&amp;term=CASA&amp;track=ais&amp;page=1&amp;position=10&amp;uuid=e0748f3a-6a89-4517-8141-a73b35760aa4"&gt;Icono de kosonicon&lt;/a&gt;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href="https://www.freepik.es/icono/clase_2058345#fromView=search&amp;term=COLEGIO&amp;track=ais&amp;page=2&amp;position=38&amp;uuid=5a680464-fc1e-4375-93c2-f25c512b4c41"&gt;Icono de ultimatearm&lt;/a&gt;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href="https://www.freepik.es/icono/supermercado_9090183#fromView=search&amp;term=SUPERMERCADO&amp;track=ais&amp;page=3&amp;position=3&amp;uuid=3a97f1ff-9678-4f53-9c8c-cfbba4c6b609"&gt;Icono de Freepik&lt;/a&gt;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href="https://www.freepik.es/icono/autobus-escolar_2554966#fromView=search&amp;term=BUS&amp;track=ais&amp;page=1&amp;position=1&amp;uuid=1b48f425-6d31-48af-8df4-c5ed61782087"&gt;Icono de Freepik&lt;/a&gt;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CL"/>
              <a:t>Que el pupilo pueda utilizar el mismo vocabulario del ejemplo para describir las trayectorias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&lt;a href="https://www.flaticon.es/iconos-gratis/brujula" title="brújula iconos"&gt;Brújula iconos creados por bqlqn - Flaticon&lt;/a&gt;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CL"/>
              <a:t>Preguntar al término de la información si entendió lo que se expuso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https://www.pngwing.com/es/free-png-zlbon/download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CL"/>
              <a:t>Viendo el ejemplo, que sea capaz de describir la posición en (X,Y) de las otras locaciones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CL"/>
              <a:t>https://www.pngwing.com/es/free-png-zlbon/download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492d3cd4_0_1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492d3cd4_0_1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492d3cd4_0_1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492d3cd4_0_1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492d3cd4_0_1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492d3cd4_0_1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492d3cd4_0_1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492d3cd4_0_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492d3cd4_0_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492d3cd4_0_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492d3cd4_0_14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492d3cd4_0_14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492d3cd4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492d3cd4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492d3cd4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492d3cd4_0_1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492d3cd4_0_15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492d3cd4_0_15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492d3cd4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492d3cd4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492d3cd4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492d3cd4_0_16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492d3cd4_0_16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492d3cd4_0_16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492d3cd4_0_16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492d3cd4_0_16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492d3cd4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492d3cd4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492d3cd4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492d3cd4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492d3cd4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492d3cd4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492d3cd4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492d3cd4_0_1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492d3cd4_0_1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492d3cd4_0_1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492d3cd4_0_1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492d3cd4_0_18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492d3cd4_0_18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492d3cd4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492d3cd4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492d3cd4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492d3cd4_0_18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492d3cd4_0_18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492d3cd4_0_18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492d3cd4_0_18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492d3cd4_0_18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492d3cd4_0_1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492d3cd4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492d3cd4_0_19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492d3cd4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492d3cd4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492d3cd4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492d3cd4_0_20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492d3cd4_0_20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492d3cd4_0_2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492d3cd4_0_2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492d3cd4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492d3cd4_0_1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492d3cd4_0_1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492d3cd4_0_1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492d3cd4_0_1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492d3cd4_0_1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bit.ly/lateralidadmineduc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hyperlink" Target="http://www.youtube.com/watch?v=P_2X2ebBgrw" TargetMode="External"/><Relationship Id="rId5" Type="http://schemas.openxmlformats.org/officeDocument/2006/relationships/image" Target="../media/image18.jpg"/><Relationship Id="rId6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hyperlink" Target="https://forms.gle/wQs817zpNfuqWGPZ6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hyperlink" Target="http://www.youtube.com/watch?v=KxOysGxkvlI" TargetMode="External"/><Relationship Id="rId5" Type="http://schemas.openxmlformats.org/officeDocument/2006/relationships/image" Target="../media/image15.jp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8119" l="28253" r="14169" t="24864"/>
          <a:stretch/>
        </p:blipFill>
        <p:spPr>
          <a:xfrm>
            <a:off x="0" y="0"/>
            <a:ext cx="92764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 txBox="1"/>
          <p:nvPr/>
        </p:nvSpPr>
        <p:spPr>
          <a:xfrm>
            <a:off x="2844800" y="2590775"/>
            <a:ext cx="2763000" cy="83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>
                <a:solidFill>
                  <a:srgbClr val="009287"/>
                </a:solidFill>
                <a:latin typeface="Roboto"/>
                <a:ea typeface="Roboto"/>
                <a:cs typeface="Roboto"/>
                <a:sym typeface="Roboto"/>
              </a:rPr>
              <a:t>Geometría</a:t>
            </a:r>
            <a:endParaRPr b="1" sz="2700">
              <a:solidFill>
                <a:srgbClr val="0092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3675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9492d3cd4_0_103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CL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Describir la localización absoluta de un objeto en un mapa simple con coordenadas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informales y la ubicación relativa a otros objetos.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3" name="Google Shape;143;g2d9492d3cd4_0_103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Entender cómo usar un Plano Cuadriculado.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Identificar coordenadas de un objeto.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Utilizar el Plano Cartesiano.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492d3cd4_0_103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Mapa.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Plano Cartesiano.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Coordenadas.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Eje X, eje Y, Origen.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g2d9492d3cd4_0_10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492d3cd4_0_10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d9492d3cd4_0_10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" name="Google Shape;148;g2d9492d3cd4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9492d3cd4_0_113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4" name="Google Shape;154;g2d9492d3cd4_0_113"/>
          <p:cNvSpPr txBox="1"/>
          <p:nvPr/>
        </p:nvSpPr>
        <p:spPr>
          <a:xfrm>
            <a:off x="589763" y="1598681"/>
            <a:ext cx="7875000" cy="5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Si anteriormente has notado que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tu estudiante tiene problemas para diferenciar izquierda con derecha,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 elige al menos cuatro actividades de la siguiente guía MINEDUC [</a:t>
            </a:r>
            <a:r>
              <a:rPr lang="es-CL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bit.ly/lateralidadmineduc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] para que las revisen previo al inicio de esta sesión.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Para motivar a tu estudiante, hazle la pregunta al comenzar la sesión (diapositiva 5):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¿Por qué es importante conocer la ubicación de objetos en nuestro entorno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? Tengan una discusión donde puedan llegar a conclusiones en conjunto.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Al presentar el plano cartesiano, además de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confundir nombres de los ejes y el origen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, los estudiantes a menudo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intercambian las coordenadas de los puntos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. Para ello se sugiere recalcar, verbalmente, esta diferencia e ir paso a paso encontrando las posiciones que Miguel recorre (diapositiva 7). Asegúrate que los conceptos sean claros para tu estudiante.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g2d9492d3cd4_0_1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492d3cd4_0_1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2d9492d3cd4_0_1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g2d9492d3cd4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9492d3cd4_0_210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4" name="Google Shape;164;g2d9492d3cd4_0_210"/>
          <p:cNvSpPr txBox="1"/>
          <p:nvPr/>
        </p:nvSpPr>
        <p:spPr>
          <a:xfrm>
            <a:off x="589763" y="1598681"/>
            <a:ext cx="78750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Lo más importante de la sesión es que el estudiante al término de esta sea capaz de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describir mediante un plano cartesiano la trayectoria que realiza una persona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. Para ello el </a:t>
            </a:r>
            <a:r>
              <a:rPr b="1" lang="es-CL" sz="1100">
                <a:latin typeface="Poppins"/>
                <a:ea typeface="Poppins"/>
                <a:cs typeface="Poppins"/>
                <a:sym typeface="Poppins"/>
              </a:rPr>
              <a:t>ejemplo de la diapositva 10 debe ser explicado de la mejor forma posible </a:t>
            </a:r>
            <a:r>
              <a:rPr lang="es-CL" sz="1100">
                <a:latin typeface="Poppins"/>
                <a:ea typeface="Poppins"/>
                <a:cs typeface="Poppins"/>
                <a:sym typeface="Poppins"/>
              </a:rPr>
              <a:t>ya que eso consolidará todo lo aprendido: plano cartesiano, coordenas y la ubicación formal de objetos.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2d9492d3cd4_0_2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492d3cd4_0_2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2d9492d3cd4_0_2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g2d9492d3cd4_0_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9492d3cd4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2d9492d3cd4_0_122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represente mediante un </a:t>
            </a:r>
            <a:r>
              <a:rPr b="1"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plano cartesiano la ubicación de su colegio</a:t>
            </a: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que dibuje diferentes </a:t>
            </a:r>
            <a:r>
              <a:rPr b="1"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trayectorias que le permitan llegar</a:t>
            </a: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desde su hogar. Haz lo mismo con tu institución de educación superior u otro lugar cotidiano para ti.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2d9492d3cd4_0_122"/>
          <p:cNvSpPr txBox="1"/>
          <p:nvPr/>
        </p:nvSpPr>
        <p:spPr>
          <a:xfrm>
            <a:off x="285206" y="27392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es un plano cartesiano?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¿Qué son las coordenadas?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¿Para qué sirven las coordenadas?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¿Cómo se determinan las coordenadas de un objeto en un plano?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¿Cómo describes un trayecto en el plano cartesiano?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g2d9492d3cd4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2d9492d3cd4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g2d9492d3cd4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3</a:t>
            </a:r>
            <a:endParaRPr/>
          </a:p>
        </p:txBody>
      </p:sp>
      <p:pic>
        <p:nvPicPr>
          <p:cNvPr id="184" name="Google Shape;18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00255" y="1095159"/>
            <a:ext cx="794348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 15 - 4to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describir la localización absoluta de un objeto en un mapa simple con coordenadas informales y la localización relativa a otros objetos.</a:t>
            </a:r>
            <a:endParaRPr/>
          </a:p>
        </p:txBody>
      </p:sp>
      <p:pic>
        <p:nvPicPr>
          <p:cNvPr id="191" name="Google Shape;19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600218" y="1095159"/>
            <a:ext cx="7943489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Entender cómo usar un Plano Cuadriculado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Identificar coordenadas de un objeto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CL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Utilizar el Plano Cartesiano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98" name="Google Shape;19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 txBox="1"/>
          <p:nvPr/>
        </p:nvSpPr>
        <p:spPr>
          <a:xfrm>
            <a:off x="1303620" y="366599"/>
            <a:ext cx="6536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Conceptos introductorios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3438129" y="1724421"/>
            <a:ext cx="2267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Plano Cuadriculado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74361" y="1724422"/>
            <a:ext cx="17216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Mapa 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6278161" y="1724421"/>
            <a:ext cx="17216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Coordenadas 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628613" y="951374"/>
            <a:ext cx="7886700" cy="5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¿Conoces alguno de estos conceptos? ¿Cómo los describirías?</a:t>
            </a:r>
            <a:endParaRPr/>
          </a:p>
        </p:txBody>
      </p:sp>
      <p:pic>
        <p:nvPicPr>
          <p:cNvPr descr="Forma&#10;&#10;Descripción generada automáticamente con confianza baja" id="208" name="Google Shape;2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331" y="2481013"/>
            <a:ext cx="1917700" cy="191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de la pantalla de una ventana&#10;&#10;Descripción generada automáticamente con confianza baja" id="209" name="Google Shape;2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3210" y="2305992"/>
            <a:ext cx="2267742" cy="2267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"/>
          <p:cNvSpPr/>
          <p:nvPr/>
        </p:nvSpPr>
        <p:spPr>
          <a:xfrm>
            <a:off x="4787900" y="2481013"/>
            <a:ext cx="2463800" cy="605087"/>
          </a:xfrm>
          <a:prstGeom prst="curvedDownArrow">
            <a:avLst>
              <a:gd fmla="val 12473" name="adj1"/>
              <a:gd fmla="val 46827" name="adj2"/>
              <a:gd fmla="val 14506" name="adj3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6005156" y="2957415"/>
            <a:ext cx="2463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casa está en las coordenadas: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(D, 4)</a:t>
            </a:r>
            <a:endParaRPr/>
          </a:p>
        </p:txBody>
      </p:sp>
      <p:pic>
        <p:nvPicPr>
          <p:cNvPr id="212" name="Google Shape;21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 txBox="1"/>
          <p:nvPr/>
        </p:nvSpPr>
        <p:spPr>
          <a:xfrm>
            <a:off x="337499" y="366375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Coordenadas</a:t>
            </a:r>
            <a:endParaRPr/>
          </a:p>
        </p:txBody>
      </p:sp>
      <p:sp>
        <p:nvSpPr>
          <p:cNvPr id="218" name="Google Shape;218;p6"/>
          <p:cNvSpPr txBox="1"/>
          <p:nvPr>
            <p:ph idx="1" type="body"/>
          </p:nvPr>
        </p:nvSpPr>
        <p:spPr>
          <a:xfrm>
            <a:off x="628613" y="951374"/>
            <a:ext cx="7886700" cy="5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Nos dicen la locación de objetos o puntos en un plano</a:t>
            </a:r>
            <a:endParaRPr/>
          </a:p>
        </p:txBody>
      </p:sp>
      <p:pic>
        <p:nvPicPr>
          <p:cNvPr descr="Imagen de la pantalla de una ventana&#10;&#10;Descripción generada automáticamente con confianza baja" id="219" name="Google Shape;2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271" y="1484861"/>
            <a:ext cx="3050620" cy="30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/>
          <p:nvPr/>
        </p:nvSpPr>
        <p:spPr>
          <a:xfrm>
            <a:off x="1887224" y="1985713"/>
            <a:ext cx="1897376" cy="586037"/>
          </a:xfrm>
          <a:prstGeom prst="curvedDownArrow">
            <a:avLst>
              <a:gd fmla="val 12473" name="adj1"/>
              <a:gd fmla="val 46827" name="adj2"/>
              <a:gd fmla="val 14506" name="adj3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2474044" y="2571750"/>
            <a:ext cx="2463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(D, 4)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4011691" y="1700233"/>
            <a:ext cx="4185364" cy="2619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indicar coordenadas: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Buscamos el valor del eje </a:t>
            </a: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horizontal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🡪 D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Buscamos el valor del eje </a:t>
            </a: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vertical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🡪 4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Los juntamos en un </a:t>
            </a:r>
            <a:b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</a:b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“</a:t>
            </a: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 ordenado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” 🡪 (D,4)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23" name="Google Shape;22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biombo, edificio, juego, reloj&#10;&#10;Descripción generada automáticamente"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89" y="951374"/>
            <a:ext cx="3573863" cy="357386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Encontremos las posiciones</a:t>
            </a:r>
            <a:endParaRPr/>
          </a:p>
        </p:txBody>
      </p:sp>
      <p:sp>
        <p:nvSpPr>
          <p:cNvPr id="230" name="Google Shape;230;p7"/>
          <p:cNvSpPr txBox="1"/>
          <p:nvPr>
            <p:ph idx="1" type="body"/>
          </p:nvPr>
        </p:nvSpPr>
        <p:spPr>
          <a:xfrm>
            <a:off x="4016675" y="1152839"/>
            <a:ext cx="4857635" cy="35661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un día, Miguel pasa por los siguientes lugares: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Su casa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El paradero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El colegio</a:t>
            </a:r>
            <a:endParaRPr/>
          </a:p>
          <a:p>
            <a:pPr indent="0" lvl="0" marL="139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4° El supermercado</a:t>
            </a:r>
            <a:endParaRPr/>
          </a:p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¿Cuáles son las coordenadas </a:t>
            </a:r>
            <a:b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</a:b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 esos lugares?</a:t>
            </a:r>
            <a:endParaRPr/>
          </a:p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456294" y="1992102"/>
            <a:ext cx="10668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456294" y="2435734"/>
            <a:ext cx="10668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456294" y="2885561"/>
            <a:ext cx="10668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7456294" y="3335388"/>
            <a:ext cx="10668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7"/>
          <p:cNvCxnSpPr/>
          <p:nvPr/>
        </p:nvCxnSpPr>
        <p:spPr>
          <a:xfrm>
            <a:off x="5575300" y="2171700"/>
            <a:ext cx="1842894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36" name="Google Shape;236;p7"/>
          <p:cNvCxnSpPr/>
          <p:nvPr/>
        </p:nvCxnSpPr>
        <p:spPr>
          <a:xfrm>
            <a:off x="5867400" y="2609850"/>
            <a:ext cx="1550794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37" name="Google Shape;237;p7"/>
          <p:cNvCxnSpPr/>
          <p:nvPr/>
        </p:nvCxnSpPr>
        <p:spPr>
          <a:xfrm>
            <a:off x="5765800" y="3060700"/>
            <a:ext cx="1652394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38" name="Google Shape;238;p7"/>
          <p:cNvCxnSpPr/>
          <p:nvPr/>
        </p:nvCxnSpPr>
        <p:spPr>
          <a:xfrm>
            <a:off x="6400800" y="3505200"/>
            <a:ext cx="1017394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id="239" name="Google Shape;23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biombo, edificio, juego, reloj&#10;&#10;Descripción generada automáticamente" id="244" name="Google Shape;2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89" y="951374"/>
            <a:ext cx="3573863" cy="3573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biombo, edificio, juego, reloj&#10;&#10;Descripción generada automáticamente"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88" y="951374"/>
            <a:ext cx="3573863" cy="3573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8"/>
          <p:cNvCxnSpPr/>
          <p:nvPr/>
        </p:nvCxnSpPr>
        <p:spPr>
          <a:xfrm flipH="1">
            <a:off x="3110504" y="3821393"/>
            <a:ext cx="256800" cy="153300"/>
          </a:xfrm>
          <a:prstGeom prst="bentConnector3">
            <a:avLst>
              <a:gd fmla="val -8081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47" name="Google Shape;247;p8"/>
          <p:cNvCxnSpPr/>
          <p:nvPr/>
        </p:nvCxnSpPr>
        <p:spPr>
          <a:xfrm rot="10800000">
            <a:off x="1364896" y="3974771"/>
            <a:ext cx="1298575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48" name="Google Shape;248;p8"/>
          <p:cNvCxnSpPr/>
          <p:nvPr/>
        </p:nvCxnSpPr>
        <p:spPr>
          <a:xfrm rot="10800000">
            <a:off x="1291871" y="1653052"/>
            <a:ext cx="0" cy="2245029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49" name="Google Shape;249;p8"/>
          <p:cNvCxnSpPr/>
          <p:nvPr/>
        </p:nvCxnSpPr>
        <p:spPr>
          <a:xfrm>
            <a:off x="1564921" y="1444129"/>
            <a:ext cx="819300" cy="259800"/>
          </a:xfrm>
          <a:prstGeom prst="bentConnector3">
            <a:avLst>
              <a:gd fmla="val 100079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0" name="Google Shape;250;p8"/>
          <p:cNvCxnSpPr/>
          <p:nvPr/>
        </p:nvCxnSpPr>
        <p:spPr>
          <a:xfrm flipH="1" rot="-5400000">
            <a:off x="2290623" y="2255481"/>
            <a:ext cx="1201200" cy="1014300"/>
          </a:xfrm>
          <a:prstGeom prst="bentConnector3">
            <a:avLst>
              <a:gd fmla="val 68634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1" name="Google Shape;251;p8"/>
          <p:cNvSpPr/>
          <p:nvPr/>
        </p:nvSpPr>
        <p:spPr>
          <a:xfrm>
            <a:off x="1205195" y="3898081"/>
            <a:ext cx="173352" cy="16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2300564" y="2918565"/>
            <a:ext cx="173352" cy="16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Veamos el recorrido de Miguel</a:t>
            </a:r>
            <a:endParaRPr/>
          </a:p>
        </p:txBody>
      </p:sp>
      <p:pic>
        <p:nvPicPr>
          <p:cNvPr descr="Forma&#10;&#10;Descripción generada automáticamente con confianza baja" id="254" name="Google Shape;2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801" y="293774"/>
            <a:ext cx="855394" cy="85539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 txBox="1"/>
          <p:nvPr>
            <p:ph idx="1" type="body"/>
          </p:nvPr>
        </p:nvSpPr>
        <p:spPr>
          <a:xfrm>
            <a:off x="4016675" y="1152839"/>
            <a:ext cx="4857635" cy="35661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 trayecto de Miguel comienza:</a:t>
            </a:r>
            <a:endParaRPr/>
          </a:p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Desde su casa en (F,2), se mueve 1 cuadra al sur y 1 cuadra al oeste para llegar al Paradero en (E,1)</a:t>
            </a:r>
            <a:endParaRPr/>
          </a:p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1"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describirías el resto de su trayecto hasta volver a su casa? </a:t>
            </a:r>
            <a:br>
              <a:rPr b="1"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</a:b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Considera que se detiene en P y Q</a:t>
            </a:r>
            <a:endParaRPr/>
          </a:p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56" name="Google Shape;25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 txBox="1"/>
          <p:nvPr/>
        </p:nvSpPr>
        <p:spPr>
          <a:xfrm>
            <a:off x="381274" y="330550"/>
            <a:ext cx="838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Plano Cartesiano</a:t>
            </a:r>
            <a:endParaRPr/>
          </a:p>
        </p:txBody>
      </p:sp>
      <p:sp>
        <p:nvSpPr>
          <p:cNvPr id="262" name="Google Shape;262;p9"/>
          <p:cNvSpPr txBox="1"/>
          <p:nvPr>
            <p:ph idx="1" type="body"/>
          </p:nvPr>
        </p:nvSpPr>
        <p:spPr>
          <a:xfrm>
            <a:off x="628613" y="915538"/>
            <a:ext cx="7886700" cy="9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Matemáticamente, en vez de utilizar un Plano Cuadriculado para localizar objetos, usamos el </a:t>
            </a:r>
            <a:r>
              <a:rPr b="1"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Plano Cartesiano</a:t>
            </a:r>
            <a:endParaRPr/>
          </a:p>
        </p:txBody>
      </p:sp>
      <p:pic>
        <p:nvPicPr>
          <p:cNvPr descr="Imagen que contiene Tabla&#10;&#10;Descripción generada automáticamente" id="263" name="Google Shape;2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4" y="1387409"/>
            <a:ext cx="34099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 txBox="1"/>
          <p:nvPr/>
        </p:nvSpPr>
        <p:spPr>
          <a:xfrm>
            <a:off x="2913985" y="2067218"/>
            <a:ext cx="1683653" cy="533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Tiene 2 ejes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4583350" y="1818364"/>
            <a:ext cx="2336800" cy="1037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1397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Horizontal (</a:t>
            </a:r>
            <a:r>
              <a:rPr b="0" i="0" lang="es-CL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eje X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endParaRPr/>
          </a:p>
          <a:p>
            <a:pPr indent="0" lvl="0" marL="1397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Vertical (</a:t>
            </a:r>
            <a:r>
              <a:rPr b="0" i="0" lang="es-CL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eje Y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)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6988412" y="1883709"/>
            <a:ext cx="1991866" cy="9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cruzan en el </a:t>
            </a:r>
            <a:b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</a:br>
            <a:r>
              <a:rPr b="0" i="0" lang="es-CL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Origen</a:t>
            </a:r>
            <a:endParaRPr b="1" i="0" sz="2400" u="none" cap="none" strike="noStrike">
              <a:solidFill>
                <a:srgbClr val="FFFFFF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7" name="Google Shape;267;p9"/>
          <p:cNvSpPr/>
          <p:nvPr/>
        </p:nvSpPr>
        <p:spPr>
          <a:xfrm flipH="1">
            <a:off x="4515088" y="2038643"/>
            <a:ext cx="265112" cy="64471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855856" y="2038643"/>
            <a:ext cx="265112" cy="64471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2951086" y="3035389"/>
            <a:ext cx="5601328" cy="13741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 par ordenado se escribe </a:t>
            </a:r>
            <a:r>
              <a:rPr b="0" i="0" lang="es-CL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(X, Y)</a:t>
            </a: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: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La coordenada horizontal (X)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La coordenada vertical (Y) 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948240" y="3246866"/>
            <a:ext cx="1123580" cy="533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Origen</a:t>
            </a:r>
            <a:endParaRPr b="1" i="0" sz="2400" u="none" cap="none" strike="noStrike">
              <a:solidFill>
                <a:srgbClr val="FFFFFF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 flipH="1">
            <a:off x="533400" y="3733800"/>
            <a:ext cx="635000" cy="558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2" name="Google Shape;272;p9"/>
          <p:cNvSpPr txBox="1"/>
          <p:nvPr/>
        </p:nvSpPr>
        <p:spPr>
          <a:xfrm>
            <a:off x="1147443" y="3779973"/>
            <a:ext cx="7251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(0, 0)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Tabla&#10;&#10;Descripción generada automáticamente" id="278" name="Google Shape;2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973" y="1444898"/>
            <a:ext cx="3181310" cy="318131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Posiciones en el Plano Cartesiano</a:t>
            </a:r>
            <a:endParaRPr/>
          </a:p>
        </p:txBody>
      </p:sp>
      <p:sp>
        <p:nvSpPr>
          <p:cNvPr id="280" name="Google Shape;280;p10"/>
          <p:cNvSpPr txBox="1"/>
          <p:nvPr>
            <p:ph idx="1" type="body"/>
          </p:nvPr>
        </p:nvSpPr>
        <p:spPr>
          <a:xfrm>
            <a:off x="628613" y="915538"/>
            <a:ext cx="78867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representarías la posición de la casa de Miguel?</a:t>
            </a:r>
            <a:endParaRPr b="1" sz="24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2906644" y="1737216"/>
            <a:ext cx="5899815" cy="17065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Partiendo del origen, nos movemos 6 unidades a la derecha a lo largo del eje horizontal (X)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Desde ahí subimos 2 unidades verticalmente (Y)</a:t>
            </a:r>
            <a:endParaRPr/>
          </a:p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3° Entonces las coordenadas de la casa son (6,2)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2906643" y="3503124"/>
            <a:ext cx="5899815" cy="504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1397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son las coordenadas del resto?</a:t>
            </a:r>
            <a:endParaRPr/>
          </a:p>
        </p:txBody>
      </p:sp>
      <p:pic>
        <p:nvPicPr>
          <p:cNvPr id="283" name="Google Shape;28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88" name="Google Shape;28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1003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1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291" name="Google Shape;291;p11" title="Resumen - Geometría (3) - Plano Cartesian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5900" y="1087200"/>
            <a:ext cx="6315225" cy="36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Tabla&#10;&#10;Descripción generada automáticamente" id="297" name="Google Shape;2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093" y="992728"/>
            <a:ext cx="3409949" cy="340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2"/>
          <p:cNvSpPr txBox="1"/>
          <p:nvPr/>
        </p:nvSpPr>
        <p:spPr>
          <a:xfrm>
            <a:off x="281249" y="407725"/>
            <a:ext cx="858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 txBox="1"/>
          <p:nvPr/>
        </p:nvSpPr>
        <p:spPr>
          <a:xfrm>
            <a:off x="4213365" y="2575968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https://forms.gle/wQs817zpNfuqWGPZ6</a:t>
            </a:r>
            <a:r>
              <a:rPr b="1" i="0" lang="es-CL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706292" y="2038065"/>
            <a:ext cx="152400" cy="152400"/>
          </a:xfrm>
          <a:prstGeom prst="ellipse">
            <a:avLst/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1449098" y="1744933"/>
            <a:ext cx="514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2425112" y="2046115"/>
            <a:ext cx="152400" cy="152400"/>
          </a:xfrm>
          <a:prstGeom prst="ellipse">
            <a:avLst/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2167918" y="1752983"/>
            <a:ext cx="514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3509872" y="2402731"/>
            <a:ext cx="152400" cy="152400"/>
          </a:xfrm>
          <a:prstGeom prst="ellipse">
            <a:avLst/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3252678" y="2109599"/>
            <a:ext cx="514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Q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425474" y="3492623"/>
            <a:ext cx="152400" cy="152400"/>
          </a:xfrm>
          <a:prstGeom prst="ellipse">
            <a:avLst/>
          </a:prstGeom>
          <a:solidFill>
            <a:srgbClr val="FAB23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2168280" y="3199491"/>
            <a:ext cx="514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8" name="Google Shape;308;p12"/>
          <p:cNvGraphicFramePr/>
          <p:nvPr/>
        </p:nvGraphicFramePr>
        <p:xfrm>
          <a:off x="5119959" y="1701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{E71EC538-2597-4F07-B9AD-96D4167D527D}</a:tableStyleId>
              </a:tblPr>
              <a:tblGrid>
                <a:gridCol w="707800"/>
                <a:gridCol w="707800"/>
                <a:gridCol w="707800"/>
                <a:gridCol w="707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_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_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Q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(4,1)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/>
                        <a:t>(_,_)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/>
                        <a:t>(4,5)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/>
                        <a:t>(_,_)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09" name="Google Shape;309;p12"/>
          <p:cNvSpPr txBox="1"/>
          <p:nvPr>
            <p:ph idx="1" type="body"/>
          </p:nvPr>
        </p:nvSpPr>
        <p:spPr>
          <a:xfrm>
            <a:off x="2517792" y="1116947"/>
            <a:ext cx="78867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397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b="1" lang="es-CL" sz="240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Identifica los pares ordenados</a:t>
            </a:r>
            <a:endParaRPr/>
          </a:p>
        </p:txBody>
      </p:sp>
      <p:pic>
        <p:nvPicPr>
          <p:cNvPr id="310" name="Google Shape;310;p12"/>
          <p:cNvPicPr preferRelativeResize="0"/>
          <p:nvPr/>
        </p:nvPicPr>
        <p:blipFill rotWithShape="1">
          <a:blip r:embed="rId5">
            <a:alphaModFix/>
          </a:blip>
          <a:srcRect b="9258" l="8148" r="8148" t="9259"/>
          <a:stretch/>
        </p:blipFill>
        <p:spPr>
          <a:xfrm>
            <a:off x="5669278" y="3119011"/>
            <a:ext cx="1660174" cy="161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16" name="Google Shape;31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19" name="Google Shape;319;p13" title="Reforzamiento - Geometría (3) - Plano Cartesian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5600" y="1096350"/>
            <a:ext cx="6701200" cy="37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2800" y="39545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