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Patrick Hand"/>
      <p:regular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Poppins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g5IBGjM/fjmo3bgVtfyoEsJ2mY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font" Target="fonts/PatrickHan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-italic.fntdata"/><Relationship Id="rId10" Type="http://schemas.openxmlformats.org/officeDocument/2006/relationships/slide" Target="slides/slide4.xml"/><Relationship Id="rId32" Type="http://schemas.openxmlformats.org/officeDocument/2006/relationships/font" Target="fonts/Poppins-bold.fntdata"/><Relationship Id="rId13" Type="http://schemas.openxmlformats.org/officeDocument/2006/relationships/slide" Target="slides/slide7.xml"/><Relationship Id="rId35" Type="http://schemas.openxmlformats.org/officeDocument/2006/relationships/font" Target="fonts/PoppinsLight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Light-italic.fntdata"/><Relationship Id="rId14" Type="http://schemas.openxmlformats.org/officeDocument/2006/relationships/slide" Target="slides/slide8.xml"/><Relationship Id="rId36" Type="http://schemas.openxmlformats.org/officeDocument/2006/relationships/font" Target="fonts/PoppinsLight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Poppins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953ce6231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953ce623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53ce6231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53ce623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953ce6231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953ce623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Introducir que existen otros tipos de figuras como lo son los paralelógramos mediante la Torre de Pisa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https://images.ecestaticos.com/k073CyEHBbnufqgB3lLxBdOVAhk=/0x52:1022x628/1200x1200/filters:fill(white):format(jpg)/f.elconfidencial.com%2Foriginal%2F5f1%2F755%2F108%2F5f17551081f40a932f7d718d7c1bebfc.jpg</a:t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Esperar a que el pupilo deduzca que los lados de la figura son paralelos y por eso el nombre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Esperar a que el pupilo deduzca que los lados de la figura son paralelos y por eso el nombre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Esperar a que el pupilo recuerde la estrategia que aplicamos con los triángulos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Esperar a que el pupilo vaya guiando el paso a paso. En el proceso pregúntale qué paso sigue.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/>
              <a:t>Amarillo = 96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/>
              <a:t>Verde = 128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Discutir la primera pregunta y luego con la segunda ver si el pupilo logra nombrarlo por su cuenta, sino darle play a las animaciones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953ce6231_0_15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2d953ce6231_0_15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2d953ce6231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2d953ce6231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2d953ce6231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953ce6231_0_1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2d953ce6231_0_16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2d953ce6231_0_16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2d953ce6231_0_16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2d953ce6231_0_1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953ce6231_0_16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2d953ce6231_0_16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2d953ce6231_0_16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2d953ce6231_0_16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2d953ce6231_0_1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953ce6231_0_17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2d953ce6231_0_17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2d953ce6231_0_17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2d953ce6231_0_17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2d953ce6231_0_17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2d953ce6231_0_1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953ce6231_0_18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2d953ce6231_0_18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2d953ce6231_0_18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2d953ce6231_0_18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2d953ce6231_0_18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2d953ce6231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2d953ce6231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2d953ce6231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953ce6231_0_18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2d953ce6231_0_18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2d953ce6231_0_18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2d953ce6231_0_1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953ce6231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2d953ce6231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2d953ce6231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953ce6231_0_19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2d953ce6231_0_19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2d953ce6231_0_19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2d953ce6231_0_19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2d953ce6231_0_19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2d953ce6231_0_19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953ce6231_0_205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2d953ce6231_0_205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2d953ce6231_0_205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2d953ce6231_0_20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2d953ce6231_0_20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2d953ce6231_0_20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953ce6231_0_2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2d953ce6231_0_212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2d953ce6231_0_2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2d953ce6231_0_2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2d953ce6231_0_2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953ce6231_0_21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2d953ce6231_0_21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2d953ce6231_0_2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2d953ce6231_0_2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2d953ce6231_0_2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953ce6231_0_1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2d953ce6231_0_14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2d953ce6231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2d953ce6231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2d953ce6231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Relationship Id="rId4" Type="http://schemas.openxmlformats.org/officeDocument/2006/relationships/hyperlink" Target="http://www.youtube.com/watch?v=GnHYHxEgDY8" TargetMode="External"/><Relationship Id="rId5" Type="http://schemas.openxmlformats.org/officeDocument/2006/relationships/image" Target="../media/image19.jpg"/><Relationship Id="rId6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forms.gle/9ULnxvkzR43xc6GK6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g"/><Relationship Id="rId4" Type="http://schemas.openxmlformats.org/officeDocument/2006/relationships/hyperlink" Target="http://www.youtube.com/watch?v=Z_MdhDwJq5U" TargetMode="External"/><Relationship Id="rId5" Type="http://schemas.openxmlformats.org/officeDocument/2006/relationships/image" Target="../media/image10.jp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6100" y="42529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953ce6231_0_112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Facilitar en los estudiantes la comprensión y aplicación de diversas estrategias para calcular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área de paralelógramos.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2d953ce6231_0_112"/>
          <p:cNvSpPr txBox="1"/>
          <p:nvPr/>
        </p:nvSpPr>
        <p:spPr>
          <a:xfrm>
            <a:off x="868700" y="1980075"/>
            <a:ext cx="3524100" cy="2079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Entender qué es un 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paralelogramo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2.Deducir el área de un 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paralelogramo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2d953ce6231_0_112"/>
          <p:cNvSpPr txBox="1"/>
          <p:nvPr/>
        </p:nvSpPr>
        <p:spPr>
          <a:xfrm>
            <a:off x="4782050" y="1979975"/>
            <a:ext cx="3524100" cy="2079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Paralelogramos.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2.Cálculo de área de paralelogramos.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2d953ce6231_0_11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d953ce6231_0_11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d953ce6231_0_11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2d953ce6231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2875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953ce6231_0_122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2d953ce6231_0_122"/>
          <p:cNvSpPr txBox="1"/>
          <p:nvPr/>
        </p:nvSpPr>
        <p:spPr>
          <a:xfrm>
            <a:off x="589763" y="1370081"/>
            <a:ext cx="7875000" cy="7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Al introducir el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paralelogramo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, haz el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énfasis en el nombre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de este, señalando que sus dos pares de lados opuestos son paralelos.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En la sesión se utilizará la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completación de figuras para deducir la fórmula del área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del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paralelogramo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 Asegúrate que el estudiante pueda notar fácilmente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por qué en esencia está calculando el área de un rectángulo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 Con lo anterior, hazle notar que un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rectángulo es también un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paralelogramo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En la diapositiva 15 aprovecha de utilizar las otras estrategias al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calcular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área que aprendieron para el caso del triángulo. De esa forma podrás mostrarle independiente del método que utilice, el resultado será el mismo.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2d953ce6231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d953ce6231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d953ce6231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2d953ce6231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2875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953ce6231_0_14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2d953ce6231_0_140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Pídele a tu estudiante que busque si en su </a:t>
            </a:r>
            <a:r>
              <a:rPr b="1"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hogar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especialmente en su cocina, </a:t>
            </a:r>
            <a:r>
              <a:rPr b="1"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encuentra romboides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Si lo logra, pídele que calcule sus </a:t>
            </a:r>
            <a:r>
              <a:rPr b="1"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dimensiones y obtenga su área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caso contrario, haz que para la siguiente sesión diseñe en su cuaderno su propia figura con ciertas dimensiones.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2d953ce6231_0_140"/>
          <p:cNvSpPr txBox="1"/>
          <p:nvPr/>
        </p:nvSpPr>
        <p:spPr>
          <a:xfrm>
            <a:off x="285206" y="3229919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caracteriza a un paralelogramo?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¿Es un cuadrado un paralelogramo?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¿Cómo calculas el área de un paralelogramo?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2d953ce6231_0_14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d953ce6231_0_14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2d953ce6231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2875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/>
        </p:nvSpPr>
        <p:spPr>
          <a:xfrm>
            <a:off x="1152939" y="20639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13</a:t>
            </a:r>
            <a:endParaRPr/>
          </a:p>
        </p:txBody>
      </p:sp>
      <p:pic>
        <p:nvPicPr>
          <p:cNvPr id="173" name="Google Shape;1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600255" y="1095159"/>
            <a:ext cx="794348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OA22 5to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Calcular áreas de triángulos, de paralelogramos y de trapecios, y estimar áreas de figuras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irregulares aplicando las siguientes estrategias: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conteo de cuadrículas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comparación con el área de un rectángulo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completar figuras por traslación</a:t>
            </a:r>
            <a:endParaRPr/>
          </a:p>
        </p:txBody>
      </p:sp>
      <p:pic>
        <p:nvPicPr>
          <p:cNvPr id="180" name="Google Shape;18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00218" y="1095159"/>
            <a:ext cx="794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Entender qué es un paralelógramo.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Deducir el área de un paralelógramo.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87" name="Google Shape;18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 txBox="1"/>
          <p:nvPr/>
        </p:nvSpPr>
        <p:spPr>
          <a:xfrm>
            <a:off x="337512" y="299750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¿Conoces este lugar?</a:t>
            </a:r>
            <a:endParaRPr/>
          </a:p>
        </p:txBody>
      </p:sp>
      <p:pic>
        <p:nvPicPr>
          <p:cNvPr descr="La Torre de Pisa ya no se caerá: así ha evitado un arqueólogo que siga  inclinándose" id="193" name="Google Shape;193;p5"/>
          <p:cNvPicPr preferRelativeResize="0"/>
          <p:nvPr/>
        </p:nvPicPr>
        <p:blipFill rotWithShape="1">
          <a:blip r:embed="rId3">
            <a:alphaModFix/>
          </a:blip>
          <a:srcRect b="5306" l="36394" r="20974" t="1814"/>
          <a:stretch/>
        </p:blipFill>
        <p:spPr>
          <a:xfrm>
            <a:off x="3694071" y="951374"/>
            <a:ext cx="1755857" cy="382552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 txBox="1"/>
          <p:nvPr/>
        </p:nvSpPr>
        <p:spPr>
          <a:xfrm>
            <a:off x="5785778" y="2079307"/>
            <a:ext cx="316228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dibujaras una figura geométrica que se asemejara a ella,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se vería?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3832512" y="1287623"/>
            <a:ext cx="1478902" cy="3405301"/>
          </a:xfrm>
          <a:prstGeom prst="parallelogram">
            <a:avLst>
              <a:gd fmla="val 32152" name="adj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 txBox="1"/>
          <p:nvPr/>
        </p:nvSpPr>
        <p:spPr>
          <a:xfrm>
            <a:off x="161400" y="286650"/>
            <a:ext cx="882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¿Conoces este lugar?</a:t>
            </a:r>
            <a:endParaRPr/>
          </a:p>
        </p:txBody>
      </p:sp>
      <p:pic>
        <p:nvPicPr>
          <p:cNvPr descr="La Torre de Pisa ya no se caerá: así ha evitado un arqueólogo que siga  inclinándose" id="202" name="Google Shape;202;p6"/>
          <p:cNvPicPr preferRelativeResize="0"/>
          <p:nvPr/>
        </p:nvPicPr>
        <p:blipFill rotWithShape="1">
          <a:blip r:embed="rId3">
            <a:alphaModFix/>
          </a:blip>
          <a:srcRect b="5306" l="36394" r="20974" t="1814"/>
          <a:stretch/>
        </p:blipFill>
        <p:spPr>
          <a:xfrm>
            <a:off x="2053403" y="951374"/>
            <a:ext cx="1755857" cy="382552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5352237" y="1250302"/>
            <a:ext cx="1478902" cy="3405301"/>
          </a:xfrm>
          <a:prstGeom prst="parallelogram">
            <a:avLst>
              <a:gd fmla="val 32152" name="adj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6"/>
          <p:cNvCxnSpPr/>
          <p:nvPr/>
        </p:nvCxnSpPr>
        <p:spPr>
          <a:xfrm>
            <a:off x="4083291" y="2952952"/>
            <a:ext cx="1201279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5" name="Google Shape;205;p6"/>
          <p:cNvSpPr txBox="1"/>
          <p:nvPr/>
        </p:nvSpPr>
        <p:spPr>
          <a:xfrm>
            <a:off x="6898806" y="1874033"/>
            <a:ext cx="204340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Esta figura tiene el nombre de </a:t>
            </a:r>
            <a:r>
              <a:rPr b="1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paralelógramo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, ¿por qué será?</a:t>
            </a:r>
            <a:endParaRPr/>
          </a:p>
        </p:txBody>
      </p:sp>
      <p:pic>
        <p:nvPicPr>
          <p:cNvPr id="206" name="Google Shape;20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 txBox="1"/>
          <p:nvPr/>
        </p:nvSpPr>
        <p:spPr>
          <a:xfrm>
            <a:off x="-25" y="366600"/>
            <a:ext cx="887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Paralelógramos</a:t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3691388" y="1156996"/>
            <a:ext cx="1478902" cy="3405301"/>
          </a:xfrm>
          <a:prstGeom prst="parallelogram">
            <a:avLst>
              <a:gd fmla="val 32152" name="adj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7"/>
          <p:cNvCxnSpPr/>
          <p:nvPr/>
        </p:nvCxnSpPr>
        <p:spPr>
          <a:xfrm flipH="1" rot="10800000">
            <a:off x="3590925" y="-238125"/>
            <a:ext cx="771525" cy="552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4" name="Google Shape;214;p7"/>
          <p:cNvCxnSpPr/>
          <p:nvPr/>
        </p:nvCxnSpPr>
        <p:spPr>
          <a:xfrm flipH="1" rot="10800000">
            <a:off x="4600575" y="-238125"/>
            <a:ext cx="771525" cy="552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5" name="Google Shape;215;p7"/>
          <p:cNvCxnSpPr/>
          <p:nvPr/>
        </p:nvCxnSpPr>
        <p:spPr>
          <a:xfrm>
            <a:off x="-666750" y="1143000"/>
            <a:ext cx="1017270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6" name="Google Shape;216;p7"/>
          <p:cNvCxnSpPr/>
          <p:nvPr/>
        </p:nvCxnSpPr>
        <p:spPr>
          <a:xfrm>
            <a:off x="-657225" y="4571822"/>
            <a:ext cx="1017270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17" name="Google Shape;217;p7"/>
          <p:cNvSpPr txBox="1"/>
          <p:nvPr/>
        </p:nvSpPr>
        <p:spPr>
          <a:xfrm>
            <a:off x="5408415" y="2441913"/>
            <a:ext cx="284703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Porque los lados opuestos son paralelos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/>
          </a:p>
        </p:txBody>
      </p:sp>
      <p:pic>
        <p:nvPicPr>
          <p:cNvPr id="218" name="Google Shape;21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5450" y="37130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/>
        </p:nvSpPr>
        <p:spPr>
          <a:xfrm>
            <a:off x="154650" y="326025"/>
            <a:ext cx="883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Paralelógramos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podríamos obtener el área de la figura?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225" name="Google Shape;2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4048306" y="1809035"/>
            <a:ext cx="1390507" cy="2419349"/>
          </a:xfrm>
          <a:prstGeom prst="parallelogram">
            <a:avLst>
              <a:gd fmla="val 25987" name="adj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/>
        </p:nvSpPr>
        <p:spPr>
          <a:xfrm>
            <a:off x="181350" y="326025"/>
            <a:ext cx="878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Paralelógramos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hacíamos con los triángulos?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234" name="Google Shape;2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/>
          <p:nvPr/>
        </p:nvSpPr>
        <p:spPr>
          <a:xfrm>
            <a:off x="4048306" y="1809035"/>
            <a:ext cx="1390507" cy="2419349"/>
          </a:xfrm>
          <a:prstGeom prst="parallelogram">
            <a:avLst>
              <a:gd fmla="val 25987" name="adj"/>
            </a:avLst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/>
          <p:nvPr/>
        </p:nvSpPr>
        <p:spPr>
          <a:xfrm>
            <a:off x="264524" y="326025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Paralelógramos</a:t>
            </a:r>
            <a:endParaRPr/>
          </a:p>
        </p:txBody>
      </p:sp>
      <p:sp>
        <p:nvSpPr>
          <p:cNvPr id="242" name="Google Shape;242;p10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¡Dividamos por figuras conocidas!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4048306" y="1809035"/>
            <a:ext cx="1390507" cy="2419349"/>
          </a:xfrm>
          <a:prstGeom prst="parallelogram">
            <a:avLst>
              <a:gd fmla="val 25987" name="adj"/>
            </a:avLst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-37" y="2201149"/>
            <a:ext cx="265747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Incluyamos los nombres de la 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base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y la </a:t>
            </a:r>
            <a:r>
              <a:rPr b="0" i="0" lang="es-ES" sz="2400" u="none" cap="none" strike="noStrike">
                <a:solidFill>
                  <a:srgbClr val="7030A0"/>
                </a:solidFill>
                <a:latin typeface="Patrick Hand"/>
                <a:ea typeface="Patrick Hand"/>
                <a:cs typeface="Patrick Hand"/>
                <a:sym typeface="Patrick Hand"/>
              </a:rPr>
              <a:t>altura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4392291" y="402067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4389699" y="422838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48" name="Google Shape;248;p10"/>
          <p:cNvCxnSpPr/>
          <p:nvPr/>
        </p:nvCxnSpPr>
        <p:spPr>
          <a:xfrm>
            <a:off x="4048269" y="4228384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49" name="Google Shape;249;p10"/>
          <p:cNvCxnSpPr/>
          <p:nvPr/>
        </p:nvCxnSpPr>
        <p:spPr>
          <a:xfrm>
            <a:off x="4399368" y="1809035"/>
            <a:ext cx="0" cy="2419347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50" name="Google Shape;250;p10"/>
          <p:cNvSpPr txBox="1"/>
          <p:nvPr/>
        </p:nvSpPr>
        <p:spPr>
          <a:xfrm>
            <a:off x="4399368" y="2453191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51" name="Google Shape;25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/>
          <p:nvPr/>
        </p:nvSpPr>
        <p:spPr>
          <a:xfrm>
            <a:off x="4048306" y="1809035"/>
            <a:ext cx="1390507" cy="2419349"/>
          </a:xfrm>
          <a:prstGeom prst="parallelogram">
            <a:avLst>
              <a:gd fmla="val 25987" name="adj"/>
            </a:avLst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en blanco y negro&#10;&#10;Descripción generada automáticamente con confianza media" id="257" name="Google Shape;2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 rot="5400000">
            <a:off x="4044949" y="2844803"/>
            <a:ext cx="2457450" cy="374650"/>
          </a:xfrm>
          <a:prstGeom prst="rtTriangle">
            <a:avLst/>
          </a:prstGeom>
          <a:solidFill>
            <a:srgbClr val="009F98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057650" y="1803403"/>
            <a:ext cx="1035050" cy="2438397"/>
          </a:xfrm>
          <a:custGeom>
            <a:rect b="b" l="l" r="r" t="t"/>
            <a:pathLst>
              <a:path extrusionOk="0" h="2425700" w="1035050">
                <a:moveTo>
                  <a:pt x="336550" y="0"/>
                </a:moveTo>
                <a:lnTo>
                  <a:pt x="0" y="2425700"/>
                </a:lnTo>
                <a:lnTo>
                  <a:pt x="1035050" y="2425700"/>
                </a:lnTo>
                <a:lnTo>
                  <a:pt x="1035050" y="6350"/>
                </a:lnTo>
                <a:lnTo>
                  <a:pt x="336550" y="0"/>
                </a:lnTo>
                <a:close/>
              </a:path>
            </a:pathLst>
          </a:cu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384299" y="326025"/>
            <a:ext cx="868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Paralelógramos</a:t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¡Dividamos por figuras conocidas!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392291" y="402067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4389699" y="422838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64" name="Google Shape;264;p11"/>
          <p:cNvCxnSpPr/>
          <p:nvPr/>
        </p:nvCxnSpPr>
        <p:spPr>
          <a:xfrm>
            <a:off x="4048269" y="4228384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65" name="Google Shape;265;p11"/>
          <p:cNvCxnSpPr/>
          <p:nvPr/>
        </p:nvCxnSpPr>
        <p:spPr>
          <a:xfrm>
            <a:off x="4399368" y="1809035"/>
            <a:ext cx="0" cy="2419347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66" name="Google Shape;266;p11"/>
          <p:cNvSpPr txBox="1"/>
          <p:nvPr/>
        </p:nvSpPr>
        <p:spPr>
          <a:xfrm>
            <a:off x="4399368" y="2453191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67" name="Google Shape;26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en blanco y negro&#10;&#10;Descripción generada automáticamente con confianza media" id="272" name="Google Shape;2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/>
          <p:nvPr/>
        </p:nvSpPr>
        <p:spPr>
          <a:xfrm>
            <a:off x="4048306" y="1809035"/>
            <a:ext cx="1390507" cy="2419349"/>
          </a:xfrm>
          <a:prstGeom prst="parallelogram">
            <a:avLst>
              <a:gd fmla="val 25987" name="adj"/>
            </a:avLst>
          </a:prstGeom>
          <a:noFill/>
          <a:ln cap="flat" cmpd="sng" w="57150">
            <a:solidFill>
              <a:srgbClr val="FAB23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 rot="5400000">
            <a:off x="3015290" y="2844803"/>
            <a:ext cx="2457450" cy="374650"/>
          </a:xfrm>
          <a:prstGeom prst="rtTriangle">
            <a:avLst/>
          </a:prstGeom>
          <a:solidFill>
            <a:srgbClr val="009F98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4057650" y="1803403"/>
            <a:ext cx="1035050" cy="2438397"/>
          </a:xfrm>
          <a:custGeom>
            <a:rect b="b" l="l" r="r" t="t"/>
            <a:pathLst>
              <a:path extrusionOk="0" h="2425700" w="1035050">
                <a:moveTo>
                  <a:pt x="336550" y="0"/>
                </a:moveTo>
                <a:lnTo>
                  <a:pt x="0" y="2425700"/>
                </a:lnTo>
                <a:lnTo>
                  <a:pt x="1035050" y="2425700"/>
                </a:lnTo>
                <a:lnTo>
                  <a:pt x="1035050" y="6350"/>
                </a:lnTo>
                <a:lnTo>
                  <a:pt x="336550" y="0"/>
                </a:lnTo>
                <a:close/>
              </a:path>
            </a:pathLst>
          </a:cu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101775" y="326025"/>
            <a:ext cx="879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Paralelógramos</a:t>
            </a:r>
            <a:endParaRPr/>
          </a:p>
        </p:txBody>
      </p:sp>
      <p:sp>
        <p:nvSpPr>
          <p:cNvPr id="277" name="Google Shape;277;p12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¡Dividamos por figuras conocidas!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4392291" y="402067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4389699" y="422838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80" name="Google Shape;280;p12"/>
          <p:cNvCxnSpPr/>
          <p:nvPr/>
        </p:nvCxnSpPr>
        <p:spPr>
          <a:xfrm>
            <a:off x="4048269" y="4228384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81" name="Google Shape;281;p12"/>
          <p:cNvCxnSpPr/>
          <p:nvPr/>
        </p:nvCxnSpPr>
        <p:spPr>
          <a:xfrm>
            <a:off x="4399368" y="1809035"/>
            <a:ext cx="0" cy="2419347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82" name="Google Shape;282;p12"/>
          <p:cNvSpPr txBox="1"/>
          <p:nvPr/>
        </p:nvSpPr>
        <p:spPr>
          <a:xfrm>
            <a:off x="4399368" y="2453191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83" name="Google Shape;28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en blanco y negro&#10;&#10;Descripción generada automáticamente con confianza media" id="288" name="Google Shape;2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/>
          <p:nvPr/>
        </p:nvSpPr>
        <p:spPr>
          <a:xfrm>
            <a:off x="4054437" y="1830502"/>
            <a:ext cx="1035050" cy="2405825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168000" y="326025"/>
            <a:ext cx="880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Paralelógramos</a:t>
            </a:r>
            <a:endParaRPr/>
          </a:p>
        </p:txBody>
      </p:sp>
      <p:sp>
        <p:nvSpPr>
          <p:cNvPr id="291" name="Google Shape;291;p13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¡Dividamos por figuras conocidas!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-76" y="1711262"/>
            <a:ext cx="26574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es eso?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0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Un rectángulo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¿Y cómo se calcula su área?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0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Ancho por largo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2400" u="none" cap="none" strike="noStrike">
              <a:solidFill>
                <a:srgbClr val="7030A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392291" y="402067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4389699" y="422838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95" name="Google Shape;295;p13"/>
          <p:cNvCxnSpPr/>
          <p:nvPr/>
        </p:nvCxnSpPr>
        <p:spPr>
          <a:xfrm>
            <a:off x="4048269" y="4228384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96" name="Google Shape;296;p13"/>
          <p:cNvCxnSpPr/>
          <p:nvPr/>
        </p:nvCxnSpPr>
        <p:spPr>
          <a:xfrm>
            <a:off x="4399368" y="1809035"/>
            <a:ext cx="0" cy="2419347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97" name="Google Shape;297;p13"/>
          <p:cNvSpPr txBox="1"/>
          <p:nvPr/>
        </p:nvSpPr>
        <p:spPr>
          <a:xfrm>
            <a:off x="4399368" y="2453191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98" name="Google Shape;29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en blanco y negro&#10;&#10;Descripción generada automáticamente con confianza media" id="303" name="Google Shape;3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/>
          <p:nvPr/>
        </p:nvSpPr>
        <p:spPr>
          <a:xfrm>
            <a:off x="4054437" y="1830502"/>
            <a:ext cx="1035050" cy="2405825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4048306" y="1809035"/>
            <a:ext cx="1390507" cy="2419349"/>
          </a:xfrm>
          <a:prstGeom prst="parallelogram">
            <a:avLst>
              <a:gd fmla="val 25987" name="adj"/>
            </a:avLst>
          </a:prstGeom>
          <a:noFill/>
          <a:ln cap="flat" cmpd="sng" w="57150">
            <a:solidFill>
              <a:srgbClr val="BCBCB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161400" y="326025"/>
            <a:ext cx="882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Paralelógramos</a:t>
            </a:r>
            <a:endParaRPr/>
          </a:p>
        </p:txBody>
      </p:sp>
      <p:sp>
        <p:nvSpPr>
          <p:cNvPr id="307" name="Google Shape;307;p14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¡Dividamos por figuras conocidas!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0" y="2571750"/>
            <a:ext cx="2657474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174" l="0" r="0" t="-58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4392291" y="402067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4389699" y="422838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11" name="Google Shape;311;p14"/>
          <p:cNvCxnSpPr/>
          <p:nvPr/>
        </p:nvCxnSpPr>
        <p:spPr>
          <a:xfrm>
            <a:off x="4048269" y="4228384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12" name="Google Shape;312;p14"/>
          <p:cNvCxnSpPr/>
          <p:nvPr/>
        </p:nvCxnSpPr>
        <p:spPr>
          <a:xfrm>
            <a:off x="4399368" y="1809035"/>
            <a:ext cx="0" cy="2419347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13" name="Google Shape;313;p14"/>
          <p:cNvSpPr txBox="1"/>
          <p:nvPr/>
        </p:nvSpPr>
        <p:spPr>
          <a:xfrm>
            <a:off x="4399368" y="2453191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14" name="Google Shape;31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319" name="Google Shape;319;p15"/>
          <p:cNvPicPr preferRelativeResize="0"/>
          <p:nvPr/>
        </p:nvPicPr>
        <p:blipFill rotWithShape="1">
          <a:blip r:embed="rId3">
            <a:alphaModFix/>
          </a:blip>
          <a:srcRect b="-1" l="0" r="0" t="-1283"/>
          <a:stretch/>
        </p:blipFill>
        <p:spPr>
          <a:xfrm>
            <a:off x="1687840" y="1415012"/>
            <a:ext cx="5768244" cy="309999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5"/>
          <p:cNvSpPr txBox="1"/>
          <p:nvPr/>
        </p:nvSpPr>
        <p:spPr>
          <a:xfrm>
            <a:off x="152362" y="326025"/>
            <a:ext cx="8839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¡Ejercitemos!</a:t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152325" y="911027"/>
            <a:ext cx="88392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el área de las siguientes figuras? Considera el cuadriculado de 2 cm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2295775" y="1787303"/>
            <a:ext cx="1209426" cy="2374456"/>
          </a:xfrm>
          <a:prstGeom prst="parallelogram">
            <a:avLst>
              <a:gd fmla="val 25544" name="adj"/>
            </a:avLst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4115049" y="2419350"/>
            <a:ext cx="2733426" cy="1174306"/>
          </a:xfrm>
          <a:prstGeom prst="parallelogram">
            <a:avLst>
              <a:gd fmla="val 25987" name="adj"/>
            </a:avLst>
          </a:prstGeom>
          <a:noFill/>
          <a:ln cap="flat" cmpd="sng" w="5715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329" name="Google Shape;329;p16"/>
          <p:cNvPicPr preferRelativeResize="0"/>
          <p:nvPr/>
        </p:nvPicPr>
        <p:blipFill rotWithShape="1">
          <a:blip r:embed="rId3">
            <a:alphaModFix/>
          </a:blip>
          <a:srcRect b="0" l="0" r="0" t="29745"/>
          <a:stretch/>
        </p:blipFill>
        <p:spPr>
          <a:xfrm>
            <a:off x="1687878" y="2257818"/>
            <a:ext cx="5768245" cy="215027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6"/>
          <p:cNvSpPr/>
          <p:nvPr/>
        </p:nvSpPr>
        <p:spPr>
          <a:xfrm>
            <a:off x="2300048" y="2577520"/>
            <a:ext cx="1247594" cy="1509892"/>
          </a:xfrm>
          <a:prstGeom prst="parallelogram">
            <a:avLst>
              <a:gd fmla="val 25987" name="adj"/>
            </a:avLst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380926" y="366599"/>
            <a:ext cx="83820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27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¿Por qué la fórmula es igual a la de un cuadrado o rectángulo?</a:t>
            </a:r>
            <a:endParaRPr/>
          </a:p>
        </p:txBody>
      </p:sp>
      <p:sp>
        <p:nvSpPr>
          <p:cNvPr id="332" name="Google Shape;332;p16"/>
          <p:cNvSpPr txBox="1"/>
          <p:nvPr/>
        </p:nvSpPr>
        <p:spPr>
          <a:xfrm>
            <a:off x="525467" y="873981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son los lados opuestos de cada una de las figuras?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4106441" y="2578492"/>
            <a:ext cx="914400" cy="1508921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5620733" y="2577520"/>
            <a:ext cx="1510318" cy="1509894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16"/>
          <p:cNvCxnSpPr/>
          <p:nvPr/>
        </p:nvCxnSpPr>
        <p:spPr>
          <a:xfrm>
            <a:off x="-685800" y="2577520"/>
            <a:ext cx="10172700" cy="0"/>
          </a:xfrm>
          <a:prstGeom prst="straightConnector1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36" name="Google Shape;336;p16"/>
          <p:cNvCxnSpPr/>
          <p:nvPr/>
        </p:nvCxnSpPr>
        <p:spPr>
          <a:xfrm>
            <a:off x="-685800" y="4087412"/>
            <a:ext cx="10172700" cy="0"/>
          </a:xfrm>
          <a:prstGeom prst="straightConnector1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37" name="Google Shape;337;p16"/>
          <p:cNvCxnSpPr/>
          <p:nvPr/>
        </p:nvCxnSpPr>
        <p:spPr>
          <a:xfrm flipH="1" rot="10800000">
            <a:off x="2029220" y="2135500"/>
            <a:ext cx="701400" cy="31731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38" name="Google Shape;338;p16"/>
          <p:cNvCxnSpPr/>
          <p:nvPr/>
        </p:nvCxnSpPr>
        <p:spPr>
          <a:xfrm flipH="1" rot="10800000">
            <a:off x="2913125" y="2172093"/>
            <a:ext cx="723760" cy="3263507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39" name="Google Shape;339;p16"/>
          <p:cNvCxnSpPr/>
          <p:nvPr/>
        </p:nvCxnSpPr>
        <p:spPr>
          <a:xfrm rot="10800000">
            <a:off x="4108773" y="2135600"/>
            <a:ext cx="0" cy="33000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40" name="Google Shape;340;p16"/>
          <p:cNvCxnSpPr/>
          <p:nvPr/>
        </p:nvCxnSpPr>
        <p:spPr>
          <a:xfrm rot="10800000">
            <a:off x="5014814" y="2135580"/>
            <a:ext cx="0" cy="330002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41" name="Google Shape;341;p16"/>
          <p:cNvCxnSpPr/>
          <p:nvPr/>
        </p:nvCxnSpPr>
        <p:spPr>
          <a:xfrm rot="10800000">
            <a:off x="5620733" y="2135580"/>
            <a:ext cx="0" cy="330002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42" name="Google Shape;342;p16"/>
          <p:cNvCxnSpPr/>
          <p:nvPr/>
        </p:nvCxnSpPr>
        <p:spPr>
          <a:xfrm rot="10800000">
            <a:off x="7125684" y="2135580"/>
            <a:ext cx="0" cy="330002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43" name="Google Shape;343;p16"/>
          <p:cNvSpPr txBox="1"/>
          <p:nvPr/>
        </p:nvSpPr>
        <p:spPr>
          <a:xfrm>
            <a:off x="525467" y="1453775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Todos son paralelógramos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44" name="Google Shape;34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 txBox="1"/>
          <p:nvPr/>
        </p:nvSpPr>
        <p:spPr>
          <a:xfrm>
            <a:off x="108000" y="366600"/>
            <a:ext cx="892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Paralelógramos</a:t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1379988" y="1154760"/>
            <a:ext cx="1478902" cy="3405301"/>
          </a:xfrm>
          <a:prstGeom prst="parallelogram">
            <a:avLst>
              <a:gd fmla="val 32152" name="adj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3261956" y="2156251"/>
            <a:ext cx="5207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Esta figura es un paralelógramo, así como lo es también el cuadrado y rectángulo, pero específicamente le llamamos </a:t>
            </a:r>
            <a:r>
              <a:rPr b="1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romboide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/>
          </a:p>
        </p:txBody>
      </p:sp>
      <p:pic>
        <p:nvPicPr>
          <p:cNvPr id="352" name="Google Shape;35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57" name="Google Shape;35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8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60" name="Google Shape;360;p18" title="Resumen - Geometría (13) - Paralelepíped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8500" y="1044875"/>
            <a:ext cx="6187000" cy="333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 txBox="1"/>
          <p:nvPr/>
        </p:nvSpPr>
        <p:spPr>
          <a:xfrm>
            <a:off x="785234" y="366599"/>
            <a:ext cx="75734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9"/>
          <p:cNvSpPr txBox="1"/>
          <p:nvPr/>
        </p:nvSpPr>
        <p:spPr>
          <a:xfrm>
            <a:off x="2285963" y="3980259"/>
            <a:ext cx="457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https://forms.gle/9ULnxvkzR43xc6GK6</a:t>
            </a:r>
            <a:r>
              <a:rPr b="1" i="0" lang="es-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68" name="Google Shape;368;p19"/>
          <p:cNvSpPr/>
          <p:nvPr/>
        </p:nvSpPr>
        <p:spPr>
          <a:xfrm>
            <a:off x="2560957" y="1882222"/>
            <a:ext cx="1573880" cy="1862137"/>
          </a:xfrm>
          <a:prstGeom prst="parallelogram">
            <a:avLst>
              <a:gd fmla="val 41230" name="adj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4737815" y="1882222"/>
            <a:ext cx="1880791" cy="1852612"/>
          </a:xfrm>
          <a:prstGeom prst="rect">
            <a:avLst/>
          </a:prstGeom>
          <a:solidFill>
            <a:srgbClr val="009F98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1200901" y="911027"/>
            <a:ext cx="674212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el área del romboide si el lado del cuadrado es el doble que la base del romboide?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71" name="Google Shape;371;p19"/>
          <p:cNvCxnSpPr/>
          <p:nvPr/>
        </p:nvCxnSpPr>
        <p:spPr>
          <a:xfrm>
            <a:off x="2414907" y="3735014"/>
            <a:ext cx="44196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72" name="Google Shape;372;p19"/>
          <p:cNvCxnSpPr/>
          <p:nvPr/>
        </p:nvCxnSpPr>
        <p:spPr>
          <a:xfrm>
            <a:off x="2414907" y="1882222"/>
            <a:ext cx="44196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73" name="Google Shape;373;p19"/>
          <p:cNvSpPr txBox="1"/>
          <p:nvPr/>
        </p:nvSpPr>
        <p:spPr>
          <a:xfrm>
            <a:off x="6620513" y="2591582"/>
            <a:ext cx="7140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 m </a:t>
            </a:r>
            <a:endParaRPr b="1" i="0" sz="2400" u="none" cap="none" strike="noStrike">
              <a:solidFill>
                <a:schemeClr val="dk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74" name="Google Shape;374;p19"/>
          <p:cNvPicPr preferRelativeResize="0"/>
          <p:nvPr/>
        </p:nvPicPr>
        <p:blipFill rotWithShape="1">
          <a:blip r:embed="rId4">
            <a:alphaModFix/>
          </a:blip>
          <a:srcRect b="9135" l="9135" r="9135" t="9135"/>
          <a:stretch/>
        </p:blipFill>
        <p:spPr>
          <a:xfrm>
            <a:off x="7221584" y="3077785"/>
            <a:ext cx="1699116" cy="1699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8700" y="366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80" name="Google Shape;380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0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83" name="Google Shape;383;p20" title="Reforzamiento - Geometría (13) - Paralelepíped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775" y="1106900"/>
            <a:ext cx="6996450" cy="35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9475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