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Patrick Hand"/>
      <p:regular r:id="rId28"/>
    </p:embeddedFont>
    <p:embeddedFont>
      <p:font typeface="Poppins"/>
      <p:regular r:id="rId29"/>
      <p:bold r:id="rId30"/>
      <p:italic r:id="rId31"/>
      <p:boldItalic r:id="rId32"/>
    </p:embeddedFont>
    <p:embeddedFont>
      <p:font typeface="Poppins Light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7" roundtripDataSignature="AMtx7mjHcGRBCzvFtzOk/OcmAB+igkEy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atrickHand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5.xml"/><Relationship Id="rId33" Type="http://schemas.openxmlformats.org/officeDocument/2006/relationships/font" Target="fonts/PoppinsLight-regular.fntdata"/><Relationship Id="rId10" Type="http://schemas.openxmlformats.org/officeDocument/2006/relationships/slide" Target="slides/slide4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7.xml"/><Relationship Id="rId35" Type="http://schemas.openxmlformats.org/officeDocument/2006/relationships/font" Target="fonts/PoppinsLight-italic.fntdata"/><Relationship Id="rId12" Type="http://schemas.openxmlformats.org/officeDocument/2006/relationships/slide" Target="slides/slide6.xml"/><Relationship Id="rId34" Type="http://schemas.openxmlformats.org/officeDocument/2006/relationships/font" Target="fonts/PoppinsLight-bold.fntdata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font" Target="fonts/PoppinsLight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d9535e4d26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d9535e4d26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9535e4d26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d9535e4d26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d9535e4d26_0_2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d9535e4d26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d9535e4d26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d9535e4d2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/>
              <a:t>Que las animaciones guíen la converasción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Dejar las preguntas planteadas y pasar a la siguiente diapo</a:t>
            </a:r>
            <a:endParaRPr/>
          </a:p>
        </p:txBody>
      </p:sp>
      <p:sp>
        <p:nvSpPr>
          <p:cNvPr id="213" name="Google Shape;21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Dejar las preguntas planteadas y pasar a la siguiente diapo.</a:t>
            </a:r>
            <a:endParaRPr/>
          </a:p>
        </p:txBody>
      </p:sp>
      <p:sp>
        <p:nvSpPr>
          <p:cNvPr id="232" name="Google Shape;23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Introducir la idea de área por medio de los cuadraditos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Dejar que deduzca cómo calcula superficie multiplicando los cuadrados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Introducir la idea de área por medio de los cuadraditos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Dejar que deduzca cómo calcula superficie multiplicando los cuadrados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Dar el espacio para que el pupilo responda.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Dar el espacio para que el pupilo responda.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Dar el espacio para que el pupilo responda.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Enfatizar en la conclusión final de que se puede tener igual área pero distinta forma.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2" name="Google Shape;34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1" name="Google Shape;361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9535e4d26_0_13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g2d9535e4d26_0_137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1" name="Google Shape;61;g2d9535e4d26_0_13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g2d9535e4d26_0_13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g2d9535e4d26_0_1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d9535e4d26_0_14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g2d9535e4d26_0_14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g2d9535e4d26_0_14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g2d9535e4d26_0_14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g2d9535e4d26_0_1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d9535e4d26_0_149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g2d9535e4d26_0_149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3" name="Google Shape;73;g2d9535e4d26_0_14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g2d9535e4d26_0_14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g2d9535e4d26_0_1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d9535e4d26_0_15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g2d9535e4d26_0_15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g2d9535e4d26_0_15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g2d9535e4d26_0_15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g2d9535e4d26_0_15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g2d9535e4d26_0_1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d9535e4d26_0_162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g2d9535e4d26_0_162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g2d9535e4d26_0_162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g2d9535e4d26_0_162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g2d9535e4d26_0_162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g2d9535e4d26_0_16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g2d9535e4d26_0_16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g2d9535e4d26_0_16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d9535e4d26_0_17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g2d9535e4d26_0_17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g2d9535e4d26_0_17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g2d9535e4d26_0_17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9535e4d26_0_17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g2d9535e4d26_0_17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g2d9535e4d26_0_17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d9535e4d26_0_180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g2d9535e4d26_0_180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4" name="Google Shape;104;g2d9535e4d26_0_180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5" name="Google Shape;105;g2d9535e4d26_0_18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g2d9535e4d26_0_18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g2d9535e4d26_0_18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9535e4d26_0_187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g2d9535e4d26_0_187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g2d9535e4d26_0_187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2" name="Google Shape;112;g2d9535e4d26_0_18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g2d9535e4d26_0_18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g2d9535e4d26_0_18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d9535e4d26_0_19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g2d9535e4d26_0_19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g2d9535e4d26_0_19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g2d9535e4d26_0_19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g2d9535e4d26_0_19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d9535e4d26_0_200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g2d9535e4d26_0_200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g2d9535e4d26_0_20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g2d9535e4d26_0_20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g2d9535e4d26_0_20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d9535e4d26_0_1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g2d9535e4d26_0_13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g2d9535e4d26_0_13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g2d9535e4d26_0_13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g2d9535e4d26_0_1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jpg"/><Relationship Id="rId4" Type="http://schemas.openxmlformats.org/officeDocument/2006/relationships/hyperlink" Target="http://www.youtube.com/watch?v=4aoTjHEZCVI" TargetMode="External"/><Relationship Id="rId5" Type="http://schemas.openxmlformats.org/officeDocument/2006/relationships/image" Target="../media/image16.jpg"/><Relationship Id="rId6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forms.gle/bt4V2K43wXGk1Eyh7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jpg"/><Relationship Id="rId4" Type="http://schemas.openxmlformats.org/officeDocument/2006/relationships/hyperlink" Target="http://www.youtube.com/watch?v=g_LjWgQNgv4" TargetMode="External"/><Relationship Id="rId5" Type="http://schemas.openxmlformats.org/officeDocument/2006/relationships/image" Target="../media/image8.jp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"/>
          <p:cNvSpPr txBox="1"/>
          <p:nvPr/>
        </p:nvSpPr>
        <p:spPr>
          <a:xfrm>
            <a:off x="1152939" y="502470"/>
            <a:ext cx="683812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60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LA RUTA MATEMÁTICA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335696" y="2102398"/>
            <a:ext cx="447260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48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GEOMETRÍA 2D</a:t>
            </a:r>
            <a:endParaRPr b="1" i="0" sz="4800" u="none" cap="none" strike="noStrike">
              <a:solidFill>
                <a:srgbClr val="009F98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33" name="Google Shape;13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64" y="2738944"/>
            <a:ext cx="2239350" cy="224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"/>
          <p:cNvSpPr txBox="1"/>
          <p:nvPr/>
        </p:nvSpPr>
        <p:spPr>
          <a:xfrm>
            <a:off x="2335696" y="3235008"/>
            <a:ext cx="447260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48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(agregar dibujos)</a:t>
            </a:r>
            <a:endParaRPr/>
          </a:p>
        </p:txBody>
      </p:sp>
      <p:pic>
        <p:nvPicPr>
          <p:cNvPr id="135" name="Google Shape;135;p1"/>
          <p:cNvPicPr preferRelativeResize="0"/>
          <p:nvPr/>
        </p:nvPicPr>
        <p:blipFill rotWithShape="1">
          <a:blip r:embed="rId4">
            <a:alphaModFix/>
          </a:blip>
          <a:srcRect b="17637" l="28322" r="13793" t="24438"/>
          <a:stretch/>
        </p:blipFill>
        <p:spPr>
          <a:xfrm>
            <a:off x="0" y="-64800"/>
            <a:ext cx="9248500" cy="526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6125" y="42529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d9535e4d26_0_103"/>
          <p:cNvSpPr txBox="1"/>
          <p:nvPr/>
        </p:nvSpPr>
        <p:spPr>
          <a:xfrm>
            <a:off x="589763" y="125503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Propósito</a:t>
            </a:r>
            <a:r>
              <a:rPr b="1" lang="es-E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Guiar a los estudiantes en la comprensión profunda del concepto de superficie y el cálculo de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su área, reconociendo la importancia de medir en unidades cuadradas.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2" name="Google Shape;142;g2d9535e4d26_0_103"/>
          <p:cNvSpPr txBox="1"/>
          <p:nvPr/>
        </p:nvSpPr>
        <p:spPr>
          <a:xfrm>
            <a:off x="868700" y="1980075"/>
            <a:ext cx="3524100" cy="27114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Objetivos de la Clase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Entender qué es una superficie y el área asociada.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Identificar que el área se mide en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unidades cuadradas.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g2d9535e4d26_0_103"/>
          <p:cNvSpPr txBox="1"/>
          <p:nvPr/>
        </p:nvSpPr>
        <p:spPr>
          <a:xfrm>
            <a:off x="4782050" y="1979974"/>
            <a:ext cx="3524100" cy="27114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Conceptos Clave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Superficie.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Área.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Unidad de longitud cuadrada.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g2d9535e4d26_0_103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2d9535e4d26_0_103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2d9535e4d26_0_103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g2d9535e4d26_0_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6250" y="2485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d9535e4d26_0_113"/>
          <p:cNvSpPr txBox="1"/>
          <p:nvPr/>
        </p:nvSpPr>
        <p:spPr>
          <a:xfrm>
            <a:off x="589763" y="11978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3" name="Google Shape;153;g2d9535e4d26_0_113"/>
          <p:cNvSpPr txBox="1"/>
          <p:nvPr/>
        </p:nvSpPr>
        <p:spPr>
          <a:xfrm>
            <a:off x="589763" y="1598681"/>
            <a:ext cx="7875000" cy="6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Cuando realices la sesión, déjale claro al estudiante la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pequeña diferencia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 entre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superficie 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y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área.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 Lo importante de aquello es que el primero se refiere al concepto general de ocupar un espacio en tanto que el segundo es la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medición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 de esa superficie.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No olvides recalcar que la medición del área es mediante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unidades de longitud cuadradas 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a diferencia del perímetro. Activa su curiosidad entusiasmando al estudiante que en la siguiente sesión entenderán aquello.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Frecuentemente los estudiantes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confunden área y perímetro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. Ello se manifiesta en que tras calcularlos, el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resultado mayor se lo asignan al área y el menor al perímetro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. Por ello en el ejemplo de la diapositiva 14 también calcule el perímetro para evidenciar que eso puede no ser así.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g2d9535e4d26_0_113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d9535e4d26_0_113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2d9535e4d26_0_113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7" name="Google Shape;157;g2d9535e4d26_0_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6250" y="2485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d9535e4d26_0_211"/>
          <p:cNvSpPr txBox="1"/>
          <p:nvPr/>
        </p:nvSpPr>
        <p:spPr>
          <a:xfrm>
            <a:off x="589763" y="11978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3" name="Google Shape;163;g2d9535e4d26_0_211"/>
          <p:cNvSpPr txBox="1"/>
          <p:nvPr/>
        </p:nvSpPr>
        <p:spPr>
          <a:xfrm>
            <a:off x="589763" y="1598681"/>
            <a:ext cx="7875000" cy="4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Además, con el ejemplo anterior, recalca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dos cosas que los estudiantes suelen no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entender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: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1. Dos figuras pueden poseer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misma área pero tener distinta forma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2. Tener la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misma área no implica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 que el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perímetro sea igual.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g2d9535e4d26_0_211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2d9535e4d26_0_211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2d9535e4d26_0_211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7" name="Google Shape;167;g2d9535e4d26_0_2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6250" y="2485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d9535e4d26_0_122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2d9535e4d26_0_122"/>
          <p:cNvSpPr txBox="1"/>
          <p:nvPr/>
        </p:nvSpPr>
        <p:spPr>
          <a:xfrm>
            <a:off x="285206" y="1218713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Para Complementar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Pídele a tu estudiante que investigue cuál es área y perímetro de tres países que le gustaría visitar. Realiza lo mismo y en la siguiente sesión comparen sus hallazgos.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" name="Google Shape;174;g2d9535e4d26_0_122"/>
          <p:cNvSpPr txBox="1"/>
          <p:nvPr/>
        </p:nvSpPr>
        <p:spPr>
          <a:xfrm>
            <a:off x="285206" y="2772719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Preguntas de Cierre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¿Cuál es la diferencia entre área y perímetro?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¿Cómo mides la superficie?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¿Cómo puedes calcular el área?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g2d9535e4d26_0_122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2d9535e4d26_0_122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7" name="Google Shape;177;g2d9535e4d26_0_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6250" y="2485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"/>
          <p:cNvSpPr txBox="1"/>
          <p:nvPr/>
        </p:nvSpPr>
        <p:spPr>
          <a:xfrm>
            <a:off x="1115589" y="2063920"/>
            <a:ext cx="6838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60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SESIÓN 9</a:t>
            </a:r>
            <a:endParaRPr/>
          </a:p>
        </p:txBody>
      </p:sp>
      <p:pic>
        <p:nvPicPr>
          <p:cNvPr id="183" name="Google Shape;18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2825" y="4217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Qué evalúa el MINEDUC (información para TUTOR/A)</a:t>
            </a:r>
            <a:endParaRPr/>
          </a:p>
        </p:txBody>
      </p:sp>
      <p:sp>
        <p:nvSpPr>
          <p:cNvPr id="189" name="Google Shape;189;p3"/>
          <p:cNvSpPr txBox="1"/>
          <p:nvPr/>
        </p:nvSpPr>
        <p:spPr>
          <a:xfrm>
            <a:off x="600255" y="1095159"/>
            <a:ext cx="7943489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OA23 4to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Demostrar que comprenden el concepto de área de un rectángulo y de un cuadrado: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• reconociendo que el área de una superficie se mide en unidades cuadradas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• seleccionando y justificando la elección de la unidad estandarizada (cm² y m2)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• determinando y registrando el área en cm² y m² en contextos cercanos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• construyendo diferentes rectángulos para un área dada (cm² y m²) para demostrar que distintos rectángulos pueden tener la misma área</a:t>
            </a:r>
            <a:endParaRPr/>
          </a:p>
        </p:txBody>
      </p:sp>
      <p:pic>
        <p:nvPicPr>
          <p:cNvPr id="190" name="Google Shape;19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9500" y="39262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✨Objetivos de hoy✨</a:t>
            </a:r>
            <a:endParaRPr/>
          </a:p>
        </p:txBody>
      </p:sp>
      <p:sp>
        <p:nvSpPr>
          <p:cNvPr id="196" name="Google Shape;196;p4"/>
          <p:cNvSpPr txBox="1"/>
          <p:nvPr/>
        </p:nvSpPr>
        <p:spPr>
          <a:xfrm>
            <a:off x="600218" y="1095159"/>
            <a:ext cx="79434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Entender qué es una superficie y el área asociada.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Identificar que el área se mide en unidades cuadradas.</a:t>
            </a:r>
            <a:endParaRPr/>
          </a:p>
          <a:p>
            <a:pPr indent="-1968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97" name="Google Shape;19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9500" y="39262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oscuro&#10;&#10;Descripción generada automáticamente" id="202" name="Google Shape;202;p5"/>
          <p:cNvPicPr preferRelativeResize="0"/>
          <p:nvPr/>
        </p:nvPicPr>
        <p:blipFill rotWithShape="1">
          <a:blip r:embed="rId3">
            <a:alphaModFix/>
          </a:blip>
          <a:srcRect b="0" l="36640" r="36640" t="0"/>
          <a:stretch/>
        </p:blipFill>
        <p:spPr>
          <a:xfrm>
            <a:off x="6125224" y="1756959"/>
            <a:ext cx="810904" cy="303487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5"/>
          <p:cNvSpPr txBox="1"/>
          <p:nvPr/>
        </p:nvSpPr>
        <p:spPr>
          <a:xfrm>
            <a:off x="214649" y="358175"/>
            <a:ext cx="8714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Superficies</a:t>
            </a:r>
            <a:endParaRPr/>
          </a:p>
        </p:txBody>
      </p:sp>
      <p:sp>
        <p:nvSpPr>
          <p:cNvPr id="204" name="Google Shape;204;p5"/>
          <p:cNvSpPr txBox="1"/>
          <p:nvPr/>
        </p:nvSpPr>
        <p:spPr>
          <a:xfrm>
            <a:off x="937270" y="975350"/>
            <a:ext cx="269745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Ya habíamos hablado del largo de Chile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Forma&#10;&#10;Descripción generada automáticamente con confianza baja" id="205" name="Google Shape;205;p5"/>
          <p:cNvPicPr preferRelativeResize="0"/>
          <p:nvPr/>
        </p:nvPicPr>
        <p:blipFill rotWithShape="1">
          <a:blip r:embed="rId4">
            <a:alphaModFix/>
          </a:blip>
          <a:srcRect b="0" l="38986" r="38986" t="0"/>
          <a:stretch/>
        </p:blipFill>
        <p:spPr>
          <a:xfrm>
            <a:off x="1611894" y="1742024"/>
            <a:ext cx="674106" cy="306029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5"/>
          <p:cNvSpPr txBox="1"/>
          <p:nvPr/>
        </p:nvSpPr>
        <p:spPr>
          <a:xfrm>
            <a:off x="2480553" y="3041336"/>
            <a:ext cx="138133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4.600 km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07" name="Google Shape;207;p5"/>
          <p:cNvCxnSpPr/>
          <p:nvPr/>
        </p:nvCxnSpPr>
        <p:spPr>
          <a:xfrm>
            <a:off x="2480553" y="1838528"/>
            <a:ext cx="0" cy="2938373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08" name="Google Shape;208;p5"/>
          <p:cNvSpPr txBox="1"/>
          <p:nvPr/>
        </p:nvSpPr>
        <p:spPr>
          <a:xfrm>
            <a:off x="5509271" y="975350"/>
            <a:ext cx="269745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¿Pero cuál es la superficie que cubre?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6582953" y="3106321"/>
            <a:ext cx="1847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756.626 km² 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10" name="Google Shape;21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79500" y="39262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oscuro&#10;&#10;Descripción generada automáticamente" id="215" name="Google Shape;215;p6"/>
          <p:cNvPicPr preferRelativeResize="0"/>
          <p:nvPr/>
        </p:nvPicPr>
        <p:blipFill rotWithShape="1">
          <a:blip r:embed="rId3">
            <a:alphaModFix/>
          </a:blip>
          <a:srcRect b="0" l="36640" r="36640" t="0"/>
          <a:stretch/>
        </p:blipFill>
        <p:spPr>
          <a:xfrm>
            <a:off x="872288" y="1353604"/>
            <a:ext cx="810904" cy="3034877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6"/>
          <p:cNvSpPr txBox="1"/>
          <p:nvPr/>
        </p:nvSpPr>
        <p:spPr>
          <a:xfrm>
            <a:off x="2042809" y="366599"/>
            <a:ext cx="505830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Superficies</a:t>
            </a:r>
            <a:endParaRPr/>
          </a:p>
        </p:txBody>
      </p:sp>
      <p:sp>
        <p:nvSpPr>
          <p:cNvPr id="217" name="Google Shape;217;p6"/>
          <p:cNvSpPr txBox="1"/>
          <p:nvPr/>
        </p:nvSpPr>
        <p:spPr>
          <a:xfrm>
            <a:off x="3177216" y="1609537"/>
            <a:ext cx="575277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Pero primero que todo,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¿Qué entiendes por </a:t>
            </a: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superficie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18" name="Google Shape;218;p6"/>
          <p:cNvSpPr txBox="1"/>
          <p:nvPr/>
        </p:nvSpPr>
        <p:spPr>
          <a:xfrm>
            <a:off x="1330017" y="2702966"/>
            <a:ext cx="1847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756.626 km</a:t>
            </a: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²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3638252" y="2933798"/>
            <a:ext cx="483070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¿Cómo la calcularías y por qué aparece un sobre </a:t>
            </a: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²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la unidad de medida?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20" name="Google Shape;22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9500" y="39262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oscuro&#10;&#10;Descripción generada automáticamente" id="225" name="Google Shape;225;p7"/>
          <p:cNvPicPr preferRelativeResize="0"/>
          <p:nvPr/>
        </p:nvPicPr>
        <p:blipFill rotWithShape="1">
          <a:blip r:embed="rId3">
            <a:alphaModFix/>
          </a:blip>
          <a:srcRect b="0" l="36640" r="36640" t="0"/>
          <a:stretch/>
        </p:blipFill>
        <p:spPr>
          <a:xfrm>
            <a:off x="872288" y="1353604"/>
            <a:ext cx="810904" cy="3034877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7"/>
          <p:cNvSpPr txBox="1"/>
          <p:nvPr/>
        </p:nvSpPr>
        <p:spPr>
          <a:xfrm>
            <a:off x="2042809" y="366599"/>
            <a:ext cx="505830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Superficies</a:t>
            </a:r>
            <a:endParaRPr/>
          </a:p>
        </p:txBody>
      </p:sp>
      <p:sp>
        <p:nvSpPr>
          <p:cNvPr id="227" name="Google Shape;227;p7"/>
          <p:cNvSpPr txBox="1"/>
          <p:nvPr/>
        </p:nvSpPr>
        <p:spPr>
          <a:xfrm>
            <a:off x="3177217" y="1532214"/>
            <a:ext cx="5752775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¿Qué entiendes por </a:t>
            </a: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superficie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 puede definir como todo lo interior dado por los límites de la figura.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En este caso los límites serían las fronteras y su superficie toda su extensión en paisajes, ciudades, etc.</a:t>
            </a:r>
            <a:endParaRPr b="0" i="0" sz="2400" u="none" cap="none" strike="noStrike">
              <a:solidFill>
                <a:schemeClr val="lt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1330017" y="2702966"/>
            <a:ext cx="1847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756.626 km² 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29" name="Google Shape;22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6250" y="3666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oscuro&#10;&#10;Descripción generada automáticamente" id="234" name="Google Shape;234;p8"/>
          <p:cNvPicPr preferRelativeResize="0"/>
          <p:nvPr/>
        </p:nvPicPr>
        <p:blipFill rotWithShape="1">
          <a:blip r:embed="rId3">
            <a:alphaModFix/>
          </a:blip>
          <a:srcRect b="0" l="36640" r="36640" t="0"/>
          <a:stretch/>
        </p:blipFill>
        <p:spPr>
          <a:xfrm>
            <a:off x="872288" y="1353604"/>
            <a:ext cx="810904" cy="3034877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8"/>
          <p:cNvSpPr txBox="1"/>
          <p:nvPr/>
        </p:nvSpPr>
        <p:spPr>
          <a:xfrm>
            <a:off x="2042809" y="366599"/>
            <a:ext cx="505830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Superficies</a:t>
            </a:r>
            <a:endParaRPr/>
          </a:p>
        </p:txBody>
      </p:sp>
      <p:sp>
        <p:nvSpPr>
          <p:cNvPr id="236" name="Google Shape;236;p8"/>
          <p:cNvSpPr txBox="1"/>
          <p:nvPr/>
        </p:nvSpPr>
        <p:spPr>
          <a:xfrm>
            <a:off x="3177216" y="1700571"/>
            <a:ext cx="5752775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Con eso en mente, volvemos a la pregunta sobre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¿cómo la calcularías y por qué aparece un sobre </a:t>
            </a: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²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la unidad de medida?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¡Veamos unos ejemplos!</a:t>
            </a:r>
            <a:endParaRPr b="1" i="0" sz="2400" u="none" cap="none" strike="noStrike">
              <a:solidFill>
                <a:schemeClr val="lt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1330017" y="2702966"/>
            <a:ext cx="1847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756.626 km</a:t>
            </a: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²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38" name="Google Shape;238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9500" y="39262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"/>
          <p:cNvSpPr txBox="1"/>
          <p:nvPr/>
        </p:nvSpPr>
        <p:spPr>
          <a:xfrm>
            <a:off x="225899" y="326025"/>
            <a:ext cx="8692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Superficies</a:t>
            </a:r>
            <a:endParaRPr/>
          </a:p>
        </p:txBody>
      </p:sp>
      <p:sp>
        <p:nvSpPr>
          <p:cNvPr id="244" name="Google Shape;244;p9"/>
          <p:cNvSpPr txBox="1"/>
          <p:nvPr/>
        </p:nvSpPr>
        <p:spPr>
          <a:xfrm>
            <a:off x="225836" y="911027"/>
            <a:ext cx="869225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Miguel construyó una estructura en su jard</a:t>
            </a:r>
            <a:r>
              <a:rPr lang="es-ES" sz="24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ín 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para cubrirla de enredaderas,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¿cuál es la superficie que tiene para ello?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Imagen en blanco y negro&#10;&#10;Descripción generada automáticamente con confianza media" id="245" name="Google Shape;24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479" y="1742024"/>
            <a:ext cx="3218850" cy="2677126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9"/>
          <p:cNvSpPr txBox="1"/>
          <p:nvPr/>
        </p:nvSpPr>
        <p:spPr>
          <a:xfrm>
            <a:off x="3845114" y="1870953"/>
            <a:ext cx="529888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Para ello contemos los       que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cubren la superficie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7361128" y="1955638"/>
            <a:ext cx="331264" cy="331264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9"/>
          <p:cNvSpPr txBox="1"/>
          <p:nvPr/>
        </p:nvSpPr>
        <p:spPr>
          <a:xfrm>
            <a:off x="0" y="4021118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9" name="Google Shape;249;p9"/>
          <p:cNvSpPr txBox="1"/>
          <p:nvPr/>
        </p:nvSpPr>
        <p:spPr>
          <a:xfrm>
            <a:off x="284322" y="4021117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50" name="Google Shape;250;p9"/>
          <p:cNvSpPr txBox="1"/>
          <p:nvPr/>
        </p:nvSpPr>
        <p:spPr>
          <a:xfrm>
            <a:off x="568644" y="4021118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3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51" name="Google Shape;251;p9"/>
          <p:cNvSpPr txBox="1"/>
          <p:nvPr/>
        </p:nvSpPr>
        <p:spPr>
          <a:xfrm>
            <a:off x="852966" y="4021117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4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52" name="Google Shape;252;p9"/>
          <p:cNvSpPr txBox="1"/>
          <p:nvPr/>
        </p:nvSpPr>
        <p:spPr>
          <a:xfrm>
            <a:off x="1141987" y="4021118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5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53" name="Google Shape;253;p9"/>
          <p:cNvSpPr txBox="1"/>
          <p:nvPr/>
        </p:nvSpPr>
        <p:spPr>
          <a:xfrm>
            <a:off x="1426309" y="4021117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6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54" name="Google Shape;254;p9"/>
          <p:cNvSpPr txBox="1"/>
          <p:nvPr/>
        </p:nvSpPr>
        <p:spPr>
          <a:xfrm>
            <a:off x="1710631" y="4021118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7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1994953" y="4021117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8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56" name="Google Shape;256;p9"/>
          <p:cNvSpPr txBox="1"/>
          <p:nvPr/>
        </p:nvSpPr>
        <p:spPr>
          <a:xfrm>
            <a:off x="2289409" y="4021117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9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57" name="Google Shape;257;p9"/>
          <p:cNvSpPr txBox="1"/>
          <p:nvPr/>
        </p:nvSpPr>
        <p:spPr>
          <a:xfrm>
            <a:off x="2596591" y="4013498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10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58" name="Google Shape;258;p9"/>
          <p:cNvSpPr txBox="1"/>
          <p:nvPr/>
        </p:nvSpPr>
        <p:spPr>
          <a:xfrm>
            <a:off x="2880913" y="4013497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11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59" name="Google Shape;259;p9"/>
          <p:cNvCxnSpPr/>
          <p:nvPr/>
        </p:nvCxnSpPr>
        <p:spPr>
          <a:xfrm>
            <a:off x="172094" y="4512730"/>
            <a:ext cx="3134806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60" name="Google Shape;260;p9"/>
          <p:cNvSpPr txBox="1"/>
          <p:nvPr/>
        </p:nvSpPr>
        <p:spPr>
          <a:xfrm>
            <a:off x="1426309" y="4474351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11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1" name="Google Shape;261;p9"/>
          <p:cNvSpPr txBox="1"/>
          <p:nvPr/>
        </p:nvSpPr>
        <p:spPr>
          <a:xfrm>
            <a:off x="2894172" y="1694383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2" name="Google Shape;262;p9"/>
          <p:cNvSpPr txBox="1"/>
          <p:nvPr/>
        </p:nvSpPr>
        <p:spPr>
          <a:xfrm>
            <a:off x="2910846" y="1969823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3" name="Google Shape;263;p9"/>
          <p:cNvSpPr txBox="1"/>
          <p:nvPr/>
        </p:nvSpPr>
        <p:spPr>
          <a:xfrm>
            <a:off x="2910846" y="2255413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3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2910846" y="2539287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4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5" name="Google Shape;265;p9"/>
          <p:cNvSpPr txBox="1"/>
          <p:nvPr/>
        </p:nvSpPr>
        <p:spPr>
          <a:xfrm>
            <a:off x="2910846" y="2849754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5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2896738" y="3143605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6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7" name="Google Shape;267;p9"/>
          <p:cNvSpPr txBox="1"/>
          <p:nvPr/>
        </p:nvSpPr>
        <p:spPr>
          <a:xfrm>
            <a:off x="2896738" y="3427479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7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8" name="Google Shape;268;p9"/>
          <p:cNvSpPr txBox="1"/>
          <p:nvPr/>
        </p:nvSpPr>
        <p:spPr>
          <a:xfrm>
            <a:off x="2880913" y="3726653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8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9" name="Google Shape;269;p9"/>
          <p:cNvSpPr txBox="1"/>
          <p:nvPr/>
        </p:nvSpPr>
        <p:spPr>
          <a:xfrm>
            <a:off x="2891047" y="4012686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9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70" name="Google Shape;270;p9"/>
          <p:cNvCxnSpPr/>
          <p:nvPr/>
        </p:nvCxnSpPr>
        <p:spPr>
          <a:xfrm>
            <a:off x="3497253" y="1742024"/>
            <a:ext cx="0" cy="2677126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71" name="Google Shape;271;p9"/>
          <p:cNvSpPr txBox="1"/>
          <p:nvPr/>
        </p:nvSpPr>
        <p:spPr>
          <a:xfrm>
            <a:off x="3371969" y="2859731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9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1902426" y="4609251"/>
            <a:ext cx="183549" cy="1835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3794449" y="3010929"/>
            <a:ext cx="183549" cy="1835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9"/>
          <p:cNvSpPr txBox="1"/>
          <p:nvPr/>
        </p:nvSpPr>
        <p:spPr>
          <a:xfrm>
            <a:off x="3685189" y="2661602"/>
            <a:ext cx="529888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Viendo lo anterior ¿cuántos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cubren la superficie?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7977766" y="2740723"/>
            <a:ext cx="331264" cy="331264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9"/>
          <p:cNvSpPr txBox="1"/>
          <p:nvPr/>
        </p:nvSpPr>
        <p:spPr>
          <a:xfrm>
            <a:off x="3845077" y="3505343"/>
            <a:ext cx="529888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</a:t>
            </a:r>
            <a:r>
              <a:rPr b="1" i="0" lang="es-ES" sz="2400" u="none" cap="none" strike="noStrike">
                <a:solidFill>
                  <a:srgbClr val="FFFFFF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Multipliquemos las cantidades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77" name="Google Shape;277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9500" y="39262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"/>
          <p:cNvSpPr txBox="1"/>
          <p:nvPr/>
        </p:nvSpPr>
        <p:spPr>
          <a:xfrm>
            <a:off x="367874" y="326025"/>
            <a:ext cx="8408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Superficies</a:t>
            </a:r>
            <a:endParaRPr/>
          </a:p>
        </p:txBody>
      </p:sp>
      <p:pic>
        <p:nvPicPr>
          <p:cNvPr descr="Imagen en blanco y negro&#10;&#10;Descripción generada automáticamente con confianza media" id="283" name="Google Shape;28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479" y="1742024"/>
            <a:ext cx="3218850" cy="2677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4" name="Google Shape;284;p10"/>
          <p:cNvCxnSpPr/>
          <p:nvPr/>
        </p:nvCxnSpPr>
        <p:spPr>
          <a:xfrm>
            <a:off x="172094" y="4512730"/>
            <a:ext cx="3134806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85" name="Google Shape;285;p10"/>
          <p:cNvSpPr txBox="1"/>
          <p:nvPr/>
        </p:nvSpPr>
        <p:spPr>
          <a:xfrm>
            <a:off x="1426309" y="4474351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11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86" name="Google Shape;286;p10"/>
          <p:cNvCxnSpPr/>
          <p:nvPr/>
        </p:nvCxnSpPr>
        <p:spPr>
          <a:xfrm>
            <a:off x="3497253" y="1742024"/>
            <a:ext cx="0" cy="2677126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87" name="Google Shape;287;p10"/>
          <p:cNvSpPr txBox="1"/>
          <p:nvPr/>
        </p:nvSpPr>
        <p:spPr>
          <a:xfrm>
            <a:off x="3371969" y="2859731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9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1902426" y="4609251"/>
            <a:ext cx="183549" cy="1835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3794449" y="3010929"/>
            <a:ext cx="183549" cy="1835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0"/>
          <p:cNvSpPr txBox="1"/>
          <p:nvPr/>
        </p:nvSpPr>
        <p:spPr>
          <a:xfrm>
            <a:off x="172094" y="2788199"/>
            <a:ext cx="3134806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2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11 x 9 =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2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99</a:t>
            </a:r>
            <a:endParaRPr b="1" i="0" sz="32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91" name="Google Shape;291;p10"/>
          <p:cNvSpPr txBox="1"/>
          <p:nvPr/>
        </p:nvSpPr>
        <p:spPr>
          <a:xfrm>
            <a:off x="3940613" y="2616727"/>
            <a:ext cx="471797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Sabiendo que son </a:t>
            </a:r>
            <a:r>
              <a:rPr b="1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99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7472245" y="2746320"/>
            <a:ext cx="183549" cy="1835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0"/>
          <p:cNvSpPr txBox="1"/>
          <p:nvPr/>
        </p:nvSpPr>
        <p:spPr>
          <a:xfrm>
            <a:off x="3940613" y="3041095"/>
            <a:ext cx="529888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Decimos que tiene </a:t>
            </a:r>
            <a:r>
              <a:rPr b="1" i="0" lang="es-ES" sz="2400" u="none" cap="none" strike="noStrike">
                <a:solidFill>
                  <a:srgbClr val="FFFFFF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99 unidades cuadradas</a:t>
            </a:r>
            <a:endParaRPr/>
          </a:p>
        </p:txBody>
      </p:sp>
      <p:sp>
        <p:nvSpPr>
          <p:cNvPr id="294" name="Google Shape;294;p10"/>
          <p:cNvSpPr txBox="1"/>
          <p:nvPr/>
        </p:nvSpPr>
        <p:spPr>
          <a:xfrm>
            <a:off x="225836" y="911027"/>
            <a:ext cx="8692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ES" sz="24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Miguel construyó una estructura en su jardín para cubrirla de enredaderas,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¿cuál es la superficie que tiene para ello?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95" name="Google Shape;295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9500" y="39262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"/>
          <p:cNvSpPr txBox="1"/>
          <p:nvPr/>
        </p:nvSpPr>
        <p:spPr>
          <a:xfrm>
            <a:off x="3975253" y="2906709"/>
            <a:ext cx="487093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Para ello debemos introducir el concepto de</a:t>
            </a:r>
            <a:r>
              <a:rPr b="1" i="0" lang="es-ES" sz="2400" u="none" cap="none" strike="noStrike">
                <a:solidFill>
                  <a:srgbClr val="FFFFFF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1" i="0" lang="es-ES" sz="2400" u="none" cap="none" strike="noStrike">
                <a:solidFill>
                  <a:srgbClr val="FFFFFF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área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Imagen que contiene juego, texto, marcador, reloj&#10;&#10;Descripción generada automáticamente" id="301" name="Google Shape;30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479" y="1555347"/>
            <a:ext cx="3218850" cy="2677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1"/>
          <p:cNvSpPr txBox="1"/>
          <p:nvPr/>
        </p:nvSpPr>
        <p:spPr>
          <a:xfrm>
            <a:off x="225899" y="361775"/>
            <a:ext cx="8692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Superficie</a:t>
            </a:r>
            <a:r>
              <a:rPr lang="es-ES" sz="3200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s</a:t>
            </a:r>
            <a:endParaRPr/>
          </a:p>
        </p:txBody>
      </p:sp>
      <p:cxnSp>
        <p:nvCxnSpPr>
          <p:cNvPr id="303" name="Google Shape;303;p11"/>
          <p:cNvCxnSpPr/>
          <p:nvPr/>
        </p:nvCxnSpPr>
        <p:spPr>
          <a:xfrm>
            <a:off x="172094" y="4302806"/>
            <a:ext cx="3134806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304" name="Google Shape;304;p11"/>
          <p:cNvSpPr txBox="1"/>
          <p:nvPr/>
        </p:nvSpPr>
        <p:spPr>
          <a:xfrm>
            <a:off x="1426309" y="4264427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11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05" name="Google Shape;305;p11"/>
          <p:cNvCxnSpPr/>
          <p:nvPr/>
        </p:nvCxnSpPr>
        <p:spPr>
          <a:xfrm>
            <a:off x="3497253" y="1532100"/>
            <a:ext cx="0" cy="2677126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306" name="Google Shape;306;p11"/>
          <p:cNvSpPr txBox="1"/>
          <p:nvPr/>
        </p:nvSpPr>
        <p:spPr>
          <a:xfrm>
            <a:off x="3371969" y="2649807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9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1902426" y="4399327"/>
            <a:ext cx="183549" cy="1835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3794449" y="2801005"/>
            <a:ext cx="183549" cy="1835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1"/>
          <p:cNvSpPr txBox="1"/>
          <p:nvPr/>
        </p:nvSpPr>
        <p:spPr>
          <a:xfrm>
            <a:off x="4051731" y="2021021"/>
            <a:ext cx="471797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¿Cómo podemos saber la superficie que cubren?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10" name="Google Shape;310;p11"/>
          <p:cNvSpPr txBox="1"/>
          <p:nvPr/>
        </p:nvSpPr>
        <p:spPr>
          <a:xfrm>
            <a:off x="225836" y="911027"/>
            <a:ext cx="86922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Si con el tiempo las enredaderas tomaron la siguiente forma</a:t>
            </a:r>
            <a:r>
              <a:rPr lang="es-ES" sz="24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…</a:t>
            </a:r>
            <a:endParaRPr/>
          </a:p>
        </p:txBody>
      </p:sp>
      <p:pic>
        <p:nvPicPr>
          <p:cNvPr id="311" name="Google Shape;31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9500" y="39262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"/>
          <p:cNvSpPr txBox="1"/>
          <p:nvPr/>
        </p:nvSpPr>
        <p:spPr>
          <a:xfrm>
            <a:off x="181350" y="326025"/>
            <a:ext cx="8781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Área</a:t>
            </a:r>
            <a:endParaRPr/>
          </a:p>
        </p:txBody>
      </p:sp>
      <p:sp>
        <p:nvSpPr>
          <p:cNvPr id="317" name="Google Shape;317;p12"/>
          <p:cNvSpPr txBox="1"/>
          <p:nvPr/>
        </p:nvSpPr>
        <p:spPr>
          <a:xfrm>
            <a:off x="225836" y="911027"/>
            <a:ext cx="8692254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El área de una figura geométrica es la </a:t>
            </a:r>
            <a:r>
              <a:rPr b="1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medición de su superficie</a:t>
            </a:r>
            <a:endParaRPr b="0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(Similar a como la longitud mide la distancia entre puntos)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Para ello, utilizamos </a:t>
            </a:r>
            <a:r>
              <a:rPr b="0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unidades cuadráticas</a:t>
            </a:r>
            <a:r>
              <a:rPr b="0" i="0" lang="es-ES" sz="2400" u="none" cap="none" strike="noStrike">
                <a:solidFill>
                  <a:schemeClr val="lt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como cm², m², km², entre otras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(En la próxima sesión entenderemos por qué queda el </a:t>
            </a:r>
            <a:r>
              <a:rPr b="1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²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)</a:t>
            </a:r>
            <a:endParaRPr/>
          </a:p>
        </p:txBody>
      </p:sp>
      <p:pic>
        <p:nvPicPr>
          <p:cNvPr descr="Imagen que contiene oscuro&#10;&#10;Descripción generada automáticamente" id="318" name="Google Shape;318;p12"/>
          <p:cNvPicPr preferRelativeResize="0"/>
          <p:nvPr/>
        </p:nvPicPr>
        <p:blipFill rotWithShape="1">
          <a:blip r:embed="rId3">
            <a:alphaModFix/>
          </a:blip>
          <a:srcRect b="0" l="36640" r="36640" t="0"/>
          <a:stretch/>
        </p:blipFill>
        <p:spPr>
          <a:xfrm rot="-5400000">
            <a:off x="4008625" y="463405"/>
            <a:ext cx="1126678" cy="421669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2"/>
          <p:cNvSpPr txBox="1"/>
          <p:nvPr/>
        </p:nvSpPr>
        <p:spPr>
          <a:xfrm>
            <a:off x="3648363" y="2904257"/>
            <a:ext cx="1847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756.626 km</a:t>
            </a: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²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320" name="Google Shape;320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9500" y="39262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3"/>
          <p:cNvSpPr txBox="1"/>
          <p:nvPr/>
        </p:nvSpPr>
        <p:spPr>
          <a:xfrm>
            <a:off x="3726635" y="2704498"/>
            <a:ext cx="529888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Contamos cada _, resultando en 31</a:t>
            </a:r>
            <a:endParaRPr b="1" i="0" sz="2400" u="none" cap="none" strike="noStrike">
              <a:solidFill>
                <a:srgbClr val="FFFFFF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Imagen que contiene juego, texto, marcador, reloj&#10;&#10;Descripción generada automáticamente" id="326" name="Google Shape;32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479" y="1765271"/>
            <a:ext cx="3218850" cy="2677126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3"/>
          <p:cNvSpPr txBox="1"/>
          <p:nvPr/>
        </p:nvSpPr>
        <p:spPr>
          <a:xfrm>
            <a:off x="181350" y="326025"/>
            <a:ext cx="8781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Área</a:t>
            </a:r>
            <a:endParaRPr/>
          </a:p>
        </p:txBody>
      </p:sp>
      <p:cxnSp>
        <p:nvCxnSpPr>
          <p:cNvPr id="328" name="Google Shape;328;p13"/>
          <p:cNvCxnSpPr/>
          <p:nvPr/>
        </p:nvCxnSpPr>
        <p:spPr>
          <a:xfrm>
            <a:off x="172094" y="4512730"/>
            <a:ext cx="3134806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329" name="Google Shape;329;p13"/>
          <p:cNvSpPr txBox="1"/>
          <p:nvPr/>
        </p:nvSpPr>
        <p:spPr>
          <a:xfrm>
            <a:off x="1426309" y="4474351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11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30" name="Google Shape;330;p13"/>
          <p:cNvCxnSpPr/>
          <p:nvPr/>
        </p:nvCxnSpPr>
        <p:spPr>
          <a:xfrm>
            <a:off x="3497253" y="1742024"/>
            <a:ext cx="0" cy="2677126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331" name="Google Shape;331;p13"/>
          <p:cNvSpPr txBox="1"/>
          <p:nvPr/>
        </p:nvSpPr>
        <p:spPr>
          <a:xfrm>
            <a:off x="3371969" y="2859731"/>
            <a:ext cx="5686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9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1902426" y="4609251"/>
            <a:ext cx="183549" cy="1835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3794449" y="3010929"/>
            <a:ext cx="183549" cy="1835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3"/>
          <p:cNvSpPr txBox="1"/>
          <p:nvPr/>
        </p:nvSpPr>
        <p:spPr>
          <a:xfrm>
            <a:off x="3940613" y="1822104"/>
            <a:ext cx="471797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¿Cuál es el área cubierta en cm² por las enredaderas?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6149314" y="2857196"/>
            <a:ext cx="183549" cy="183549"/>
          </a:xfrm>
          <a:prstGeom prst="rect">
            <a:avLst/>
          </a:prstGeom>
          <a:solidFill>
            <a:srgbClr val="0CCF76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3"/>
          <p:cNvSpPr txBox="1"/>
          <p:nvPr/>
        </p:nvSpPr>
        <p:spPr>
          <a:xfrm>
            <a:off x="225836" y="911027"/>
            <a:ext cx="869225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Volviendo a la situación de Miguel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Cada _ tiene una superficie cuya </a:t>
            </a:r>
            <a:r>
              <a:rPr b="0" i="0" lang="es-ES" sz="2400" u="none" cap="none" strike="noStrike">
                <a:solidFill>
                  <a:srgbClr val="FFFFFF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área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es de 100 cm² </a:t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2340729" y="1418453"/>
            <a:ext cx="183549" cy="1835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3"/>
          <p:cNvSpPr txBox="1"/>
          <p:nvPr/>
        </p:nvSpPr>
        <p:spPr>
          <a:xfrm>
            <a:off x="3726635" y="3260276"/>
            <a:ext cx="529888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Por lo tanto el área es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31 x 100 cm² =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3.100 cm²</a:t>
            </a:r>
            <a:endParaRPr/>
          </a:p>
        </p:txBody>
      </p:sp>
      <p:pic>
        <p:nvPicPr>
          <p:cNvPr id="339" name="Google Shape;33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9500" y="39262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 txBox="1"/>
          <p:nvPr/>
        </p:nvSpPr>
        <p:spPr>
          <a:xfrm>
            <a:off x="261262" y="308775"/>
            <a:ext cx="862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Veamos más ejemplos</a:t>
            </a:r>
            <a:endParaRPr/>
          </a:p>
        </p:txBody>
      </p:sp>
      <p:sp>
        <p:nvSpPr>
          <p:cNvPr id="345" name="Google Shape;345;p14"/>
          <p:cNvSpPr txBox="1"/>
          <p:nvPr/>
        </p:nvSpPr>
        <p:spPr>
          <a:xfrm>
            <a:off x="225836" y="911027"/>
            <a:ext cx="86922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¿Cuál es el área de cada figura si cada _ mide 1 cm² ?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5880424" y="1058304"/>
            <a:ext cx="183549" cy="1835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4"/>
          <p:cNvSpPr txBox="1"/>
          <p:nvPr/>
        </p:nvSpPr>
        <p:spPr>
          <a:xfrm>
            <a:off x="3888354" y="1406371"/>
            <a:ext cx="491759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A) Tiene 12 cuadrados, entonces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FAB235"/>
                </a:solidFill>
                <a:latin typeface="Patrick Hand"/>
                <a:ea typeface="Patrick Hand"/>
                <a:cs typeface="Patrick Hand"/>
                <a:sym typeface="Patrick Hand"/>
              </a:rPr>
              <a:t>12 x 1 cm² = 12 cm²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B) Tiene 12 cuadrados, entonces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12 x 1 cm² = 12 cm²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¿Qué concluimos del ejemplo?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¡Figuras pueden tener </a:t>
            </a:r>
            <a:r>
              <a:rPr b="1" i="0" lang="es-ES" sz="2400" u="none" cap="none" strike="noStrike">
                <a:solidFill>
                  <a:srgbClr val="FFFFFF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misma área 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pero </a:t>
            </a:r>
            <a:r>
              <a:rPr b="1" i="0" lang="es-ES" sz="2400" u="none" cap="none" strike="noStrike">
                <a:solidFill>
                  <a:srgbClr val="FFFFFF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distinta forma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Un reloj digital&#10;&#10;Descripción generada automáticamente con confianza baja" id="348" name="Google Shape;34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89" y="1495802"/>
            <a:ext cx="3705386" cy="3081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6125" y="3666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54" name="Google Shape;354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5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¡Resumen de hoy!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1844744" y="1220127"/>
            <a:ext cx="5454502" cy="2722396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geometria" id="357" name="Google Shape;357;p15" title="Resumen - Geometría (9) - Área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5688" y="1044875"/>
            <a:ext cx="7012625" cy="364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79500" y="39262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6"/>
          <p:cNvSpPr txBox="1"/>
          <p:nvPr/>
        </p:nvSpPr>
        <p:spPr>
          <a:xfrm>
            <a:off x="785234" y="366599"/>
            <a:ext cx="757345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¡Ahora es tu turno!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6"/>
          <p:cNvSpPr txBox="1"/>
          <p:nvPr/>
        </p:nvSpPr>
        <p:spPr>
          <a:xfrm>
            <a:off x="4258571" y="2498679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RESPONDER ACÁ: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https://forms.gle/bt4V2K43wXGk1Eyh7</a:t>
            </a:r>
            <a:endParaRPr/>
          </a:p>
        </p:txBody>
      </p:sp>
      <p:pic>
        <p:nvPicPr>
          <p:cNvPr descr="Gráfico&#10;&#10;Descripción generada automáticamente" id="365" name="Google Shape;36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076" y="1174982"/>
            <a:ext cx="3499106" cy="2910214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6"/>
          <p:cNvSpPr txBox="1"/>
          <p:nvPr/>
        </p:nvSpPr>
        <p:spPr>
          <a:xfrm>
            <a:off x="4601281" y="1174982"/>
            <a:ext cx="386767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¿Cuál es el área de cada color y del total de la figura si cada _ mide 1 cm² ?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8020385" y="1686692"/>
            <a:ext cx="183549" cy="18354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" name="Google Shape;368;p16"/>
          <p:cNvPicPr preferRelativeResize="0"/>
          <p:nvPr/>
        </p:nvPicPr>
        <p:blipFill rotWithShape="1">
          <a:blip r:embed="rId5">
            <a:alphaModFix/>
          </a:blip>
          <a:srcRect b="7128" l="8704" r="8704" t="7127"/>
          <a:stretch/>
        </p:blipFill>
        <p:spPr>
          <a:xfrm>
            <a:off x="5670399" y="2981449"/>
            <a:ext cx="1729438" cy="1795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79500" y="39262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74" name="Google Shape;374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7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¡Reforcemos lo aprendido!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7"/>
          <p:cNvSpPr/>
          <p:nvPr/>
        </p:nvSpPr>
        <p:spPr>
          <a:xfrm>
            <a:off x="1844744" y="1220127"/>
            <a:ext cx="5454502" cy="2722396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geometria" id="377" name="Google Shape;377;p17" title="Reforzamiento - Geometría (9) - Área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9400" y="1044875"/>
            <a:ext cx="7165175" cy="365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79500" y="39262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