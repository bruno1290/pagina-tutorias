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embeddedFontLst>
    <p:embeddedFont>
      <p:font typeface="Patrick Hand"/>
      <p:regular r:id="rId32"/>
    </p:embeddedFont>
    <p:embeddedFont>
      <p:font typeface="Poppins"/>
      <p:regular r:id="rId33"/>
      <p:bold r:id="rId34"/>
      <p:italic r:id="rId35"/>
      <p:boldItalic r:id="rId36"/>
    </p:embeddedFont>
    <p:embeddedFont>
      <p:font typeface="Poppins Light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1" roundtripDataSignature="AMtx7mjPS/2fOjWX4bAFFCAEkxJeflOa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Light-boldItalic.fntdata"/><Relationship Id="rId20" Type="http://schemas.openxmlformats.org/officeDocument/2006/relationships/slide" Target="slides/slide14.xml"/><Relationship Id="rId41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Poppins-regular.fntdata"/><Relationship Id="rId10" Type="http://schemas.openxmlformats.org/officeDocument/2006/relationships/slide" Target="slides/slide4.xml"/><Relationship Id="rId32" Type="http://schemas.openxmlformats.org/officeDocument/2006/relationships/font" Target="fonts/PatrickHand-regular.fntdata"/><Relationship Id="rId13" Type="http://schemas.openxmlformats.org/officeDocument/2006/relationships/slide" Target="slides/slide7.xml"/><Relationship Id="rId35" Type="http://schemas.openxmlformats.org/officeDocument/2006/relationships/font" Target="fonts/Poppins-italic.fntdata"/><Relationship Id="rId12" Type="http://schemas.openxmlformats.org/officeDocument/2006/relationships/slide" Target="slides/slide6.xml"/><Relationship Id="rId34" Type="http://schemas.openxmlformats.org/officeDocument/2006/relationships/font" Target="fonts/Poppins-bold.fntdata"/><Relationship Id="rId15" Type="http://schemas.openxmlformats.org/officeDocument/2006/relationships/slide" Target="slides/slide9.xml"/><Relationship Id="rId37" Type="http://schemas.openxmlformats.org/officeDocument/2006/relationships/font" Target="fonts/PoppinsLight-regular.fntdata"/><Relationship Id="rId14" Type="http://schemas.openxmlformats.org/officeDocument/2006/relationships/slide" Target="slides/slide8.xml"/><Relationship Id="rId36" Type="http://schemas.openxmlformats.org/officeDocument/2006/relationships/font" Target="fonts/Poppins-boldItalic.fntdata"/><Relationship Id="rId17" Type="http://schemas.openxmlformats.org/officeDocument/2006/relationships/slide" Target="slides/slide11.xml"/><Relationship Id="rId39" Type="http://schemas.openxmlformats.org/officeDocument/2006/relationships/font" Target="fonts/PoppinsLight-italic.fntdata"/><Relationship Id="rId16" Type="http://schemas.openxmlformats.org/officeDocument/2006/relationships/slide" Target="slides/slide10.xml"/><Relationship Id="rId38" Type="http://schemas.openxmlformats.org/officeDocument/2006/relationships/font" Target="fonts/PoppinsLight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d953a2ed27_0_2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d953a2ed27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d953a2ed27_0_2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d953a2ed27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d953a2ed27_0_3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d953a2ed27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d953a2ed27_0_2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d953a2ed27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https://www.freepik.es/vector-gratis/fondo-cmyk-triangulos-colores_758005.htm#query=triangulos%20en%20arte&amp;position=9&amp;from_view=search&amp;track=ais&amp;uuid=f3cee788-a348-4d3e-96e0-33430366dfc9#position=9&amp;query=triangulos%20en%20arte</a:t>
            </a:r>
            <a:endParaRPr/>
          </a:p>
        </p:txBody>
      </p:sp>
      <p:sp>
        <p:nvSpPr>
          <p:cNvPr id="200" name="Google Shape;20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Simplemente un ejemplo de las Torres del Paine  para introducir la idea</a:t>
            </a:r>
            <a:endParaRPr/>
          </a:p>
        </p:txBody>
      </p:sp>
      <p:sp>
        <p:nvSpPr>
          <p:cNvPr id="207" name="Google Shape;20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Enfatizar como una de las características del triángulo vs cuadrado/rectángulo</a:t>
            </a:r>
            <a:endParaRPr/>
          </a:p>
        </p:txBody>
      </p:sp>
      <p:sp>
        <p:nvSpPr>
          <p:cNvPr id="229" name="Google Shape;22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Permitir que el pupilo pueda darse cuenta de la división entre los cuadrados, ver si lo recuerda o no.</a:t>
            </a:r>
            <a:endParaRPr/>
          </a:p>
        </p:txBody>
      </p:sp>
      <p:sp>
        <p:nvSpPr>
          <p:cNvPr id="251" name="Google Shape;25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Ir deduciendo cada paso de las animaciones junto al pupilo, es importante que pueda darse cuenta de la división por 2.</a:t>
            </a:r>
            <a:endParaRPr/>
          </a:p>
        </p:txBody>
      </p:sp>
      <p:sp>
        <p:nvSpPr>
          <p:cNvPr id="270" name="Google Shape;27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/>
              <a:t>NOTAS PARA TUTOR/A</a:t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/>
              <a:t>Recalcar en la semejanza de ancho y largo.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ES" sz="1800">
                <a:solidFill>
                  <a:srgbClr val="FF0000"/>
                </a:solidFill>
                <a:highlight>
                  <a:srgbClr val="FFFF00"/>
                </a:highlight>
              </a:rPr>
              <a:t>Preguntarle qué pasa si le cambia el orden de base y altura, o sea que la base sea el segmento morado y la altura el rojo</a:t>
            </a:r>
            <a:endParaRPr b="1" sz="18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86" name="Google Shape;28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" name="Google Shape;32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8" name="Google Shape;358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3" name="Google Shape;373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5" name="Google Shape;395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0" name="Google Shape;430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1" name="Google Shape;471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953a2ed27_0_24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g2d953a2ed27_0_240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1" name="Google Shape;61;g2d953a2ed27_0_24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g2d953a2ed27_0_24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g2d953a2ed27_0_24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d953a2ed27_0_24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g2d953a2ed27_0_24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g2d953a2ed27_0_24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g2d953a2ed27_0_24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g2d953a2ed27_0_2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d953a2ed27_0_252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g2d953a2ed27_0_252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3" name="Google Shape;73;g2d953a2ed27_0_25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g2d953a2ed27_0_25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g2d953a2ed27_0_25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d953a2ed27_0_25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g2d953a2ed27_0_258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g2d953a2ed27_0_258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g2d953a2ed27_0_25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g2d953a2ed27_0_25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g2d953a2ed27_0_25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d953a2ed27_0_265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g2d953a2ed27_0_265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g2d953a2ed27_0_265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g2d953a2ed27_0_265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g2d953a2ed27_0_265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g2d953a2ed27_0_26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g2d953a2ed27_0_26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g2d953a2ed27_0_26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d953a2ed27_0_27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g2d953a2ed27_0_27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g2d953a2ed27_0_27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g2d953a2ed27_0_27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d953a2ed27_0_27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g2d953a2ed27_0_27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g2d953a2ed27_0_27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d953a2ed27_0_283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g2d953a2ed27_0_283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4" name="Google Shape;104;g2d953a2ed27_0_283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5" name="Google Shape;105;g2d953a2ed27_0_28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g2d953a2ed27_0_28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g2d953a2ed27_0_28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953a2ed27_0_290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g2d953a2ed27_0_29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g2d953a2ed27_0_290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2" name="Google Shape;112;g2d953a2ed27_0_29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g2d953a2ed27_0_29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g2d953a2ed27_0_29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d953a2ed27_0_29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g2d953a2ed27_0_297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8" name="Google Shape;118;g2d953a2ed27_0_29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g2d953a2ed27_0_29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g2d953a2ed27_0_29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d953a2ed27_0_303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g2d953a2ed27_0_303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g2d953a2ed27_0_30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g2d953a2ed27_0_30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g2d953a2ed27_0_30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d953a2ed27_0_23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g2d953a2ed27_0_23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g2d953a2ed27_0_23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g2d953a2ed27_0_23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g2d953a2ed27_0_2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youtubeeducation.com/watch?v=g_LjWgQNgv4" TargetMode="External"/><Relationship Id="rId4" Type="http://schemas.openxmlformats.org/officeDocument/2006/relationships/hyperlink" Target="https://www.youtubeeducation.com/watch?v=g_LjWgQNgv4" TargetMode="External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jpg"/><Relationship Id="rId4" Type="http://schemas.openxmlformats.org/officeDocument/2006/relationships/hyperlink" Target="http://www.youtube.com/watch?v=gK5gXt5rGbE" TargetMode="External"/><Relationship Id="rId5" Type="http://schemas.openxmlformats.org/officeDocument/2006/relationships/image" Target="../media/image18.jpg"/><Relationship Id="rId6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bit.ly/3H5tmIa" TargetMode="External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jpg"/><Relationship Id="rId4" Type="http://schemas.openxmlformats.org/officeDocument/2006/relationships/hyperlink" Target="http://www.youtube.com/watch?v=WmrIutj7R-k" TargetMode="External"/><Relationship Id="rId5" Type="http://schemas.openxmlformats.org/officeDocument/2006/relationships/image" Target="../media/image16.jp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"/>
          <p:cNvSpPr txBox="1"/>
          <p:nvPr/>
        </p:nvSpPr>
        <p:spPr>
          <a:xfrm>
            <a:off x="1152939" y="502470"/>
            <a:ext cx="683812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60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LA RUTA MATEMÁTICA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335696" y="2102398"/>
            <a:ext cx="447260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48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GEOMETRÍA 2D</a:t>
            </a:r>
            <a:endParaRPr b="1" i="0" sz="4800" u="none" cap="none" strike="noStrike">
              <a:solidFill>
                <a:srgbClr val="009F98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33" name="Google Shape;13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64" y="2738944"/>
            <a:ext cx="2239350" cy="224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"/>
          <p:cNvSpPr txBox="1"/>
          <p:nvPr/>
        </p:nvSpPr>
        <p:spPr>
          <a:xfrm>
            <a:off x="2335696" y="3235008"/>
            <a:ext cx="4472608" cy="83099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48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(agregar dibujos)</a:t>
            </a:r>
            <a:endParaRPr/>
          </a:p>
        </p:txBody>
      </p:sp>
      <p:pic>
        <p:nvPicPr>
          <p:cNvPr id="135" name="Google Shape;135;p1"/>
          <p:cNvPicPr preferRelativeResize="0"/>
          <p:nvPr/>
        </p:nvPicPr>
        <p:blipFill rotWithShape="1">
          <a:blip r:embed="rId4">
            <a:alphaModFix/>
          </a:blip>
          <a:srcRect b="17637" l="28322" r="13793" t="24438"/>
          <a:stretch/>
        </p:blipFill>
        <p:spPr>
          <a:xfrm>
            <a:off x="0" y="-64800"/>
            <a:ext cx="9248500" cy="526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3675" y="425296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d953a2ed27_0_206"/>
          <p:cNvSpPr txBox="1"/>
          <p:nvPr/>
        </p:nvSpPr>
        <p:spPr>
          <a:xfrm>
            <a:off x="589763" y="125503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Propósito</a:t>
            </a:r>
            <a:r>
              <a:rPr b="1" lang="es-E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Facilitar en los estudiantes la comprensión y aplicación de diversas estrategias para calcular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área de triángulos.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2" name="Google Shape;142;g2d953a2ed27_0_206"/>
          <p:cNvSpPr txBox="1"/>
          <p:nvPr/>
        </p:nvSpPr>
        <p:spPr>
          <a:xfrm>
            <a:off x="868700" y="1980075"/>
            <a:ext cx="3524100" cy="20796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Objetivos de la Clase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Deducir la manera de calcular el área del triángulo.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g2d953a2ed27_0_206"/>
          <p:cNvSpPr txBox="1"/>
          <p:nvPr/>
        </p:nvSpPr>
        <p:spPr>
          <a:xfrm>
            <a:off x="4782050" y="1979975"/>
            <a:ext cx="3524100" cy="20796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Conceptos Clave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Triángulos.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Cálculo de área de triángulos.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g2d953a2ed27_0_206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2d953a2ed27_0_206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2d953a2ed27_0_206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g2d953a2ed27_0_2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6200" y="2139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d953a2ed27_0_216"/>
          <p:cNvSpPr txBox="1"/>
          <p:nvPr/>
        </p:nvSpPr>
        <p:spPr>
          <a:xfrm>
            <a:off x="589763" y="9692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3" name="Google Shape;153;g2d953a2ed27_0_216"/>
          <p:cNvSpPr txBox="1"/>
          <p:nvPr/>
        </p:nvSpPr>
        <p:spPr>
          <a:xfrm>
            <a:off x="589763" y="1370081"/>
            <a:ext cx="7875000" cy="84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Al introducir el triángulo, haz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la relación con la naturaleza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 y cómo es parte de nuestro día a día preguntándole ejemplos que se le ocurran. Además, recalca que es una figura geométrica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con solo tres lados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En la sesión se explicarán las siguientes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tres formas para calcular el área 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del triángulo, las cuales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debes revisar con antelación 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para explicar sus diferencias adecuadamente: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1. Conteo de cuadrículas: Si tu estudiante no realizó el ejercicio propuesto, vean el video donde se resuelve [</a:t>
            </a:r>
            <a:r>
              <a:rPr lang="es-ES" sz="11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link</a:t>
            </a:r>
            <a:r>
              <a:rPr lang="es-ES" sz="11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4"/>
              </a:rPr>
              <a:t>]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. 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2. Comparación con el área de un rectángulo: Sé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enfático en la división por 2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 en el área y por qué está ahí. Además pregúntale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qué pasa si cambia el orden de base y altura.</a:t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3. Completar figuras por traslación: Ten la seguridad de que el estudiante puede notar cómo obtienen el área mediante este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procedimiento ya que podría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marearse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g2d953a2ed27_0_216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2d953a2ed27_0_216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2d953a2ed27_0_216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7" name="Google Shape;157;g2d953a2ed27_0_2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26200" y="2139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d953a2ed27_0_313"/>
          <p:cNvSpPr txBox="1"/>
          <p:nvPr/>
        </p:nvSpPr>
        <p:spPr>
          <a:xfrm>
            <a:off x="589763" y="9692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3" name="Google Shape;163;g2d953a2ed27_0_313"/>
          <p:cNvSpPr txBox="1"/>
          <p:nvPr/>
        </p:nvSpPr>
        <p:spPr>
          <a:xfrm>
            <a:off x="589763" y="1370081"/>
            <a:ext cx="7875000" cy="6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En caso que un método no lo entienda, transmítele que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cualquiera de las tres es equivalente 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por lo que puede utilizar la que más comprenda.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Al término de la sesión, sugiérele a tu estudiante que en su </a:t>
            </a:r>
            <a:r>
              <a:rPr b="1" lang="es-ES" sz="1100">
                <a:latin typeface="Poppins"/>
                <a:ea typeface="Poppins"/>
                <a:cs typeface="Poppins"/>
                <a:sym typeface="Poppins"/>
              </a:rPr>
              <a:t>resumen haga diagramas sobre cómo debe calcular el perímetro y área de las distintas figuras </a:t>
            </a:r>
            <a:r>
              <a:rPr lang="es-ES" sz="1100">
                <a:latin typeface="Poppins"/>
                <a:ea typeface="Poppins"/>
                <a:cs typeface="Poppins"/>
                <a:sym typeface="Poppins"/>
              </a:rPr>
              <a:t>que revisarán. Adelántale que además de cuadrados, rectángulos y triángulos, aprenderán paralelogramos y trapecios.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g2d953a2ed27_0_313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2d953a2ed27_0_313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2d953a2ed27_0_313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7" name="Google Shape;167;g2d953a2ed27_0_3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6200" y="2139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d953a2ed27_0_225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2d953a2ed27_0_225"/>
          <p:cNvSpPr txBox="1"/>
          <p:nvPr/>
        </p:nvSpPr>
        <p:spPr>
          <a:xfrm>
            <a:off x="285206" y="1218713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Para Complementar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 los ejemplos que tu estudiante haya comentado al comienzo de la sesión, pídele que calcule sus dimensiones y áreas mediante un dibujo. Haz lo mismo buscando el tamaño de las Torres del Paine.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" name="Google Shape;174;g2d953a2ed27_0_225"/>
          <p:cNvSpPr txBox="1"/>
          <p:nvPr/>
        </p:nvSpPr>
        <p:spPr>
          <a:xfrm>
            <a:off x="285206" y="2772719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Preguntas de Cierre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¿Qué caracteriza a un triángulo en comparación a un rectángulo?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¿Cómo calculas el área de un triángulo?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g2d953a2ed27_0_225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2d953a2ed27_0_225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7" name="Google Shape;177;g2d953a2ed27_0_2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6200" y="2139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"/>
          <p:cNvSpPr txBox="1"/>
          <p:nvPr/>
        </p:nvSpPr>
        <p:spPr>
          <a:xfrm>
            <a:off x="1152939" y="2063920"/>
            <a:ext cx="6838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s-ES" sz="6000" u="none" cap="none" strike="noStrike">
                <a:solidFill>
                  <a:srgbClr val="009F98"/>
                </a:solidFill>
                <a:latin typeface="Patrick Hand"/>
                <a:ea typeface="Patrick Hand"/>
                <a:cs typeface="Patrick Hand"/>
                <a:sym typeface="Patrick Hand"/>
              </a:rPr>
              <a:t>SESIÓN 12</a:t>
            </a:r>
            <a:endParaRPr/>
          </a:p>
        </p:txBody>
      </p:sp>
      <p:pic>
        <p:nvPicPr>
          <p:cNvPr id="183" name="Google Shape;18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39716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Qué evalúa el MINEDUC (información para TUTOR/A)</a:t>
            </a:r>
            <a:endParaRPr/>
          </a:p>
        </p:txBody>
      </p:sp>
      <p:sp>
        <p:nvSpPr>
          <p:cNvPr id="189" name="Google Shape;189;p3"/>
          <p:cNvSpPr txBox="1"/>
          <p:nvPr/>
        </p:nvSpPr>
        <p:spPr>
          <a:xfrm>
            <a:off x="600255" y="1095159"/>
            <a:ext cx="7943489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OA22 5to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Calcular áreas de triángulos, de paralelogramos y de trapecios, y estimar áreas de figuras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irregulares aplicando las siguientes estrategias: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• conteo de cuadrículas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• comparación con el área de un rectángulo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• completar figuras por traslación</a:t>
            </a:r>
            <a:endParaRPr/>
          </a:p>
        </p:txBody>
      </p:sp>
      <p:pic>
        <p:nvPicPr>
          <p:cNvPr id="190" name="Google Shape;19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39716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/>
          <p:cNvSpPr txBox="1"/>
          <p:nvPr/>
        </p:nvSpPr>
        <p:spPr>
          <a:xfrm>
            <a:off x="-37" y="366599"/>
            <a:ext cx="91440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✨Objetivos de hoy✨</a:t>
            </a:r>
            <a:endParaRPr/>
          </a:p>
        </p:txBody>
      </p:sp>
      <p:sp>
        <p:nvSpPr>
          <p:cNvPr id="196" name="Google Shape;196;p4"/>
          <p:cNvSpPr txBox="1"/>
          <p:nvPr/>
        </p:nvSpPr>
        <p:spPr>
          <a:xfrm>
            <a:off x="600218" y="1095159"/>
            <a:ext cx="794348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AutoNum type="arabicParenR"/>
            </a:pPr>
            <a:r>
              <a:rPr b="0" i="0" lang="es-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Deducir la manera de calcular el área del triángulo.</a:t>
            </a:r>
            <a:endParaRPr/>
          </a:p>
          <a:p>
            <a:pPr indent="-1968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197" name="Google Shape;19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6150" y="39716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ventana&#10;&#10;Descripción generada automáticamente" id="202" name="Google Shape;202;p5"/>
          <p:cNvPicPr preferRelativeResize="0"/>
          <p:nvPr/>
        </p:nvPicPr>
        <p:blipFill rotWithShape="1">
          <a:blip r:embed="rId3">
            <a:alphaModFix/>
          </a:blip>
          <a:srcRect b="0" l="45530" r="0" t="9016"/>
          <a:stretch/>
        </p:blipFill>
        <p:spPr>
          <a:xfrm>
            <a:off x="0" y="479700"/>
            <a:ext cx="9143998" cy="46638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5"/>
          <p:cNvSpPr txBox="1"/>
          <p:nvPr/>
        </p:nvSpPr>
        <p:spPr>
          <a:xfrm>
            <a:off x="0" y="2033141"/>
            <a:ext cx="91440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Hemos hablado mucho de cuadrados y rectángulos,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pero ¿qué hay de estas figuras geométricas?</a:t>
            </a:r>
            <a:endParaRPr/>
          </a:p>
        </p:txBody>
      </p:sp>
      <p:pic>
        <p:nvPicPr>
          <p:cNvPr id="204" name="Google Shape;20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2800" y="3738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6038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6"/>
          <p:cNvSpPr txBox="1"/>
          <p:nvPr/>
        </p:nvSpPr>
        <p:spPr>
          <a:xfrm>
            <a:off x="600218" y="321484"/>
            <a:ext cx="794348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¿Dónde las has visto?</a:t>
            </a:r>
            <a:endParaRPr/>
          </a:p>
        </p:txBody>
      </p:sp>
      <p:cxnSp>
        <p:nvCxnSpPr>
          <p:cNvPr id="211" name="Google Shape;211;p6"/>
          <p:cNvCxnSpPr/>
          <p:nvPr/>
        </p:nvCxnSpPr>
        <p:spPr>
          <a:xfrm flipH="1" rot="10800000">
            <a:off x="3454400" y="1944914"/>
            <a:ext cx="4049486" cy="2877102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12" name="Google Shape;212;p6"/>
          <p:cNvCxnSpPr/>
          <p:nvPr/>
        </p:nvCxnSpPr>
        <p:spPr>
          <a:xfrm rot="10800000">
            <a:off x="7503886" y="1944914"/>
            <a:ext cx="1640076" cy="3915757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13" name="Google Shape;213;p6"/>
          <p:cNvCxnSpPr/>
          <p:nvPr/>
        </p:nvCxnSpPr>
        <p:spPr>
          <a:xfrm>
            <a:off x="3454362" y="4822016"/>
            <a:ext cx="5689600" cy="1038655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14" name="Google Shape;214;p6"/>
          <p:cNvCxnSpPr/>
          <p:nvPr/>
        </p:nvCxnSpPr>
        <p:spPr>
          <a:xfrm flipH="1" rot="10800000">
            <a:off x="4107543" y="1944914"/>
            <a:ext cx="152400" cy="275772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15" name="Google Shape;215;p6"/>
          <p:cNvCxnSpPr/>
          <p:nvPr/>
        </p:nvCxnSpPr>
        <p:spPr>
          <a:xfrm rot="10800000">
            <a:off x="4259943" y="1944914"/>
            <a:ext cx="146957" cy="275772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16" name="Google Shape;216;p6"/>
          <p:cNvCxnSpPr/>
          <p:nvPr/>
        </p:nvCxnSpPr>
        <p:spPr>
          <a:xfrm rot="10800000">
            <a:off x="4107543" y="2220686"/>
            <a:ext cx="299357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17" name="Google Shape;217;p6"/>
          <p:cNvCxnSpPr/>
          <p:nvPr/>
        </p:nvCxnSpPr>
        <p:spPr>
          <a:xfrm flipH="1" rot="10800000">
            <a:off x="4584702" y="1735364"/>
            <a:ext cx="152400" cy="275772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18" name="Google Shape;218;p6"/>
          <p:cNvCxnSpPr/>
          <p:nvPr/>
        </p:nvCxnSpPr>
        <p:spPr>
          <a:xfrm rot="10800000">
            <a:off x="4737102" y="1735364"/>
            <a:ext cx="146957" cy="275772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19" name="Google Shape;219;p6"/>
          <p:cNvCxnSpPr/>
          <p:nvPr/>
        </p:nvCxnSpPr>
        <p:spPr>
          <a:xfrm rot="10800000">
            <a:off x="4584702" y="2011136"/>
            <a:ext cx="299357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20" name="Google Shape;220;p6"/>
          <p:cNvCxnSpPr/>
          <p:nvPr/>
        </p:nvCxnSpPr>
        <p:spPr>
          <a:xfrm flipH="1" rot="10800000">
            <a:off x="5329446" y="1669142"/>
            <a:ext cx="152400" cy="275772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21" name="Google Shape;221;p6"/>
          <p:cNvCxnSpPr/>
          <p:nvPr/>
        </p:nvCxnSpPr>
        <p:spPr>
          <a:xfrm rot="10800000">
            <a:off x="5481846" y="1669142"/>
            <a:ext cx="146957" cy="275772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22" name="Google Shape;222;p6"/>
          <p:cNvCxnSpPr/>
          <p:nvPr/>
        </p:nvCxnSpPr>
        <p:spPr>
          <a:xfrm rot="10800000">
            <a:off x="5329446" y="1944914"/>
            <a:ext cx="299357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23" name="Google Shape;223;p6"/>
          <p:cNvCxnSpPr/>
          <p:nvPr/>
        </p:nvCxnSpPr>
        <p:spPr>
          <a:xfrm flipH="1" rot="10800000">
            <a:off x="3161355" y="2354489"/>
            <a:ext cx="152400" cy="275772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24" name="Google Shape;224;p6"/>
          <p:cNvCxnSpPr/>
          <p:nvPr/>
        </p:nvCxnSpPr>
        <p:spPr>
          <a:xfrm rot="10800000">
            <a:off x="3313755" y="2354489"/>
            <a:ext cx="146957" cy="275772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225" name="Google Shape;225;p6"/>
          <p:cNvCxnSpPr/>
          <p:nvPr/>
        </p:nvCxnSpPr>
        <p:spPr>
          <a:xfrm rot="10800000">
            <a:off x="3161355" y="2630261"/>
            <a:ext cx="299357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pic>
        <p:nvPicPr>
          <p:cNvPr id="226" name="Google Shape;22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12875" y="174512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"/>
          <p:cNvSpPr txBox="1"/>
          <p:nvPr/>
        </p:nvSpPr>
        <p:spPr>
          <a:xfrm>
            <a:off x="600219" y="366599"/>
            <a:ext cx="794348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Describámoslo</a:t>
            </a:r>
            <a:endParaRPr/>
          </a:p>
        </p:txBody>
      </p:sp>
      <p:sp>
        <p:nvSpPr>
          <p:cNvPr id="232" name="Google Shape;232;p7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Respecto a sus lados ¿qué lo diferencia?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3096336" y="1625515"/>
            <a:ext cx="1841548" cy="1892470"/>
          </a:xfrm>
          <a:prstGeom prst="rtTriangle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667714" y="1625515"/>
            <a:ext cx="1892470" cy="1892470"/>
          </a:xfrm>
          <a:prstGeom prst="rect">
            <a:avLst/>
          </a:prstGeom>
          <a:noFill/>
          <a:ln cap="flat" cmpd="sng" w="57150">
            <a:solidFill>
              <a:srgbClr val="FAB2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5470307" y="1625515"/>
            <a:ext cx="3073400" cy="1892470"/>
          </a:xfrm>
          <a:prstGeom prst="rect">
            <a:avLst/>
          </a:prstGeom>
          <a:noFill/>
          <a:ln cap="flat" cmpd="sng" w="57150">
            <a:solidFill>
              <a:srgbClr val="FAB2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 txBox="1"/>
          <p:nvPr/>
        </p:nvSpPr>
        <p:spPr>
          <a:xfrm>
            <a:off x="701104" y="3770808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¡Posee únicamente 3 lados!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37" name="Google Shape;23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2800" y="3738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"/>
          <p:cNvSpPr txBox="1"/>
          <p:nvPr/>
        </p:nvSpPr>
        <p:spPr>
          <a:xfrm>
            <a:off x="600219" y="366599"/>
            <a:ext cx="794348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Describámoslo</a:t>
            </a:r>
            <a:endParaRPr/>
          </a:p>
        </p:txBody>
      </p:sp>
      <p:sp>
        <p:nvSpPr>
          <p:cNvPr id="243" name="Google Shape;243;p8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¿Y qué pasa con el </a:t>
            </a:r>
            <a:r>
              <a:rPr b="1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área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3096336" y="1625515"/>
            <a:ext cx="1841548" cy="1892470"/>
          </a:xfrm>
          <a:prstGeom prst="rtTriangle">
            <a:avLst/>
          </a:prstGeom>
          <a:solidFill>
            <a:srgbClr val="FF0000"/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667714" y="1625515"/>
            <a:ext cx="1892470" cy="1892470"/>
          </a:xfrm>
          <a:prstGeom prst="rect">
            <a:avLst/>
          </a:prstGeom>
          <a:solidFill>
            <a:srgbClr val="FAB235"/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5470307" y="1625515"/>
            <a:ext cx="3073400" cy="1892470"/>
          </a:xfrm>
          <a:prstGeom prst="rect">
            <a:avLst/>
          </a:prstGeom>
          <a:solidFill>
            <a:srgbClr val="FAB235"/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8"/>
          <p:cNvSpPr txBox="1"/>
          <p:nvPr/>
        </p:nvSpPr>
        <p:spPr>
          <a:xfrm>
            <a:off x="701104" y="3770808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</a:t>
            </a:r>
            <a:r>
              <a:rPr b="1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Analicemos distintos casos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48" name="Google Shape;24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2800" y="3738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9"/>
          <p:cNvSpPr txBox="1"/>
          <p:nvPr/>
        </p:nvSpPr>
        <p:spPr>
          <a:xfrm>
            <a:off x="300112" y="373875"/>
            <a:ext cx="854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¿Recuerdas este ejercicio propuesto?</a:t>
            </a:r>
            <a:endParaRPr/>
          </a:p>
        </p:txBody>
      </p:sp>
      <p:sp>
        <p:nvSpPr>
          <p:cNvPr id="254" name="Google Shape;254;p9"/>
          <p:cNvSpPr txBox="1"/>
          <p:nvPr/>
        </p:nvSpPr>
        <p:spPr>
          <a:xfrm>
            <a:off x="600218" y="911027"/>
            <a:ext cx="794348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¿Cómo podríamos obtener el área que encierra figura si cada espacio mide 10 cm²?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Imagen en blanco y negro&#10;&#10;Descripción generada automáticamente con confianza media" id="255" name="Google Shape;255;p9"/>
          <p:cNvPicPr preferRelativeResize="0"/>
          <p:nvPr/>
        </p:nvPicPr>
        <p:blipFill rotWithShape="1">
          <a:blip r:embed="rId3">
            <a:alphaModFix/>
          </a:blip>
          <a:srcRect b="33213" l="0" r="36142" t="0"/>
          <a:stretch/>
        </p:blipFill>
        <p:spPr>
          <a:xfrm>
            <a:off x="687767" y="1917120"/>
            <a:ext cx="2495407" cy="2170608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9"/>
          <p:cNvSpPr/>
          <p:nvPr/>
        </p:nvSpPr>
        <p:spPr>
          <a:xfrm>
            <a:off x="1428987" y="2295440"/>
            <a:ext cx="1377950" cy="1416051"/>
          </a:xfrm>
          <a:prstGeom prst="rtTriangle">
            <a:avLst/>
          </a:prstGeom>
          <a:noFill/>
          <a:ln cap="flat" cmpd="sng" w="57150">
            <a:solidFill>
              <a:srgbClr val="FAB2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1428988" y="2295440"/>
            <a:ext cx="345044" cy="354891"/>
          </a:xfrm>
          <a:prstGeom prst="rtTriangl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1774032" y="2647533"/>
            <a:ext cx="345044" cy="354891"/>
          </a:xfrm>
          <a:prstGeom prst="rtTriangl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2119076" y="3004507"/>
            <a:ext cx="345044" cy="354891"/>
          </a:xfrm>
          <a:prstGeom prst="rtTriangle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2464120" y="3356600"/>
            <a:ext cx="345044" cy="354891"/>
          </a:xfrm>
          <a:prstGeom prst="rtTriangle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9"/>
          <p:cNvSpPr txBox="1"/>
          <p:nvPr/>
        </p:nvSpPr>
        <p:spPr>
          <a:xfrm>
            <a:off x="3448050" y="1917120"/>
            <a:ext cx="535840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Concluimos que la diagonal justo corta la mitad de cada cuadrícula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4483059" y="2748117"/>
            <a:ext cx="764144" cy="785954"/>
          </a:xfrm>
          <a:prstGeom prst="rtTriangl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/>
          <p:nvPr/>
        </p:nvSpPr>
        <p:spPr>
          <a:xfrm rot="10800000">
            <a:off x="4483059" y="2748121"/>
            <a:ext cx="764144" cy="785950"/>
          </a:xfrm>
          <a:prstGeom prst="rtTriangl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7024924" y="2748117"/>
            <a:ext cx="764144" cy="785954"/>
          </a:xfrm>
          <a:prstGeom prst="rtTriangle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9"/>
          <p:cNvSpPr/>
          <p:nvPr/>
        </p:nvSpPr>
        <p:spPr>
          <a:xfrm rot="10800000">
            <a:off x="7024924" y="2748121"/>
            <a:ext cx="764144" cy="785950"/>
          </a:xfrm>
          <a:prstGeom prst="rtTriangle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3448050" y="3711491"/>
            <a:ext cx="53584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¡Es como si tuviéramos dos cuadrados más!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67" name="Google Shape;267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06150" y="39716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"/>
          <p:cNvSpPr txBox="1"/>
          <p:nvPr/>
        </p:nvSpPr>
        <p:spPr>
          <a:xfrm>
            <a:off x="387899" y="326025"/>
            <a:ext cx="8368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¿Qué más podemos decir?</a:t>
            </a:r>
            <a:endParaRPr/>
          </a:p>
        </p:txBody>
      </p:sp>
      <p:sp>
        <p:nvSpPr>
          <p:cNvPr id="273" name="Google Shape;273;p10"/>
          <p:cNvSpPr txBox="1"/>
          <p:nvPr/>
        </p:nvSpPr>
        <p:spPr>
          <a:xfrm>
            <a:off x="-37" y="911027"/>
            <a:ext cx="91440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Entonces si generalizamos a todo triángulo, es como si estos fueran…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</a:t>
            </a:r>
            <a:r>
              <a:rPr b="1" i="0" lang="es-ES" sz="2400" u="none" cap="none" strike="noStrike">
                <a:solidFill>
                  <a:srgbClr val="FFFFFF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la mitad de un cuadrado o rectángulo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Imagen en blanco y negro&#10;&#10;Descripción generada automáticamente con confianza media" id="274" name="Google Shape;274;p10"/>
          <p:cNvPicPr preferRelativeResize="0"/>
          <p:nvPr/>
        </p:nvPicPr>
        <p:blipFill rotWithShape="1">
          <a:blip r:embed="rId3">
            <a:alphaModFix/>
          </a:blip>
          <a:srcRect b="33213" l="0" r="36142" t="0"/>
          <a:stretch/>
        </p:blipFill>
        <p:spPr>
          <a:xfrm>
            <a:off x="585640" y="1952455"/>
            <a:ext cx="2495407" cy="2170608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0"/>
          <p:cNvSpPr/>
          <p:nvPr/>
        </p:nvSpPr>
        <p:spPr>
          <a:xfrm>
            <a:off x="965200" y="2295440"/>
            <a:ext cx="1754188" cy="1416051"/>
          </a:xfrm>
          <a:prstGeom prst="rtTriangle">
            <a:avLst/>
          </a:prstGeom>
          <a:noFill/>
          <a:ln cap="flat" cmpd="sng" w="57150">
            <a:solidFill>
              <a:srgbClr val="FAB2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956250" y="2306599"/>
            <a:ext cx="1754188" cy="1391649"/>
          </a:xfrm>
          <a:prstGeom prst="rect">
            <a:avLst/>
          </a:prstGeom>
          <a:noFill/>
          <a:ln cap="flat" cmpd="sng" w="57150">
            <a:solidFill>
              <a:srgbClr val="9F5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0"/>
          <p:cNvSpPr txBox="1"/>
          <p:nvPr/>
        </p:nvSpPr>
        <p:spPr>
          <a:xfrm>
            <a:off x="3587750" y="1824787"/>
            <a:ext cx="5358409" cy="280057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454" r="-1478" t="-17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78" name="Google Shape;278;p10"/>
          <p:cNvSpPr txBox="1"/>
          <p:nvPr/>
        </p:nvSpPr>
        <p:spPr>
          <a:xfrm>
            <a:off x="1576388" y="3626062"/>
            <a:ext cx="531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n</a:t>
            </a:r>
            <a:endParaRPr/>
          </a:p>
        </p:txBody>
      </p:sp>
      <p:sp>
        <p:nvSpPr>
          <p:cNvPr id="279" name="Google Shape;279;p10"/>
          <p:cNvSpPr txBox="1"/>
          <p:nvPr/>
        </p:nvSpPr>
        <p:spPr>
          <a:xfrm>
            <a:off x="502294" y="2571750"/>
            <a:ext cx="531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</a:t>
            </a:r>
            <a:endParaRPr/>
          </a:p>
        </p:txBody>
      </p:sp>
      <p:sp>
        <p:nvSpPr>
          <p:cNvPr id="280" name="Google Shape;280;p10"/>
          <p:cNvSpPr txBox="1"/>
          <p:nvPr/>
        </p:nvSpPr>
        <p:spPr>
          <a:xfrm>
            <a:off x="3272559" y="4346904"/>
            <a:ext cx="334500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¡No olvides dividir por </a:t>
            </a:r>
            <a:r>
              <a:rPr b="1" i="0" lang="es-ES" sz="2400" u="none" cap="none" strike="noStrike">
                <a:solidFill>
                  <a:srgbClr val="C00000"/>
                </a:solidFill>
                <a:latin typeface="Patrick Hand"/>
                <a:ea typeface="Patrick Hand"/>
                <a:cs typeface="Patrick Hand"/>
                <a:sym typeface="Patrick Hand"/>
              </a:rPr>
              <a:t>2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4916244" y="3603879"/>
            <a:ext cx="2660777" cy="676021"/>
          </a:xfrm>
          <a:prstGeom prst="rect">
            <a:avLst/>
          </a:prstGeom>
          <a:noFill/>
          <a:ln cap="flat" cmpd="sng" w="57150">
            <a:solidFill>
              <a:srgbClr val="009F98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" name="Google Shape;282;p10"/>
          <p:cNvCxnSpPr/>
          <p:nvPr/>
        </p:nvCxnSpPr>
        <p:spPr>
          <a:xfrm flipH="1" rot="10800000">
            <a:off x="6286503" y="4232362"/>
            <a:ext cx="927000" cy="393000"/>
          </a:xfrm>
          <a:prstGeom prst="curvedConnector3">
            <a:avLst>
              <a:gd fmla="val 99325" name="adj1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pic>
        <p:nvPicPr>
          <p:cNvPr id="283" name="Google Shape;283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6150" y="39716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"/>
          <p:cNvSpPr txBox="1"/>
          <p:nvPr/>
        </p:nvSpPr>
        <p:spPr>
          <a:xfrm>
            <a:off x="162450" y="326025"/>
            <a:ext cx="8819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¿Qué son “n” y “m”?</a:t>
            </a:r>
            <a:endParaRPr/>
          </a:p>
        </p:txBody>
      </p:sp>
      <p:sp>
        <p:nvSpPr>
          <p:cNvPr id="289" name="Google Shape;289;p11"/>
          <p:cNvSpPr txBox="1"/>
          <p:nvPr/>
        </p:nvSpPr>
        <p:spPr>
          <a:xfrm>
            <a:off x="-37" y="911027"/>
            <a:ext cx="9144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Si en un rectángulo le hemos llamado a sus lados Ancho y Largo,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¿cómo podríamos referirnos a “n” y “m”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Imagen en blanco y negro&#10;&#10;Descripción generada automáticamente con confianza media" id="290" name="Google Shape;290;p11"/>
          <p:cNvPicPr preferRelativeResize="0"/>
          <p:nvPr/>
        </p:nvPicPr>
        <p:blipFill rotWithShape="1">
          <a:blip r:embed="rId3">
            <a:alphaModFix/>
          </a:blip>
          <a:srcRect b="33213" l="0" r="36142" t="0"/>
          <a:stretch/>
        </p:blipFill>
        <p:spPr>
          <a:xfrm>
            <a:off x="585640" y="1952455"/>
            <a:ext cx="2495407" cy="2170608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1"/>
          <p:cNvSpPr/>
          <p:nvPr/>
        </p:nvSpPr>
        <p:spPr>
          <a:xfrm>
            <a:off x="965200" y="2295440"/>
            <a:ext cx="1754188" cy="1416051"/>
          </a:xfrm>
          <a:prstGeom prst="rtTriangle">
            <a:avLst/>
          </a:prstGeom>
          <a:noFill/>
          <a:ln cap="flat" cmpd="sng" w="57150">
            <a:solidFill>
              <a:srgbClr val="FAB2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1"/>
          <p:cNvSpPr txBox="1"/>
          <p:nvPr/>
        </p:nvSpPr>
        <p:spPr>
          <a:xfrm>
            <a:off x="3460607" y="1794983"/>
            <a:ext cx="5358409" cy="2099614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-231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93" name="Google Shape;293;p11"/>
          <p:cNvSpPr txBox="1"/>
          <p:nvPr/>
        </p:nvSpPr>
        <p:spPr>
          <a:xfrm>
            <a:off x="1576388" y="3626062"/>
            <a:ext cx="531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n</a:t>
            </a:r>
            <a:endParaRPr/>
          </a:p>
        </p:txBody>
      </p:sp>
      <p:sp>
        <p:nvSpPr>
          <p:cNvPr id="294" name="Google Shape;294;p11"/>
          <p:cNvSpPr txBox="1"/>
          <p:nvPr/>
        </p:nvSpPr>
        <p:spPr>
          <a:xfrm>
            <a:off x="502294" y="2571750"/>
            <a:ext cx="5318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</a:t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976336" y="3538599"/>
            <a:ext cx="213468" cy="1885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" name="Google Shape;296;p11"/>
          <p:cNvCxnSpPr>
            <a:stCxn id="291" idx="0"/>
          </p:cNvCxnSpPr>
          <p:nvPr/>
        </p:nvCxnSpPr>
        <p:spPr>
          <a:xfrm>
            <a:off x="965200" y="2295440"/>
            <a:ext cx="11100" cy="1436700"/>
          </a:xfrm>
          <a:prstGeom prst="straightConnector1">
            <a:avLst/>
          </a:prstGeom>
          <a:noFill/>
          <a:ln cap="flat" cmpd="sng" w="57150">
            <a:solidFill>
              <a:srgbClr val="A833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297" name="Google Shape;297;p11"/>
          <p:cNvSpPr txBox="1"/>
          <p:nvPr/>
        </p:nvSpPr>
        <p:spPr>
          <a:xfrm>
            <a:off x="616060" y="2585302"/>
            <a:ext cx="2979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A833C3"/>
                </a:solidFill>
                <a:latin typeface="Patrick Hand"/>
                <a:ea typeface="Patrick Hand"/>
                <a:cs typeface="Patrick Hand"/>
                <a:sym typeface="Patrick Hand"/>
              </a:rPr>
              <a:t>h</a:t>
            </a:r>
            <a:endParaRPr b="1" i="0" sz="2400" u="none" cap="none" strike="noStrike">
              <a:solidFill>
                <a:srgbClr val="A833C3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98" name="Google Shape;298;p11"/>
          <p:cNvSpPr txBox="1"/>
          <p:nvPr/>
        </p:nvSpPr>
        <p:spPr>
          <a:xfrm>
            <a:off x="1509288" y="3664742"/>
            <a:ext cx="677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b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99" name="Google Shape;299;p11"/>
          <p:cNvCxnSpPr/>
          <p:nvPr/>
        </p:nvCxnSpPr>
        <p:spPr>
          <a:xfrm>
            <a:off x="948464" y="3727152"/>
            <a:ext cx="1759788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300" name="Google Shape;300;p11"/>
          <p:cNvSpPr txBox="1"/>
          <p:nvPr/>
        </p:nvSpPr>
        <p:spPr>
          <a:xfrm rot="-780252">
            <a:off x="3098730" y="2230728"/>
            <a:ext cx="17008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Forma un ángulo recto</a:t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01" name="Google Shape;301;p11"/>
          <p:cNvCxnSpPr/>
          <p:nvPr/>
        </p:nvCxnSpPr>
        <p:spPr>
          <a:xfrm flipH="1">
            <a:off x="1293450" y="2419348"/>
            <a:ext cx="3716700" cy="1171500"/>
          </a:xfrm>
          <a:prstGeom prst="curvedConnector3">
            <a:avLst>
              <a:gd fmla="val 49998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302" name="Google Shape;302;p11"/>
          <p:cNvSpPr/>
          <p:nvPr/>
        </p:nvSpPr>
        <p:spPr>
          <a:xfrm>
            <a:off x="4809422" y="2912379"/>
            <a:ext cx="2660777" cy="676021"/>
          </a:xfrm>
          <a:prstGeom prst="rect">
            <a:avLst/>
          </a:prstGeom>
          <a:noFill/>
          <a:ln cap="flat" cmpd="sng" w="57150">
            <a:solidFill>
              <a:srgbClr val="009F98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32800" y="3738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2"/>
          <p:cNvSpPr txBox="1"/>
          <p:nvPr/>
        </p:nvSpPr>
        <p:spPr>
          <a:xfrm>
            <a:off x="274524" y="373875"/>
            <a:ext cx="862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¿Qué pasa con el área de este triángulo?</a:t>
            </a:r>
            <a:endParaRPr/>
          </a:p>
        </p:txBody>
      </p:sp>
      <p:sp>
        <p:nvSpPr>
          <p:cNvPr id="309" name="Google Shape;309;p12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¡Apliquemos la misma estrategia de dividirlo!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Imagen en blanco y negro&#10;&#10;Descripción generada automáticamente con confianza media" id="310" name="Google Shape;310;p12"/>
          <p:cNvPicPr preferRelativeResize="0"/>
          <p:nvPr/>
        </p:nvPicPr>
        <p:blipFill rotWithShape="1">
          <a:blip r:embed="rId3">
            <a:alphaModFix/>
          </a:blip>
          <a:srcRect b="33213" l="0" r="36142" t="0"/>
          <a:stretch/>
        </p:blipFill>
        <p:spPr>
          <a:xfrm>
            <a:off x="3324296" y="1495802"/>
            <a:ext cx="2495407" cy="2170608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2"/>
          <p:cNvSpPr/>
          <p:nvPr/>
        </p:nvSpPr>
        <p:spPr>
          <a:xfrm>
            <a:off x="3722146" y="1869181"/>
            <a:ext cx="1726163" cy="1410990"/>
          </a:xfrm>
          <a:prstGeom prst="triangle">
            <a:avLst>
              <a:gd fmla="val 74584" name="adj"/>
            </a:avLst>
          </a:prstGeom>
          <a:noFill/>
          <a:ln cap="flat" cmpd="sng" w="38100">
            <a:solidFill>
              <a:srgbClr val="009F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2"/>
          <p:cNvSpPr/>
          <p:nvPr/>
        </p:nvSpPr>
        <p:spPr>
          <a:xfrm flipH="1">
            <a:off x="4356100" y="1869181"/>
            <a:ext cx="644525" cy="715269"/>
          </a:xfrm>
          <a:prstGeom prst="rtTriangle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5000625" y="1869181"/>
            <a:ext cx="212725" cy="715269"/>
          </a:xfrm>
          <a:prstGeom prst="rtTriangle">
            <a:avLst/>
          </a:prstGeom>
          <a:solidFill>
            <a:srgbClr val="31EAFE"/>
          </a:solidFill>
          <a:ln cap="flat" cmpd="sng" w="25400">
            <a:solidFill>
              <a:srgbClr val="31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2"/>
          <p:cNvSpPr/>
          <p:nvPr/>
        </p:nvSpPr>
        <p:spPr>
          <a:xfrm flipH="1">
            <a:off x="3714831" y="2602486"/>
            <a:ext cx="641268" cy="680435"/>
          </a:xfrm>
          <a:prstGeom prst="rtTriangle">
            <a:avLst/>
          </a:prstGeom>
          <a:solidFill>
            <a:srgbClr val="009F98"/>
          </a:solidFill>
          <a:ln cap="flat" cmpd="sng" w="25400">
            <a:solidFill>
              <a:srgbClr val="009F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4356099" y="2603791"/>
            <a:ext cx="857251" cy="677755"/>
          </a:xfrm>
          <a:prstGeom prst="rect">
            <a:avLst/>
          </a:prstGeom>
          <a:solidFill>
            <a:srgbClr val="009F98"/>
          </a:solidFill>
          <a:ln cap="flat" cmpd="sng" w="25400">
            <a:solidFill>
              <a:srgbClr val="009F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5220665" y="2599736"/>
            <a:ext cx="212725" cy="680435"/>
          </a:xfrm>
          <a:prstGeom prst="rtTriangle">
            <a:avLst/>
          </a:prstGeom>
          <a:solidFill>
            <a:srgbClr val="009F98"/>
          </a:solidFill>
          <a:ln cap="flat" cmpd="sng" w="25400">
            <a:solidFill>
              <a:srgbClr val="009F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3703319" y="1888522"/>
            <a:ext cx="1744989" cy="1391649"/>
          </a:xfrm>
          <a:prstGeom prst="rect">
            <a:avLst/>
          </a:prstGeom>
          <a:noFill/>
          <a:ln cap="flat" cmpd="sng" w="57150">
            <a:solidFill>
              <a:srgbClr val="9F5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2800" y="3738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3"/>
          <p:cNvSpPr txBox="1"/>
          <p:nvPr/>
        </p:nvSpPr>
        <p:spPr>
          <a:xfrm>
            <a:off x="261174" y="373875"/>
            <a:ext cx="8648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¿Qué pasa con el área de este triángulo?</a:t>
            </a:r>
            <a:endParaRPr/>
          </a:p>
        </p:txBody>
      </p:sp>
      <p:sp>
        <p:nvSpPr>
          <p:cNvPr id="324" name="Google Shape;324;p13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¡Apliquemos la misma estrategia de dividirlo!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Imagen en blanco y negro&#10;&#10;Descripción generada automáticamente con confianza media" id="325" name="Google Shape;325;p13"/>
          <p:cNvPicPr preferRelativeResize="0"/>
          <p:nvPr/>
        </p:nvPicPr>
        <p:blipFill rotWithShape="1">
          <a:blip r:embed="rId3">
            <a:alphaModFix/>
          </a:blip>
          <a:srcRect b="33213" l="0" r="36142" t="0"/>
          <a:stretch/>
        </p:blipFill>
        <p:spPr>
          <a:xfrm>
            <a:off x="3324296" y="1495802"/>
            <a:ext cx="2495407" cy="2170608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3"/>
          <p:cNvSpPr/>
          <p:nvPr/>
        </p:nvSpPr>
        <p:spPr>
          <a:xfrm>
            <a:off x="3722146" y="1869181"/>
            <a:ext cx="1726163" cy="1410990"/>
          </a:xfrm>
          <a:prstGeom prst="triangle">
            <a:avLst>
              <a:gd fmla="val 74584" name="adj"/>
            </a:avLst>
          </a:prstGeom>
          <a:noFill/>
          <a:ln cap="flat" cmpd="sng" w="38100">
            <a:solidFill>
              <a:srgbClr val="009F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3"/>
          <p:cNvSpPr/>
          <p:nvPr/>
        </p:nvSpPr>
        <p:spPr>
          <a:xfrm flipH="1" rot="10800000">
            <a:off x="3706853" y="2599736"/>
            <a:ext cx="644525" cy="715269"/>
          </a:xfrm>
          <a:prstGeom prst="rtTriangle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3"/>
          <p:cNvSpPr/>
          <p:nvPr/>
        </p:nvSpPr>
        <p:spPr>
          <a:xfrm rot="10800000">
            <a:off x="5220665" y="2599736"/>
            <a:ext cx="212725" cy="715269"/>
          </a:xfrm>
          <a:prstGeom prst="rtTriangle">
            <a:avLst/>
          </a:prstGeom>
          <a:solidFill>
            <a:srgbClr val="31EAFE"/>
          </a:solidFill>
          <a:ln cap="flat" cmpd="sng" w="25400">
            <a:solidFill>
              <a:srgbClr val="31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3"/>
          <p:cNvSpPr/>
          <p:nvPr/>
        </p:nvSpPr>
        <p:spPr>
          <a:xfrm flipH="1">
            <a:off x="3714831" y="2602486"/>
            <a:ext cx="641268" cy="680435"/>
          </a:xfrm>
          <a:prstGeom prst="rtTriangle">
            <a:avLst/>
          </a:prstGeom>
          <a:solidFill>
            <a:srgbClr val="009F98"/>
          </a:solidFill>
          <a:ln cap="flat" cmpd="sng" w="25400">
            <a:solidFill>
              <a:srgbClr val="009F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4356099" y="2603791"/>
            <a:ext cx="857251" cy="677755"/>
          </a:xfrm>
          <a:prstGeom prst="rect">
            <a:avLst/>
          </a:prstGeom>
          <a:solidFill>
            <a:srgbClr val="009F98"/>
          </a:solidFill>
          <a:ln cap="flat" cmpd="sng" w="25400">
            <a:solidFill>
              <a:srgbClr val="009F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5220665" y="2599736"/>
            <a:ext cx="212725" cy="680435"/>
          </a:xfrm>
          <a:prstGeom prst="rtTriangle">
            <a:avLst/>
          </a:prstGeom>
          <a:solidFill>
            <a:srgbClr val="009F98"/>
          </a:solidFill>
          <a:ln cap="flat" cmpd="sng" w="25400">
            <a:solidFill>
              <a:srgbClr val="009F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3703319" y="1888522"/>
            <a:ext cx="1744989" cy="1391649"/>
          </a:xfrm>
          <a:prstGeom prst="rect">
            <a:avLst/>
          </a:prstGeom>
          <a:noFill/>
          <a:ln cap="flat" cmpd="sng" w="57150">
            <a:solidFill>
              <a:srgbClr val="9F5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3"/>
          <p:cNvSpPr txBox="1"/>
          <p:nvPr/>
        </p:nvSpPr>
        <p:spPr>
          <a:xfrm>
            <a:off x="600217" y="3767357"/>
            <a:ext cx="794348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¿Cuál sería el área en este caso?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</a:t>
            </a:r>
            <a:r>
              <a:rPr b="1" i="0" lang="es-ES" sz="2400" u="none" cap="none" strike="noStrike">
                <a:solidFill>
                  <a:srgbClr val="FFFFFF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También la mitad del rectángulo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334" name="Google Shape;33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2800" y="3738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4"/>
          <p:cNvSpPr txBox="1"/>
          <p:nvPr/>
        </p:nvSpPr>
        <p:spPr>
          <a:xfrm>
            <a:off x="256712" y="373875"/>
            <a:ext cx="8608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¿Qué pasa con el área de este triángulo?</a:t>
            </a:r>
            <a:endParaRPr/>
          </a:p>
        </p:txBody>
      </p:sp>
      <p:sp>
        <p:nvSpPr>
          <p:cNvPr id="340" name="Google Shape;340;p14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Entonces si ponemos s la base y la altura, ¿qué calculamos?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Imagen en blanco y negro&#10;&#10;Descripción generada automáticamente con confianza media" id="341" name="Google Shape;341;p14"/>
          <p:cNvPicPr preferRelativeResize="0"/>
          <p:nvPr/>
        </p:nvPicPr>
        <p:blipFill rotWithShape="1">
          <a:blip r:embed="rId3">
            <a:alphaModFix/>
          </a:blip>
          <a:srcRect b="33213" l="0" r="36142" t="0"/>
          <a:stretch/>
        </p:blipFill>
        <p:spPr>
          <a:xfrm>
            <a:off x="3324296" y="1495802"/>
            <a:ext cx="2495407" cy="2170608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4"/>
          <p:cNvSpPr/>
          <p:nvPr/>
        </p:nvSpPr>
        <p:spPr>
          <a:xfrm>
            <a:off x="3722146" y="1869181"/>
            <a:ext cx="1726163" cy="1410990"/>
          </a:xfrm>
          <a:prstGeom prst="triangle">
            <a:avLst>
              <a:gd fmla="val 74584" name="adj"/>
            </a:avLst>
          </a:prstGeom>
          <a:noFill/>
          <a:ln cap="flat" cmpd="sng" w="38100">
            <a:solidFill>
              <a:srgbClr val="009F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4"/>
          <p:cNvSpPr/>
          <p:nvPr/>
        </p:nvSpPr>
        <p:spPr>
          <a:xfrm flipH="1" rot="10800000">
            <a:off x="3706853" y="2599736"/>
            <a:ext cx="644525" cy="715269"/>
          </a:xfrm>
          <a:prstGeom prst="rtTriangle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4"/>
          <p:cNvSpPr/>
          <p:nvPr/>
        </p:nvSpPr>
        <p:spPr>
          <a:xfrm rot="10800000">
            <a:off x="5220665" y="2599736"/>
            <a:ext cx="212725" cy="715269"/>
          </a:xfrm>
          <a:prstGeom prst="rtTriangle">
            <a:avLst/>
          </a:prstGeom>
          <a:solidFill>
            <a:srgbClr val="31EAFE"/>
          </a:solidFill>
          <a:ln cap="flat" cmpd="sng" w="25400">
            <a:solidFill>
              <a:srgbClr val="31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4"/>
          <p:cNvSpPr/>
          <p:nvPr/>
        </p:nvSpPr>
        <p:spPr>
          <a:xfrm flipH="1">
            <a:off x="3714831" y="2602486"/>
            <a:ext cx="641268" cy="680435"/>
          </a:xfrm>
          <a:prstGeom prst="rtTriangle">
            <a:avLst/>
          </a:prstGeom>
          <a:solidFill>
            <a:srgbClr val="009F98"/>
          </a:solidFill>
          <a:ln cap="flat" cmpd="sng" w="25400">
            <a:solidFill>
              <a:srgbClr val="009F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4356099" y="2603791"/>
            <a:ext cx="857251" cy="677755"/>
          </a:xfrm>
          <a:prstGeom prst="rect">
            <a:avLst/>
          </a:prstGeom>
          <a:solidFill>
            <a:srgbClr val="009F98"/>
          </a:solidFill>
          <a:ln cap="flat" cmpd="sng" w="25400">
            <a:solidFill>
              <a:srgbClr val="009F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5220665" y="2599736"/>
            <a:ext cx="212725" cy="680435"/>
          </a:xfrm>
          <a:prstGeom prst="rtTriangle">
            <a:avLst/>
          </a:prstGeom>
          <a:solidFill>
            <a:srgbClr val="009F98"/>
          </a:solidFill>
          <a:ln cap="flat" cmpd="sng" w="25400">
            <a:solidFill>
              <a:srgbClr val="009F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3703319" y="1888522"/>
            <a:ext cx="1744989" cy="1391649"/>
          </a:xfrm>
          <a:prstGeom prst="rect">
            <a:avLst/>
          </a:prstGeom>
          <a:noFill/>
          <a:ln cap="flat" cmpd="sng" w="57150">
            <a:solidFill>
              <a:srgbClr val="9F5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4"/>
          <p:cNvSpPr txBox="1"/>
          <p:nvPr/>
        </p:nvSpPr>
        <p:spPr>
          <a:xfrm>
            <a:off x="600255" y="3770809"/>
            <a:ext cx="7943489" cy="62966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067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50" name="Google Shape;350;p14"/>
          <p:cNvSpPr txBox="1"/>
          <p:nvPr/>
        </p:nvSpPr>
        <p:spPr>
          <a:xfrm>
            <a:off x="3350752" y="2185402"/>
            <a:ext cx="2979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A833C3"/>
                </a:solidFill>
                <a:latin typeface="Patrick Hand"/>
                <a:ea typeface="Patrick Hand"/>
                <a:cs typeface="Patrick Hand"/>
                <a:sym typeface="Patrick Hand"/>
              </a:rPr>
              <a:t>h</a:t>
            </a:r>
            <a:endParaRPr b="1" i="0" sz="2400" u="none" cap="none" strike="noStrike">
              <a:solidFill>
                <a:srgbClr val="A833C3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51" name="Google Shape;351;p14"/>
          <p:cNvSpPr txBox="1"/>
          <p:nvPr/>
        </p:nvSpPr>
        <p:spPr>
          <a:xfrm>
            <a:off x="4243980" y="3264842"/>
            <a:ext cx="677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b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3708789" y="3102671"/>
            <a:ext cx="213468" cy="1885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14"/>
          <p:cNvCxnSpPr/>
          <p:nvPr/>
        </p:nvCxnSpPr>
        <p:spPr>
          <a:xfrm>
            <a:off x="3697653" y="1859512"/>
            <a:ext cx="11136" cy="1436804"/>
          </a:xfrm>
          <a:prstGeom prst="straightConnector1">
            <a:avLst/>
          </a:prstGeom>
          <a:noFill/>
          <a:ln cap="flat" cmpd="sng" w="57150">
            <a:solidFill>
              <a:srgbClr val="A833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54" name="Google Shape;354;p14"/>
          <p:cNvCxnSpPr/>
          <p:nvPr/>
        </p:nvCxnSpPr>
        <p:spPr>
          <a:xfrm>
            <a:off x="3680917" y="3291224"/>
            <a:ext cx="1759788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pic>
        <p:nvPicPr>
          <p:cNvPr id="355" name="Google Shape;35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32800" y="3738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5"/>
          <p:cNvSpPr txBox="1"/>
          <p:nvPr/>
        </p:nvSpPr>
        <p:spPr>
          <a:xfrm>
            <a:off x="167962" y="373875"/>
            <a:ext cx="8808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¿Qué pasa con el área de este otro triángulo?</a:t>
            </a:r>
            <a:endParaRPr/>
          </a:p>
        </p:txBody>
      </p:sp>
      <p:sp>
        <p:nvSpPr>
          <p:cNvPr id="361" name="Google Shape;361;p15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¡Nuevamente misma estrategia!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Imagen en blanco y negro&#10;&#10;Descripción generada automáticamente con confianza media" id="362" name="Google Shape;362;p15"/>
          <p:cNvPicPr preferRelativeResize="0"/>
          <p:nvPr/>
        </p:nvPicPr>
        <p:blipFill rotWithShape="1">
          <a:blip r:embed="rId3">
            <a:alphaModFix/>
          </a:blip>
          <a:srcRect b="33213" l="0" r="36142" t="0"/>
          <a:stretch/>
        </p:blipFill>
        <p:spPr>
          <a:xfrm>
            <a:off x="3324258" y="1719243"/>
            <a:ext cx="2495407" cy="21706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3" name="Google Shape;363;p15"/>
          <p:cNvCxnSpPr/>
          <p:nvPr/>
        </p:nvCxnSpPr>
        <p:spPr>
          <a:xfrm>
            <a:off x="4411951" y="3503612"/>
            <a:ext cx="674399" cy="6351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64" name="Google Shape;364;p15"/>
          <p:cNvCxnSpPr/>
          <p:nvPr/>
        </p:nvCxnSpPr>
        <p:spPr>
          <a:xfrm>
            <a:off x="3699381" y="2105025"/>
            <a:ext cx="1391732" cy="1404938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65" name="Google Shape;365;p15"/>
          <p:cNvCxnSpPr/>
          <p:nvPr/>
        </p:nvCxnSpPr>
        <p:spPr>
          <a:xfrm>
            <a:off x="3699381" y="2105025"/>
            <a:ext cx="712570" cy="1398587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366" name="Google Shape;366;p15"/>
          <p:cNvSpPr/>
          <p:nvPr/>
        </p:nvSpPr>
        <p:spPr>
          <a:xfrm rot="10800000">
            <a:off x="4067173" y="2814638"/>
            <a:ext cx="327303" cy="682620"/>
          </a:xfrm>
          <a:prstGeom prst="rtTriangle">
            <a:avLst/>
          </a:prstGeom>
          <a:solidFill>
            <a:srgbClr val="31EAFE"/>
          </a:solidFill>
          <a:ln cap="flat" cmpd="sng" w="25400">
            <a:solidFill>
              <a:srgbClr val="31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3699380" y="2109788"/>
            <a:ext cx="705933" cy="690562"/>
          </a:xfrm>
          <a:custGeom>
            <a:rect b="b" l="l" r="r" t="t"/>
            <a:pathLst>
              <a:path extrusionOk="0" h="690562" w="704850">
                <a:moveTo>
                  <a:pt x="0" y="0"/>
                </a:moveTo>
                <a:lnTo>
                  <a:pt x="357187" y="690562"/>
                </a:lnTo>
                <a:lnTo>
                  <a:pt x="704850" y="690562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4411950" y="2800350"/>
            <a:ext cx="674399" cy="703262"/>
          </a:xfrm>
          <a:prstGeom prst="rtTriangle">
            <a:avLst/>
          </a:prstGeom>
          <a:solidFill>
            <a:srgbClr val="0070C0"/>
          </a:solidFill>
          <a:ln cap="flat" cmpd="sng" w="254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4411952" y="2119313"/>
            <a:ext cx="683924" cy="1390650"/>
          </a:xfrm>
          <a:prstGeom prst="rect">
            <a:avLst/>
          </a:prstGeom>
          <a:noFill/>
          <a:ln cap="flat" cmpd="sng" w="57150">
            <a:solidFill>
              <a:srgbClr val="9F5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0" name="Google Shape;3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2800" y="3738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6"/>
          <p:cNvSpPr txBox="1"/>
          <p:nvPr/>
        </p:nvSpPr>
        <p:spPr>
          <a:xfrm>
            <a:off x="254699" y="373875"/>
            <a:ext cx="8634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¿Qué pasa con el área de este otro triángulo?</a:t>
            </a:r>
            <a:endParaRPr/>
          </a:p>
        </p:txBody>
      </p:sp>
      <p:sp>
        <p:nvSpPr>
          <p:cNvPr id="376" name="Google Shape;376;p16"/>
          <p:cNvSpPr txBox="1"/>
          <p:nvPr/>
        </p:nvSpPr>
        <p:spPr>
          <a:xfrm>
            <a:off x="600218" y="911027"/>
            <a:ext cx="794348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¡Nuevamente misma estrategia!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</a:t>
            </a:r>
            <a:r>
              <a:rPr b="1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Y el mismo resultado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/>
          </a:p>
        </p:txBody>
      </p:sp>
      <p:pic>
        <p:nvPicPr>
          <p:cNvPr descr="Imagen en blanco y negro&#10;&#10;Descripción generada automáticamente con confianza media" id="377" name="Google Shape;377;p16"/>
          <p:cNvPicPr preferRelativeResize="0"/>
          <p:nvPr/>
        </p:nvPicPr>
        <p:blipFill rotWithShape="1">
          <a:blip r:embed="rId3">
            <a:alphaModFix/>
          </a:blip>
          <a:srcRect b="33213" l="0" r="36142" t="0"/>
          <a:stretch/>
        </p:blipFill>
        <p:spPr>
          <a:xfrm>
            <a:off x="3324258" y="1719243"/>
            <a:ext cx="2495407" cy="21706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8" name="Google Shape;378;p16"/>
          <p:cNvCxnSpPr/>
          <p:nvPr/>
        </p:nvCxnSpPr>
        <p:spPr>
          <a:xfrm>
            <a:off x="4411951" y="3503612"/>
            <a:ext cx="674399" cy="6351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79" name="Google Shape;379;p16"/>
          <p:cNvCxnSpPr/>
          <p:nvPr/>
        </p:nvCxnSpPr>
        <p:spPr>
          <a:xfrm>
            <a:off x="3699381" y="2105025"/>
            <a:ext cx="1391732" cy="1404938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80" name="Google Shape;380;p16"/>
          <p:cNvCxnSpPr/>
          <p:nvPr/>
        </p:nvCxnSpPr>
        <p:spPr>
          <a:xfrm>
            <a:off x="3699381" y="2105025"/>
            <a:ext cx="712570" cy="1398587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381" name="Google Shape;381;p16"/>
          <p:cNvSpPr/>
          <p:nvPr/>
        </p:nvSpPr>
        <p:spPr>
          <a:xfrm rot="10800000">
            <a:off x="4766191" y="2820992"/>
            <a:ext cx="327303" cy="682620"/>
          </a:xfrm>
          <a:prstGeom prst="rtTriangle">
            <a:avLst/>
          </a:prstGeom>
          <a:solidFill>
            <a:srgbClr val="31EAFE"/>
          </a:solidFill>
          <a:ln cap="flat" cmpd="sng" w="25400">
            <a:solidFill>
              <a:srgbClr val="31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6"/>
          <p:cNvSpPr/>
          <p:nvPr/>
        </p:nvSpPr>
        <p:spPr>
          <a:xfrm rot="10800000">
            <a:off x="4395247" y="2819401"/>
            <a:ext cx="705933" cy="690562"/>
          </a:xfrm>
          <a:custGeom>
            <a:rect b="b" l="l" r="r" t="t"/>
            <a:pathLst>
              <a:path extrusionOk="0" h="690562" w="704850">
                <a:moveTo>
                  <a:pt x="0" y="0"/>
                </a:moveTo>
                <a:lnTo>
                  <a:pt x="357187" y="690562"/>
                </a:lnTo>
                <a:lnTo>
                  <a:pt x="704850" y="690562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4411952" y="2119313"/>
            <a:ext cx="683924" cy="1390650"/>
          </a:xfrm>
          <a:prstGeom prst="rect">
            <a:avLst/>
          </a:prstGeom>
          <a:noFill/>
          <a:ln cap="flat" cmpd="sng" w="57150">
            <a:solidFill>
              <a:srgbClr val="9F5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4411950" y="2800350"/>
            <a:ext cx="674399" cy="703262"/>
          </a:xfrm>
          <a:prstGeom prst="rtTriangle">
            <a:avLst/>
          </a:prstGeom>
          <a:solidFill>
            <a:srgbClr val="0070C0"/>
          </a:solidFill>
          <a:ln cap="flat" cmpd="sng" w="254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6"/>
          <p:cNvSpPr txBox="1"/>
          <p:nvPr/>
        </p:nvSpPr>
        <p:spPr>
          <a:xfrm>
            <a:off x="3347717" y="2422126"/>
            <a:ext cx="2979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A833C3"/>
                </a:solidFill>
                <a:latin typeface="Patrick Hand"/>
                <a:ea typeface="Patrick Hand"/>
                <a:cs typeface="Patrick Hand"/>
                <a:sym typeface="Patrick Hand"/>
              </a:rPr>
              <a:t>h</a:t>
            </a:r>
            <a:endParaRPr b="1" i="0" sz="2400" u="none" cap="none" strike="noStrike">
              <a:solidFill>
                <a:srgbClr val="A833C3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86" name="Google Shape;386;p16"/>
          <p:cNvSpPr txBox="1"/>
          <p:nvPr/>
        </p:nvSpPr>
        <p:spPr>
          <a:xfrm>
            <a:off x="4407146" y="3481387"/>
            <a:ext cx="677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b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3705754" y="3339395"/>
            <a:ext cx="213468" cy="1885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8" name="Google Shape;388;p16"/>
          <p:cNvCxnSpPr/>
          <p:nvPr/>
        </p:nvCxnSpPr>
        <p:spPr>
          <a:xfrm>
            <a:off x="3694618" y="2096236"/>
            <a:ext cx="11136" cy="1436804"/>
          </a:xfrm>
          <a:prstGeom prst="straightConnector1">
            <a:avLst/>
          </a:prstGeom>
          <a:noFill/>
          <a:ln cap="flat" cmpd="sng" w="57150">
            <a:solidFill>
              <a:srgbClr val="A833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89" name="Google Shape;389;p16"/>
          <p:cNvCxnSpPr/>
          <p:nvPr/>
        </p:nvCxnSpPr>
        <p:spPr>
          <a:xfrm>
            <a:off x="4394476" y="3509963"/>
            <a:ext cx="726363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390" name="Google Shape;390;p16"/>
          <p:cNvCxnSpPr/>
          <p:nvPr/>
        </p:nvCxnSpPr>
        <p:spPr>
          <a:xfrm>
            <a:off x="3694618" y="3509963"/>
            <a:ext cx="726363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dot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391" name="Google Shape;391;p16"/>
          <p:cNvSpPr txBox="1"/>
          <p:nvPr/>
        </p:nvSpPr>
        <p:spPr>
          <a:xfrm>
            <a:off x="600218" y="3920586"/>
            <a:ext cx="7943489" cy="62966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0678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pic>
        <p:nvPicPr>
          <p:cNvPr id="392" name="Google Shape;39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32800" y="3738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7"/>
          <p:cNvSpPr/>
          <p:nvPr/>
        </p:nvSpPr>
        <p:spPr>
          <a:xfrm>
            <a:off x="7048913" y="1754542"/>
            <a:ext cx="1043832" cy="1391649"/>
          </a:xfrm>
          <a:prstGeom prst="rect">
            <a:avLst/>
          </a:prstGeom>
          <a:noFill/>
          <a:ln cap="flat" cmpd="sng" w="57150">
            <a:solidFill>
              <a:srgbClr val="9F5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3882952" y="1752036"/>
            <a:ext cx="1360050" cy="1391649"/>
          </a:xfrm>
          <a:prstGeom prst="rect">
            <a:avLst/>
          </a:prstGeom>
          <a:noFill/>
          <a:ln cap="flat" cmpd="sng" w="57150">
            <a:solidFill>
              <a:srgbClr val="9F5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7"/>
          <p:cNvSpPr/>
          <p:nvPr/>
        </p:nvSpPr>
        <p:spPr>
          <a:xfrm>
            <a:off x="1525058" y="1752036"/>
            <a:ext cx="1360050" cy="1391649"/>
          </a:xfrm>
          <a:prstGeom prst="rect">
            <a:avLst/>
          </a:prstGeom>
          <a:noFill/>
          <a:ln cap="flat" cmpd="sng" w="57150">
            <a:solidFill>
              <a:srgbClr val="9F5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4880793" y="2958575"/>
            <a:ext cx="213468" cy="1885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1525058" y="2952567"/>
            <a:ext cx="213468" cy="1885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7"/>
          <p:cNvSpPr txBox="1"/>
          <p:nvPr/>
        </p:nvSpPr>
        <p:spPr>
          <a:xfrm>
            <a:off x="343624" y="373875"/>
            <a:ext cx="862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Concluyamos</a:t>
            </a:r>
            <a:endParaRPr/>
          </a:p>
        </p:txBody>
      </p:sp>
      <p:sp>
        <p:nvSpPr>
          <p:cNvPr id="403" name="Google Shape;403;p17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¿Cómo calcularías el área de un triángulo?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04" name="Google Shape;404;p17"/>
          <p:cNvSpPr/>
          <p:nvPr/>
        </p:nvSpPr>
        <p:spPr>
          <a:xfrm>
            <a:off x="1525058" y="1748554"/>
            <a:ext cx="1360050" cy="1397658"/>
          </a:xfrm>
          <a:prstGeom prst="rtTriangle">
            <a:avLst/>
          </a:prstGeom>
          <a:noFill/>
          <a:ln cap="flat" cmpd="sng" w="57150">
            <a:solidFill>
              <a:srgbClr val="FAB2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7"/>
          <p:cNvSpPr/>
          <p:nvPr/>
        </p:nvSpPr>
        <p:spPr>
          <a:xfrm>
            <a:off x="3873531" y="1748553"/>
            <a:ext cx="1381623" cy="1397657"/>
          </a:xfrm>
          <a:prstGeom prst="triangle">
            <a:avLst>
              <a:gd fmla="val 74584" name="adj"/>
            </a:avLst>
          </a:prstGeom>
          <a:noFill/>
          <a:ln cap="flat" cmpd="sng" w="57150">
            <a:solidFill>
              <a:srgbClr val="009F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6" name="Google Shape;406;p17"/>
          <p:cNvCxnSpPr/>
          <p:nvPr/>
        </p:nvCxnSpPr>
        <p:spPr>
          <a:xfrm>
            <a:off x="7048806" y="3146212"/>
            <a:ext cx="103632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407" name="Google Shape;407;p17"/>
          <p:cNvCxnSpPr/>
          <p:nvPr/>
        </p:nvCxnSpPr>
        <p:spPr>
          <a:xfrm>
            <a:off x="6347766" y="1748557"/>
            <a:ext cx="1737360" cy="1397655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408" name="Google Shape;408;p17"/>
          <p:cNvCxnSpPr/>
          <p:nvPr/>
        </p:nvCxnSpPr>
        <p:spPr>
          <a:xfrm>
            <a:off x="6347766" y="1748556"/>
            <a:ext cx="701040" cy="1397656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409" name="Google Shape;409;p17"/>
          <p:cNvSpPr txBox="1"/>
          <p:nvPr/>
        </p:nvSpPr>
        <p:spPr>
          <a:xfrm>
            <a:off x="1866488" y="3146210"/>
            <a:ext cx="677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b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10" name="Google Shape;410;p17"/>
          <p:cNvCxnSpPr>
            <a:stCxn id="404" idx="2"/>
            <a:endCxn id="404" idx="4"/>
          </p:cNvCxnSpPr>
          <p:nvPr/>
        </p:nvCxnSpPr>
        <p:spPr>
          <a:xfrm>
            <a:off x="1525058" y="3146212"/>
            <a:ext cx="13602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411" name="Google Shape;411;p17"/>
          <p:cNvSpPr txBox="1"/>
          <p:nvPr/>
        </p:nvSpPr>
        <p:spPr>
          <a:xfrm>
            <a:off x="4225786" y="3146210"/>
            <a:ext cx="677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b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12" name="Google Shape;412;p17"/>
          <p:cNvCxnSpPr/>
          <p:nvPr/>
        </p:nvCxnSpPr>
        <p:spPr>
          <a:xfrm>
            <a:off x="3884356" y="3146212"/>
            <a:ext cx="136005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413" name="Google Shape;413;p17"/>
          <p:cNvSpPr txBox="1"/>
          <p:nvPr/>
        </p:nvSpPr>
        <p:spPr>
          <a:xfrm>
            <a:off x="7262274" y="3141118"/>
            <a:ext cx="677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b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14" name="Google Shape;414;p17"/>
          <p:cNvCxnSpPr/>
          <p:nvPr/>
        </p:nvCxnSpPr>
        <p:spPr>
          <a:xfrm>
            <a:off x="7072656" y="3146212"/>
            <a:ext cx="101862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415" name="Google Shape;415;p17"/>
          <p:cNvCxnSpPr>
            <a:stCxn id="404" idx="0"/>
            <a:endCxn id="404" idx="2"/>
          </p:cNvCxnSpPr>
          <p:nvPr/>
        </p:nvCxnSpPr>
        <p:spPr>
          <a:xfrm>
            <a:off x="1525058" y="1748554"/>
            <a:ext cx="0" cy="1397700"/>
          </a:xfrm>
          <a:prstGeom prst="straightConnector1">
            <a:avLst/>
          </a:prstGeom>
          <a:noFill/>
          <a:ln cap="flat" cmpd="sng" w="57150">
            <a:solidFill>
              <a:srgbClr val="A833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416" name="Google Shape;416;p17"/>
          <p:cNvSpPr txBox="1"/>
          <p:nvPr/>
        </p:nvSpPr>
        <p:spPr>
          <a:xfrm>
            <a:off x="1149609" y="2216548"/>
            <a:ext cx="2979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A833C3"/>
                </a:solidFill>
                <a:latin typeface="Patrick Hand"/>
                <a:ea typeface="Patrick Hand"/>
                <a:cs typeface="Patrick Hand"/>
                <a:sym typeface="Patrick Hand"/>
              </a:rPr>
              <a:t>h</a:t>
            </a:r>
            <a:endParaRPr b="1" i="0" sz="2400" u="none" cap="none" strike="noStrike">
              <a:solidFill>
                <a:srgbClr val="A833C3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17" name="Google Shape;417;p17"/>
          <p:cNvCxnSpPr/>
          <p:nvPr/>
        </p:nvCxnSpPr>
        <p:spPr>
          <a:xfrm>
            <a:off x="4880793" y="1754562"/>
            <a:ext cx="0" cy="1397658"/>
          </a:xfrm>
          <a:prstGeom prst="straightConnector1">
            <a:avLst/>
          </a:prstGeom>
          <a:noFill/>
          <a:ln cap="flat" cmpd="sng" w="57150">
            <a:solidFill>
              <a:srgbClr val="A833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418" name="Google Shape;418;p17"/>
          <p:cNvSpPr txBox="1"/>
          <p:nvPr/>
        </p:nvSpPr>
        <p:spPr>
          <a:xfrm>
            <a:off x="4505344" y="2222556"/>
            <a:ext cx="2979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A833C3"/>
                </a:solidFill>
                <a:latin typeface="Patrick Hand"/>
                <a:ea typeface="Patrick Hand"/>
                <a:cs typeface="Patrick Hand"/>
                <a:sym typeface="Patrick Hand"/>
              </a:rPr>
              <a:t>h</a:t>
            </a:r>
            <a:endParaRPr b="1" i="0" sz="2400" u="none" cap="none" strike="noStrike">
              <a:solidFill>
                <a:srgbClr val="A833C3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6371616" y="2963669"/>
            <a:ext cx="213468" cy="1885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0" name="Google Shape;420;p17"/>
          <p:cNvCxnSpPr/>
          <p:nvPr/>
        </p:nvCxnSpPr>
        <p:spPr>
          <a:xfrm>
            <a:off x="6371616" y="1759656"/>
            <a:ext cx="0" cy="1397658"/>
          </a:xfrm>
          <a:prstGeom prst="straightConnector1">
            <a:avLst/>
          </a:prstGeom>
          <a:noFill/>
          <a:ln cap="flat" cmpd="sng" w="57150">
            <a:solidFill>
              <a:srgbClr val="A833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421" name="Google Shape;421;p17"/>
          <p:cNvSpPr txBox="1"/>
          <p:nvPr/>
        </p:nvSpPr>
        <p:spPr>
          <a:xfrm>
            <a:off x="5996167" y="2227650"/>
            <a:ext cx="2979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A833C3"/>
                </a:solidFill>
                <a:latin typeface="Patrick Hand"/>
                <a:ea typeface="Patrick Hand"/>
                <a:cs typeface="Patrick Hand"/>
                <a:sym typeface="Patrick Hand"/>
              </a:rPr>
              <a:t>h</a:t>
            </a:r>
            <a:endParaRPr b="1" i="0" sz="2400" u="none" cap="none" strike="noStrike">
              <a:solidFill>
                <a:srgbClr val="A833C3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22" name="Google Shape;422;p17"/>
          <p:cNvCxnSpPr/>
          <p:nvPr/>
        </p:nvCxnSpPr>
        <p:spPr>
          <a:xfrm>
            <a:off x="6371616" y="3141118"/>
            <a:ext cx="70104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423" name="Google Shape;423;p17"/>
          <p:cNvSpPr txBox="1"/>
          <p:nvPr/>
        </p:nvSpPr>
        <p:spPr>
          <a:xfrm>
            <a:off x="261660" y="3607875"/>
            <a:ext cx="7943489" cy="80881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202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24" name="Google Shape;424;p17"/>
          <p:cNvSpPr/>
          <p:nvPr/>
        </p:nvSpPr>
        <p:spPr>
          <a:xfrm>
            <a:off x="5262773" y="3646570"/>
            <a:ext cx="212869" cy="344517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5574745" y="3659043"/>
            <a:ext cx="212869" cy="344517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5413380" y="4110864"/>
            <a:ext cx="212869" cy="344517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7" name="Google Shape;42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2800" y="3738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8"/>
          <p:cNvSpPr/>
          <p:nvPr/>
        </p:nvSpPr>
        <p:spPr>
          <a:xfrm>
            <a:off x="7048913" y="1754542"/>
            <a:ext cx="1043832" cy="1391649"/>
          </a:xfrm>
          <a:prstGeom prst="rect">
            <a:avLst/>
          </a:prstGeom>
          <a:noFill/>
          <a:ln cap="flat" cmpd="sng" w="57150">
            <a:solidFill>
              <a:srgbClr val="9F5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3882952" y="1752036"/>
            <a:ext cx="1360050" cy="1391649"/>
          </a:xfrm>
          <a:prstGeom prst="rect">
            <a:avLst/>
          </a:prstGeom>
          <a:noFill/>
          <a:ln cap="flat" cmpd="sng" w="57150">
            <a:solidFill>
              <a:srgbClr val="9F5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1525058" y="1752036"/>
            <a:ext cx="1360050" cy="1391649"/>
          </a:xfrm>
          <a:prstGeom prst="rect">
            <a:avLst/>
          </a:prstGeom>
          <a:noFill/>
          <a:ln cap="flat" cmpd="sng" w="57150">
            <a:solidFill>
              <a:srgbClr val="9F59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4880793" y="2958575"/>
            <a:ext cx="213468" cy="1885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1525058" y="2952567"/>
            <a:ext cx="213468" cy="1885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8"/>
          <p:cNvSpPr txBox="1"/>
          <p:nvPr/>
        </p:nvSpPr>
        <p:spPr>
          <a:xfrm>
            <a:off x="165725" y="373875"/>
            <a:ext cx="8794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¿Lo notaste?</a:t>
            </a:r>
            <a:endParaRPr/>
          </a:p>
        </p:txBody>
      </p:sp>
      <p:sp>
        <p:nvSpPr>
          <p:cNvPr id="438" name="Google Shape;438;p18"/>
          <p:cNvSpPr txBox="1"/>
          <p:nvPr/>
        </p:nvSpPr>
        <p:spPr>
          <a:xfrm>
            <a:off x="600218" y="911027"/>
            <a:ext cx="79434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En este caso ¿cómo son las áreas de cada triángulo? 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1525058" y="1748554"/>
            <a:ext cx="1360050" cy="1397658"/>
          </a:xfrm>
          <a:prstGeom prst="rtTriangle">
            <a:avLst/>
          </a:prstGeom>
          <a:noFill/>
          <a:ln cap="flat" cmpd="sng" w="57150">
            <a:solidFill>
              <a:srgbClr val="FAB2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3873531" y="1748553"/>
            <a:ext cx="1381623" cy="1397657"/>
          </a:xfrm>
          <a:prstGeom prst="triangle">
            <a:avLst>
              <a:gd fmla="val 74584" name="adj"/>
            </a:avLst>
          </a:prstGeom>
          <a:noFill/>
          <a:ln cap="flat" cmpd="sng" w="57150">
            <a:solidFill>
              <a:srgbClr val="009F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1" name="Google Shape;441;p18"/>
          <p:cNvCxnSpPr/>
          <p:nvPr/>
        </p:nvCxnSpPr>
        <p:spPr>
          <a:xfrm>
            <a:off x="7048806" y="3146212"/>
            <a:ext cx="103632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442" name="Google Shape;442;p18"/>
          <p:cNvCxnSpPr/>
          <p:nvPr/>
        </p:nvCxnSpPr>
        <p:spPr>
          <a:xfrm>
            <a:off x="6347766" y="1748557"/>
            <a:ext cx="1737360" cy="1397655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443" name="Google Shape;443;p18"/>
          <p:cNvCxnSpPr/>
          <p:nvPr/>
        </p:nvCxnSpPr>
        <p:spPr>
          <a:xfrm>
            <a:off x="6347766" y="1748556"/>
            <a:ext cx="701040" cy="1397656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444" name="Google Shape;444;p18"/>
          <p:cNvSpPr txBox="1"/>
          <p:nvPr/>
        </p:nvSpPr>
        <p:spPr>
          <a:xfrm>
            <a:off x="1866488" y="3146210"/>
            <a:ext cx="677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b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45" name="Google Shape;445;p18"/>
          <p:cNvCxnSpPr>
            <a:stCxn id="439" idx="2"/>
            <a:endCxn id="439" idx="4"/>
          </p:cNvCxnSpPr>
          <p:nvPr/>
        </p:nvCxnSpPr>
        <p:spPr>
          <a:xfrm>
            <a:off x="1525058" y="3146212"/>
            <a:ext cx="136020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446" name="Google Shape;446;p18"/>
          <p:cNvSpPr txBox="1"/>
          <p:nvPr/>
        </p:nvSpPr>
        <p:spPr>
          <a:xfrm>
            <a:off x="4225786" y="3146210"/>
            <a:ext cx="677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b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47" name="Google Shape;447;p18"/>
          <p:cNvCxnSpPr/>
          <p:nvPr/>
        </p:nvCxnSpPr>
        <p:spPr>
          <a:xfrm>
            <a:off x="3884356" y="3146212"/>
            <a:ext cx="136005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448" name="Google Shape;448;p18"/>
          <p:cNvSpPr txBox="1"/>
          <p:nvPr/>
        </p:nvSpPr>
        <p:spPr>
          <a:xfrm>
            <a:off x="7262274" y="3141118"/>
            <a:ext cx="677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b</a:t>
            </a:r>
            <a:endParaRPr b="1" i="0" sz="2400" u="none" cap="none" strike="noStrike">
              <a:solidFill>
                <a:srgbClr val="FF0000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49" name="Google Shape;449;p18"/>
          <p:cNvCxnSpPr/>
          <p:nvPr/>
        </p:nvCxnSpPr>
        <p:spPr>
          <a:xfrm>
            <a:off x="7072656" y="3146212"/>
            <a:ext cx="101862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cxnSp>
        <p:nvCxnSpPr>
          <p:cNvPr id="450" name="Google Shape;450;p18"/>
          <p:cNvCxnSpPr>
            <a:stCxn id="439" idx="0"/>
            <a:endCxn id="439" idx="2"/>
          </p:cNvCxnSpPr>
          <p:nvPr/>
        </p:nvCxnSpPr>
        <p:spPr>
          <a:xfrm>
            <a:off x="1525058" y="1748554"/>
            <a:ext cx="0" cy="1397700"/>
          </a:xfrm>
          <a:prstGeom prst="straightConnector1">
            <a:avLst/>
          </a:prstGeom>
          <a:noFill/>
          <a:ln cap="flat" cmpd="sng" w="57150">
            <a:solidFill>
              <a:srgbClr val="A833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451" name="Google Shape;451;p18"/>
          <p:cNvSpPr txBox="1"/>
          <p:nvPr/>
        </p:nvSpPr>
        <p:spPr>
          <a:xfrm>
            <a:off x="1149609" y="2216548"/>
            <a:ext cx="2979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A833C3"/>
                </a:solidFill>
                <a:latin typeface="Patrick Hand"/>
                <a:ea typeface="Patrick Hand"/>
                <a:cs typeface="Patrick Hand"/>
                <a:sym typeface="Patrick Hand"/>
              </a:rPr>
              <a:t>h</a:t>
            </a:r>
            <a:endParaRPr b="1" i="0" sz="2400" u="none" cap="none" strike="noStrike">
              <a:solidFill>
                <a:srgbClr val="A833C3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52" name="Google Shape;452;p18"/>
          <p:cNvCxnSpPr/>
          <p:nvPr/>
        </p:nvCxnSpPr>
        <p:spPr>
          <a:xfrm>
            <a:off x="4880793" y="1754562"/>
            <a:ext cx="0" cy="1397658"/>
          </a:xfrm>
          <a:prstGeom prst="straightConnector1">
            <a:avLst/>
          </a:prstGeom>
          <a:noFill/>
          <a:ln cap="flat" cmpd="sng" w="57150">
            <a:solidFill>
              <a:srgbClr val="A833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453" name="Google Shape;453;p18"/>
          <p:cNvSpPr txBox="1"/>
          <p:nvPr/>
        </p:nvSpPr>
        <p:spPr>
          <a:xfrm>
            <a:off x="4505344" y="2222556"/>
            <a:ext cx="2979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A833C3"/>
                </a:solidFill>
                <a:latin typeface="Patrick Hand"/>
                <a:ea typeface="Patrick Hand"/>
                <a:cs typeface="Patrick Hand"/>
                <a:sym typeface="Patrick Hand"/>
              </a:rPr>
              <a:t>h</a:t>
            </a:r>
            <a:endParaRPr b="1" i="0" sz="2400" u="none" cap="none" strike="noStrike">
              <a:solidFill>
                <a:srgbClr val="A833C3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6371616" y="2963669"/>
            <a:ext cx="213468" cy="1885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5" name="Google Shape;455;p18"/>
          <p:cNvCxnSpPr/>
          <p:nvPr/>
        </p:nvCxnSpPr>
        <p:spPr>
          <a:xfrm>
            <a:off x="6371616" y="1759656"/>
            <a:ext cx="0" cy="1397658"/>
          </a:xfrm>
          <a:prstGeom prst="straightConnector1">
            <a:avLst/>
          </a:prstGeom>
          <a:noFill/>
          <a:ln cap="flat" cmpd="sng" w="57150">
            <a:solidFill>
              <a:srgbClr val="A833C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456" name="Google Shape;456;p18"/>
          <p:cNvSpPr txBox="1"/>
          <p:nvPr/>
        </p:nvSpPr>
        <p:spPr>
          <a:xfrm>
            <a:off x="5996167" y="2227650"/>
            <a:ext cx="2979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A833C3"/>
                </a:solidFill>
                <a:latin typeface="Patrick Hand"/>
                <a:ea typeface="Patrick Hand"/>
                <a:cs typeface="Patrick Hand"/>
                <a:sym typeface="Patrick Hand"/>
              </a:rPr>
              <a:t>h</a:t>
            </a:r>
            <a:endParaRPr b="1" i="0" sz="2400" u="none" cap="none" strike="noStrike">
              <a:solidFill>
                <a:srgbClr val="A833C3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457" name="Google Shape;457;p18"/>
          <p:cNvCxnSpPr/>
          <p:nvPr/>
        </p:nvCxnSpPr>
        <p:spPr>
          <a:xfrm>
            <a:off x="6371616" y="3141118"/>
            <a:ext cx="701040" cy="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458" name="Google Shape;458;p18"/>
          <p:cNvSpPr txBox="1"/>
          <p:nvPr/>
        </p:nvSpPr>
        <p:spPr>
          <a:xfrm>
            <a:off x="591232" y="3673594"/>
            <a:ext cx="794348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Pese a que tienen distinta forma,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¡</a:t>
            </a:r>
            <a:r>
              <a:rPr b="1" i="0" lang="es-ES" sz="2400" u="none" cap="none" strike="noStrike">
                <a:solidFill>
                  <a:schemeClr val="lt1"/>
                </a:solidFill>
                <a:highlight>
                  <a:srgbClr val="009F98"/>
                </a:highlight>
                <a:latin typeface="Patrick Hand"/>
                <a:ea typeface="Patrick Hand"/>
                <a:cs typeface="Patrick Hand"/>
                <a:sym typeface="Patrick Hand"/>
              </a:rPr>
              <a:t>Todas son iguales ya que sus bases y alturas son iguales</a:t>
            </a: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!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459" name="Google Shape;45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2800" y="3738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464" name="Google Shape;464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9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¡Resumen de hoy!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9"/>
          <p:cNvSpPr/>
          <p:nvPr/>
        </p:nvSpPr>
        <p:spPr>
          <a:xfrm>
            <a:off x="1844744" y="1220127"/>
            <a:ext cx="5454502" cy="2722396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geometria" id="467" name="Google Shape;467;p19" title="Resumen - Geometría (12) - Triángul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2363" y="1044875"/>
            <a:ext cx="6899275" cy="369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32800" y="3738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0"/>
          <p:cNvSpPr txBox="1"/>
          <p:nvPr/>
        </p:nvSpPr>
        <p:spPr>
          <a:xfrm>
            <a:off x="785234" y="366599"/>
            <a:ext cx="757345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¡Ahora es tu turno!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0"/>
          <p:cNvSpPr txBox="1"/>
          <p:nvPr/>
        </p:nvSpPr>
        <p:spPr>
          <a:xfrm>
            <a:off x="4360715" y="2574681"/>
            <a:ext cx="4572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RESPONDER ACÁ: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https://bit.ly/3H5tmIa</a:t>
            </a:r>
            <a:endParaRPr/>
          </a:p>
        </p:txBody>
      </p:sp>
      <p:sp>
        <p:nvSpPr>
          <p:cNvPr id="475" name="Google Shape;475;p20"/>
          <p:cNvSpPr txBox="1"/>
          <p:nvPr/>
        </p:nvSpPr>
        <p:spPr>
          <a:xfrm>
            <a:off x="4572000" y="1299707"/>
            <a:ext cx="414950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Calcula el área de los triángulos considerando que el cuadriculado es de 1 cm</a:t>
            </a:r>
            <a:endParaRPr b="1" i="0" sz="2400" u="none" cap="none" strike="noStrike">
              <a:solidFill>
                <a:schemeClr val="lt1"/>
              </a:solidFill>
              <a:highlight>
                <a:srgbClr val="009F98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Interfaz de usuario gráfica, Aplicación&#10;&#10;Descripción generada automáticamente" id="476" name="Google Shape;476;p20"/>
          <p:cNvPicPr preferRelativeResize="0"/>
          <p:nvPr/>
        </p:nvPicPr>
        <p:blipFill rotWithShape="1">
          <a:blip r:embed="rId4">
            <a:alphaModFix/>
          </a:blip>
          <a:srcRect b="0" l="0" r="41981" t="0"/>
          <a:stretch/>
        </p:blipFill>
        <p:spPr>
          <a:xfrm>
            <a:off x="649238" y="1239949"/>
            <a:ext cx="3490962" cy="3192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20"/>
          <p:cNvPicPr preferRelativeResize="0"/>
          <p:nvPr/>
        </p:nvPicPr>
        <p:blipFill rotWithShape="1">
          <a:blip r:embed="rId5">
            <a:alphaModFix/>
          </a:blip>
          <a:srcRect b="8572" l="9365" r="9364" t="8572"/>
          <a:stretch/>
        </p:blipFill>
        <p:spPr>
          <a:xfrm>
            <a:off x="5861124" y="3102500"/>
            <a:ext cx="1571183" cy="1601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32800" y="3738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483" name="Google Shape;483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21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¡Reforcemos lo aprendido!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1"/>
          <p:cNvSpPr/>
          <p:nvPr/>
        </p:nvSpPr>
        <p:spPr>
          <a:xfrm>
            <a:off x="1844744" y="1220127"/>
            <a:ext cx="5454502" cy="2722396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geometria" id="486" name="Google Shape;486;p21" title="Reforzamiento - Geometría (12) - Triángul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0963" y="1044875"/>
            <a:ext cx="6982075" cy="371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32800" y="373887"/>
            <a:ext cx="693700" cy="7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