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atrick Hand"/>
      <p:regular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JVRMfJEq661MjIZpR+gD348ik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PatrickHand-regular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5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6ee63e628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6ee63e62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6ee63e628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6ee63e62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6ee63e628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6ee63e62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Ir animación por animación explicando lo que es un ángulo</a:t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Recalcar en la última pregunta sobre las dos enumeraciones y qué significa. Ahí enfatizar la importancia de medir desde el 0°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https://www.pngwing.com/es/free-png-kirku</a:t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Las animaciones irán explicando el procedimiento. Si sientes que falta algo para facilitar la dinámica agrégalo.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href="https://www.freepik.es/icono/baloncesto_7695416#fromView=resource_detail&amp;position=5"&gt;Icono de smashingstocks&lt;/a&gt;</a:t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Los siguientes ejercicios están para que el pupilo se tome su tiempo analizando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Al igual que hicimos para medir un ángulo, las animaciones explicarán el procedimiento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6ee63e628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36ee63e628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336ee63e628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336ee63e628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36ee63e628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6ee63e628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36ee63e628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336ee63e628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36ee63e628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336ee63e628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6ee63e628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336ee63e628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336ee63e628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36ee63e628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36ee63e628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6ee63e628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336ee63e628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336ee63e628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336ee63e628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6ee63e628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36ee63e628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6ee63e628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36ee63e628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336ee63e628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336ee63e628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336ee63e628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336ee63e628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336ee63e628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6ee63e628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6ee63e628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36ee63e628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36ee63e628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336ee63e628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6ee63e628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36ee63e628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336ee63e628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6ee63e628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36ee63e628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336ee63e628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336ee63e628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36ee63e628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336ee63e628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6ee63e628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36ee63e628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336ee63e628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336ee63e628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6ee63e628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36ee63e628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6ee63e628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36ee63e628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336ee63e628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36ee63e628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36ee63e628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6ee63e628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36ee63e628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336ee63e628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336ee63e628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36ee63e628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6ee63e628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36ee63e628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36ee63e628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336ee63e628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336ee63e628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bit.ly/ejerciciosangulos" TargetMode="External"/><Relationship Id="rId4" Type="http://schemas.openxmlformats.org/officeDocument/2006/relationships/hyperlink" Target="http://bit.ly/angulosmineduc" TargetMode="External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hyperlink" Target="http://www.youtube.com/watch?v=ZHz7FDnLAEA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orms.gle/omqUGNUpNHF8GgjA6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hyperlink" Target="http://www.youtube.com/watch?v=DSfCer85O48" TargetMode="External"/><Relationship Id="rId5" Type="http://schemas.openxmlformats.org/officeDocument/2006/relationships/image" Target="../media/image7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2775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6ee63e628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Desarrollar en los estudiantes la capacidad de comprender, identificar y construir ángulos,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facilitando una base sólida para su análisis geométrico.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336ee63e628_0_112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Comprender qué es un ángulo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2.Identificar las distintas clasificaciones de ángulos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Construir distintos ángulos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36ee63e628_0_112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Definición de Ángulo.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Transportador.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Ángulo: agudo, recto, obtuso 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extendido.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Rayos.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36ee63e628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36ee63e628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36ee63e628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336ee63e628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95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6ee63e628_0_122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336ee63e628_0_122"/>
          <p:cNvSpPr txBox="1"/>
          <p:nvPr/>
        </p:nvSpPr>
        <p:spPr>
          <a:xfrm>
            <a:off x="589763" y="1598681"/>
            <a:ext cx="7875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Previo a la realización de la clase,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pídele a tu estudiante que traiga un transportador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Si bien las actividades se harán de forma virtual, es importante que él pueda familiarizarse con el instrumento.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 introducir la sesión, realiza preguntas como: ¿qué es un ángulo?, ¿dónde los encontramos?, ¿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por qué los necesitamos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? Es importante que tu estudiante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valore lo que está aprendiendo en su día a día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Un error muy frecuente de los estudiantes al momento de medir ángulos es que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no comienzan desde 0° ya que el transportador está graduado hacia ambos lados.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Por ello al explicar el uso del instrumento en la diapositiva 6, detente todo lo necesario y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explica cómo utilizar las dos graduaciones.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 fortalecer la medición de ángulos, se recomienda revisar el siguiente enlace con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más ejercicios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bit.ly/ejerciciosangulos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] y repositorio con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material adicional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bit.ly/angulosmineduc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]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36ee63e628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36ee63e628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36ee63e628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336ee63e628_0_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95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6ee63e628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36ee63e628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 el uso de del transportador, pídele a tu estudiante que mida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cinco ángulos de su hogar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que los describa y te lo comente la siguiente sesión. De tu lado, dile que harás lo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mismo.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36ee63e628_0_140"/>
          <p:cNvSpPr txBox="1"/>
          <p:nvPr/>
        </p:nvSpPr>
        <p:spPr>
          <a:xfrm>
            <a:off x="285206" y="27392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¿Con qué instrumento se miden los ángulos?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¿Qué tipos de ángulos hay?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¿Qué pasos debes seguir para construir un ángulo?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36ee63e628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36ee63e628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36ee63e628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95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4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55" y="1095159"/>
            <a:ext cx="794348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OA19 4to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Construir ángulos con el transportador y compararlos.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OA16 6to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Identificar los ángulos que se forman entre dos rectas que se cortan (pares de ángulos opuestos por el vértice y pares de ángulos complementarios).</a:t>
            </a:r>
            <a:endParaRPr/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89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Comprender qué es un ángulo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Identificar las distintas clasificaciones de ángulos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Construir distintos ángulos 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108000" y="326025"/>
            <a:ext cx="892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un ángulo?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-75" y="911027"/>
            <a:ext cx="91440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 ángulo es la </a:t>
            </a:r>
            <a:r>
              <a:rPr b="0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región del plano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limitada por </a:t>
            </a: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dos segmentos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que se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cortan en un punto (vértice)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796527" y="2280621"/>
            <a:ext cx="5550946" cy="2334410"/>
          </a:xfrm>
          <a:prstGeom prst="rect">
            <a:avLst/>
          </a:prstGeom>
          <a:noFill/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 rot="10800000">
            <a:off x="2463800" y="2746014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6" name="Google Shape;196;p5"/>
          <p:cNvCxnSpPr/>
          <p:nvPr/>
        </p:nvCxnSpPr>
        <p:spPr>
          <a:xfrm flipH="1" rot="10800000">
            <a:off x="5384800" y="3332786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7" name="Google Shape;197;p5"/>
          <p:cNvCxnSpPr/>
          <p:nvPr/>
        </p:nvCxnSpPr>
        <p:spPr>
          <a:xfrm rot="10800000">
            <a:off x="3698875" y="2680247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8" name="Google Shape;198;p5"/>
          <p:cNvCxnSpPr/>
          <p:nvPr/>
        </p:nvCxnSpPr>
        <p:spPr>
          <a:xfrm flipH="1" rot="10800000">
            <a:off x="4356100" y="3260669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9" name="Google Shape;199;p5"/>
          <p:cNvSpPr/>
          <p:nvPr/>
        </p:nvSpPr>
        <p:spPr>
          <a:xfrm>
            <a:off x="4283075" y="3736975"/>
            <a:ext cx="203200" cy="203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229100" y="3543300"/>
            <a:ext cx="466725" cy="142875"/>
          </a:xfrm>
          <a:custGeom>
            <a:rect b="b" l="l" r="r" t="t"/>
            <a:pathLst>
              <a:path extrusionOk="0" h="274955" w="523875">
                <a:moveTo>
                  <a:pt x="0" y="93980"/>
                </a:moveTo>
                <a:cubicBezTo>
                  <a:pt x="89694" y="36036"/>
                  <a:pt x="179388" y="-21907"/>
                  <a:pt x="266700" y="8255"/>
                </a:cubicBezTo>
                <a:cubicBezTo>
                  <a:pt x="354012" y="38417"/>
                  <a:pt x="503238" y="227330"/>
                  <a:pt x="523875" y="274955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/>
        </p:nvSpPr>
        <p:spPr>
          <a:xfrm>
            <a:off x="227999" y="326025"/>
            <a:ext cx="868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Medición de ángulos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medir los ángulos usamos el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transportador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e aguja&#10;&#10;Descripción generada automáticamente con confianza media" id="208" name="Google Shape;208;p6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270522" y="1495802"/>
            <a:ext cx="4602879" cy="246484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525467" y="3941223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características puedes ver?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0" name="Google Shape;210;p6"/>
          <p:cNvSpPr/>
          <p:nvPr/>
        </p:nvSpPr>
        <p:spPr>
          <a:xfrm rot="-5400000">
            <a:off x="2127265" y="1328432"/>
            <a:ext cx="4889392" cy="5105484"/>
          </a:xfrm>
          <a:prstGeom prst="arc">
            <a:avLst>
              <a:gd fmla="val 16200000" name="adj1"/>
              <a:gd fmla="val 5330655" name="adj2"/>
            </a:avLst>
          </a:prstGeom>
          <a:noFill/>
          <a:ln cap="flat" cmpd="sng" w="190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1010341" y="1938046"/>
            <a:ext cx="13891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Divido en 180 partes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063901" y="2760816"/>
            <a:ext cx="16847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división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1°</a:t>
            </a:r>
            <a:endParaRPr/>
          </a:p>
        </p:txBody>
      </p:sp>
      <p:cxnSp>
        <p:nvCxnSpPr>
          <p:cNvPr id="213" name="Google Shape;213;p6"/>
          <p:cNvCxnSpPr/>
          <p:nvPr/>
        </p:nvCxnSpPr>
        <p:spPr>
          <a:xfrm flipH="1">
            <a:off x="6828795" y="3365500"/>
            <a:ext cx="610230" cy="415925"/>
          </a:xfrm>
          <a:prstGeom prst="straightConnector1">
            <a:avLst/>
          </a:prstGeom>
          <a:noFill/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4" name="Google Shape;214;p6"/>
          <p:cNvSpPr txBox="1"/>
          <p:nvPr/>
        </p:nvSpPr>
        <p:spPr>
          <a:xfrm>
            <a:off x="525466" y="4304744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¿Por qué hay dos enumeraciones?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5" name="Google Shape;21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 reloj de aguja&#10;&#10;Descripción generada automáticamente con confianza media" id="220" name="Google Shape;220;p7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 rot="-2355604">
            <a:off x="-412787" y="1285304"/>
            <a:ext cx="3024210" cy="161946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148050" y="309300"/>
            <a:ext cx="884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Pasos para medir ángulos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2859110" y="1007453"/>
            <a:ext cx="6119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Miguel realiza un tiro con la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dirección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que se muestra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medimos el ángulo de lanzamiento?</a:t>
            </a:r>
            <a:endParaRPr/>
          </a:p>
        </p:txBody>
      </p:sp>
      <p:pic>
        <p:nvPicPr>
          <p:cNvPr descr="Forma&#10;&#10;Descripción generada automáticamente con confianza baja"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286" y="2073888"/>
            <a:ext cx="2464842" cy="2464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reloj de aguja&#10;&#10;Descripción generada automáticamente con confianza media" id="224" name="Google Shape;224;p7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0" y="1141859"/>
            <a:ext cx="3024210" cy="16194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7"/>
          <p:cNvCxnSpPr/>
          <p:nvPr/>
        </p:nvCxnSpPr>
        <p:spPr>
          <a:xfrm flipH="1" rot="10800000">
            <a:off x="1514475" y="1951592"/>
            <a:ext cx="848773" cy="720171"/>
          </a:xfrm>
          <a:prstGeom prst="straightConnector1">
            <a:avLst/>
          </a:prstGeom>
          <a:noFill/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26" name="Google Shape;226;p7"/>
          <p:cNvSpPr txBox="1"/>
          <p:nvPr/>
        </p:nvSpPr>
        <p:spPr>
          <a:xfrm>
            <a:off x="2859110" y="1951592"/>
            <a:ext cx="6119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Desde el punto de lanzamiento,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traza una </a:t>
            </a:r>
            <a:r>
              <a:rPr b="1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línea horizontal</a:t>
            </a:r>
            <a:endParaRPr/>
          </a:p>
        </p:txBody>
      </p:sp>
      <p:cxnSp>
        <p:nvCxnSpPr>
          <p:cNvPr id="227" name="Google Shape;227;p7"/>
          <p:cNvCxnSpPr/>
          <p:nvPr/>
        </p:nvCxnSpPr>
        <p:spPr>
          <a:xfrm>
            <a:off x="736600" y="2680151"/>
            <a:ext cx="2205060" cy="0"/>
          </a:xfrm>
          <a:prstGeom prst="straightConnector1">
            <a:avLst/>
          </a:prstGeom>
          <a:noFill/>
          <a:ln cap="flat" cmpd="sng" w="28575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7"/>
          <p:cNvSpPr txBox="1"/>
          <p:nvPr/>
        </p:nvSpPr>
        <p:spPr>
          <a:xfrm>
            <a:off x="2941660" y="2732087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Ubica el centro del transportador en el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vértice</a:t>
            </a:r>
            <a:endParaRPr b="1" i="0" sz="2400" u="none" cap="none" strike="noStrike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2941660" y="3150516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Alinea el 0° con la línea horizontal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2941660" y="3625724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4° Desde los 0° “</a:t>
            </a:r>
            <a:r>
              <a:rPr b="1" i="0" lang="es-ES" sz="2400" u="none" cap="none" strike="noStrike">
                <a:solidFill>
                  <a:srgbClr val="0070C0"/>
                </a:solidFill>
                <a:latin typeface="Patrick Hand"/>
                <a:ea typeface="Patrick Hand"/>
                <a:cs typeface="Patrick Hand"/>
                <a:sym typeface="Patrick Hand"/>
              </a:rPr>
              <a:t>sube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” hasta donde indica la dirección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2941660" y="4048274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5° La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punta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indica el ángulo ¿cuánto mide? 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466850" y="2616200"/>
            <a:ext cx="101600" cy="101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298700" y="1739900"/>
            <a:ext cx="808060" cy="1718016"/>
          </a:xfrm>
          <a:prstGeom prst="arc">
            <a:avLst>
              <a:gd fmla="val 16445983" name="adj1"/>
              <a:gd fmla="val 864628" name="adj2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/>
        </p:nvSpPr>
        <p:spPr>
          <a:xfrm>
            <a:off x="161400" y="331225"/>
            <a:ext cx="882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Clasificación de ángulos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clasificación se hace según la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apertura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entre la intersección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-177796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Agudo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1866904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Recto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241784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Obtuso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6616663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Extendido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304844" y="1943809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entre 0° y 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2349544" y="1972345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4724424" y="1975415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entre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90° y 180°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7099304" y="1997627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8" name="Google Shape;248;p8"/>
          <p:cNvCxnSpPr/>
          <p:nvPr/>
        </p:nvCxnSpPr>
        <p:spPr>
          <a:xfrm flipH="1" rot="10800000">
            <a:off x="533444" y="3138059"/>
            <a:ext cx="848773" cy="720171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49" name="Google Shape;249;p8"/>
          <p:cNvCxnSpPr/>
          <p:nvPr/>
        </p:nvCxnSpPr>
        <p:spPr>
          <a:xfrm>
            <a:off x="533444" y="3858230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50" name="Google Shape;250;p8"/>
          <p:cNvSpPr/>
          <p:nvPr/>
        </p:nvSpPr>
        <p:spPr>
          <a:xfrm>
            <a:off x="868680" y="3581400"/>
            <a:ext cx="152555" cy="281940"/>
          </a:xfrm>
          <a:custGeom>
            <a:rect b="b" l="l" r="r" t="t"/>
            <a:pathLst>
              <a:path extrusionOk="0" h="281940" w="152555">
                <a:moveTo>
                  <a:pt x="22860" y="281940"/>
                </a:moveTo>
                <a:cubicBezTo>
                  <a:pt x="89535" y="225425"/>
                  <a:pt x="156210" y="168910"/>
                  <a:pt x="152400" y="121920"/>
                </a:cubicBezTo>
                <a:cubicBezTo>
                  <a:pt x="148590" y="74930"/>
                  <a:pt x="27940" y="19050"/>
                  <a:pt x="0" y="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758506" y="3675569"/>
            <a:ext cx="220933" cy="185387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8"/>
          <p:cNvCxnSpPr/>
          <p:nvPr/>
        </p:nvCxnSpPr>
        <p:spPr>
          <a:xfrm rot="10800000">
            <a:off x="2741837" y="2833734"/>
            <a:ext cx="0" cy="1029606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3" name="Google Shape;253;p8"/>
          <p:cNvCxnSpPr/>
          <p:nvPr/>
        </p:nvCxnSpPr>
        <p:spPr>
          <a:xfrm>
            <a:off x="2741837" y="3863340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4" name="Google Shape;254;p8"/>
          <p:cNvCxnSpPr/>
          <p:nvPr/>
        </p:nvCxnSpPr>
        <p:spPr>
          <a:xfrm rot="10800000">
            <a:off x="4560308" y="2962881"/>
            <a:ext cx="557396" cy="89154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5" name="Google Shape;255;p8"/>
          <p:cNvCxnSpPr/>
          <p:nvPr/>
        </p:nvCxnSpPr>
        <p:spPr>
          <a:xfrm>
            <a:off x="5117704" y="3854421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56" name="Google Shape;256;p8"/>
          <p:cNvSpPr/>
          <p:nvPr/>
        </p:nvSpPr>
        <p:spPr>
          <a:xfrm>
            <a:off x="4931748" y="3547081"/>
            <a:ext cx="596894" cy="311149"/>
          </a:xfrm>
          <a:custGeom>
            <a:rect b="b" l="l" r="r" t="t"/>
            <a:pathLst>
              <a:path extrusionOk="0" h="351226" w="590550">
                <a:moveTo>
                  <a:pt x="590550" y="351226"/>
                </a:moveTo>
                <a:cubicBezTo>
                  <a:pt x="549275" y="217876"/>
                  <a:pt x="508000" y="84526"/>
                  <a:pt x="409575" y="27376"/>
                </a:cubicBezTo>
                <a:cubicBezTo>
                  <a:pt x="311150" y="-29774"/>
                  <a:pt x="44450" y="22613"/>
                  <a:pt x="0" y="8326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8"/>
          <p:cNvCxnSpPr/>
          <p:nvPr/>
        </p:nvCxnSpPr>
        <p:spPr>
          <a:xfrm rot="10800000">
            <a:off x="6903806" y="3854421"/>
            <a:ext cx="988083" cy="6535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8" name="Google Shape;258;p8"/>
          <p:cNvCxnSpPr/>
          <p:nvPr/>
        </p:nvCxnSpPr>
        <p:spPr>
          <a:xfrm flipH="1" rot="10800000">
            <a:off x="7891889" y="3854421"/>
            <a:ext cx="1016247" cy="3809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59" name="Google Shape;259;p8"/>
          <p:cNvSpPr/>
          <p:nvPr/>
        </p:nvSpPr>
        <p:spPr>
          <a:xfrm flipH="1">
            <a:off x="490056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 flipH="1">
            <a:off x="2670679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 flipH="1">
            <a:off x="5072904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 flipH="1">
            <a:off x="7836021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534275" y="3688639"/>
            <a:ext cx="704850" cy="188036"/>
          </a:xfrm>
          <a:custGeom>
            <a:rect b="b" l="l" r="r" t="t"/>
            <a:pathLst>
              <a:path extrusionOk="0" h="304827" w="704850">
                <a:moveTo>
                  <a:pt x="704850" y="304827"/>
                </a:moveTo>
                <a:cubicBezTo>
                  <a:pt x="587375" y="154014"/>
                  <a:pt x="469900" y="3202"/>
                  <a:pt x="352425" y="27"/>
                </a:cubicBezTo>
                <a:cubicBezTo>
                  <a:pt x="234950" y="-3148"/>
                  <a:pt x="19050" y="265140"/>
                  <a:pt x="0" y="285777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600218" y="4226593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¿De qué tipo era el lanzamiento de Miguel?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65" name="Google Shape;26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77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/>
        </p:nvSpPr>
        <p:spPr>
          <a:xfrm>
            <a:off x="300149" y="32602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Ejemplos de mediciones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 y de qué tipo es el ángulo indicado?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e aguja&#10;&#10;Descripción generada automáticamente con confianza media" id="272" name="Google Shape;272;p9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270522" y="1495802"/>
            <a:ext cx="4602879" cy="24648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9"/>
          <p:cNvCxnSpPr/>
          <p:nvPr/>
        </p:nvCxnSpPr>
        <p:spPr>
          <a:xfrm>
            <a:off x="4571961" y="3822700"/>
            <a:ext cx="230144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4" name="Google Shape;274;p9"/>
          <p:cNvCxnSpPr/>
          <p:nvPr/>
        </p:nvCxnSpPr>
        <p:spPr>
          <a:xfrm flipH="1" rot="10800000">
            <a:off x="4571961" y="1959769"/>
            <a:ext cx="845383" cy="1862931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5" name="Google Shape;275;p9"/>
          <p:cNvSpPr/>
          <p:nvPr/>
        </p:nvSpPr>
        <p:spPr>
          <a:xfrm>
            <a:off x="4541054" y="3791794"/>
            <a:ext cx="61813" cy="618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/>
        </p:nvSpPr>
        <p:spPr>
          <a:xfrm>
            <a:off x="268949" y="326025"/>
            <a:ext cx="863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Ejemplos de mediciones</a:t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600218" y="911027"/>
            <a:ext cx="7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 y de qué tipo es el ángulo indicado?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e aguja&#10;&#10;Descripción generada automáticamente con confianza media" id="283" name="Google Shape;283;p10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284810" y="1491039"/>
            <a:ext cx="4602879" cy="24648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10"/>
          <p:cNvCxnSpPr/>
          <p:nvPr/>
        </p:nvCxnSpPr>
        <p:spPr>
          <a:xfrm>
            <a:off x="4571961" y="3822700"/>
            <a:ext cx="230144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5" name="Google Shape;285;p10"/>
          <p:cNvCxnSpPr/>
          <p:nvPr/>
        </p:nvCxnSpPr>
        <p:spPr>
          <a:xfrm rot="10800000">
            <a:off x="3505200" y="2571750"/>
            <a:ext cx="1066761" cy="125095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6" name="Google Shape;286;p10"/>
          <p:cNvSpPr/>
          <p:nvPr/>
        </p:nvSpPr>
        <p:spPr>
          <a:xfrm>
            <a:off x="4541054" y="3791794"/>
            <a:ext cx="61813" cy="618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 txBox="1"/>
          <p:nvPr/>
        </p:nvSpPr>
        <p:spPr>
          <a:xfrm>
            <a:off x="194699" y="405350"/>
            <a:ext cx="875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Análisis de ángulos</a:t>
            </a:r>
            <a:endParaRPr/>
          </a:p>
        </p:txBody>
      </p:sp>
      <p:cxnSp>
        <p:nvCxnSpPr>
          <p:cNvPr id="293" name="Google Shape;293;p11"/>
          <p:cNvCxnSpPr/>
          <p:nvPr/>
        </p:nvCxnSpPr>
        <p:spPr>
          <a:xfrm rot="10800000">
            <a:off x="1526273" y="2462107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4" name="Google Shape;294;p11"/>
          <p:cNvCxnSpPr/>
          <p:nvPr/>
        </p:nvCxnSpPr>
        <p:spPr>
          <a:xfrm flipH="1" rot="10800000">
            <a:off x="2183498" y="3042529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5" name="Google Shape;295;p11"/>
          <p:cNvSpPr/>
          <p:nvPr/>
        </p:nvSpPr>
        <p:spPr>
          <a:xfrm>
            <a:off x="2110473" y="3518835"/>
            <a:ext cx="203200" cy="203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056498" y="3325160"/>
            <a:ext cx="466725" cy="142875"/>
          </a:xfrm>
          <a:custGeom>
            <a:rect b="b" l="l" r="r" t="t"/>
            <a:pathLst>
              <a:path extrusionOk="0" h="274955" w="523875">
                <a:moveTo>
                  <a:pt x="0" y="93980"/>
                </a:moveTo>
                <a:cubicBezTo>
                  <a:pt x="89694" y="36036"/>
                  <a:pt x="179388" y="-21907"/>
                  <a:pt x="266700" y="8255"/>
                </a:cubicBezTo>
                <a:cubicBezTo>
                  <a:pt x="354012" y="38417"/>
                  <a:pt x="503238" y="227330"/>
                  <a:pt x="523875" y="274955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1"/>
          <p:cNvCxnSpPr/>
          <p:nvPr/>
        </p:nvCxnSpPr>
        <p:spPr>
          <a:xfrm rot="10800000">
            <a:off x="1901869" y="2311696"/>
            <a:ext cx="440379" cy="760210"/>
          </a:xfrm>
          <a:prstGeom prst="straightConnector1">
            <a:avLst/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8" name="Google Shape;298;p11"/>
          <p:cNvCxnSpPr/>
          <p:nvPr/>
        </p:nvCxnSpPr>
        <p:spPr>
          <a:xfrm flipH="1" rot="10800000">
            <a:off x="2313673" y="2696207"/>
            <a:ext cx="733425" cy="369349"/>
          </a:xfrm>
          <a:prstGeom prst="straightConnector1">
            <a:avLst/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9" name="Google Shape;299;p11"/>
          <p:cNvSpPr/>
          <p:nvPr/>
        </p:nvSpPr>
        <p:spPr>
          <a:xfrm>
            <a:off x="2240648" y="2934275"/>
            <a:ext cx="203200" cy="203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526273" y="1235532"/>
            <a:ext cx="213132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¿Los ángulos miden lo mismo?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2207996" y="2743804"/>
            <a:ext cx="466725" cy="142875"/>
          </a:xfrm>
          <a:custGeom>
            <a:rect b="b" l="l" r="r" t="t"/>
            <a:pathLst>
              <a:path extrusionOk="0" h="274955" w="523875">
                <a:moveTo>
                  <a:pt x="0" y="93980"/>
                </a:moveTo>
                <a:cubicBezTo>
                  <a:pt x="89694" y="36036"/>
                  <a:pt x="179388" y="-21907"/>
                  <a:pt x="266700" y="8255"/>
                </a:cubicBezTo>
                <a:cubicBezTo>
                  <a:pt x="354012" y="38417"/>
                  <a:pt x="503238" y="227330"/>
                  <a:pt x="523875" y="274955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5551940" y="1247477"/>
            <a:ext cx="213132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¿El ángulo mide más de 90°?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03" name="Google Shape;303;p11"/>
          <p:cNvCxnSpPr/>
          <p:nvPr/>
        </p:nvCxnSpPr>
        <p:spPr>
          <a:xfrm>
            <a:off x="6257924" y="3702466"/>
            <a:ext cx="1282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04" name="Google Shape;304;p11"/>
          <p:cNvCxnSpPr/>
          <p:nvPr/>
        </p:nvCxnSpPr>
        <p:spPr>
          <a:xfrm rot="10800000">
            <a:off x="7351028" y="2676638"/>
            <a:ext cx="189596" cy="1025828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05" name="Google Shape;305;p11"/>
          <p:cNvCxnSpPr/>
          <p:nvPr/>
        </p:nvCxnSpPr>
        <p:spPr>
          <a:xfrm>
            <a:off x="5610224" y="2524918"/>
            <a:ext cx="1740804" cy="151565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06" name="Google Shape;306;p11"/>
          <p:cNvCxnSpPr/>
          <p:nvPr/>
        </p:nvCxnSpPr>
        <p:spPr>
          <a:xfrm>
            <a:off x="5624512" y="2514305"/>
            <a:ext cx="650191" cy="118816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07" name="Google Shape;307;p11"/>
          <p:cNvSpPr/>
          <p:nvPr/>
        </p:nvSpPr>
        <p:spPr>
          <a:xfrm>
            <a:off x="6094120" y="3344022"/>
            <a:ext cx="464635" cy="358443"/>
          </a:xfrm>
          <a:custGeom>
            <a:rect b="b" l="l" r="r" t="t"/>
            <a:pathLst>
              <a:path extrusionOk="0" h="384718" w="466178">
                <a:moveTo>
                  <a:pt x="0" y="24408"/>
                </a:moveTo>
                <a:cubicBezTo>
                  <a:pt x="143847" y="1859"/>
                  <a:pt x="287694" y="-20690"/>
                  <a:pt x="363894" y="33739"/>
                </a:cubicBezTo>
                <a:cubicBezTo>
                  <a:pt x="440094" y="88168"/>
                  <a:pt x="441649" y="296551"/>
                  <a:pt x="457200" y="350980"/>
                </a:cubicBezTo>
                <a:cubicBezTo>
                  <a:pt x="472751" y="405409"/>
                  <a:pt x="464975" y="382859"/>
                  <a:pt x="457200" y="36031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 reloj de aguja&#10;&#10;Descripción generada automáticamente con confianza media" id="313" name="Google Shape;313;p12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69047" y="1929857"/>
            <a:ext cx="3437820" cy="184095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2"/>
          <p:cNvSpPr txBox="1"/>
          <p:nvPr/>
        </p:nvSpPr>
        <p:spPr>
          <a:xfrm>
            <a:off x="774626" y="366599"/>
            <a:ext cx="75946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Construcción de ángulos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Construyamos el ángulo de 40° del lanzamiento de Miguel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16" name="Google Shape;316;p12"/>
          <p:cNvCxnSpPr/>
          <p:nvPr/>
        </p:nvCxnSpPr>
        <p:spPr>
          <a:xfrm>
            <a:off x="1958290" y="3670300"/>
            <a:ext cx="1425142" cy="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7" name="Google Shape;317;p12"/>
          <p:cNvSpPr txBox="1"/>
          <p:nvPr/>
        </p:nvSpPr>
        <p:spPr>
          <a:xfrm>
            <a:off x="3417284" y="1596801"/>
            <a:ext cx="6119752" cy="5132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38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18" name="Google Shape;318;p12"/>
          <p:cNvSpPr txBox="1"/>
          <p:nvPr/>
        </p:nvSpPr>
        <p:spPr>
          <a:xfrm>
            <a:off x="4056117" y="2118151"/>
            <a:ext cx="484208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Ubicamos el centro del transportador en el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vértice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y el 0° con la punta del rayo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4056117" y="2957216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Marca el </a:t>
            </a:r>
            <a:r>
              <a:rPr b="0" i="0" lang="es-ES" sz="2400" u="none" cap="none" strike="noStrike">
                <a:solidFill>
                  <a:srgbClr val="7030A0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deseado</a:t>
            </a:r>
            <a:endParaRPr b="1" i="0" sz="2400" u="none" cap="none" strike="noStrike">
              <a:solidFill>
                <a:srgbClr val="7030A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20" name="Google Shape;320;p12"/>
          <p:cNvCxnSpPr>
            <a:stCxn id="321" idx="3"/>
          </p:cNvCxnSpPr>
          <p:nvPr/>
        </p:nvCxnSpPr>
        <p:spPr>
          <a:xfrm flipH="1" rot="10800000">
            <a:off x="1934636" y="2876621"/>
            <a:ext cx="985200" cy="816900"/>
          </a:xfrm>
          <a:prstGeom prst="straightConnector1">
            <a:avLst/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1" name="Google Shape;321;p12"/>
          <p:cNvSpPr/>
          <p:nvPr/>
        </p:nvSpPr>
        <p:spPr>
          <a:xfrm>
            <a:off x="1919757" y="3606800"/>
            <a:ext cx="101600" cy="101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227857" y="2533650"/>
            <a:ext cx="101600" cy="101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AB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4056117" y="3418881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4° Traza </a:t>
            </a:r>
            <a:r>
              <a:rPr b="0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otro rayo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apuntando al punto</a:t>
            </a:r>
            <a:endParaRPr b="1" i="0" sz="2400" u="none" cap="none" strike="noStrike">
              <a:solidFill>
                <a:srgbClr val="FAB23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4056117" y="3844260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B0F0"/>
                </a:solidFill>
                <a:latin typeface="Patrick Hand"/>
                <a:ea typeface="Patrick Hand"/>
                <a:cs typeface="Patrick Hand"/>
                <a:sym typeface="Patrick Hand"/>
              </a:rPr>
              <a:t>¡Listo!</a:t>
            </a:r>
            <a:endParaRPr b="1" i="0" sz="2400" u="none" cap="none" strike="noStrike">
              <a:solidFill>
                <a:srgbClr val="00B0F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2370607" y="3340100"/>
            <a:ext cx="168479" cy="311150"/>
          </a:xfrm>
          <a:custGeom>
            <a:rect b="b" l="l" r="r" t="t"/>
            <a:pathLst>
              <a:path extrusionOk="0" h="311150" w="168479">
                <a:moveTo>
                  <a:pt x="95250" y="311150"/>
                </a:moveTo>
                <a:cubicBezTo>
                  <a:pt x="138112" y="245004"/>
                  <a:pt x="180975" y="178858"/>
                  <a:pt x="165100" y="127000"/>
                </a:cubicBezTo>
                <a:cubicBezTo>
                  <a:pt x="149225" y="75142"/>
                  <a:pt x="30692" y="22225"/>
                  <a:pt x="0" y="0"/>
                </a:cubicBezTo>
              </a:path>
            </a:pathLst>
          </a:cu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31" name="Google Shape;33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34" name="Google Shape;334;p13" title="Resumen - Geometría (4) - Ángulo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125" y="1131650"/>
            <a:ext cx="7279750" cy="34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 txBox="1"/>
          <p:nvPr/>
        </p:nvSpPr>
        <p:spPr>
          <a:xfrm>
            <a:off x="674971" y="366599"/>
            <a:ext cx="77939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1714735" y="3970863"/>
            <a:ext cx="3437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https://forms.gle/omqUGNUpNHF8GgjA6</a:t>
            </a: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Un reloj de aguja&#10;&#10;Descripción generada automáticamente con confianza media" id="342" name="Google Shape;342;p14"/>
          <p:cNvPicPr preferRelativeResize="0"/>
          <p:nvPr/>
        </p:nvPicPr>
        <p:blipFill rotWithShape="1">
          <a:blip r:embed="rId4">
            <a:alphaModFix/>
          </a:blip>
          <a:srcRect b="4193" l="0" r="0" t="0"/>
          <a:stretch/>
        </p:blipFill>
        <p:spPr>
          <a:xfrm>
            <a:off x="624647" y="1666886"/>
            <a:ext cx="3437820" cy="1840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reloj de aguja&#10;&#10;Descripción generada automáticamente con confianza media" id="343" name="Google Shape;343;p14"/>
          <p:cNvPicPr preferRelativeResize="0"/>
          <p:nvPr/>
        </p:nvPicPr>
        <p:blipFill rotWithShape="1">
          <a:blip r:embed="rId4">
            <a:alphaModFix/>
          </a:blip>
          <a:srcRect b="4193" l="0" r="0" t="0"/>
          <a:stretch/>
        </p:blipFill>
        <p:spPr>
          <a:xfrm>
            <a:off x="4923955" y="1651274"/>
            <a:ext cx="3437820" cy="184095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 y de qué tipo es el ángulo indicado?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45" name="Google Shape;345;p14"/>
          <p:cNvCxnSpPr/>
          <p:nvPr/>
        </p:nvCxnSpPr>
        <p:spPr>
          <a:xfrm>
            <a:off x="6613032" y="3394978"/>
            <a:ext cx="1375268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6" name="Google Shape;346;p14"/>
          <p:cNvCxnSpPr/>
          <p:nvPr/>
        </p:nvCxnSpPr>
        <p:spPr>
          <a:xfrm flipH="1" rot="10800000">
            <a:off x="6623050" y="1873250"/>
            <a:ext cx="139700" cy="154305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7" name="Google Shape;347;p14"/>
          <p:cNvCxnSpPr/>
          <p:nvPr/>
        </p:nvCxnSpPr>
        <p:spPr>
          <a:xfrm>
            <a:off x="2307732" y="3404503"/>
            <a:ext cx="1375268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8" name="Google Shape;348;p14"/>
          <p:cNvCxnSpPr/>
          <p:nvPr/>
        </p:nvCxnSpPr>
        <p:spPr>
          <a:xfrm rot="10800000">
            <a:off x="2114550" y="2190750"/>
            <a:ext cx="203200" cy="1235075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9" name="Google Shape;349;p14"/>
          <p:cNvSpPr/>
          <p:nvPr/>
        </p:nvSpPr>
        <p:spPr>
          <a:xfrm rot="10800000">
            <a:off x="2277008" y="3344218"/>
            <a:ext cx="101520" cy="10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 rot="10800000">
            <a:off x="6586613" y="3344218"/>
            <a:ext cx="101520" cy="10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733446" y="1468110"/>
            <a:ext cx="7526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A)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4705190" y="1468110"/>
            <a:ext cx="7526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B)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53" name="Google Shape;353;p14"/>
          <p:cNvPicPr preferRelativeResize="0"/>
          <p:nvPr/>
        </p:nvPicPr>
        <p:blipFill rotWithShape="1">
          <a:blip r:embed="rId5">
            <a:alphaModFix/>
          </a:blip>
          <a:srcRect b="9100" l="8857" r="8858" t="9101"/>
          <a:stretch/>
        </p:blipFill>
        <p:spPr>
          <a:xfrm>
            <a:off x="5341304" y="3646491"/>
            <a:ext cx="1110797" cy="1104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9" name="Google Shape;35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62" name="Google Shape;362;p15" title="Reforzamiento - Geometría (4) - Ángulo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0950" y="1120225"/>
            <a:ext cx="6357900" cy="33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25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