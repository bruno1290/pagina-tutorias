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Patrick Hand"/>
      <p:regular r:id="rId29"/>
    </p:embeddedFont>
    <p:embeddedFont>
      <p:font typeface="Poppins"/>
      <p:regular r:id="rId30"/>
      <p:bold r:id="rId31"/>
      <p:italic r:id="rId32"/>
      <p:boldItalic r:id="rId33"/>
    </p:embeddedFont>
    <p:embeddedFont>
      <p:font typeface="Poppins Ligh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8" roundtripDataSignature="AMtx7mitFT3KylVmVs9I1rVRfvFgaIDn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atrickHand-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fntdata"/><Relationship Id="rId30" Type="http://schemas.openxmlformats.org/officeDocument/2006/relationships/font" Target="fonts/Poppins-regular.fntdata"/><Relationship Id="rId11" Type="http://schemas.openxmlformats.org/officeDocument/2006/relationships/slide" Target="slides/slide5.xml"/><Relationship Id="rId33" Type="http://schemas.openxmlformats.org/officeDocument/2006/relationships/font" Target="fonts/Poppins-boldItalic.fntdata"/><Relationship Id="rId10" Type="http://schemas.openxmlformats.org/officeDocument/2006/relationships/slide" Target="slides/slide4.xml"/><Relationship Id="rId32" Type="http://schemas.openxmlformats.org/officeDocument/2006/relationships/font" Target="fonts/Poppins-italic.fntdata"/><Relationship Id="rId13" Type="http://schemas.openxmlformats.org/officeDocument/2006/relationships/slide" Target="slides/slide7.xml"/><Relationship Id="rId35" Type="http://schemas.openxmlformats.org/officeDocument/2006/relationships/font" Target="fonts/PoppinsLight-bold.fntdata"/><Relationship Id="rId12" Type="http://schemas.openxmlformats.org/officeDocument/2006/relationships/slide" Target="slides/slide6.xml"/><Relationship Id="rId34" Type="http://schemas.openxmlformats.org/officeDocument/2006/relationships/font" Target="fonts/PoppinsLight-regular.fntdata"/><Relationship Id="rId15" Type="http://schemas.openxmlformats.org/officeDocument/2006/relationships/slide" Target="slides/slide9.xml"/><Relationship Id="rId37" Type="http://schemas.openxmlformats.org/officeDocument/2006/relationships/font" Target="fonts/PoppinsLight-boldItalic.fntdata"/><Relationship Id="rId14" Type="http://schemas.openxmlformats.org/officeDocument/2006/relationships/slide" Target="slides/slide8.xml"/><Relationship Id="rId36" Type="http://schemas.openxmlformats.org/officeDocument/2006/relationships/font" Target="fonts/PoppinsLight-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d953471191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d95347119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d953471191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d953471191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d953471191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d95347119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sz="1100"/>
              <a:t>En esta diapo busca reflexionar con tu pilo de situaciones cotidianas para introducir el tema de clase. Las fotos son para iniciar la conversación.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s-ES"/>
              <a:t>https://imagenes.elpais.com/resizer/qlPSMP_3kJN1XtCGeQ9Cf8TLD2Q=/1960x1103/ep01.epimg.net/elpais/imagenes/2017/02/13/ciencia/1486985744_400157_1487057178_noticia_fotograma.jpg</a:t>
            </a:r>
            <a:endParaRPr/>
          </a:p>
          <a:p>
            <a:pPr indent="0" lvl="0" marL="0" rtl="0" algn="l">
              <a:lnSpc>
                <a:spcPct val="100000"/>
              </a:lnSpc>
              <a:spcBef>
                <a:spcPts val="0"/>
              </a:spcBef>
              <a:spcAft>
                <a:spcPts val="0"/>
              </a:spcAft>
              <a:buSzPts val="1100"/>
              <a:buNone/>
            </a:pPr>
            <a:r>
              <a:rPr lang="es-ES"/>
              <a:t>https://img2.rtve.es/imagenes/mapi-reflejamos-agua/1664175839842.jpg</a:t>
            </a:r>
            <a:endParaRPr/>
          </a:p>
          <a:p>
            <a:pPr indent="0" lvl="0" marL="0" rtl="0" algn="l">
              <a:lnSpc>
                <a:spcPct val="100000"/>
              </a:lnSpc>
              <a:spcBef>
                <a:spcPts val="0"/>
              </a:spcBef>
              <a:spcAft>
                <a:spcPts val="0"/>
              </a:spcAft>
              <a:buSzPts val="1100"/>
              <a:buNone/>
            </a:pPr>
            <a:r>
              <a:rPr lang="es-ES"/>
              <a:t>https://img.freepik.com/fotos-premium/camello-desierto-reflejo-cielo_889227-20765.jpg</a:t>
            </a:r>
            <a:endParaRPr/>
          </a:p>
        </p:txBody>
      </p:sp>
      <p:sp>
        <p:nvSpPr>
          <p:cNvPr id="190" name="Google Shape;19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sz="1100"/>
              <a:t>Es importante dejar espacio para que el pupilo pregunte y vaya entendiendo cada paso del procedimiento para entender qué es una reflexión.</a:t>
            </a:r>
            <a:endParaRPr/>
          </a:p>
          <a:p>
            <a:pPr indent="0" lvl="0" marL="0" rtl="0" algn="l">
              <a:lnSpc>
                <a:spcPct val="100000"/>
              </a:lnSpc>
              <a:spcBef>
                <a:spcPts val="0"/>
              </a:spcBef>
              <a:spcAft>
                <a:spcPts val="0"/>
              </a:spcAft>
              <a:buSzPts val="1100"/>
              <a:buNone/>
            </a:pPr>
            <a:r>
              <a:t/>
            </a:r>
            <a:endParaRPr sz="1100"/>
          </a:p>
          <a:p>
            <a:pPr indent="0" lvl="0" marL="0" rtl="0" algn="l">
              <a:lnSpc>
                <a:spcPct val="100000"/>
              </a:lnSpc>
              <a:spcBef>
                <a:spcPts val="0"/>
              </a:spcBef>
              <a:spcAft>
                <a:spcPts val="0"/>
              </a:spcAft>
              <a:buSzPts val="1100"/>
              <a:buNone/>
            </a:pPr>
            <a:r>
              <a:t/>
            </a:r>
            <a:endParaRPr/>
          </a:p>
        </p:txBody>
      </p:sp>
      <p:sp>
        <p:nvSpPr>
          <p:cNvPr id="200" name="Google Shape;20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sz="1100"/>
              <a:t>Deja que el pupilo identifique las dos características primero.</a:t>
            </a:r>
            <a:endParaRPr/>
          </a:p>
          <a:p>
            <a:pPr indent="0" lvl="0" marL="0" rtl="0" algn="l">
              <a:lnSpc>
                <a:spcPct val="100000"/>
              </a:lnSpc>
              <a:spcBef>
                <a:spcPts val="0"/>
              </a:spcBef>
              <a:spcAft>
                <a:spcPts val="0"/>
              </a:spcAft>
              <a:buSzPts val="1100"/>
              <a:buNone/>
            </a:pPr>
            <a:r>
              <a:t/>
            </a:r>
            <a:endParaRPr/>
          </a:p>
        </p:txBody>
      </p:sp>
      <p:sp>
        <p:nvSpPr>
          <p:cNvPr id="226" name="Google Shape;22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sz="1100"/>
              <a:t>Ante cada pregunta, discutan qué ven en la figura.</a:t>
            </a:r>
            <a:endParaRPr/>
          </a:p>
          <a:p>
            <a:pPr indent="0" lvl="0" marL="0" rtl="0" algn="l">
              <a:lnSpc>
                <a:spcPct val="100000"/>
              </a:lnSpc>
              <a:spcBef>
                <a:spcPts val="0"/>
              </a:spcBef>
              <a:spcAft>
                <a:spcPts val="0"/>
              </a:spcAft>
              <a:buSzPts val="1100"/>
              <a:buNone/>
            </a:pPr>
            <a:r>
              <a:t/>
            </a:r>
            <a:endParaRPr/>
          </a:p>
        </p:txBody>
      </p:sp>
      <p:sp>
        <p:nvSpPr>
          <p:cNvPr id="261" name="Google Shape;26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sz="1100"/>
              <a:t>Dale el espacio para que a cada figura pueda indicar el error (la de al medio es la correcta).</a:t>
            </a:r>
            <a:endParaRPr/>
          </a:p>
          <a:p>
            <a:pPr indent="0" lvl="0" marL="0" rtl="0" algn="l">
              <a:lnSpc>
                <a:spcPct val="100000"/>
              </a:lnSpc>
              <a:spcBef>
                <a:spcPts val="0"/>
              </a:spcBef>
              <a:spcAft>
                <a:spcPts val="0"/>
              </a:spcAft>
              <a:buSzPts val="1100"/>
              <a:buNone/>
            </a:pPr>
            <a:r>
              <a:t/>
            </a:r>
            <a:endParaRPr/>
          </a:p>
        </p:txBody>
      </p:sp>
      <p:sp>
        <p:nvSpPr>
          <p:cNvPr id="296" name="Google Shape;29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sz="1100"/>
              <a:t>Hablen de qué es el Tagadá.</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306" name="Google Shape;30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sz="1100"/>
              <a:t>Enfatiza sobre el punto central de la figura.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314" name="Google Shape;31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sz="1100"/>
              <a:t>Da el espacio para que recuerde el transportador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326" name="Google Shape;32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sz="1100"/>
              <a:t>Da el espacio para que recuerde el transportador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338" name="Google Shape;33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360" name="Google Shape;36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sz="1100"/>
              <a:t>Da el espacio para que el pupilo responda las características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375" name="Google Shape;37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t>
            </a:r>
            <a:endParaRPr/>
          </a:p>
          <a:p>
            <a:pPr indent="0" lvl="0" marL="0" rtl="0" algn="l">
              <a:lnSpc>
                <a:spcPct val="100000"/>
              </a:lnSpc>
              <a:spcBef>
                <a:spcPts val="0"/>
              </a:spcBef>
              <a:spcAft>
                <a:spcPts val="0"/>
              </a:spcAft>
              <a:buSzPts val="1100"/>
              <a:buNone/>
            </a:pPr>
            <a:r>
              <a:rPr lang="es-ES"/>
              <a:t>Darle el espacio para la respuesta.</a:t>
            </a:r>
            <a:endParaRPr/>
          </a:p>
          <a:p>
            <a:pPr indent="0" lvl="0" marL="0" rtl="0" algn="l">
              <a:lnSpc>
                <a:spcPct val="100000"/>
              </a:lnSpc>
              <a:spcBef>
                <a:spcPts val="0"/>
              </a:spcBef>
              <a:spcAft>
                <a:spcPts val="0"/>
              </a:spcAft>
              <a:buSzPts val="1100"/>
              <a:buNone/>
            </a:pPr>
            <a:r>
              <a:t/>
            </a:r>
            <a:endParaRPr/>
          </a:p>
        </p:txBody>
      </p:sp>
      <p:sp>
        <p:nvSpPr>
          <p:cNvPr id="392" name="Google Shape;39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3" name="Shape 13"/>
        <p:cNvGrpSpPr/>
        <p:nvPr/>
      </p:nvGrpSpPr>
      <p:grpSpPr>
        <a:xfrm>
          <a:off x="0" y="0"/>
          <a:ext cx="0" cy="0"/>
          <a:chOff x="0" y="0"/>
          <a:chExt cx="0" cy="0"/>
        </a:xfrm>
      </p:grpSpPr>
      <p:sp>
        <p:nvSpPr>
          <p:cNvPr id="14" name="Google Shape;14;p2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2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 name="Google Shape;16;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7" name="Google Shape;17;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8" name="Google Shape;18;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2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2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2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2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2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2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2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2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2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3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58" name="Shape 58"/>
        <p:cNvGrpSpPr/>
        <p:nvPr/>
      </p:nvGrpSpPr>
      <p:grpSpPr>
        <a:xfrm>
          <a:off x="0" y="0"/>
          <a:ext cx="0" cy="0"/>
          <a:chOff x="0" y="0"/>
          <a:chExt cx="0" cy="0"/>
        </a:xfrm>
      </p:grpSpPr>
      <p:sp>
        <p:nvSpPr>
          <p:cNvPr id="59" name="Google Shape;59;g2d953471191_0_13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g2d953471191_0_137"/>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1" name="Google Shape;61;g2d953471191_0_13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g2d953471191_0_13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g2d953471191_0_1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64" name="Shape 64"/>
        <p:cNvGrpSpPr/>
        <p:nvPr/>
      </p:nvGrpSpPr>
      <p:grpSpPr>
        <a:xfrm>
          <a:off x="0" y="0"/>
          <a:ext cx="0" cy="0"/>
          <a:chOff x="0" y="0"/>
          <a:chExt cx="0" cy="0"/>
        </a:xfrm>
      </p:grpSpPr>
      <p:sp>
        <p:nvSpPr>
          <p:cNvPr id="65" name="Google Shape;65;g2d953471191_0_14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g2d953471191_0_14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g2d953471191_0_14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g2d953471191_0_14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g2d953471191_0_14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70" name="Shape 70"/>
        <p:cNvGrpSpPr/>
        <p:nvPr/>
      </p:nvGrpSpPr>
      <p:grpSpPr>
        <a:xfrm>
          <a:off x="0" y="0"/>
          <a:ext cx="0" cy="0"/>
          <a:chOff x="0" y="0"/>
          <a:chExt cx="0" cy="0"/>
        </a:xfrm>
      </p:grpSpPr>
      <p:sp>
        <p:nvSpPr>
          <p:cNvPr id="71" name="Google Shape;71;g2d953471191_0_149"/>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g2d953471191_0_149"/>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3" name="Google Shape;73;g2d953471191_0_14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g2d953471191_0_14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g2d953471191_0_14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76" name="Shape 76"/>
        <p:cNvGrpSpPr/>
        <p:nvPr/>
      </p:nvGrpSpPr>
      <p:grpSpPr>
        <a:xfrm>
          <a:off x="0" y="0"/>
          <a:ext cx="0" cy="0"/>
          <a:chOff x="0" y="0"/>
          <a:chExt cx="0" cy="0"/>
        </a:xfrm>
      </p:grpSpPr>
      <p:sp>
        <p:nvSpPr>
          <p:cNvPr id="77" name="Google Shape;77;g2d953471191_0_15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g2d953471191_0_15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9" name="Google Shape;79;g2d953471191_0_15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0" name="Google Shape;80;g2d953471191_0_15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g2d953471191_0_15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g2d953471191_0_15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83" name="Shape 83"/>
        <p:cNvGrpSpPr/>
        <p:nvPr/>
      </p:nvGrpSpPr>
      <p:grpSpPr>
        <a:xfrm>
          <a:off x="0" y="0"/>
          <a:ext cx="0" cy="0"/>
          <a:chOff x="0" y="0"/>
          <a:chExt cx="0" cy="0"/>
        </a:xfrm>
      </p:grpSpPr>
      <p:sp>
        <p:nvSpPr>
          <p:cNvPr id="84" name="Google Shape;84;g2d953471191_0_162"/>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g2d953471191_0_162"/>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g2d953471191_0_162"/>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g2d953471191_0_162"/>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8" name="Google Shape;88;g2d953471191_0_162"/>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g2d953471191_0_16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0" name="Google Shape;90;g2d953471191_0_1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g2d953471191_0_1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92" name="Shape 92"/>
        <p:cNvGrpSpPr/>
        <p:nvPr/>
      </p:nvGrpSpPr>
      <p:grpSpPr>
        <a:xfrm>
          <a:off x="0" y="0"/>
          <a:ext cx="0" cy="0"/>
          <a:chOff x="0" y="0"/>
          <a:chExt cx="0" cy="0"/>
        </a:xfrm>
      </p:grpSpPr>
      <p:sp>
        <p:nvSpPr>
          <p:cNvPr id="93" name="Google Shape;93;g2d953471191_0_17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 name="Google Shape;94;g2d953471191_0_17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g2d953471191_0_17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g2d953471191_0_17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97" name="Shape 97"/>
        <p:cNvGrpSpPr/>
        <p:nvPr/>
      </p:nvGrpSpPr>
      <p:grpSpPr>
        <a:xfrm>
          <a:off x="0" y="0"/>
          <a:ext cx="0" cy="0"/>
          <a:chOff x="0" y="0"/>
          <a:chExt cx="0" cy="0"/>
        </a:xfrm>
      </p:grpSpPr>
      <p:sp>
        <p:nvSpPr>
          <p:cNvPr id="98" name="Google Shape;98;g2d953471191_0_17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 name="Google Shape;99;g2d953471191_0_17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g2d953471191_0_17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01" name="Shape 101"/>
        <p:cNvGrpSpPr/>
        <p:nvPr/>
      </p:nvGrpSpPr>
      <p:grpSpPr>
        <a:xfrm>
          <a:off x="0" y="0"/>
          <a:ext cx="0" cy="0"/>
          <a:chOff x="0" y="0"/>
          <a:chExt cx="0" cy="0"/>
        </a:xfrm>
      </p:grpSpPr>
      <p:sp>
        <p:nvSpPr>
          <p:cNvPr id="102" name="Google Shape;102;g2d953471191_0_18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3" name="Google Shape;103;g2d953471191_0_180"/>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4" name="Google Shape;104;g2d953471191_0_180"/>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5" name="Google Shape;105;g2d953471191_0_18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 name="Google Shape;106;g2d953471191_0_18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7" name="Google Shape;107;g2d953471191_0_18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08" name="Shape 108"/>
        <p:cNvGrpSpPr/>
        <p:nvPr/>
      </p:nvGrpSpPr>
      <p:grpSpPr>
        <a:xfrm>
          <a:off x="0" y="0"/>
          <a:ext cx="0" cy="0"/>
          <a:chOff x="0" y="0"/>
          <a:chExt cx="0" cy="0"/>
        </a:xfrm>
      </p:grpSpPr>
      <p:sp>
        <p:nvSpPr>
          <p:cNvPr id="109" name="Google Shape;109;g2d953471191_0_187"/>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g2d953471191_0_187"/>
          <p:cNvSpPr/>
          <p:nvPr>
            <p:ph idx="2" type="pic"/>
          </p:nvPr>
        </p:nvSpPr>
        <p:spPr>
          <a:xfrm>
            <a:off x="3887391" y="740569"/>
            <a:ext cx="4629300" cy="3655200"/>
          </a:xfrm>
          <a:prstGeom prst="rect">
            <a:avLst/>
          </a:prstGeom>
          <a:noFill/>
          <a:ln>
            <a:noFill/>
          </a:ln>
        </p:spPr>
      </p:sp>
      <p:sp>
        <p:nvSpPr>
          <p:cNvPr id="111" name="Google Shape;111;g2d953471191_0_187"/>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2" name="Google Shape;112;g2d953471191_0_18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g2d953471191_0_18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4" name="Google Shape;114;g2d953471191_0_18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15" name="Shape 115"/>
        <p:cNvGrpSpPr/>
        <p:nvPr/>
      </p:nvGrpSpPr>
      <p:grpSpPr>
        <a:xfrm>
          <a:off x="0" y="0"/>
          <a:ext cx="0" cy="0"/>
          <a:chOff x="0" y="0"/>
          <a:chExt cx="0" cy="0"/>
        </a:xfrm>
      </p:grpSpPr>
      <p:sp>
        <p:nvSpPr>
          <p:cNvPr id="116" name="Google Shape;116;g2d953471191_0_19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g2d953471191_0_194"/>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8" name="Google Shape;118;g2d953471191_0_19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9" name="Google Shape;119;g2d953471191_0_19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g2d953471191_0_19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21" name="Shape 121"/>
        <p:cNvGrpSpPr/>
        <p:nvPr/>
      </p:nvGrpSpPr>
      <p:grpSpPr>
        <a:xfrm>
          <a:off x="0" y="0"/>
          <a:ext cx="0" cy="0"/>
          <a:chOff x="0" y="0"/>
          <a:chExt cx="0" cy="0"/>
        </a:xfrm>
      </p:grpSpPr>
      <p:sp>
        <p:nvSpPr>
          <p:cNvPr id="122" name="Google Shape;122;g2d953471191_0_200"/>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g2d953471191_0_200"/>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 name="Google Shape;124;g2d953471191_0_20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5" name="Google Shape;125;g2d953471191_0_20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g2d953471191_0_20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id="53" name="Google Shape;53;g2d953471191_0_13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g2d953471191_0_13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5" name="Google Shape;55;g2d953471191_0_13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6" name="Google Shape;56;g2d953471191_0_1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7" name="Google Shape;57;g2d953471191_0_1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bit.ly/3XPHUF7"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jpg"/><Relationship Id="rId4" Type="http://schemas.openxmlformats.org/officeDocument/2006/relationships/image" Target="../media/image5.jpg"/><Relationship Id="rId5" Type="http://schemas.openxmlformats.org/officeDocument/2006/relationships/image" Target="../media/image13.jpg"/><Relationship Id="rId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3.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jpg"/><Relationship Id="rId4" Type="http://schemas.openxmlformats.org/officeDocument/2006/relationships/hyperlink" Target="http://www.youtube.com/watch?v=wsu3H_BjQw8" TargetMode="External"/><Relationship Id="rId5" Type="http://schemas.openxmlformats.org/officeDocument/2006/relationships/image" Target="../media/image24.jpg"/><Relationship Id="rId6"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jpg"/><Relationship Id="rId4" Type="http://schemas.openxmlformats.org/officeDocument/2006/relationships/hyperlink" Target="http://www.youtube.com/watch?v=7ODuJ28Q9WQ" TargetMode="External"/><Relationship Id="rId5" Type="http://schemas.openxmlformats.org/officeDocument/2006/relationships/image" Target="../media/image25.jp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nvSpPr>
        <p:spPr>
          <a:xfrm>
            <a:off x="1152939" y="502470"/>
            <a:ext cx="683812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ES" sz="6000" u="none" cap="none" strike="noStrike">
                <a:solidFill>
                  <a:srgbClr val="009F98"/>
                </a:solidFill>
                <a:latin typeface="Patrick Hand"/>
                <a:ea typeface="Patrick Hand"/>
                <a:cs typeface="Patrick Hand"/>
                <a:sym typeface="Patrick Hand"/>
              </a:rPr>
              <a:t>LA RUTA MATEMÁTICA</a:t>
            </a:r>
            <a:endParaRPr/>
          </a:p>
        </p:txBody>
      </p:sp>
      <p:sp>
        <p:nvSpPr>
          <p:cNvPr id="132" name="Google Shape;132;p1"/>
          <p:cNvSpPr txBox="1"/>
          <p:nvPr/>
        </p:nvSpPr>
        <p:spPr>
          <a:xfrm>
            <a:off x="2335696" y="2102398"/>
            <a:ext cx="4472608"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ES" sz="4800" u="none" cap="none" strike="noStrike">
                <a:solidFill>
                  <a:srgbClr val="009F98"/>
                </a:solidFill>
                <a:latin typeface="Patrick Hand"/>
                <a:ea typeface="Patrick Hand"/>
                <a:cs typeface="Patrick Hand"/>
                <a:sym typeface="Patrick Hand"/>
              </a:rPr>
              <a:t>GEOMETRÍA 2D</a:t>
            </a:r>
            <a:endParaRPr b="1" i="0" sz="4800" u="none" cap="none" strike="noStrike">
              <a:solidFill>
                <a:srgbClr val="009F98"/>
              </a:solidFill>
              <a:latin typeface="Patrick Hand"/>
              <a:ea typeface="Patrick Hand"/>
              <a:cs typeface="Patrick Hand"/>
              <a:sym typeface="Patrick Hand"/>
            </a:endParaRPr>
          </a:p>
        </p:txBody>
      </p:sp>
      <p:pic>
        <p:nvPicPr>
          <p:cNvPr id="133" name="Google Shape;133;p1"/>
          <p:cNvPicPr preferRelativeResize="0"/>
          <p:nvPr/>
        </p:nvPicPr>
        <p:blipFill rotWithShape="1">
          <a:blip r:embed="rId3">
            <a:alphaModFix/>
          </a:blip>
          <a:srcRect b="0" l="0" r="0" t="0"/>
          <a:stretch/>
        </p:blipFill>
        <p:spPr>
          <a:xfrm>
            <a:off x="33264" y="2738944"/>
            <a:ext cx="2239350" cy="2245750"/>
          </a:xfrm>
          <a:prstGeom prst="rect">
            <a:avLst/>
          </a:prstGeom>
          <a:noFill/>
          <a:ln>
            <a:noFill/>
          </a:ln>
        </p:spPr>
      </p:pic>
      <p:sp>
        <p:nvSpPr>
          <p:cNvPr id="134" name="Google Shape;134;p1"/>
          <p:cNvSpPr txBox="1"/>
          <p:nvPr/>
        </p:nvSpPr>
        <p:spPr>
          <a:xfrm>
            <a:off x="2335696" y="3235008"/>
            <a:ext cx="4472608"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ES" sz="4800" u="none" cap="none" strike="noStrike">
                <a:solidFill>
                  <a:srgbClr val="009F98"/>
                </a:solidFill>
                <a:latin typeface="Patrick Hand"/>
                <a:ea typeface="Patrick Hand"/>
                <a:cs typeface="Patrick Hand"/>
                <a:sym typeface="Patrick Hand"/>
              </a:rPr>
              <a:t>(agregar dibujos)</a:t>
            </a:r>
            <a:endParaRPr/>
          </a:p>
        </p:txBody>
      </p:sp>
      <p:pic>
        <p:nvPicPr>
          <p:cNvPr id="135" name="Google Shape;135;p1"/>
          <p:cNvPicPr preferRelativeResize="0"/>
          <p:nvPr/>
        </p:nvPicPr>
        <p:blipFill rotWithShape="1">
          <a:blip r:embed="rId4">
            <a:alphaModFix/>
          </a:blip>
          <a:srcRect b="17637" l="28322" r="13793" t="24438"/>
          <a:stretch/>
        </p:blipFill>
        <p:spPr>
          <a:xfrm>
            <a:off x="0" y="-64800"/>
            <a:ext cx="9248500" cy="5268100"/>
          </a:xfrm>
          <a:prstGeom prst="rect">
            <a:avLst/>
          </a:prstGeom>
          <a:noFill/>
          <a:ln>
            <a:noFill/>
          </a:ln>
        </p:spPr>
      </p:pic>
      <p:pic>
        <p:nvPicPr>
          <p:cNvPr id="136" name="Google Shape;136;p1"/>
          <p:cNvPicPr preferRelativeResize="0"/>
          <p:nvPr/>
        </p:nvPicPr>
        <p:blipFill>
          <a:blip r:embed="rId5">
            <a:alphaModFix/>
          </a:blip>
          <a:stretch>
            <a:fillRect/>
          </a:stretch>
        </p:blipFill>
        <p:spPr>
          <a:xfrm>
            <a:off x="8359450" y="425296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d953471191_0_103"/>
          <p:cNvSpPr txBox="1"/>
          <p:nvPr/>
        </p:nvSpPr>
        <p:spPr>
          <a:xfrm>
            <a:off x="589763" y="125503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ES" sz="1200">
                <a:solidFill>
                  <a:srgbClr val="3259A4"/>
                </a:solidFill>
                <a:latin typeface="Poppins"/>
                <a:ea typeface="Poppins"/>
                <a:cs typeface="Poppins"/>
                <a:sym typeface="Poppins"/>
              </a:rPr>
              <a:t>Propósito</a:t>
            </a:r>
            <a:r>
              <a:rPr b="1" lang="es-ES" sz="1200">
                <a:solidFill>
                  <a:schemeClr val="dk1"/>
                </a:solidFill>
                <a:latin typeface="Poppins"/>
                <a:ea typeface="Poppins"/>
                <a:cs typeface="Poppins"/>
                <a:sym typeface="Poppins"/>
              </a:rPr>
              <a:t>:</a:t>
            </a:r>
            <a:r>
              <a:rPr lang="es-ES" sz="1200">
                <a:solidFill>
                  <a:schemeClr val="dk1"/>
                </a:solidFill>
                <a:latin typeface="Poppins Light"/>
                <a:ea typeface="Poppins Light"/>
                <a:cs typeface="Poppins Light"/>
                <a:sym typeface="Poppins Light"/>
              </a:rPr>
              <a:t> </a:t>
            </a:r>
            <a:r>
              <a:rPr lang="es-ES" sz="1200">
                <a:solidFill>
                  <a:schemeClr val="dk1"/>
                </a:solidFill>
                <a:latin typeface="Poppins Light"/>
                <a:ea typeface="Poppins Light"/>
                <a:cs typeface="Poppins Light"/>
                <a:sym typeface="Poppins Light"/>
              </a:rPr>
              <a:t>Fomentar en los estudiantes la habilidad de aplicar reflexiones y rotaciones a figuras 2D,</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200">
                <a:solidFill>
                  <a:schemeClr val="dk1"/>
                </a:solidFill>
                <a:latin typeface="Poppins Light"/>
                <a:ea typeface="Poppins Light"/>
                <a:cs typeface="Poppins Light"/>
                <a:sym typeface="Poppins Light"/>
              </a:rPr>
              <a:t>comprendiendo su impacto visual y práctico.</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42" name="Google Shape;142;g2d953471191_0_103"/>
          <p:cNvSpPr txBox="1"/>
          <p:nvPr/>
        </p:nvSpPr>
        <p:spPr>
          <a:xfrm>
            <a:off x="868700" y="1980075"/>
            <a:ext cx="3524100" cy="2711400"/>
          </a:xfrm>
          <a:prstGeom prst="rect">
            <a:avLst/>
          </a:prstGeom>
          <a:noFill/>
          <a:ln cap="flat" cmpd="sng" w="28575">
            <a:solidFill>
              <a:srgbClr val="3259A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s-ES" sz="1900">
                <a:solidFill>
                  <a:schemeClr val="dk1"/>
                </a:solidFill>
                <a:latin typeface="Poppins"/>
                <a:ea typeface="Poppins"/>
                <a:cs typeface="Poppins"/>
                <a:sym typeface="Poppins"/>
              </a:rPr>
              <a:t>Objetivos de la Clase</a:t>
            </a:r>
            <a:endParaRPr sz="1900">
              <a:solidFill>
                <a:schemeClr val="dk1"/>
              </a:solidFill>
              <a:latin typeface="Poppins"/>
              <a:ea typeface="Poppins"/>
              <a:cs typeface="Poppins"/>
              <a:sym typeface="Poppins"/>
            </a:endParaRPr>
          </a:p>
          <a:p>
            <a:pPr indent="0" lvl="0" marL="0" rtl="0" algn="ctr">
              <a:spcBef>
                <a:spcPts val="0"/>
              </a:spcBef>
              <a:spcAft>
                <a:spcPts val="0"/>
              </a:spcAft>
              <a:buNone/>
            </a:pPr>
            <a:r>
              <a:t/>
            </a:r>
            <a:endParaRPr sz="19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1. Reflejar figuras 2D.</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2. Rotar figuras 2D.</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p:txBody>
      </p:sp>
      <p:sp>
        <p:nvSpPr>
          <p:cNvPr id="143" name="Google Shape;143;g2d953471191_0_103"/>
          <p:cNvSpPr txBox="1"/>
          <p:nvPr/>
        </p:nvSpPr>
        <p:spPr>
          <a:xfrm>
            <a:off x="4782050" y="1979974"/>
            <a:ext cx="3524100" cy="2711400"/>
          </a:xfrm>
          <a:prstGeom prst="rect">
            <a:avLst/>
          </a:prstGeom>
          <a:noFill/>
          <a:ln cap="flat" cmpd="sng" w="28575">
            <a:solidFill>
              <a:srgbClr val="3259A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s-ES" sz="1900">
                <a:solidFill>
                  <a:schemeClr val="dk1"/>
                </a:solidFill>
                <a:latin typeface="Poppins"/>
                <a:ea typeface="Poppins"/>
                <a:cs typeface="Poppins"/>
                <a:sym typeface="Poppins"/>
              </a:rPr>
              <a:t>Conceptos Clave</a:t>
            </a:r>
            <a:endParaRPr sz="19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1. Reflexión.</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2. Rotación.</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3. Centro y ángulo de rotación.</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p:txBody>
      </p:sp>
      <p:sp>
        <p:nvSpPr>
          <p:cNvPr id="144" name="Google Shape;144;g2d953471191_0_103"/>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45" name="Google Shape;145;g2d953471191_0_103"/>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46" name="Google Shape;146;g2d953471191_0_103"/>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47" name="Google Shape;147;g2d953471191_0_103"/>
          <p:cNvPicPr preferRelativeResize="0"/>
          <p:nvPr/>
        </p:nvPicPr>
        <p:blipFill>
          <a:blip r:embed="rId3">
            <a:alphaModFix/>
          </a:blip>
          <a:stretch>
            <a:fillRect/>
          </a:stretch>
        </p:blipFill>
        <p:spPr>
          <a:xfrm>
            <a:off x="8199550" y="343462"/>
            <a:ext cx="693700" cy="731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d953471191_0_113"/>
          <p:cNvSpPr txBox="1"/>
          <p:nvPr/>
        </p:nvSpPr>
        <p:spPr>
          <a:xfrm>
            <a:off x="589763" y="119788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ES" sz="1200">
                <a:solidFill>
                  <a:srgbClr val="3259A4"/>
                </a:solidFill>
                <a:latin typeface="Poppins"/>
                <a:ea typeface="Poppins"/>
                <a:cs typeface="Poppins"/>
                <a:sym typeface="Poppins"/>
              </a:rPr>
              <a:t>Consejos para realizar la sesión</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53" name="Google Shape;153;g2d953471191_0_113"/>
          <p:cNvSpPr txBox="1"/>
          <p:nvPr/>
        </p:nvSpPr>
        <p:spPr>
          <a:xfrm>
            <a:off x="589763" y="1598681"/>
            <a:ext cx="7875000" cy="6403200"/>
          </a:xfrm>
          <a:prstGeom prst="rect">
            <a:avLst/>
          </a:prstGeom>
          <a:noFill/>
          <a:ln>
            <a:noFill/>
          </a:ln>
        </p:spPr>
        <p:txBody>
          <a:bodyPr anchorCtr="0" anchor="t" bIns="68575" lIns="68575" spcFirstLastPara="1" rIns="68575" wrap="square" tIns="68575">
            <a:spAutoFit/>
          </a:bodyPr>
          <a:lstStyle/>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Cuando concluyan sobre lo que es una reflexión, debe </a:t>
            </a:r>
            <a:r>
              <a:rPr b="1" lang="es-ES" sz="1100">
                <a:latin typeface="Poppins"/>
                <a:ea typeface="Poppins"/>
                <a:cs typeface="Poppins"/>
                <a:sym typeface="Poppins"/>
              </a:rPr>
              <a:t>quedarle muy claras las dos características </a:t>
            </a:r>
            <a:r>
              <a:rPr lang="es-ES" sz="1100">
                <a:latin typeface="Poppins"/>
                <a:ea typeface="Poppins"/>
                <a:cs typeface="Poppins"/>
                <a:sym typeface="Poppins"/>
              </a:rPr>
              <a:t>de esta (igual distancia y perpendicularidad al eje de simetría).</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Es común que los </a:t>
            </a:r>
            <a:r>
              <a:rPr b="1" lang="es-ES" sz="1100">
                <a:latin typeface="Poppins"/>
                <a:ea typeface="Poppins"/>
                <a:cs typeface="Poppins"/>
                <a:sym typeface="Poppins"/>
              </a:rPr>
              <a:t>estudiantes confundan la traslación con la reflexión</a:t>
            </a:r>
            <a:r>
              <a:rPr lang="es-ES" sz="1100">
                <a:latin typeface="Poppins"/>
                <a:ea typeface="Poppins"/>
                <a:cs typeface="Poppins"/>
                <a:sym typeface="Poppins"/>
              </a:rPr>
              <a:t>, pensando que la figura solo debe traspasar el eje de simetría. Por ello, si tu estudiante presenta dificultades, </a:t>
            </a:r>
            <a:r>
              <a:rPr b="1" lang="es-ES" sz="1100">
                <a:latin typeface="Poppins"/>
                <a:ea typeface="Poppins"/>
                <a:cs typeface="Poppins"/>
                <a:sym typeface="Poppins"/>
              </a:rPr>
              <a:t>vuelvan a las imágenes de ejemplo</a:t>
            </a:r>
            <a:r>
              <a:rPr lang="es-ES" sz="1100">
                <a:latin typeface="Poppins"/>
                <a:ea typeface="Poppins"/>
                <a:cs typeface="Poppins"/>
                <a:sym typeface="Poppins"/>
              </a:rPr>
              <a:t> de la diapositiva 5 para demostrar aquello.</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Al cerrar la sesión con la rotación, el estudiante debe ser capaz de entender por qué se necesita un </a:t>
            </a:r>
            <a:r>
              <a:rPr b="1" lang="es-ES" sz="1100">
                <a:latin typeface="Poppins"/>
                <a:ea typeface="Poppins"/>
                <a:cs typeface="Poppins"/>
                <a:sym typeface="Poppins"/>
              </a:rPr>
              <a:t>centro de rotación</a:t>
            </a:r>
            <a:r>
              <a:rPr lang="es-ES" sz="1100">
                <a:latin typeface="Poppins"/>
                <a:ea typeface="Poppins"/>
                <a:cs typeface="Poppins"/>
                <a:sym typeface="Poppins"/>
              </a:rPr>
              <a:t> y un </a:t>
            </a:r>
            <a:r>
              <a:rPr b="1" lang="es-ES" sz="1100">
                <a:latin typeface="Poppins"/>
                <a:ea typeface="Poppins"/>
                <a:cs typeface="Poppins"/>
                <a:sym typeface="Poppins"/>
              </a:rPr>
              <a:t>ángulo</a:t>
            </a:r>
            <a:r>
              <a:rPr lang="es-ES" sz="1100">
                <a:latin typeface="Poppins"/>
                <a:ea typeface="Poppins"/>
                <a:cs typeface="Poppins"/>
                <a:sym typeface="Poppins"/>
              </a:rPr>
              <a:t> con el que girar la figura.</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Un error respecto a la rotación es que los estudiantes </a:t>
            </a:r>
            <a:r>
              <a:rPr b="1" lang="es-ES" sz="1100">
                <a:latin typeface="Poppins"/>
                <a:ea typeface="Poppins"/>
                <a:cs typeface="Poppins"/>
                <a:sym typeface="Poppins"/>
              </a:rPr>
              <a:t>no logran identificar el ángulo con que deben hacerlo</a:t>
            </a:r>
            <a:r>
              <a:rPr lang="es-ES" sz="1100">
                <a:latin typeface="Poppins"/>
                <a:ea typeface="Poppins"/>
                <a:cs typeface="Poppins"/>
                <a:sym typeface="Poppins"/>
              </a:rPr>
              <a:t>. Si es el caso de tu estudiante, repasen lo aprendido a la hora de estudiar la construcción de ángulos y utiliza esta actividad [</a:t>
            </a:r>
            <a:r>
              <a:rPr lang="es-ES" sz="1100" u="sng">
                <a:solidFill>
                  <a:schemeClr val="hlink"/>
                </a:solidFill>
                <a:latin typeface="Poppins"/>
                <a:ea typeface="Poppins"/>
                <a:cs typeface="Poppins"/>
                <a:sym typeface="Poppins"/>
                <a:hlinkClick r:id="rId3"/>
              </a:rPr>
              <a:t>bit.ly/3XPHUF7</a:t>
            </a:r>
            <a:r>
              <a:rPr lang="es-ES" sz="1100">
                <a:latin typeface="Poppins"/>
                <a:ea typeface="Poppins"/>
                <a:cs typeface="Poppins"/>
                <a:sym typeface="Poppins"/>
              </a:rPr>
              <a:t>] para hacer más ejercicios.</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b="1" sz="1100">
              <a:latin typeface="Poppins"/>
              <a:ea typeface="Poppins"/>
              <a:cs typeface="Poppins"/>
              <a:sym typeface="Poppins"/>
            </a:endParaRPr>
          </a:p>
          <a:p>
            <a:pPr indent="0" lvl="0" marL="0" rtl="0" algn="just">
              <a:lnSpc>
                <a:spcPct val="150000"/>
              </a:lnSpc>
              <a:spcBef>
                <a:spcPts val="0"/>
              </a:spcBef>
              <a:spcAft>
                <a:spcPts val="0"/>
              </a:spcAft>
              <a:buNone/>
            </a:pPr>
            <a:r>
              <a:t/>
            </a:r>
            <a:endParaRPr i="1" sz="1100">
              <a:latin typeface="Poppins"/>
              <a:ea typeface="Poppins"/>
              <a:cs typeface="Poppins"/>
              <a:sym typeface="Poppins"/>
            </a:endParaRPr>
          </a:p>
        </p:txBody>
      </p:sp>
      <p:sp>
        <p:nvSpPr>
          <p:cNvPr id="154" name="Google Shape;154;g2d953471191_0_113"/>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55" name="Google Shape;155;g2d953471191_0_113"/>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56" name="Google Shape;156;g2d953471191_0_113"/>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57" name="Google Shape;157;g2d953471191_0_113"/>
          <p:cNvPicPr preferRelativeResize="0"/>
          <p:nvPr/>
        </p:nvPicPr>
        <p:blipFill>
          <a:blip r:embed="rId4">
            <a:alphaModFix/>
          </a:blip>
          <a:stretch>
            <a:fillRect/>
          </a:stretch>
        </p:blipFill>
        <p:spPr>
          <a:xfrm>
            <a:off x="8199550" y="343462"/>
            <a:ext cx="693700" cy="731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2d953471191_0_122"/>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63" name="Google Shape;163;g2d953471191_0_122"/>
          <p:cNvSpPr txBox="1"/>
          <p:nvPr/>
        </p:nvSpPr>
        <p:spPr>
          <a:xfrm>
            <a:off x="285206" y="1218713"/>
            <a:ext cx="8451600" cy="1554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s-ES" sz="1500">
                <a:solidFill>
                  <a:srgbClr val="3259A4"/>
                </a:solidFill>
                <a:latin typeface="Poppins"/>
                <a:ea typeface="Poppins"/>
                <a:cs typeface="Poppins"/>
                <a:sym typeface="Poppins"/>
              </a:rPr>
              <a:t>Para Complementar</a:t>
            </a:r>
            <a:endParaRPr b="1" sz="1500">
              <a:solidFill>
                <a:srgbClr val="3259A4"/>
              </a:solidFill>
              <a:latin typeface="Poppins"/>
              <a:ea typeface="Poppins"/>
              <a:cs typeface="Poppins"/>
              <a:sym typeface="Poppins"/>
            </a:endParaRPr>
          </a:p>
          <a:p>
            <a:pPr indent="0" lvl="0" marL="0" rtl="0" algn="l">
              <a:spcBef>
                <a:spcPts val="0"/>
              </a:spcBef>
              <a:spcAft>
                <a:spcPts val="0"/>
              </a:spcAft>
              <a:buNone/>
            </a:pPr>
            <a:r>
              <a:t/>
            </a:r>
            <a:endParaRPr b="1" sz="15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Si a tu estudiante le costó más identificar las reflexiones, pídele que le saque fotos a tres objetos que encuentre en su hogar donde se vea esta transformación. Si fueron las rotaciones, que haga lo mismo pero para esta transformación. Tu comprométete con el contrario de lo que le pidas.</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p:txBody>
      </p:sp>
      <p:sp>
        <p:nvSpPr>
          <p:cNvPr id="164" name="Google Shape;164;g2d953471191_0_122"/>
          <p:cNvSpPr txBox="1"/>
          <p:nvPr/>
        </p:nvSpPr>
        <p:spPr>
          <a:xfrm>
            <a:off x="285206" y="3196444"/>
            <a:ext cx="8451600" cy="1554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s-ES" sz="1500">
                <a:solidFill>
                  <a:srgbClr val="3259A4"/>
                </a:solidFill>
                <a:latin typeface="Poppins"/>
                <a:ea typeface="Poppins"/>
                <a:cs typeface="Poppins"/>
                <a:sym typeface="Poppins"/>
              </a:rPr>
              <a:t>Preguntas de Cierre</a:t>
            </a:r>
            <a:endParaRPr b="1" sz="1500">
              <a:solidFill>
                <a:srgbClr val="3259A4"/>
              </a:solidFill>
              <a:latin typeface="Poppins"/>
              <a:ea typeface="Poppins"/>
              <a:cs typeface="Poppins"/>
              <a:sym typeface="Poppins"/>
            </a:endParaRPr>
          </a:p>
          <a:p>
            <a:pPr indent="0" lvl="0" marL="0" rtl="0" algn="l">
              <a:spcBef>
                <a:spcPts val="0"/>
              </a:spcBef>
              <a:spcAft>
                <a:spcPts val="0"/>
              </a:spcAft>
              <a:buNone/>
            </a:pPr>
            <a:r>
              <a:t/>
            </a:r>
            <a:endParaRPr b="1" sz="15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1. ¿Qué debes hacer para reflejar una figura?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2. ¿Cómo se diferencia la reflexión de la traslación?</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3. ¿Qué elementos son necesarios para rotar una figura?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4. ¿Qué pasos debes llevar a cabo para rotar una figura?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p:txBody>
      </p:sp>
      <p:sp>
        <p:nvSpPr>
          <p:cNvPr id="165" name="Google Shape;165;g2d953471191_0_122"/>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66" name="Google Shape;166;g2d953471191_0_122"/>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67" name="Google Shape;167;g2d953471191_0_122"/>
          <p:cNvPicPr preferRelativeResize="0"/>
          <p:nvPr/>
        </p:nvPicPr>
        <p:blipFill>
          <a:blip r:embed="rId3">
            <a:alphaModFix/>
          </a:blip>
          <a:stretch>
            <a:fillRect/>
          </a:stretch>
        </p:blipFill>
        <p:spPr>
          <a:xfrm>
            <a:off x="8199550" y="343462"/>
            <a:ext cx="693700" cy="731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
          <p:cNvSpPr txBox="1"/>
          <p:nvPr/>
        </p:nvSpPr>
        <p:spPr>
          <a:xfrm>
            <a:off x="1283614" y="2063920"/>
            <a:ext cx="68382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ES" sz="6000" u="none" cap="none" strike="noStrike">
                <a:solidFill>
                  <a:srgbClr val="009F98"/>
                </a:solidFill>
                <a:latin typeface="Patrick Hand"/>
                <a:ea typeface="Patrick Hand"/>
                <a:cs typeface="Patrick Hand"/>
                <a:sym typeface="Patrick Hand"/>
              </a:rPr>
              <a:t>SESIÓN 7</a:t>
            </a:r>
            <a:endParaRPr/>
          </a:p>
        </p:txBody>
      </p:sp>
      <p:pic>
        <p:nvPicPr>
          <p:cNvPr id="173" name="Google Shape;173;p2"/>
          <p:cNvPicPr preferRelativeResize="0"/>
          <p:nvPr/>
        </p:nvPicPr>
        <p:blipFill>
          <a:blip r:embed="rId3">
            <a:alphaModFix/>
          </a:blip>
          <a:stretch>
            <a:fillRect/>
          </a:stretch>
        </p:blipFill>
        <p:spPr>
          <a:xfrm>
            <a:off x="8279500" y="394126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7" name="Shape 177"/>
        <p:cNvGrpSpPr/>
        <p:nvPr/>
      </p:nvGrpSpPr>
      <p:grpSpPr>
        <a:xfrm>
          <a:off x="0" y="0"/>
          <a:ext cx="0" cy="0"/>
          <a:chOff x="0" y="0"/>
          <a:chExt cx="0" cy="0"/>
        </a:xfrm>
      </p:grpSpPr>
      <p:sp>
        <p:nvSpPr>
          <p:cNvPr id="178" name="Google Shape;178;p3"/>
          <p:cNvSpPr txBox="1"/>
          <p:nvPr/>
        </p:nvSpPr>
        <p:spPr>
          <a:xfrm>
            <a:off x="-37" y="366599"/>
            <a:ext cx="914400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Qué evalúa el MINEDUC (información para TUTOR/A)</a:t>
            </a:r>
            <a:endParaRPr/>
          </a:p>
        </p:txBody>
      </p:sp>
      <p:sp>
        <p:nvSpPr>
          <p:cNvPr id="179" name="Google Shape;179;p3"/>
          <p:cNvSpPr txBox="1"/>
          <p:nvPr/>
        </p:nvSpPr>
        <p:spPr>
          <a:xfrm>
            <a:off x="600255" y="1095159"/>
            <a:ext cx="794348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OA17 4to </a:t>
            </a:r>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Demostrar que comprenden una línea de simetría: identificando figuras simétricas 2D; creando figuras simétricas 2D; dibujando una o más líneas de simetría en figuras 2D; usando software geométrico.</a:t>
            </a:r>
            <a:endParaRPr/>
          </a:p>
          <a:p>
            <a:pPr indent="0" lvl="0" marL="0" marR="0" rtl="0" algn="l">
              <a:lnSpc>
                <a:spcPct val="100000"/>
              </a:lnSpc>
              <a:spcBef>
                <a:spcPts val="0"/>
              </a:spcBef>
              <a:spcAft>
                <a:spcPts val="0"/>
              </a:spcAft>
              <a:buClr>
                <a:srgbClr val="000000"/>
              </a:buClr>
              <a:buSzPts val="2300"/>
              <a:buFont typeface="Arial"/>
              <a:buNone/>
            </a:pPr>
            <a:r>
              <a:t/>
            </a:r>
            <a:endParaRPr b="0" i="0" sz="1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OA18 4to</a:t>
            </a:r>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Trasladar, rotar y reflejar figuras 2D.</a:t>
            </a:r>
            <a:endParaRPr/>
          </a:p>
          <a:p>
            <a:pPr indent="0" lvl="0" marL="0" marR="0" rtl="0" algn="l">
              <a:lnSpc>
                <a:spcPct val="100000"/>
              </a:lnSpc>
              <a:spcBef>
                <a:spcPts val="0"/>
              </a:spcBef>
              <a:spcAft>
                <a:spcPts val="0"/>
              </a:spcAft>
              <a:buClr>
                <a:srgbClr val="000000"/>
              </a:buClr>
              <a:buSzPts val="2300"/>
              <a:buFont typeface="Arial"/>
              <a:buNone/>
            </a:pPr>
            <a:r>
              <a:t/>
            </a:r>
            <a:endParaRPr b="0" i="0" sz="1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OA18 5to</a:t>
            </a:r>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Demostrar que comprenden el concepto de congruencia, usando la traslación, la reflexión y la rotación en cuadrículas y mediante software geométrico.</a:t>
            </a:r>
            <a:endParaRPr/>
          </a:p>
        </p:txBody>
      </p:sp>
      <p:pic>
        <p:nvPicPr>
          <p:cNvPr id="180" name="Google Shape;180;p3"/>
          <p:cNvPicPr preferRelativeResize="0"/>
          <p:nvPr/>
        </p:nvPicPr>
        <p:blipFill>
          <a:blip r:embed="rId3">
            <a:alphaModFix/>
          </a:blip>
          <a:stretch>
            <a:fillRect/>
          </a:stretch>
        </p:blipFill>
        <p:spPr>
          <a:xfrm>
            <a:off x="8279500" y="394126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4"/>
          <p:cNvSpPr txBox="1"/>
          <p:nvPr/>
        </p:nvSpPr>
        <p:spPr>
          <a:xfrm>
            <a:off x="-37" y="366599"/>
            <a:ext cx="914400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✨Objetivos de hoy✨</a:t>
            </a:r>
            <a:endParaRPr/>
          </a:p>
        </p:txBody>
      </p:sp>
      <p:sp>
        <p:nvSpPr>
          <p:cNvPr id="186" name="Google Shape;186;p4"/>
          <p:cNvSpPr txBox="1"/>
          <p:nvPr/>
        </p:nvSpPr>
        <p:spPr>
          <a:xfrm>
            <a:off x="600218" y="1095159"/>
            <a:ext cx="7943400" cy="13698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300"/>
              <a:buFont typeface="Arial"/>
              <a:buAutoNum type="arabicParenR"/>
            </a:pPr>
            <a:r>
              <a:rPr b="0" i="0" lang="es-ES" sz="2300" u="none" cap="none" strike="noStrike">
                <a:solidFill>
                  <a:schemeClr val="dk1"/>
                </a:solidFill>
                <a:latin typeface="Patrick Hand"/>
                <a:ea typeface="Patrick Hand"/>
                <a:cs typeface="Patrick Hand"/>
                <a:sym typeface="Patrick Hand"/>
              </a:rPr>
              <a:t>Reflejar figuras 2D.</a:t>
            </a:r>
            <a:endParaRPr/>
          </a:p>
          <a:p>
            <a:pPr indent="-342900" lvl="0" marL="342900" marR="0" rtl="0" algn="l">
              <a:lnSpc>
                <a:spcPct val="100000"/>
              </a:lnSpc>
              <a:spcBef>
                <a:spcPts val="0"/>
              </a:spcBef>
              <a:spcAft>
                <a:spcPts val="0"/>
              </a:spcAft>
              <a:buClr>
                <a:srgbClr val="000000"/>
              </a:buClr>
              <a:buSzPts val="2300"/>
              <a:buFont typeface="Arial"/>
              <a:buAutoNum type="arabicParenR"/>
            </a:pPr>
            <a:r>
              <a:rPr b="0" i="0" lang="es-ES" sz="2300" u="none" cap="none" strike="noStrike">
                <a:solidFill>
                  <a:schemeClr val="dk1"/>
                </a:solidFill>
                <a:latin typeface="Patrick Hand"/>
                <a:ea typeface="Patrick Hand"/>
                <a:cs typeface="Patrick Hand"/>
                <a:sym typeface="Patrick Hand"/>
              </a:rPr>
              <a:t>Rotar figuras 2D.</a:t>
            </a:r>
            <a:endParaRPr/>
          </a:p>
          <a:p>
            <a:pPr indent="-196850" lvl="0" marL="34290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Patrick Hand"/>
              <a:ea typeface="Patrick Hand"/>
              <a:cs typeface="Patrick Hand"/>
              <a:sym typeface="Patrick Hand"/>
            </a:endParaRPr>
          </a:p>
        </p:txBody>
      </p:sp>
      <p:pic>
        <p:nvPicPr>
          <p:cNvPr id="187" name="Google Shape;187;p4"/>
          <p:cNvPicPr preferRelativeResize="0"/>
          <p:nvPr/>
        </p:nvPicPr>
        <p:blipFill>
          <a:blip r:embed="rId3">
            <a:alphaModFix/>
          </a:blip>
          <a:stretch>
            <a:fillRect/>
          </a:stretch>
        </p:blipFill>
        <p:spPr>
          <a:xfrm>
            <a:off x="8279500" y="394126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5"/>
          <p:cNvSpPr txBox="1"/>
          <p:nvPr/>
        </p:nvSpPr>
        <p:spPr>
          <a:xfrm>
            <a:off x="108000" y="366600"/>
            <a:ext cx="89280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¿Has visto tu reflejo?</a:t>
            </a:r>
            <a:endParaRPr/>
          </a:p>
        </p:txBody>
      </p:sp>
      <p:sp>
        <p:nvSpPr>
          <p:cNvPr id="193" name="Google Shape;193;p5"/>
          <p:cNvSpPr txBox="1"/>
          <p:nvPr/>
        </p:nvSpPr>
        <p:spPr>
          <a:xfrm>
            <a:off x="600218" y="911027"/>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No solo tú, sino que en todos los ámbitos de la vida</a:t>
            </a:r>
            <a:endParaRPr b="1" i="0" sz="2400" u="none" cap="none" strike="noStrike">
              <a:solidFill>
                <a:schemeClr val="lt1"/>
              </a:solidFill>
              <a:highlight>
                <a:srgbClr val="009F98"/>
              </a:highlight>
              <a:latin typeface="Patrick Hand"/>
              <a:ea typeface="Patrick Hand"/>
              <a:cs typeface="Patrick Hand"/>
              <a:sym typeface="Patrick Hand"/>
            </a:endParaRPr>
          </a:p>
        </p:txBody>
      </p:sp>
      <p:pic>
        <p:nvPicPr>
          <p:cNvPr descr="Cómo enseñar a los monos a ser conscientes de sí mismos" id="194" name="Google Shape;194;p5"/>
          <p:cNvPicPr preferRelativeResize="0"/>
          <p:nvPr/>
        </p:nvPicPr>
        <p:blipFill rotWithShape="1">
          <a:blip r:embed="rId3">
            <a:alphaModFix/>
          </a:blip>
          <a:srcRect b="0" l="0" r="0" t="0"/>
          <a:stretch/>
        </p:blipFill>
        <p:spPr>
          <a:xfrm flipH="1">
            <a:off x="449001" y="1495802"/>
            <a:ext cx="3823600" cy="2151896"/>
          </a:xfrm>
          <a:prstGeom prst="rect">
            <a:avLst/>
          </a:prstGeom>
          <a:noFill/>
          <a:ln>
            <a:noFill/>
          </a:ln>
        </p:spPr>
      </p:pic>
      <p:pic>
        <p:nvPicPr>
          <p:cNvPr descr="Mapi - ¿Por qué nos reflejamos en el agua?" id="195" name="Google Shape;195;p5"/>
          <p:cNvPicPr preferRelativeResize="0"/>
          <p:nvPr/>
        </p:nvPicPr>
        <p:blipFill rotWithShape="1">
          <a:blip r:embed="rId4">
            <a:alphaModFix/>
          </a:blip>
          <a:srcRect b="0" l="0" r="23269" t="0"/>
          <a:stretch/>
        </p:blipFill>
        <p:spPr>
          <a:xfrm flipH="1">
            <a:off x="2562330" y="2269347"/>
            <a:ext cx="3420542" cy="2507554"/>
          </a:xfrm>
          <a:prstGeom prst="rect">
            <a:avLst/>
          </a:prstGeom>
          <a:noFill/>
          <a:ln>
            <a:noFill/>
          </a:ln>
        </p:spPr>
      </p:pic>
      <p:pic>
        <p:nvPicPr>
          <p:cNvPr descr="Un camello se para en el desierto con un reflejo del cielo. | Foto Premium" id="196" name="Google Shape;196;p5"/>
          <p:cNvPicPr preferRelativeResize="0"/>
          <p:nvPr/>
        </p:nvPicPr>
        <p:blipFill rotWithShape="1">
          <a:blip r:embed="rId5">
            <a:alphaModFix/>
          </a:blip>
          <a:srcRect b="0" l="14946" r="40563" t="0"/>
          <a:stretch/>
        </p:blipFill>
        <p:spPr>
          <a:xfrm>
            <a:off x="5816191" y="1372692"/>
            <a:ext cx="2652765" cy="3409950"/>
          </a:xfrm>
          <a:prstGeom prst="rect">
            <a:avLst/>
          </a:prstGeom>
          <a:noFill/>
          <a:ln>
            <a:noFill/>
          </a:ln>
        </p:spPr>
      </p:pic>
      <p:pic>
        <p:nvPicPr>
          <p:cNvPr id="197" name="Google Shape;197;p5"/>
          <p:cNvPicPr preferRelativeResize="0"/>
          <p:nvPr/>
        </p:nvPicPr>
        <p:blipFill>
          <a:blip r:embed="rId6">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Imagen que contiene biombo, edificio&#10;&#10;Descripción generada automáticamente" id="202" name="Google Shape;202;p6"/>
          <p:cNvPicPr preferRelativeResize="0"/>
          <p:nvPr/>
        </p:nvPicPr>
        <p:blipFill rotWithShape="1">
          <a:blip r:embed="rId3">
            <a:alphaModFix/>
          </a:blip>
          <a:srcRect b="0" l="0" r="0" t="0"/>
          <a:stretch/>
        </p:blipFill>
        <p:spPr>
          <a:xfrm>
            <a:off x="224862" y="1495800"/>
            <a:ext cx="3128671" cy="3128671"/>
          </a:xfrm>
          <a:prstGeom prst="rect">
            <a:avLst/>
          </a:prstGeom>
          <a:noFill/>
          <a:ln>
            <a:noFill/>
          </a:ln>
        </p:spPr>
      </p:pic>
      <p:sp>
        <p:nvSpPr>
          <p:cNvPr id="203" name="Google Shape;203;p6"/>
          <p:cNvSpPr txBox="1"/>
          <p:nvPr/>
        </p:nvSpPr>
        <p:spPr>
          <a:xfrm>
            <a:off x="168000" y="326025"/>
            <a:ext cx="88080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¿Qué es entonces una Reflexión?</a:t>
            </a:r>
            <a:endParaRPr/>
          </a:p>
        </p:txBody>
      </p:sp>
      <p:sp>
        <p:nvSpPr>
          <p:cNvPr id="204" name="Google Shape;204;p6"/>
          <p:cNvSpPr txBox="1"/>
          <p:nvPr/>
        </p:nvSpPr>
        <p:spPr>
          <a:xfrm>
            <a:off x="3384639" y="1372692"/>
            <a:ext cx="5828392" cy="3416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Una reflexión viene dada por un </a:t>
            </a:r>
            <a:r>
              <a:rPr b="1" i="0" lang="es-ES" sz="2400" u="none" cap="none" strike="noStrike">
                <a:solidFill>
                  <a:srgbClr val="FF0000"/>
                </a:solidFill>
                <a:latin typeface="Patrick Hand"/>
                <a:ea typeface="Patrick Hand"/>
                <a:cs typeface="Patrick Hand"/>
                <a:sym typeface="Patrick Hand"/>
              </a:rPr>
              <a:t>eje de simetría</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Lleva cada punto de la figura a una nueva posición </a:t>
            </a:r>
            <a:endParaRPr/>
          </a:p>
          <a:p>
            <a:pPr indent="0" lvl="0" marL="0" marR="0" rtl="0" algn="ctr">
              <a:lnSpc>
                <a:spcPct val="100000"/>
              </a:lnSpc>
              <a:spcBef>
                <a:spcPts val="0"/>
              </a:spcBef>
              <a:spcAft>
                <a:spcPts val="0"/>
              </a:spcAft>
              <a:buNone/>
            </a:pPr>
            <a:r>
              <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De tal modo que la </a:t>
            </a:r>
            <a:endParaRPr/>
          </a:p>
          <a:p>
            <a:pPr indent="0" lvl="0" marL="0" marR="0" rtl="0" algn="ctr">
              <a:lnSpc>
                <a:spcPct val="100000"/>
              </a:lnSpc>
              <a:spcBef>
                <a:spcPts val="0"/>
              </a:spcBef>
              <a:spcAft>
                <a:spcPts val="0"/>
              </a:spcAft>
              <a:buNone/>
            </a:pPr>
            <a:r>
              <a:rPr b="1" i="0" lang="es-ES" sz="2400" u="none" cap="none" strike="noStrike">
                <a:solidFill>
                  <a:schemeClr val="lt1"/>
                </a:solidFill>
                <a:highlight>
                  <a:srgbClr val="009F98"/>
                </a:highlight>
                <a:latin typeface="Patrick Hand"/>
                <a:ea typeface="Patrick Hand"/>
                <a:cs typeface="Patrick Hand"/>
                <a:sym typeface="Patrick Hand"/>
              </a:rPr>
              <a:t>distancia de ambos puntos es la misma </a:t>
            </a:r>
            <a:endParaRPr/>
          </a:p>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respecto al eje de simetría</a:t>
            </a:r>
            <a:endParaRPr/>
          </a:p>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¿Cuántos espacios en blanco hay entre cada punto pintado?</a:t>
            </a:r>
            <a:endParaRPr/>
          </a:p>
        </p:txBody>
      </p:sp>
      <p:cxnSp>
        <p:nvCxnSpPr>
          <p:cNvPr id="205" name="Google Shape;205;p6"/>
          <p:cNvCxnSpPr/>
          <p:nvPr/>
        </p:nvCxnSpPr>
        <p:spPr>
          <a:xfrm flipH="1" rot="10800000">
            <a:off x="1783943" y="1700809"/>
            <a:ext cx="4052" cy="2565400"/>
          </a:xfrm>
          <a:prstGeom prst="straightConnector1">
            <a:avLst/>
          </a:prstGeom>
          <a:noFill/>
          <a:ln cap="flat" cmpd="sng" w="76200">
            <a:solidFill>
              <a:srgbClr val="FF0000"/>
            </a:solidFill>
            <a:prstDash val="solid"/>
            <a:round/>
            <a:headEnd len="sm" w="sm" type="none"/>
            <a:tailEnd len="sm" w="sm" type="none"/>
          </a:ln>
        </p:spPr>
      </p:cxnSp>
      <p:sp>
        <p:nvSpPr>
          <p:cNvPr id="206" name="Google Shape;206;p6"/>
          <p:cNvSpPr txBox="1"/>
          <p:nvPr/>
        </p:nvSpPr>
        <p:spPr>
          <a:xfrm>
            <a:off x="600218" y="911027"/>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Recordemos la figura de la sesión pasada</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07" name="Google Shape;207;p6"/>
          <p:cNvSpPr txBox="1"/>
          <p:nvPr/>
        </p:nvSpPr>
        <p:spPr>
          <a:xfrm flipH="1">
            <a:off x="745373" y="2075949"/>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1</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08" name="Google Shape;208;p6"/>
          <p:cNvSpPr txBox="1"/>
          <p:nvPr/>
        </p:nvSpPr>
        <p:spPr>
          <a:xfrm flipH="1">
            <a:off x="745373" y="2631864"/>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2</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09" name="Google Shape;209;p6"/>
          <p:cNvSpPr txBox="1"/>
          <p:nvPr/>
        </p:nvSpPr>
        <p:spPr>
          <a:xfrm flipH="1">
            <a:off x="745373" y="3187668"/>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3</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10" name="Google Shape;210;p6"/>
          <p:cNvSpPr txBox="1"/>
          <p:nvPr/>
        </p:nvSpPr>
        <p:spPr>
          <a:xfrm flipH="1">
            <a:off x="1296086" y="3187668"/>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4</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11" name="Google Shape;211;p6"/>
          <p:cNvSpPr/>
          <p:nvPr/>
        </p:nvSpPr>
        <p:spPr>
          <a:xfrm>
            <a:off x="2354580" y="2075949"/>
            <a:ext cx="514108"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2" name="Google Shape;212;p6"/>
          <p:cNvSpPr/>
          <p:nvPr/>
        </p:nvSpPr>
        <p:spPr>
          <a:xfrm>
            <a:off x="2354580" y="2629255"/>
            <a:ext cx="514108"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3" name="Google Shape;213;p6"/>
          <p:cNvSpPr/>
          <p:nvPr/>
        </p:nvSpPr>
        <p:spPr>
          <a:xfrm>
            <a:off x="2345681" y="3168104"/>
            <a:ext cx="514108"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4" name="Google Shape;214;p6"/>
          <p:cNvSpPr/>
          <p:nvPr/>
        </p:nvSpPr>
        <p:spPr>
          <a:xfrm>
            <a:off x="1824038" y="3168104"/>
            <a:ext cx="490537"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5" name="Google Shape;215;p6"/>
          <p:cNvSpPr txBox="1"/>
          <p:nvPr/>
        </p:nvSpPr>
        <p:spPr>
          <a:xfrm flipH="1">
            <a:off x="2564617" y="2083791"/>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1</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16" name="Google Shape;216;p6"/>
          <p:cNvSpPr txBox="1"/>
          <p:nvPr/>
        </p:nvSpPr>
        <p:spPr>
          <a:xfrm flipH="1">
            <a:off x="2564617" y="2639706"/>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2</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17" name="Google Shape;217;p6"/>
          <p:cNvSpPr txBox="1"/>
          <p:nvPr/>
        </p:nvSpPr>
        <p:spPr>
          <a:xfrm flipH="1">
            <a:off x="2564617" y="3195510"/>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3</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18" name="Google Shape;218;p6"/>
          <p:cNvSpPr txBox="1"/>
          <p:nvPr/>
        </p:nvSpPr>
        <p:spPr>
          <a:xfrm flipH="1">
            <a:off x="2004053" y="3195510"/>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4</a:t>
            </a:r>
            <a:endParaRPr b="1" i="0" sz="2400" u="none" cap="none" strike="noStrike">
              <a:solidFill>
                <a:schemeClr val="lt1"/>
              </a:solidFill>
              <a:highlight>
                <a:srgbClr val="009F98"/>
              </a:highlight>
              <a:latin typeface="Patrick Hand"/>
              <a:ea typeface="Patrick Hand"/>
              <a:cs typeface="Patrick Hand"/>
              <a:sym typeface="Patrick Hand"/>
            </a:endParaRPr>
          </a:p>
        </p:txBody>
      </p:sp>
      <p:cxnSp>
        <p:nvCxnSpPr>
          <p:cNvPr id="219" name="Google Shape;219;p6"/>
          <p:cNvCxnSpPr/>
          <p:nvPr/>
        </p:nvCxnSpPr>
        <p:spPr>
          <a:xfrm>
            <a:off x="976745" y="2300432"/>
            <a:ext cx="1620982" cy="0"/>
          </a:xfrm>
          <a:prstGeom prst="straightConnector1">
            <a:avLst/>
          </a:prstGeom>
          <a:noFill/>
          <a:ln cap="flat" cmpd="sng" w="28575">
            <a:solidFill>
              <a:srgbClr val="FAB235"/>
            </a:solidFill>
            <a:prstDash val="solid"/>
            <a:round/>
            <a:headEnd len="med" w="med" type="stealth"/>
            <a:tailEnd len="med" w="med" type="stealth"/>
          </a:ln>
        </p:spPr>
      </p:cxnSp>
      <p:cxnSp>
        <p:nvCxnSpPr>
          <p:cNvPr id="220" name="Google Shape;220;p6"/>
          <p:cNvCxnSpPr/>
          <p:nvPr/>
        </p:nvCxnSpPr>
        <p:spPr>
          <a:xfrm>
            <a:off x="973452" y="2856346"/>
            <a:ext cx="1620982" cy="0"/>
          </a:xfrm>
          <a:prstGeom prst="straightConnector1">
            <a:avLst/>
          </a:prstGeom>
          <a:noFill/>
          <a:ln cap="flat" cmpd="sng" w="28575">
            <a:solidFill>
              <a:srgbClr val="FAB235"/>
            </a:solidFill>
            <a:prstDash val="solid"/>
            <a:round/>
            <a:headEnd len="med" w="med" type="stealth"/>
            <a:tailEnd len="med" w="med" type="stealth"/>
          </a:ln>
        </p:spPr>
      </p:cxnSp>
      <p:cxnSp>
        <p:nvCxnSpPr>
          <p:cNvPr id="221" name="Google Shape;221;p6"/>
          <p:cNvCxnSpPr/>
          <p:nvPr/>
        </p:nvCxnSpPr>
        <p:spPr>
          <a:xfrm>
            <a:off x="973452" y="3536841"/>
            <a:ext cx="1620982" cy="0"/>
          </a:xfrm>
          <a:prstGeom prst="straightConnector1">
            <a:avLst/>
          </a:prstGeom>
          <a:noFill/>
          <a:ln cap="flat" cmpd="sng" w="28575">
            <a:solidFill>
              <a:srgbClr val="FAB235"/>
            </a:solidFill>
            <a:prstDash val="solid"/>
            <a:round/>
            <a:headEnd len="med" w="med" type="stealth"/>
            <a:tailEnd len="med" w="med" type="stealth"/>
          </a:ln>
        </p:spPr>
      </p:cxnSp>
      <p:cxnSp>
        <p:nvCxnSpPr>
          <p:cNvPr id="222" name="Google Shape;222;p6"/>
          <p:cNvCxnSpPr/>
          <p:nvPr/>
        </p:nvCxnSpPr>
        <p:spPr>
          <a:xfrm>
            <a:off x="1544668" y="3412150"/>
            <a:ext cx="478550" cy="0"/>
          </a:xfrm>
          <a:prstGeom prst="straightConnector1">
            <a:avLst/>
          </a:prstGeom>
          <a:noFill/>
          <a:ln cap="flat" cmpd="sng" w="28575">
            <a:solidFill>
              <a:srgbClr val="FAB235"/>
            </a:solidFill>
            <a:prstDash val="solid"/>
            <a:round/>
            <a:headEnd len="med" w="med" type="stealth"/>
            <a:tailEnd len="med" w="med" type="stealth"/>
          </a:ln>
        </p:spPr>
      </p:cxnSp>
      <p:pic>
        <p:nvPicPr>
          <p:cNvPr id="223" name="Google Shape;223;p6"/>
          <p:cNvPicPr preferRelativeResize="0"/>
          <p:nvPr/>
        </p:nvPicPr>
        <p:blipFill>
          <a:blip r:embed="rId4">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par>
                                <p:cTn fill="hold" nodeType="with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par>
                                <p:cTn fill="hold" nodeType="with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Effect filter="fade" transition="in">
                                      <p:cBhvr>
                                        <p:cTn dur="500"/>
                                        <p:tgtEl>
                                          <p:spTgt spid="20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animEffect filter="fade" transition="in">
                                      <p:cBhvr>
                                        <p:cTn dur="500"/>
                                        <p:tgtEl>
                                          <p:spTgt spid="20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animEffect filter="fade" transition="in">
                                      <p:cBhvr>
                                        <p:cTn dur="500"/>
                                        <p:tgtEl>
                                          <p:spTgt spid="20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animEffect filter="fade" transition="in">
                                      <p:cBhvr>
                                        <p:cTn dur="500"/>
                                        <p:tgtEl>
                                          <p:spTgt spid="20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animEffect filter="fade" transition="in">
                                      <p:cBhvr>
                                        <p:cTn dur="500"/>
                                        <p:tgtEl>
                                          <p:spTgt spid="20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4">
                                            <p:txEl>
                                              <p:pRg end="5" st="5"/>
                                            </p:txEl>
                                          </p:spTgt>
                                        </p:tgtEl>
                                        <p:attrNameLst>
                                          <p:attrName>style.visibility</p:attrName>
                                        </p:attrNameLst>
                                      </p:cBhvr>
                                      <p:to>
                                        <p:strVal val="visible"/>
                                      </p:to>
                                    </p:set>
                                    <p:animEffect filter="fade" transition="in">
                                      <p:cBhvr>
                                        <p:cTn dur="500"/>
                                        <p:tgtEl>
                                          <p:spTgt spid="20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4">
                                            <p:txEl>
                                              <p:pRg end="6" st="6"/>
                                            </p:txEl>
                                          </p:spTgt>
                                        </p:tgtEl>
                                        <p:attrNameLst>
                                          <p:attrName>style.visibility</p:attrName>
                                        </p:attrNameLst>
                                      </p:cBhvr>
                                      <p:to>
                                        <p:strVal val="visible"/>
                                      </p:to>
                                    </p:set>
                                    <p:animEffect filter="fade" transition="in">
                                      <p:cBhvr>
                                        <p:cTn dur="500"/>
                                        <p:tgtEl>
                                          <p:spTgt spid="20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4">
                                            <p:txEl>
                                              <p:pRg end="7" st="7"/>
                                            </p:txEl>
                                          </p:spTgt>
                                        </p:tgtEl>
                                        <p:attrNameLst>
                                          <p:attrName>style.visibility</p:attrName>
                                        </p:attrNameLst>
                                      </p:cBhvr>
                                      <p:to>
                                        <p:strVal val="visible"/>
                                      </p:to>
                                    </p:set>
                                    <p:animEffect filter="fade" transition="in">
                                      <p:cBhvr>
                                        <p:cTn dur="500"/>
                                        <p:tgtEl>
                                          <p:spTgt spid="20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par>
                                <p:cTn fill="hold" nodeType="with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Imagen que contiene biombo, edificio&#10;&#10;Descripción generada automáticamente" id="228" name="Google Shape;228;p7"/>
          <p:cNvPicPr preferRelativeResize="0"/>
          <p:nvPr/>
        </p:nvPicPr>
        <p:blipFill rotWithShape="1">
          <a:blip r:embed="rId3">
            <a:alphaModFix/>
          </a:blip>
          <a:srcRect b="0" l="0" r="0" t="0"/>
          <a:stretch/>
        </p:blipFill>
        <p:spPr>
          <a:xfrm>
            <a:off x="224862" y="1495800"/>
            <a:ext cx="3128671" cy="3128671"/>
          </a:xfrm>
          <a:prstGeom prst="rect">
            <a:avLst/>
          </a:prstGeom>
          <a:noFill/>
          <a:ln>
            <a:noFill/>
          </a:ln>
        </p:spPr>
      </p:pic>
      <p:sp>
        <p:nvSpPr>
          <p:cNvPr id="229" name="Google Shape;229;p7"/>
          <p:cNvSpPr txBox="1"/>
          <p:nvPr/>
        </p:nvSpPr>
        <p:spPr>
          <a:xfrm>
            <a:off x="154650" y="394975"/>
            <a:ext cx="88347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3200" u="none" cap="none" strike="noStrike">
                <a:solidFill>
                  <a:schemeClr val="lt1"/>
                </a:solidFill>
                <a:highlight>
                  <a:srgbClr val="009287"/>
                </a:highlight>
                <a:latin typeface="Patrick Hand"/>
                <a:ea typeface="Patrick Hand"/>
                <a:cs typeface="Patrick Hand"/>
                <a:sym typeface="Patrick Hand"/>
              </a:rPr>
              <a:t>¿Qué es entonces una Reflexión?</a:t>
            </a:r>
            <a:endParaRPr/>
          </a:p>
        </p:txBody>
      </p:sp>
      <p:sp>
        <p:nvSpPr>
          <p:cNvPr id="230" name="Google Shape;230;p7"/>
          <p:cNvSpPr txBox="1"/>
          <p:nvPr/>
        </p:nvSpPr>
        <p:spPr>
          <a:xfrm>
            <a:off x="3360159" y="2337107"/>
            <a:ext cx="5828392"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¿Te fijaste de cómo interseca la recta que une los puntos con el eje de simetría?</a:t>
            </a:r>
            <a:endParaRPr/>
          </a:p>
        </p:txBody>
      </p:sp>
      <p:sp>
        <p:nvSpPr>
          <p:cNvPr id="231" name="Google Shape;231;p7"/>
          <p:cNvSpPr txBox="1"/>
          <p:nvPr/>
        </p:nvSpPr>
        <p:spPr>
          <a:xfrm>
            <a:off x="600218" y="911027"/>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Recordemos la figura de la sesión pasada</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32" name="Google Shape;232;p7"/>
          <p:cNvSpPr txBox="1"/>
          <p:nvPr/>
        </p:nvSpPr>
        <p:spPr>
          <a:xfrm flipH="1">
            <a:off x="745373" y="2075949"/>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1</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33" name="Google Shape;233;p7"/>
          <p:cNvSpPr txBox="1"/>
          <p:nvPr/>
        </p:nvSpPr>
        <p:spPr>
          <a:xfrm flipH="1">
            <a:off x="745373" y="2631864"/>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2</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34" name="Google Shape;234;p7"/>
          <p:cNvSpPr txBox="1"/>
          <p:nvPr/>
        </p:nvSpPr>
        <p:spPr>
          <a:xfrm flipH="1">
            <a:off x="745373" y="3187668"/>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3</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35" name="Google Shape;235;p7"/>
          <p:cNvSpPr txBox="1"/>
          <p:nvPr/>
        </p:nvSpPr>
        <p:spPr>
          <a:xfrm flipH="1">
            <a:off x="1296086" y="3187668"/>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4</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36" name="Google Shape;236;p7"/>
          <p:cNvSpPr/>
          <p:nvPr/>
        </p:nvSpPr>
        <p:spPr>
          <a:xfrm>
            <a:off x="2354580" y="2075949"/>
            <a:ext cx="514108"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7" name="Google Shape;237;p7"/>
          <p:cNvSpPr/>
          <p:nvPr/>
        </p:nvSpPr>
        <p:spPr>
          <a:xfrm>
            <a:off x="2354580" y="2629255"/>
            <a:ext cx="514108"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8" name="Google Shape;238;p7"/>
          <p:cNvSpPr/>
          <p:nvPr/>
        </p:nvSpPr>
        <p:spPr>
          <a:xfrm>
            <a:off x="2345681" y="3168104"/>
            <a:ext cx="514108"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9" name="Google Shape;239;p7"/>
          <p:cNvSpPr/>
          <p:nvPr/>
        </p:nvSpPr>
        <p:spPr>
          <a:xfrm>
            <a:off x="1824038" y="3168104"/>
            <a:ext cx="490537"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0" name="Google Shape;240;p7"/>
          <p:cNvSpPr txBox="1"/>
          <p:nvPr/>
        </p:nvSpPr>
        <p:spPr>
          <a:xfrm flipH="1">
            <a:off x="2564617" y="2083791"/>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1</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41" name="Google Shape;241;p7"/>
          <p:cNvSpPr txBox="1"/>
          <p:nvPr/>
        </p:nvSpPr>
        <p:spPr>
          <a:xfrm flipH="1">
            <a:off x="2564617" y="2639706"/>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2</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42" name="Google Shape;242;p7"/>
          <p:cNvSpPr txBox="1"/>
          <p:nvPr/>
        </p:nvSpPr>
        <p:spPr>
          <a:xfrm flipH="1">
            <a:off x="2564617" y="3195510"/>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3</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43" name="Google Shape;243;p7"/>
          <p:cNvSpPr txBox="1"/>
          <p:nvPr/>
        </p:nvSpPr>
        <p:spPr>
          <a:xfrm flipH="1">
            <a:off x="2004053" y="3195510"/>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4</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44" name="Google Shape;244;p7"/>
          <p:cNvSpPr txBox="1"/>
          <p:nvPr/>
        </p:nvSpPr>
        <p:spPr>
          <a:xfrm>
            <a:off x="3291128" y="3168104"/>
            <a:ext cx="5828392"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chemeClr val="lt1"/>
                </a:solidFill>
                <a:highlight>
                  <a:srgbClr val="009F98"/>
                </a:highlight>
                <a:latin typeface="Patrick Hand"/>
                <a:ea typeface="Patrick Hand"/>
                <a:cs typeface="Patrick Hand"/>
                <a:sym typeface="Patrick Hand"/>
              </a:rPr>
              <a:t>¡Son perpendiculares!</a:t>
            </a:r>
            <a:endParaRPr/>
          </a:p>
        </p:txBody>
      </p:sp>
      <p:sp>
        <p:nvSpPr>
          <p:cNvPr id="245" name="Google Shape;245;p7"/>
          <p:cNvSpPr/>
          <p:nvPr/>
        </p:nvSpPr>
        <p:spPr>
          <a:xfrm>
            <a:off x="1648697" y="2216390"/>
            <a:ext cx="139298" cy="84042"/>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6" name="Google Shape;246;p7"/>
          <p:cNvSpPr/>
          <p:nvPr/>
        </p:nvSpPr>
        <p:spPr>
          <a:xfrm>
            <a:off x="1783943" y="2216390"/>
            <a:ext cx="139298" cy="84042"/>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7" name="Google Shape;247;p7"/>
          <p:cNvSpPr/>
          <p:nvPr/>
        </p:nvSpPr>
        <p:spPr>
          <a:xfrm>
            <a:off x="1646316" y="2764889"/>
            <a:ext cx="139298" cy="89931"/>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8" name="Google Shape;248;p7"/>
          <p:cNvSpPr/>
          <p:nvPr/>
        </p:nvSpPr>
        <p:spPr>
          <a:xfrm>
            <a:off x="1781562" y="2764889"/>
            <a:ext cx="139298" cy="89931"/>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9" name="Google Shape;249;p7"/>
          <p:cNvSpPr/>
          <p:nvPr/>
        </p:nvSpPr>
        <p:spPr>
          <a:xfrm>
            <a:off x="1672967" y="3355446"/>
            <a:ext cx="90758" cy="4572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0" name="Google Shape;250;p7"/>
          <p:cNvSpPr/>
          <p:nvPr/>
        </p:nvSpPr>
        <p:spPr>
          <a:xfrm>
            <a:off x="1806558" y="3355053"/>
            <a:ext cx="90758" cy="4572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1" name="Google Shape;251;p7"/>
          <p:cNvSpPr/>
          <p:nvPr/>
        </p:nvSpPr>
        <p:spPr>
          <a:xfrm>
            <a:off x="1648697" y="3470276"/>
            <a:ext cx="139298" cy="62657"/>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2" name="Google Shape;252;p7"/>
          <p:cNvSpPr/>
          <p:nvPr/>
        </p:nvSpPr>
        <p:spPr>
          <a:xfrm>
            <a:off x="1783943" y="3470276"/>
            <a:ext cx="139298" cy="62657"/>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253" name="Google Shape;253;p7"/>
          <p:cNvCxnSpPr/>
          <p:nvPr/>
        </p:nvCxnSpPr>
        <p:spPr>
          <a:xfrm>
            <a:off x="973452" y="2856346"/>
            <a:ext cx="1620982" cy="0"/>
          </a:xfrm>
          <a:prstGeom prst="straightConnector1">
            <a:avLst/>
          </a:prstGeom>
          <a:noFill/>
          <a:ln cap="flat" cmpd="sng" w="28575">
            <a:solidFill>
              <a:srgbClr val="FAB235"/>
            </a:solidFill>
            <a:prstDash val="solid"/>
            <a:round/>
            <a:headEnd len="med" w="med" type="stealth"/>
            <a:tailEnd len="med" w="med" type="stealth"/>
          </a:ln>
        </p:spPr>
      </p:cxnSp>
      <p:cxnSp>
        <p:nvCxnSpPr>
          <p:cNvPr id="254" name="Google Shape;254;p7"/>
          <p:cNvCxnSpPr/>
          <p:nvPr/>
        </p:nvCxnSpPr>
        <p:spPr>
          <a:xfrm>
            <a:off x="973452" y="3536841"/>
            <a:ext cx="1620982" cy="0"/>
          </a:xfrm>
          <a:prstGeom prst="straightConnector1">
            <a:avLst/>
          </a:prstGeom>
          <a:noFill/>
          <a:ln cap="flat" cmpd="sng" w="28575">
            <a:solidFill>
              <a:srgbClr val="FAB235"/>
            </a:solidFill>
            <a:prstDash val="solid"/>
            <a:round/>
            <a:headEnd len="med" w="med" type="stealth"/>
            <a:tailEnd len="med" w="med" type="stealth"/>
          </a:ln>
        </p:spPr>
      </p:cxnSp>
      <p:cxnSp>
        <p:nvCxnSpPr>
          <p:cNvPr id="255" name="Google Shape;255;p7"/>
          <p:cNvCxnSpPr/>
          <p:nvPr/>
        </p:nvCxnSpPr>
        <p:spPr>
          <a:xfrm>
            <a:off x="1544668" y="3412150"/>
            <a:ext cx="478550" cy="0"/>
          </a:xfrm>
          <a:prstGeom prst="straightConnector1">
            <a:avLst/>
          </a:prstGeom>
          <a:noFill/>
          <a:ln cap="flat" cmpd="sng" w="28575">
            <a:solidFill>
              <a:srgbClr val="FAB235"/>
            </a:solidFill>
            <a:prstDash val="solid"/>
            <a:round/>
            <a:headEnd len="med" w="med" type="stealth"/>
            <a:tailEnd len="med" w="med" type="stealth"/>
          </a:ln>
        </p:spPr>
      </p:cxnSp>
      <p:cxnSp>
        <p:nvCxnSpPr>
          <p:cNvPr id="256" name="Google Shape;256;p7"/>
          <p:cNvCxnSpPr/>
          <p:nvPr/>
        </p:nvCxnSpPr>
        <p:spPr>
          <a:xfrm flipH="1" rot="10800000">
            <a:off x="1783943" y="1700809"/>
            <a:ext cx="4052" cy="2565400"/>
          </a:xfrm>
          <a:prstGeom prst="straightConnector1">
            <a:avLst/>
          </a:prstGeom>
          <a:noFill/>
          <a:ln cap="flat" cmpd="sng" w="76200">
            <a:solidFill>
              <a:srgbClr val="FF0000"/>
            </a:solidFill>
            <a:prstDash val="solid"/>
            <a:round/>
            <a:headEnd len="sm" w="sm" type="none"/>
            <a:tailEnd len="sm" w="sm" type="none"/>
          </a:ln>
        </p:spPr>
      </p:cxnSp>
      <p:cxnSp>
        <p:nvCxnSpPr>
          <p:cNvPr id="257" name="Google Shape;257;p7"/>
          <p:cNvCxnSpPr/>
          <p:nvPr/>
        </p:nvCxnSpPr>
        <p:spPr>
          <a:xfrm>
            <a:off x="976745" y="2300432"/>
            <a:ext cx="1620982" cy="0"/>
          </a:xfrm>
          <a:prstGeom prst="straightConnector1">
            <a:avLst/>
          </a:prstGeom>
          <a:noFill/>
          <a:ln cap="flat" cmpd="sng" w="28575">
            <a:solidFill>
              <a:srgbClr val="FAB235"/>
            </a:solidFill>
            <a:prstDash val="solid"/>
            <a:round/>
            <a:headEnd len="med" w="med" type="stealth"/>
            <a:tailEnd len="med" w="med" type="stealth"/>
          </a:ln>
        </p:spPr>
      </p:cxnSp>
      <p:pic>
        <p:nvPicPr>
          <p:cNvPr id="258" name="Google Shape;258;p7"/>
          <p:cNvPicPr preferRelativeResize="0"/>
          <p:nvPr/>
        </p:nvPicPr>
        <p:blipFill>
          <a:blip r:embed="rId4">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Imagen que contiene biombo, edificio&#10;&#10;Descripción generada automáticamente" id="263" name="Google Shape;263;p8"/>
          <p:cNvPicPr preferRelativeResize="0"/>
          <p:nvPr/>
        </p:nvPicPr>
        <p:blipFill rotWithShape="1">
          <a:blip r:embed="rId3">
            <a:alphaModFix/>
          </a:blip>
          <a:srcRect b="0" l="0" r="0" t="0"/>
          <a:stretch/>
        </p:blipFill>
        <p:spPr>
          <a:xfrm>
            <a:off x="224862" y="1495800"/>
            <a:ext cx="3128671" cy="3128671"/>
          </a:xfrm>
          <a:prstGeom prst="rect">
            <a:avLst/>
          </a:prstGeom>
          <a:noFill/>
          <a:ln>
            <a:noFill/>
          </a:ln>
        </p:spPr>
      </p:pic>
      <p:sp>
        <p:nvSpPr>
          <p:cNvPr id="264" name="Google Shape;264;p8"/>
          <p:cNvSpPr txBox="1"/>
          <p:nvPr/>
        </p:nvSpPr>
        <p:spPr>
          <a:xfrm>
            <a:off x="161400" y="366600"/>
            <a:ext cx="88212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Reflexión</a:t>
            </a:r>
            <a:endParaRPr/>
          </a:p>
        </p:txBody>
      </p:sp>
      <p:sp>
        <p:nvSpPr>
          <p:cNvPr id="265" name="Google Shape;265;p8"/>
          <p:cNvSpPr txBox="1"/>
          <p:nvPr/>
        </p:nvSpPr>
        <p:spPr>
          <a:xfrm>
            <a:off x="3584905" y="1933892"/>
            <a:ext cx="5302818"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1° La distancia respecto al eje de simetría es la misma</a:t>
            </a:r>
            <a:endParaRPr/>
          </a:p>
        </p:txBody>
      </p:sp>
      <p:sp>
        <p:nvSpPr>
          <p:cNvPr id="266" name="Google Shape;266;p8"/>
          <p:cNvSpPr txBox="1"/>
          <p:nvPr/>
        </p:nvSpPr>
        <p:spPr>
          <a:xfrm>
            <a:off x="600218" y="911027"/>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Por lo tanto, ¿qué caracteriza a una reflexión?</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67" name="Google Shape;267;p8"/>
          <p:cNvSpPr txBox="1"/>
          <p:nvPr/>
        </p:nvSpPr>
        <p:spPr>
          <a:xfrm flipH="1">
            <a:off x="745373" y="2075949"/>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1</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68" name="Google Shape;268;p8"/>
          <p:cNvSpPr txBox="1"/>
          <p:nvPr/>
        </p:nvSpPr>
        <p:spPr>
          <a:xfrm flipH="1">
            <a:off x="745373" y="2631864"/>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2</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69" name="Google Shape;269;p8"/>
          <p:cNvSpPr txBox="1"/>
          <p:nvPr/>
        </p:nvSpPr>
        <p:spPr>
          <a:xfrm flipH="1">
            <a:off x="745373" y="3187668"/>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3</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70" name="Google Shape;270;p8"/>
          <p:cNvSpPr txBox="1"/>
          <p:nvPr/>
        </p:nvSpPr>
        <p:spPr>
          <a:xfrm flipH="1">
            <a:off x="1296086" y="3187668"/>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4</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71" name="Google Shape;271;p8"/>
          <p:cNvSpPr/>
          <p:nvPr/>
        </p:nvSpPr>
        <p:spPr>
          <a:xfrm>
            <a:off x="2354580" y="2075949"/>
            <a:ext cx="514108"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2" name="Google Shape;272;p8"/>
          <p:cNvSpPr/>
          <p:nvPr/>
        </p:nvSpPr>
        <p:spPr>
          <a:xfrm>
            <a:off x="2354580" y="2629255"/>
            <a:ext cx="514108"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3" name="Google Shape;273;p8"/>
          <p:cNvSpPr/>
          <p:nvPr/>
        </p:nvSpPr>
        <p:spPr>
          <a:xfrm>
            <a:off x="2345681" y="3168104"/>
            <a:ext cx="514108"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4" name="Google Shape;274;p8"/>
          <p:cNvSpPr/>
          <p:nvPr/>
        </p:nvSpPr>
        <p:spPr>
          <a:xfrm>
            <a:off x="1824038" y="3168104"/>
            <a:ext cx="490537" cy="495795"/>
          </a:xfrm>
          <a:prstGeom prst="rect">
            <a:avLst/>
          </a:prstGeom>
          <a:solidFill>
            <a:srgbClr val="009F9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5" name="Google Shape;275;p8"/>
          <p:cNvSpPr txBox="1"/>
          <p:nvPr/>
        </p:nvSpPr>
        <p:spPr>
          <a:xfrm flipH="1">
            <a:off x="2564617" y="2083791"/>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1</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76" name="Google Shape;276;p8"/>
          <p:cNvSpPr txBox="1"/>
          <p:nvPr/>
        </p:nvSpPr>
        <p:spPr>
          <a:xfrm flipH="1">
            <a:off x="2564617" y="2639706"/>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2</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77" name="Google Shape;277;p8"/>
          <p:cNvSpPr txBox="1"/>
          <p:nvPr/>
        </p:nvSpPr>
        <p:spPr>
          <a:xfrm flipH="1">
            <a:off x="2564617" y="3195510"/>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3</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78" name="Google Shape;278;p8"/>
          <p:cNvSpPr txBox="1"/>
          <p:nvPr/>
        </p:nvSpPr>
        <p:spPr>
          <a:xfrm flipH="1">
            <a:off x="2004053" y="3195510"/>
            <a:ext cx="28276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4</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279" name="Google Shape;279;p8"/>
          <p:cNvSpPr txBox="1"/>
          <p:nvPr/>
        </p:nvSpPr>
        <p:spPr>
          <a:xfrm>
            <a:off x="3457512" y="3101371"/>
            <a:ext cx="5461626"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2° La recta que une los puntos es perpendicular al eje de simetría</a:t>
            </a:r>
            <a:endParaRPr/>
          </a:p>
        </p:txBody>
      </p:sp>
      <p:sp>
        <p:nvSpPr>
          <p:cNvPr id="280" name="Google Shape;280;p8"/>
          <p:cNvSpPr/>
          <p:nvPr/>
        </p:nvSpPr>
        <p:spPr>
          <a:xfrm>
            <a:off x="1648697" y="2216390"/>
            <a:ext cx="139298" cy="84042"/>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1" name="Google Shape;281;p8"/>
          <p:cNvSpPr/>
          <p:nvPr/>
        </p:nvSpPr>
        <p:spPr>
          <a:xfrm>
            <a:off x="1783943" y="2216390"/>
            <a:ext cx="139298" cy="84042"/>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2" name="Google Shape;282;p8"/>
          <p:cNvSpPr/>
          <p:nvPr/>
        </p:nvSpPr>
        <p:spPr>
          <a:xfrm>
            <a:off x="1646316" y="2764889"/>
            <a:ext cx="139298" cy="89931"/>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3" name="Google Shape;283;p8"/>
          <p:cNvSpPr/>
          <p:nvPr/>
        </p:nvSpPr>
        <p:spPr>
          <a:xfrm>
            <a:off x="1781562" y="2764889"/>
            <a:ext cx="139298" cy="89931"/>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4" name="Google Shape;284;p8"/>
          <p:cNvSpPr/>
          <p:nvPr/>
        </p:nvSpPr>
        <p:spPr>
          <a:xfrm>
            <a:off x="1672967" y="3355446"/>
            <a:ext cx="90758" cy="4572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5" name="Google Shape;285;p8"/>
          <p:cNvSpPr/>
          <p:nvPr/>
        </p:nvSpPr>
        <p:spPr>
          <a:xfrm>
            <a:off x="1806558" y="3355053"/>
            <a:ext cx="90758" cy="45720"/>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6" name="Google Shape;286;p8"/>
          <p:cNvSpPr/>
          <p:nvPr/>
        </p:nvSpPr>
        <p:spPr>
          <a:xfrm>
            <a:off x="1648697" y="3470276"/>
            <a:ext cx="139298" cy="62657"/>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7" name="Google Shape;287;p8"/>
          <p:cNvSpPr/>
          <p:nvPr/>
        </p:nvSpPr>
        <p:spPr>
          <a:xfrm>
            <a:off x="1783943" y="3470276"/>
            <a:ext cx="139298" cy="62657"/>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288" name="Google Shape;288;p8"/>
          <p:cNvCxnSpPr/>
          <p:nvPr/>
        </p:nvCxnSpPr>
        <p:spPr>
          <a:xfrm>
            <a:off x="973452" y="2856346"/>
            <a:ext cx="1620982" cy="0"/>
          </a:xfrm>
          <a:prstGeom prst="straightConnector1">
            <a:avLst/>
          </a:prstGeom>
          <a:noFill/>
          <a:ln cap="flat" cmpd="sng" w="28575">
            <a:solidFill>
              <a:srgbClr val="FAB235"/>
            </a:solidFill>
            <a:prstDash val="solid"/>
            <a:round/>
            <a:headEnd len="med" w="med" type="stealth"/>
            <a:tailEnd len="med" w="med" type="stealth"/>
          </a:ln>
        </p:spPr>
      </p:cxnSp>
      <p:cxnSp>
        <p:nvCxnSpPr>
          <p:cNvPr id="289" name="Google Shape;289;p8"/>
          <p:cNvCxnSpPr/>
          <p:nvPr/>
        </p:nvCxnSpPr>
        <p:spPr>
          <a:xfrm>
            <a:off x="973452" y="3536841"/>
            <a:ext cx="1620982" cy="0"/>
          </a:xfrm>
          <a:prstGeom prst="straightConnector1">
            <a:avLst/>
          </a:prstGeom>
          <a:noFill/>
          <a:ln cap="flat" cmpd="sng" w="28575">
            <a:solidFill>
              <a:srgbClr val="FAB235"/>
            </a:solidFill>
            <a:prstDash val="solid"/>
            <a:round/>
            <a:headEnd len="med" w="med" type="stealth"/>
            <a:tailEnd len="med" w="med" type="stealth"/>
          </a:ln>
        </p:spPr>
      </p:cxnSp>
      <p:cxnSp>
        <p:nvCxnSpPr>
          <p:cNvPr id="290" name="Google Shape;290;p8"/>
          <p:cNvCxnSpPr/>
          <p:nvPr/>
        </p:nvCxnSpPr>
        <p:spPr>
          <a:xfrm>
            <a:off x="1544668" y="3412150"/>
            <a:ext cx="478550" cy="0"/>
          </a:xfrm>
          <a:prstGeom prst="straightConnector1">
            <a:avLst/>
          </a:prstGeom>
          <a:noFill/>
          <a:ln cap="flat" cmpd="sng" w="28575">
            <a:solidFill>
              <a:srgbClr val="FAB235"/>
            </a:solidFill>
            <a:prstDash val="solid"/>
            <a:round/>
            <a:headEnd len="med" w="med" type="stealth"/>
            <a:tailEnd len="med" w="med" type="stealth"/>
          </a:ln>
        </p:spPr>
      </p:cxnSp>
      <p:cxnSp>
        <p:nvCxnSpPr>
          <p:cNvPr id="291" name="Google Shape;291;p8"/>
          <p:cNvCxnSpPr/>
          <p:nvPr/>
        </p:nvCxnSpPr>
        <p:spPr>
          <a:xfrm flipH="1" rot="10800000">
            <a:off x="1783943" y="1700809"/>
            <a:ext cx="4052" cy="2565400"/>
          </a:xfrm>
          <a:prstGeom prst="straightConnector1">
            <a:avLst/>
          </a:prstGeom>
          <a:noFill/>
          <a:ln cap="flat" cmpd="sng" w="76200">
            <a:solidFill>
              <a:srgbClr val="FF0000"/>
            </a:solidFill>
            <a:prstDash val="solid"/>
            <a:round/>
            <a:headEnd len="sm" w="sm" type="none"/>
            <a:tailEnd len="sm" w="sm" type="none"/>
          </a:ln>
        </p:spPr>
      </p:cxnSp>
      <p:cxnSp>
        <p:nvCxnSpPr>
          <p:cNvPr id="292" name="Google Shape;292;p8"/>
          <p:cNvCxnSpPr/>
          <p:nvPr/>
        </p:nvCxnSpPr>
        <p:spPr>
          <a:xfrm>
            <a:off x="976745" y="2300432"/>
            <a:ext cx="1620982" cy="0"/>
          </a:xfrm>
          <a:prstGeom prst="straightConnector1">
            <a:avLst/>
          </a:prstGeom>
          <a:noFill/>
          <a:ln cap="flat" cmpd="sng" w="28575">
            <a:solidFill>
              <a:srgbClr val="FAB235"/>
            </a:solidFill>
            <a:prstDash val="solid"/>
            <a:round/>
            <a:headEnd len="med" w="med" type="stealth"/>
            <a:tailEnd len="med" w="med" type="stealth"/>
          </a:ln>
        </p:spPr>
      </p:cxnSp>
      <p:pic>
        <p:nvPicPr>
          <p:cNvPr id="293" name="Google Shape;293;p8"/>
          <p:cNvPicPr preferRelativeResize="0"/>
          <p:nvPr/>
        </p:nvPicPr>
        <p:blipFill>
          <a:blip r:embed="rId4">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9"/>
          <p:cNvSpPr txBox="1"/>
          <p:nvPr/>
        </p:nvSpPr>
        <p:spPr>
          <a:xfrm>
            <a:off x="177599" y="363650"/>
            <a:ext cx="87888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¿Cuál es una reflexión?</a:t>
            </a:r>
            <a:endParaRPr/>
          </a:p>
        </p:txBody>
      </p:sp>
      <p:pic>
        <p:nvPicPr>
          <p:cNvPr descr="Icono&#10;&#10;Descripción generada automáticamente" id="299" name="Google Shape;299;p9"/>
          <p:cNvPicPr preferRelativeResize="0"/>
          <p:nvPr/>
        </p:nvPicPr>
        <p:blipFill rotWithShape="1">
          <a:blip r:embed="rId3">
            <a:alphaModFix/>
          </a:blip>
          <a:srcRect b="33227" l="9483" r="18132" t="11623"/>
          <a:stretch/>
        </p:blipFill>
        <p:spPr>
          <a:xfrm>
            <a:off x="3301991" y="1578260"/>
            <a:ext cx="2621365" cy="1661096"/>
          </a:xfrm>
          <a:prstGeom prst="rect">
            <a:avLst/>
          </a:prstGeom>
          <a:noFill/>
          <a:ln>
            <a:noFill/>
          </a:ln>
        </p:spPr>
      </p:pic>
      <p:pic>
        <p:nvPicPr>
          <p:cNvPr descr="Icono&#10;&#10;Descripción generada automáticamente con confianza media" id="300" name="Google Shape;300;p9"/>
          <p:cNvPicPr preferRelativeResize="0"/>
          <p:nvPr/>
        </p:nvPicPr>
        <p:blipFill rotWithShape="1">
          <a:blip r:embed="rId4">
            <a:alphaModFix/>
          </a:blip>
          <a:srcRect b="33390" l="9226" r="18357" t="11370"/>
          <a:stretch/>
        </p:blipFill>
        <p:spPr>
          <a:xfrm>
            <a:off x="6170462" y="1575539"/>
            <a:ext cx="2618227" cy="1661096"/>
          </a:xfrm>
          <a:prstGeom prst="rect">
            <a:avLst/>
          </a:prstGeom>
          <a:noFill/>
          <a:ln>
            <a:noFill/>
          </a:ln>
        </p:spPr>
      </p:pic>
      <p:pic>
        <p:nvPicPr>
          <p:cNvPr descr="Icono&#10;&#10;Descripción generada automáticamente" id="301" name="Google Shape;301;p9"/>
          <p:cNvPicPr preferRelativeResize="0"/>
          <p:nvPr/>
        </p:nvPicPr>
        <p:blipFill rotWithShape="1">
          <a:blip r:embed="rId5">
            <a:alphaModFix/>
          </a:blip>
          <a:srcRect b="33410" l="9208" r="18184" t="11480"/>
          <a:stretch/>
        </p:blipFill>
        <p:spPr>
          <a:xfrm>
            <a:off x="442397" y="1575539"/>
            <a:ext cx="2612488" cy="1649227"/>
          </a:xfrm>
          <a:prstGeom prst="rect">
            <a:avLst/>
          </a:prstGeom>
          <a:noFill/>
          <a:ln>
            <a:noFill/>
          </a:ln>
        </p:spPr>
      </p:pic>
      <p:sp>
        <p:nvSpPr>
          <p:cNvPr id="302" name="Google Shape;302;p9"/>
          <p:cNvSpPr txBox="1"/>
          <p:nvPr/>
        </p:nvSpPr>
        <p:spPr>
          <a:xfrm>
            <a:off x="640928" y="1031264"/>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Indica qué característica no cumple</a:t>
            </a:r>
            <a:endParaRPr b="1" i="0" sz="2400" u="none" cap="none" strike="noStrike">
              <a:solidFill>
                <a:schemeClr val="lt1"/>
              </a:solidFill>
              <a:highlight>
                <a:srgbClr val="009F98"/>
              </a:highlight>
              <a:latin typeface="Patrick Hand"/>
              <a:ea typeface="Patrick Hand"/>
              <a:cs typeface="Patrick Hand"/>
              <a:sym typeface="Patrick Hand"/>
            </a:endParaRPr>
          </a:p>
        </p:txBody>
      </p:sp>
      <p:pic>
        <p:nvPicPr>
          <p:cNvPr id="303" name="Google Shape;303;p9"/>
          <p:cNvPicPr preferRelativeResize="0"/>
          <p:nvPr/>
        </p:nvPicPr>
        <p:blipFill>
          <a:blip r:embed="rId6">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0"/>
          <p:cNvSpPr txBox="1"/>
          <p:nvPr/>
        </p:nvSpPr>
        <p:spPr>
          <a:xfrm>
            <a:off x="201299" y="366600"/>
            <a:ext cx="87414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Rotar</a:t>
            </a:r>
            <a:endParaRPr/>
          </a:p>
        </p:txBody>
      </p:sp>
      <p:sp>
        <p:nvSpPr>
          <p:cNvPr id="309" name="Google Shape;309;p10"/>
          <p:cNvSpPr txBox="1"/>
          <p:nvPr/>
        </p:nvSpPr>
        <p:spPr>
          <a:xfrm>
            <a:off x="596944" y="951374"/>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¿Te has subido a uno de estos?</a:t>
            </a:r>
            <a:endParaRPr b="1" i="0" sz="2400" u="none" cap="none" strike="noStrike">
              <a:solidFill>
                <a:schemeClr val="lt1"/>
              </a:solidFill>
              <a:highlight>
                <a:srgbClr val="009F98"/>
              </a:highlight>
              <a:latin typeface="Patrick Hand"/>
              <a:ea typeface="Patrick Hand"/>
              <a:cs typeface="Patrick Hand"/>
              <a:sym typeface="Patrick Hand"/>
            </a:endParaRPr>
          </a:p>
        </p:txBody>
      </p:sp>
      <p:pic>
        <p:nvPicPr>
          <p:cNvPr descr="Chile: desprendimiento del juego mecánico &quot;Tagada&quot; provocó 13 heridos |  Mundo | La República" id="310" name="Google Shape;310;p10"/>
          <p:cNvPicPr preferRelativeResize="0"/>
          <p:nvPr/>
        </p:nvPicPr>
        <p:blipFill rotWithShape="1">
          <a:blip r:embed="rId3">
            <a:alphaModFix/>
          </a:blip>
          <a:srcRect b="0" l="0" r="0" t="0"/>
          <a:stretch/>
        </p:blipFill>
        <p:spPr>
          <a:xfrm>
            <a:off x="1851205" y="1413039"/>
            <a:ext cx="5434966" cy="3234682"/>
          </a:xfrm>
          <a:prstGeom prst="rect">
            <a:avLst/>
          </a:prstGeom>
          <a:noFill/>
          <a:ln>
            <a:noFill/>
          </a:ln>
        </p:spPr>
      </p:pic>
      <p:pic>
        <p:nvPicPr>
          <p:cNvPr id="311" name="Google Shape;311;p10"/>
          <p:cNvPicPr preferRelativeResize="0"/>
          <p:nvPr/>
        </p:nvPicPr>
        <p:blipFill>
          <a:blip r:embed="rId4">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1"/>
          <p:cNvSpPr txBox="1"/>
          <p:nvPr/>
        </p:nvSpPr>
        <p:spPr>
          <a:xfrm>
            <a:off x="187950" y="366600"/>
            <a:ext cx="8768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Rotar</a:t>
            </a:r>
            <a:endParaRPr/>
          </a:p>
        </p:txBody>
      </p:sp>
      <p:sp>
        <p:nvSpPr>
          <p:cNvPr id="317" name="Google Shape;317;p11"/>
          <p:cNvSpPr txBox="1"/>
          <p:nvPr/>
        </p:nvSpPr>
        <p:spPr>
          <a:xfrm>
            <a:off x="596944" y="951374"/>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Mirémoslo de arriba </a:t>
            </a:r>
            <a:endParaRPr b="1" i="0" sz="2400" u="none" cap="none" strike="noStrike">
              <a:solidFill>
                <a:schemeClr val="lt1"/>
              </a:solidFill>
              <a:highlight>
                <a:srgbClr val="009F98"/>
              </a:highlight>
              <a:latin typeface="Patrick Hand"/>
              <a:ea typeface="Patrick Hand"/>
              <a:cs typeface="Patrick Hand"/>
              <a:sym typeface="Patrick Hand"/>
            </a:endParaRPr>
          </a:p>
        </p:txBody>
      </p:sp>
      <p:sp>
        <p:nvSpPr>
          <p:cNvPr id="318" name="Google Shape;318;p11"/>
          <p:cNvSpPr/>
          <p:nvPr/>
        </p:nvSpPr>
        <p:spPr>
          <a:xfrm>
            <a:off x="3084919" y="1558182"/>
            <a:ext cx="2967538" cy="2967538"/>
          </a:xfrm>
          <a:prstGeom prst="ellipse">
            <a:avLst/>
          </a:prstGeom>
          <a:noFill/>
          <a:ln cap="flat" cmpd="sng" w="57150">
            <a:solidFill>
              <a:srgbClr val="009F9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9" name="Google Shape;319;p11"/>
          <p:cNvSpPr/>
          <p:nvPr/>
        </p:nvSpPr>
        <p:spPr>
          <a:xfrm flipH="1" rot="10800000">
            <a:off x="4469962" y="2943225"/>
            <a:ext cx="197452" cy="197452"/>
          </a:xfrm>
          <a:prstGeom prst="ellipse">
            <a:avLst/>
          </a:prstGeom>
          <a:noFill/>
          <a:ln cap="flat" cmpd="sng" w="57150">
            <a:solidFill>
              <a:srgbClr val="009F9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0" name="Google Shape;320;p11"/>
          <p:cNvSpPr/>
          <p:nvPr/>
        </p:nvSpPr>
        <p:spPr>
          <a:xfrm>
            <a:off x="4006686" y="2486932"/>
            <a:ext cx="469900" cy="1098550"/>
          </a:xfrm>
          <a:prstGeom prst="curvedRightArrow">
            <a:avLst>
              <a:gd fmla="val 25000" name="adj1"/>
              <a:gd fmla="val 50000" name="adj2"/>
              <a:gd fmla="val 25000" name="adj3"/>
            </a:avLst>
          </a:prstGeom>
          <a:solidFill>
            <a:srgbClr val="FAB23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21" name="Google Shape;321;p11"/>
          <p:cNvSpPr/>
          <p:nvPr/>
        </p:nvSpPr>
        <p:spPr>
          <a:xfrm rot="10800000">
            <a:off x="4699207" y="2486932"/>
            <a:ext cx="469900" cy="1098550"/>
          </a:xfrm>
          <a:prstGeom prst="curvedRightArrow">
            <a:avLst>
              <a:gd fmla="val 25000" name="adj1"/>
              <a:gd fmla="val 50000" name="adj2"/>
              <a:gd fmla="val 25000" name="adj3"/>
            </a:avLst>
          </a:prstGeom>
          <a:solidFill>
            <a:srgbClr val="FAB235"/>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22" name="Google Shape;322;p11"/>
          <p:cNvSpPr txBox="1"/>
          <p:nvPr/>
        </p:nvSpPr>
        <p:spPr>
          <a:xfrm>
            <a:off x="166734" y="2527726"/>
            <a:ext cx="2686547"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Todo gira respecto a un mismo punto</a:t>
            </a:r>
            <a:endParaRPr b="1" i="0" sz="2400" u="none" cap="none" strike="noStrike">
              <a:solidFill>
                <a:schemeClr val="lt1"/>
              </a:solidFill>
              <a:highlight>
                <a:srgbClr val="009F98"/>
              </a:highlight>
              <a:latin typeface="Patrick Hand"/>
              <a:ea typeface="Patrick Hand"/>
              <a:cs typeface="Patrick Hand"/>
              <a:sym typeface="Patrick Hand"/>
            </a:endParaRPr>
          </a:p>
        </p:txBody>
      </p:sp>
      <p:pic>
        <p:nvPicPr>
          <p:cNvPr id="323" name="Google Shape;323;p11"/>
          <p:cNvPicPr preferRelativeResize="0"/>
          <p:nvPr/>
        </p:nvPicPr>
        <p:blipFill>
          <a:blip r:embed="rId3">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2"/>
          <p:cNvSpPr txBox="1"/>
          <p:nvPr/>
        </p:nvSpPr>
        <p:spPr>
          <a:xfrm>
            <a:off x="134700" y="366600"/>
            <a:ext cx="88746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Rotación en figuras 2D</a:t>
            </a:r>
            <a:endParaRPr/>
          </a:p>
        </p:txBody>
      </p:sp>
      <p:sp>
        <p:nvSpPr>
          <p:cNvPr id="329" name="Google Shape;329;p12"/>
          <p:cNvSpPr txBox="1"/>
          <p:nvPr/>
        </p:nvSpPr>
        <p:spPr>
          <a:xfrm>
            <a:off x="600218" y="911027"/>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Rotemos el triángulo respecto al punto O en 90°</a:t>
            </a:r>
            <a:endParaRPr b="1" i="0" sz="2400" u="none" cap="none" strike="noStrike">
              <a:solidFill>
                <a:srgbClr val="FF0000"/>
              </a:solidFill>
              <a:highlight>
                <a:srgbClr val="009F98"/>
              </a:highlight>
              <a:latin typeface="Patrick Hand"/>
              <a:ea typeface="Patrick Hand"/>
              <a:cs typeface="Patrick Hand"/>
              <a:sym typeface="Patrick Hand"/>
            </a:endParaRPr>
          </a:p>
        </p:txBody>
      </p:sp>
      <p:pic>
        <p:nvPicPr>
          <p:cNvPr descr="Imagen que contiene Polígono&#10;&#10;Descripción generada automáticamente" id="330" name="Google Shape;330;p12"/>
          <p:cNvPicPr preferRelativeResize="0"/>
          <p:nvPr/>
        </p:nvPicPr>
        <p:blipFill rotWithShape="1">
          <a:blip r:embed="rId3">
            <a:alphaModFix/>
          </a:blip>
          <a:srcRect b="11255" l="0" r="17970" t="0"/>
          <a:stretch/>
        </p:blipFill>
        <p:spPr>
          <a:xfrm>
            <a:off x="120792" y="1535986"/>
            <a:ext cx="3037787" cy="2733313"/>
          </a:xfrm>
          <a:prstGeom prst="rect">
            <a:avLst/>
          </a:prstGeom>
          <a:noFill/>
          <a:ln>
            <a:noFill/>
          </a:ln>
        </p:spPr>
      </p:pic>
      <p:sp>
        <p:nvSpPr>
          <p:cNvPr id="331" name="Google Shape;331;p12"/>
          <p:cNvSpPr txBox="1"/>
          <p:nvPr/>
        </p:nvSpPr>
        <p:spPr>
          <a:xfrm>
            <a:off x="3158579" y="1594545"/>
            <a:ext cx="5985383" cy="80021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1° Debemos tomar cada punto de la figura y girarlo 90°</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 ¿Cómo nos aseguramos de tener 90°?</a:t>
            </a:r>
            <a:endParaRPr b="1" i="0" sz="2300" u="none" cap="none" strike="noStrike">
              <a:solidFill>
                <a:srgbClr val="FF0000"/>
              </a:solidFill>
              <a:highlight>
                <a:srgbClr val="009F98"/>
              </a:highlight>
              <a:latin typeface="Patrick Hand"/>
              <a:ea typeface="Patrick Hand"/>
              <a:cs typeface="Patrick Hand"/>
              <a:sym typeface="Patrick Hand"/>
            </a:endParaRPr>
          </a:p>
        </p:txBody>
      </p:sp>
      <p:sp>
        <p:nvSpPr>
          <p:cNvPr id="332" name="Google Shape;332;p12"/>
          <p:cNvSpPr txBox="1"/>
          <p:nvPr/>
        </p:nvSpPr>
        <p:spPr>
          <a:xfrm>
            <a:off x="1338757" y="3173487"/>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O</a:t>
            </a:r>
            <a:endParaRPr b="1" i="0" sz="2400" u="none" cap="none" strike="noStrike">
              <a:solidFill>
                <a:srgbClr val="FF0000"/>
              </a:solidFill>
              <a:highlight>
                <a:srgbClr val="009F98"/>
              </a:highlight>
              <a:latin typeface="Patrick Hand"/>
              <a:ea typeface="Patrick Hand"/>
              <a:cs typeface="Patrick Hand"/>
              <a:sym typeface="Patrick Hand"/>
            </a:endParaRPr>
          </a:p>
        </p:txBody>
      </p:sp>
      <p:pic>
        <p:nvPicPr>
          <p:cNvPr descr="Un reloj de aguja&#10;&#10;Descripción generada automáticamente con confianza media" id="333" name="Google Shape;333;p12"/>
          <p:cNvPicPr preferRelativeResize="0"/>
          <p:nvPr/>
        </p:nvPicPr>
        <p:blipFill rotWithShape="1">
          <a:blip r:embed="rId4">
            <a:alphaModFix/>
          </a:blip>
          <a:srcRect b="4193" l="0" r="0" t="0"/>
          <a:stretch/>
        </p:blipFill>
        <p:spPr>
          <a:xfrm>
            <a:off x="4838127" y="2470299"/>
            <a:ext cx="2626286" cy="1406376"/>
          </a:xfrm>
          <a:prstGeom prst="rect">
            <a:avLst/>
          </a:prstGeom>
          <a:noFill/>
          <a:ln>
            <a:noFill/>
          </a:ln>
        </p:spPr>
      </p:pic>
      <p:sp>
        <p:nvSpPr>
          <p:cNvPr id="334" name="Google Shape;334;p12"/>
          <p:cNvSpPr txBox="1"/>
          <p:nvPr/>
        </p:nvSpPr>
        <p:spPr>
          <a:xfrm>
            <a:off x="3158578" y="3854997"/>
            <a:ext cx="5985383" cy="4462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Comencemos con el punto A de la figura </a:t>
            </a:r>
            <a:endParaRPr b="1" i="0" sz="2300" u="none" cap="none" strike="noStrike">
              <a:solidFill>
                <a:srgbClr val="FF0000"/>
              </a:solidFill>
              <a:highlight>
                <a:srgbClr val="009F98"/>
              </a:highlight>
              <a:latin typeface="Patrick Hand"/>
              <a:ea typeface="Patrick Hand"/>
              <a:cs typeface="Patrick Hand"/>
              <a:sym typeface="Patrick Hand"/>
            </a:endParaRPr>
          </a:p>
        </p:txBody>
      </p:sp>
      <p:pic>
        <p:nvPicPr>
          <p:cNvPr id="335" name="Google Shape;335;p12"/>
          <p:cNvPicPr preferRelativeResize="0"/>
          <p:nvPr/>
        </p:nvPicPr>
        <p:blipFill>
          <a:blip r:embed="rId5">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0" st="0"/>
                                            </p:txEl>
                                          </p:spTgt>
                                        </p:tgtEl>
                                        <p:attrNameLst>
                                          <p:attrName>style.visibility</p:attrName>
                                        </p:attrNameLst>
                                      </p:cBhvr>
                                      <p:to>
                                        <p:strVal val="visible"/>
                                      </p:to>
                                    </p:set>
                                    <p:animEffect filter="fade" transition="in">
                                      <p:cBhvr>
                                        <p:cTn dur="500"/>
                                        <p:tgtEl>
                                          <p:spTgt spid="3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1" st="1"/>
                                            </p:txEl>
                                          </p:spTgt>
                                        </p:tgtEl>
                                        <p:attrNameLst>
                                          <p:attrName>style.visibility</p:attrName>
                                        </p:attrNameLst>
                                      </p:cBhvr>
                                      <p:to>
                                        <p:strVal val="visible"/>
                                      </p:to>
                                    </p:set>
                                    <p:animEffect filter="fade" transition="in">
                                      <p:cBhvr>
                                        <p:cTn dur="500"/>
                                        <p:tgtEl>
                                          <p:spTgt spid="3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3"/>
          <p:cNvSpPr txBox="1"/>
          <p:nvPr/>
        </p:nvSpPr>
        <p:spPr>
          <a:xfrm>
            <a:off x="208049" y="366600"/>
            <a:ext cx="87279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Rotación en figuras 2D</a:t>
            </a:r>
            <a:endParaRPr/>
          </a:p>
        </p:txBody>
      </p:sp>
      <p:sp>
        <p:nvSpPr>
          <p:cNvPr id="341" name="Google Shape;341;p13"/>
          <p:cNvSpPr txBox="1"/>
          <p:nvPr/>
        </p:nvSpPr>
        <p:spPr>
          <a:xfrm>
            <a:off x="600218" y="911027"/>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Rotemos el triángulo respecto al punto O en 90°</a:t>
            </a:r>
            <a:endParaRPr b="1" i="0" sz="2400" u="none" cap="none" strike="noStrike">
              <a:solidFill>
                <a:srgbClr val="FF0000"/>
              </a:solidFill>
              <a:highlight>
                <a:srgbClr val="009F98"/>
              </a:highlight>
              <a:latin typeface="Patrick Hand"/>
              <a:ea typeface="Patrick Hand"/>
              <a:cs typeface="Patrick Hand"/>
              <a:sym typeface="Patrick Hand"/>
            </a:endParaRPr>
          </a:p>
        </p:txBody>
      </p:sp>
      <p:pic>
        <p:nvPicPr>
          <p:cNvPr descr="Imagen que contiene Polígono&#10;&#10;Descripción generada automáticamente" id="342" name="Google Shape;342;p13"/>
          <p:cNvPicPr preferRelativeResize="0"/>
          <p:nvPr/>
        </p:nvPicPr>
        <p:blipFill rotWithShape="1">
          <a:blip r:embed="rId3">
            <a:alphaModFix/>
          </a:blip>
          <a:srcRect b="11255" l="0" r="17970" t="0"/>
          <a:stretch/>
        </p:blipFill>
        <p:spPr>
          <a:xfrm>
            <a:off x="120792" y="1535986"/>
            <a:ext cx="3037787" cy="2733313"/>
          </a:xfrm>
          <a:prstGeom prst="rect">
            <a:avLst/>
          </a:prstGeom>
          <a:noFill/>
          <a:ln>
            <a:noFill/>
          </a:ln>
        </p:spPr>
      </p:pic>
      <p:sp>
        <p:nvSpPr>
          <p:cNvPr id="343" name="Google Shape;343;p13"/>
          <p:cNvSpPr txBox="1"/>
          <p:nvPr/>
        </p:nvSpPr>
        <p:spPr>
          <a:xfrm>
            <a:off x="3158579" y="1594545"/>
            <a:ext cx="5985383" cy="4462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1° Debemos tomar cada punto de la figura y girarlo 90°</a:t>
            </a:r>
            <a:endParaRPr/>
          </a:p>
        </p:txBody>
      </p:sp>
      <p:sp>
        <p:nvSpPr>
          <p:cNvPr id="344" name="Google Shape;344;p13"/>
          <p:cNvSpPr txBox="1"/>
          <p:nvPr/>
        </p:nvSpPr>
        <p:spPr>
          <a:xfrm>
            <a:off x="1338757" y="3173487"/>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O</a:t>
            </a:r>
            <a:endParaRPr b="1" i="0" sz="2400" u="none" cap="none" strike="noStrike">
              <a:solidFill>
                <a:srgbClr val="FF0000"/>
              </a:solidFill>
              <a:highlight>
                <a:srgbClr val="009F98"/>
              </a:highlight>
              <a:latin typeface="Patrick Hand"/>
              <a:ea typeface="Patrick Hand"/>
              <a:cs typeface="Patrick Hand"/>
              <a:sym typeface="Patrick Hand"/>
            </a:endParaRPr>
          </a:p>
        </p:txBody>
      </p:sp>
      <p:pic>
        <p:nvPicPr>
          <p:cNvPr descr="Un reloj de aguja&#10;&#10;Descripción generada automáticamente con confianza media" id="345" name="Google Shape;345;p13"/>
          <p:cNvPicPr preferRelativeResize="0"/>
          <p:nvPr/>
        </p:nvPicPr>
        <p:blipFill rotWithShape="1">
          <a:blip r:embed="rId4">
            <a:alphaModFix/>
          </a:blip>
          <a:srcRect b="4193" l="0" r="0" t="0"/>
          <a:stretch/>
        </p:blipFill>
        <p:spPr>
          <a:xfrm rot="-2031326">
            <a:off x="-134366" y="2045291"/>
            <a:ext cx="2568992" cy="1375695"/>
          </a:xfrm>
          <a:prstGeom prst="rect">
            <a:avLst/>
          </a:prstGeom>
          <a:noFill/>
          <a:ln>
            <a:noFill/>
          </a:ln>
        </p:spPr>
      </p:pic>
      <p:sp>
        <p:nvSpPr>
          <p:cNvPr id="346" name="Google Shape;346;p13"/>
          <p:cNvSpPr txBox="1"/>
          <p:nvPr/>
        </p:nvSpPr>
        <p:spPr>
          <a:xfrm>
            <a:off x="481507" y="1867644"/>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A</a:t>
            </a:r>
            <a:endParaRPr b="1" i="0" sz="2400" u="none" cap="none" strike="noStrike">
              <a:solidFill>
                <a:srgbClr val="FF0000"/>
              </a:solidFill>
              <a:highlight>
                <a:srgbClr val="009F98"/>
              </a:highlight>
              <a:latin typeface="Patrick Hand"/>
              <a:ea typeface="Patrick Hand"/>
              <a:cs typeface="Patrick Hand"/>
              <a:sym typeface="Patrick Hand"/>
            </a:endParaRPr>
          </a:p>
        </p:txBody>
      </p:sp>
      <p:cxnSp>
        <p:nvCxnSpPr>
          <p:cNvPr id="347" name="Google Shape;347;p13"/>
          <p:cNvCxnSpPr/>
          <p:nvPr/>
        </p:nvCxnSpPr>
        <p:spPr>
          <a:xfrm flipH="1" rot="10800000">
            <a:off x="1478756" y="2578894"/>
            <a:ext cx="978694" cy="669131"/>
          </a:xfrm>
          <a:prstGeom prst="straightConnector1">
            <a:avLst/>
          </a:prstGeom>
          <a:noFill/>
          <a:ln cap="flat" cmpd="sng" w="38100">
            <a:solidFill>
              <a:srgbClr val="FF0000"/>
            </a:solidFill>
            <a:prstDash val="solid"/>
            <a:round/>
            <a:headEnd len="sm" w="sm" type="none"/>
            <a:tailEnd len="med" w="med" type="triangle"/>
          </a:ln>
          <a:effectLst>
            <a:outerShdw blurRad="40000" rotWithShape="0" dir="5400000" dist="23000">
              <a:srgbClr val="000000">
                <a:alpha val="34901"/>
              </a:srgbClr>
            </a:outerShdw>
          </a:effectLst>
        </p:spPr>
      </p:cxnSp>
      <p:sp>
        <p:nvSpPr>
          <p:cNvPr id="348" name="Google Shape;348;p13"/>
          <p:cNvSpPr/>
          <p:nvPr/>
        </p:nvSpPr>
        <p:spPr>
          <a:xfrm>
            <a:off x="2433638" y="2542941"/>
            <a:ext cx="71568" cy="7156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9" name="Google Shape;349;p13"/>
          <p:cNvSpPr txBox="1"/>
          <p:nvPr/>
        </p:nvSpPr>
        <p:spPr>
          <a:xfrm>
            <a:off x="3158617" y="1980977"/>
            <a:ext cx="598538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2° A cada punto resultante le pondremos un A</a:t>
            </a:r>
            <a:r>
              <a:rPr b="1" i="0" lang="es-ES" sz="2800" u="none" cap="none" strike="noStrike">
                <a:solidFill>
                  <a:srgbClr val="FF0000"/>
                </a:solidFill>
                <a:latin typeface="Patrick Hand"/>
                <a:ea typeface="Patrick Hand"/>
                <a:cs typeface="Patrick Hand"/>
                <a:sym typeface="Patrick Hand"/>
              </a:rPr>
              <a:t>’</a:t>
            </a:r>
            <a:endParaRPr b="1" i="0" sz="2300" u="none" cap="none" strike="noStrike">
              <a:solidFill>
                <a:srgbClr val="FF0000"/>
              </a:solidFill>
              <a:latin typeface="Patrick Hand"/>
              <a:ea typeface="Patrick Hand"/>
              <a:cs typeface="Patrick Hand"/>
              <a:sym typeface="Patrick Hand"/>
            </a:endParaRPr>
          </a:p>
        </p:txBody>
      </p:sp>
      <p:sp>
        <p:nvSpPr>
          <p:cNvPr id="350" name="Google Shape;350;p13"/>
          <p:cNvSpPr txBox="1"/>
          <p:nvPr/>
        </p:nvSpPr>
        <p:spPr>
          <a:xfrm>
            <a:off x="2402807" y="2242587"/>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A</a:t>
            </a:r>
            <a:r>
              <a:rPr b="1" i="0" lang="es-ES" sz="2400" u="none" cap="none" strike="noStrike">
                <a:solidFill>
                  <a:srgbClr val="FF0000"/>
                </a:solidFill>
                <a:latin typeface="Patrick Hand"/>
                <a:ea typeface="Patrick Hand"/>
                <a:cs typeface="Patrick Hand"/>
                <a:sym typeface="Patrick Hand"/>
              </a:rPr>
              <a:t>’</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51" name="Google Shape;351;p13"/>
          <p:cNvSpPr txBox="1"/>
          <p:nvPr/>
        </p:nvSpPr>
        <p:spPr>
          <a:xfrm>
            <a:off x="3158578" y="2504197"/>
            <a:ext cx="5985383" cy="4462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El procedimiento se repite para todos los puntos</a:t>
            </a:r>
            <a:endParaRPr b="1" i="0" sz="2300" u="none" cap="none" strike="noStrike">
              <a:solidFill>
                <a:srgbClr val="FF0000"/>
              </a:solidFill>
              <a:latin typeface="Patrick Hand"/>
              <a:ea typeface="Patrick Hand"/>
              <a:cs typeface="Patrick Hand"/>
              <a:sym typeface="Patrick Hand"/>
            </a:endParaRPr>
          </a:p>
        </p:txBody>
      </p:sp>
      <p:cxnSp>
        <p:nvCxnSpPr>
          <p:cNvPr id="352" name="Google Shape;352;p13"/>
          <p:cNvCxnSpPr/>
          <p:nvPr/>
        </p:nvCxnSpPr>
        <p:spPr>
          <a:xfrm rot="10800000">
            <a:off x="1471613" y="2574131"/>
            <a:ext cx="2381" cy="676275"/>
          </a:xfrm>
          <a:prstGeom prst="straightConnector1">
            <a:avLst/>
          </a:prstGeom>
          <a:noFill/>
          <a:ln cap="flat" cmpd="sng" w="38100">
            <a:solidFill>
              <a:srgbClr val="FF0000"/>
            </a:solidFill>
            <a:prstDash val="solid"/>
            <a:round/>
            <a:headEnd len="sm" w="sm" type="none"/>
            <a:tailEnd len="med" w="med" type="triangle"/>
          </a:ln>
          <a:effectLst>
            <a:outerShdw blurRad="40000" rotWithShape="0" dir="5400000" dist="23000">
              <a:srgbClr val="000000">
                <a:alpha val="34901"/>
              </a:srgbClr>
            </a:outerShdw>
          </a:effectLst>
        </p:spPr>
      </p:cxnSp>
      <p:sp>
        <p:nvSpPr>
          <p:cNvPr id="353" name="Google Shape;353;p13"/>
          <p:cNvSpPr txBox="1"/>
          <p:nvPr/>
        </p:nvSpPr>
        <p:spPr>
          <a:xfrm>
            <a:off x="474617" y="3169592"/>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B</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54" name="Google Shape;354;p13"/>
          <p:cNvSpPr/>
          <p:nvPr/>
        </p:nvSpPr>
        <p:spPr>
          <a:xfrm>
            <a:off x="1440591" y="2540729"/>
            <a:ext cx="71568" cy="7156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5" name="Google Shape;355;p13"/>
          <p:cNvSpPr txBox="1"/>
          <p:nvPr/>
        </p:nvSpPr>
        <p:spPr>
          <a:xfrm>
            <a:off x="1405558" y="2226316"/>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B</a:t>
            </a:r>
            <a:r>
              <a:rPr b="1" i="0" lang="es-ES" sz="2400" u="none" cap="none" strike="noStrike">
                <a:solidFill>
                  <a:srgbClr val="FF0000"/>
                </a:solidFill>
                <a:latin typeface="Patrick Hand"/>
                <a:ea typeface="Patrick Hand"/>
                <a:cs typeface="Patrick Hand"/>
                <a:sym typeface="Patrick Hand"/>
              </a:rPr>
              <a:t>’</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56" name="Google Shape;356;p13"/>
          <p:cNvSpPr/>
          <p:nvPr/>
        </p:nvSpPr>
        <p:spPr>
          <a:xfrm>
            <a:off x="1338757" y="3128963"/>
            <a:ext cx="139999" cy="119062"/>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57" name="Google Shape;357;p13"/>
          <p:cNvPicPr preferRelativeResize="0"/>
          <p:nvPr/>
        </p:nvPicPr>
        <p:blipFill>
          <a:blip r:embed="rId5">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xEl>
                                              <p:pRg end="0" st="0"/>
                                            </p:txEl>
                                          </p:spTgt>
                                        </p:tgtEl>
                                        <p:attrNameLst>
                                          <p:attrName>style.visibility</p:attrName>
                                        </p:attrNameLst>
                                      </p:cBhvr>
                                      <p:to>
                                        <p:strVal val="visible"/>
                                      </p:to>
                                    </p:set>
                                    <p:animEffect filter="fade" transition="in">
                                      <p:cBhvr>
                                        <p:cTn dur="500"/>
                                        <p:tgtEl>
                                          <p:spTgt spid="34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45"/>
                                        </p:tgtEl>
                                      </p:cBhvr>
                                    </p:animEffect>
                                    <p:set>
                                      <p:cBhvr>
                                        <p:cTn dur="1" fill="hold">
                                          <p:stCondLst>
                                            <p:cond delay="500"/>
                                          </p:stCondLst>
                                        </p:cTn>
                                        <p:tgtEl>
                                          <p:spTgt spid="34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47"/>
                                        </p:tgtEl>
                                      </p:cBhvr>
                                    </p:animEffect>
                                    <p:set>
                                      <p:cBhvr>
                                        <p:cTn dur="1" fill="hold">
                                          <p:stCondLst>
                                            <p:cond delay="500"/>
                                          </p:stCondLst>
                                        </p:cTn>
                                        <p:tgtEl>
                                          <p:spTgt spid="3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0" st="0"/>
                                            </p:txEl>
                                          </p:spTgt>
                                        </p:tgtEl>
                                        <p:attrNameLst>
                                          <p:attrName>style.visibility</p:attrName>
                                        </p:attrNameLst>
                                      </p:cBhvr>
                                      <p:to>
                                        <p:strVal val="visible"/>
                                      </p:to>
                                    </p:set>
                                    <p:animEffect filter="fade" transition="in">
                                      <p:cBhvr>
                                        <p:cTn dur="500"/>
                                        <p:tgtEl>
                                          <p:spTgt spid="35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par>
                                <p:cTn fill="hold" nodeType="with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par>
                                <p:cTn fill="hold" nodeType="with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2"/>
                                        </p:tgtEl>
                                      </p:cBhvr>
                                    </p:animEffect>
                                    <p:set>
                                      <p:cBhvr>
                                        <p:cTn dur="1" fill="hold">
                                          <p:stCondLst>
                                            <p:cond delay="500"/>
                                          </p:stCondLst>
                                        </p:cTn>
                                        <p:tgtEl>
                                          <p:spTgt spid="35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56"/>
                                        </p:tgtEl>
                                      </p:cBhvr>
                                    </p:animEffect>
                                    <p:set>
                                      <p:cBhvr>
                                        <p:cTn dur="1" fill="hold">
                                          <p:stCondLst>
                                            <p:cond delay="500"/>
                                          </p:stCondLst>
                                        </p:cTn>
                                        <p:tgtEl>
                                          <p:spTgt spid="35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4"/>
          <p:cNvSpPr txBox="1"/>
          <p:nvPr/>
        </p:nvSpPr>
        <p:spPr>
          <a:xfrm>
            <a:off x="174750" y="366600"/>
            <a:ext cx="87945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Rotación en figuras 2D</a:t>
            </a:r>
            <a:endParaRPr/>
          </a:p>
        </p:txBody>
      </p:sp>
      <p:sp>
        <p:nvSpPr>
          <p:cNvPr id="363" name="Google Shape;363;p14"/>
          <p:cNvSpPr txBox="1"/>
          <p:nvPr/>
        </p:nvSpPr>
        <p:spPr>
          <a:xfrm>
            <a:off x="600218" y="911027"/>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3° Unimos los puntos y ¡Listo!</a:t>
            </a:r>
            <a:endParaRPr b="1" i="0" sz="2400" u="none" cap="none" strike="noStrike">
              <a:solidFill>
                <a:srgbClr val="FF0000"/>
              </a:solidFill>
              <a:highlight>
                <a:srgbClr val="009F98"/>
              </a:highlight>
              <a:latin typeface="Patrick Hand"/>
              <a:ea typeface="Patrick Hand"/>
              <a:cs typeface="Patrick Hand"/>
              <a:sym typeface="Patrick Hand"/>
            </a:endParaRPr>
          </a:p>
        </p:txBody>
      </p:sp>
      <p:pic>
        <p:nvPicPr>
          <p:cNvPr descr="Imagen que contiene Icono&#10;&#10;Descripción generada automáticamente" id="364" name="Google Shape;364;p14"/>
          <p:cNvPicPr preferRelativeResize="0"/>
          <p:nvPr/>
        </p:nvPicPr>
        <p:blipFill rotWithShape="1">
          <a:blip r:embed="rId3">
            <a:alphaModFix/>
          </a:blip>
          <a:srcRect b="11648" l="0" r="18098" t="2"/>
          <a:stretch/>
        </p:blipFill>
        <p:spPr>
          <a:xfrm>
            <a:off x="2991858" y="1606054"/>
            <a:ext cx="3160207" cy="2835318"/>
          </a:xfrm>
          <a:prstGeom prst="rect">
            <a:avLst/>
          </a:prstGeom>
          <a:noFill/>
          <a:ln>
            <a:noFill/>
          </a:ln>
        </p:spPr>
      </p:pic>
      <p:sp>
        <p:nvSpPr>
          <p:cNvPr id="365" name="Google Shape;365;p14"/>
          <p:cNvSpPr txBox="1"/>
          <p:nvPr/>
        </p:nvSpPr>
        <p:spPr>
          <a:xfrm>
            <a:off x="4292973" y="3294068"/>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O</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66" name="Google Shape;366;p14"/>
          <p:cNvSpPr txBox="1"/>
          <p:nvPr/>
        </p:nvSpPr>
        <p:spPr>
          <a:xfrm>
            <a:off x="3435723" y="1988225"/>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A</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67" name="Google Shape;367;p14"/>
          <p:cNvSpPr txBox="1"/>
          <p:nvPr/>
        </p:nvSpPr>
        <p:spPr>
          <a:xfrm>
            <a:off x="5397216" y="2282781"/>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A</a:t>
            </a:r>
            <a:r>
              <a:rPr b="1" i="0" lang="es-ES" sz="2400" u="none" cap="none" strike="noStrike">
                <a:solidFill>
                  <a:srgbClr val="FF0000"/>
                </a:solidFill>
                <a:latin typeface="Patrick Hand"/>
                <a:ea typeface="Patrick Hand"/>
                <a:cs typeface="Patrick Hand"/>
                <a:sym typeface="Patrick Hand"/>
              </a:rPr>
              <a:t>’</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68" name="Google Shape;368;p14"/>
          <p:cNvSpPr txBox="1"/>
          <p:nvPr/>
        </p:nvSpPr>
        <p:spPr>
          <a:xfrm>
            <a:off x="3419619" y="3294068"/>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B</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69" name="Google Shape;369;p14"/>
          <p:cNvSpPr txBox="1"/>
          <p:nvPr/>
        </p:nvSpPr>
        <p:spPr>
          <a:xfrm>
            <a:off x="4348087" y="2292829"/>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B</a:t>
            </a:r>
            <a:r>
              <a:rPr b="1" i="0" lang="es-ES" sz="2400" u="none" cap="none" strike="noStrike">
                <a:solidFill>
                  <a:srgbClr val="FF0000"/>
                </a:solidFill>
                <a:latin typeface="Patrick Hand"/>
                <a:ea typeface="Patrick Hand"/>
                <a:cs typeface="Patrick Hand"/>
                <a:sym typeface="Patrick Hand"/>
              </a:rPr>
              <a:t>’</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70" name="Google Shape;370;p14"/>
          <p:cNvSpPr/>
          <p:nvPr/>
        </p:nvSpPr>
        <p:spPr>
          <a:xfrm>
            <a:off x="4348087" y="2635227"/>
            <a:ext cx="109219" cy="10921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1" name="Google Shape;371;p14"/>
          <p:cNvSpPr/>
          <p:nvPr/>
        </p:nvSpPr>
        <p:spPr>
          <a:xfrm>
            <a:off x="5397216" y="2635227"/>
            <a:ext cx="109219" cy="10921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72" name="Google Shape;372;p14"/>
          <p:cNvPicPr preferRelativeResize="0"/>
          <p:nvPr/>
        </p:nvPicPr>
        <p:blipFill>
          <a:blip r:embed="rId4">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5"/>
          <p:cNvSpPr txBox="1"/>
          <p:nvPr/>
        </p:nvSpPr>
        <p:spPr>
          <a:xfrm>
            <a:off x="187950" y="366600"/>
            <a:ext cx="8768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Características rotaciones</a:t>
            </a:r>
            <a:endParaRPr/>
          </a:p>
        </p:txBody>
      </p:sp>
      <p:sp>
        <p:nvSpPr>
          <p:cNvPr id="378" name="Google Shape;378;p15"/>
          <p:cNvSpPr txBox="1"/>
          <p:nvPr/>
        </p:nvSpPr>
        <p:spPr>
          <a:xfrm>
            <a:off x="600218" y="911027"/>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¿Qué podemos decir de ellas?</a:t>
            </a:r>
            <a:endParaRPr b="1" i="0" sz="2400" u="none" cap="none" strike="noStrike">
              <a:solidFill>
                <a:srgbClr val="FF0000"/>
              </a:solidFill>
              <a:highlight>
                <a:srgbClr val="009F98"/>
              </a:highlight>
              <a:latin typeface="Patrick Hand"/>
              <a:ea typeface="Patrick Hand"/>
              <a:cs typeface="Patrick Hand"/>
              <a:sym typeface="Patrick Hand"/>
            </a:endParaRPr>
          </a:p>
        </p:txBody>
      </p:sp>
      <p:pic>
        <p:nvPicPr>
          <p:cNvPr descr="Imagen que contiene Icono&#10;&#10;Descripción generada automáticamente" id="379" name="Google Shape;379;p15"/>
          <p:cNvPicPr preferRelativeResize="0"/>
          <p:nvPr/>
        </p:nvPicPr>
        <p:blipFill rotWithShape="1">
          <a:blip r:embed="rId3">
            <a:alphaModFix/>
          </a:blip>
          <a:srcRect b="11648" l="0" r="18098" t="2"/>
          <a:stretch/>
        </p:blipFill>
        <p:spPr>
          <a:xfrm>
            <a:off x="600218" y="1606054"/>
            <a:ext cx="3160207" cy="2835318"/>
          </a:xfrm>
          <a:prstGeom prst="rect">
            <a:avLst/>
          </a:prstGeom>
          <a:noFill/>
          <a:ln>
            <a:noFill/>
          </a:ln>
        </p:spPr>
      </p:pic>
      <p:sp>
        <p:nvSpPr>
          <p:cNvPr id="380" name="Google Shape;380;p15"/>
          <p:cNvSpPr txBox="1"/>
          <p:nvPr/>
        </p:nvSpPr>
        <p:spPr>
          <a:xfrm>
            <a:off x="1901333" y="3294068"/>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O</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81" name="Google Shape;381;p15"/>
          <p:cNvSpPr txBox="1"/>
          <p:nvPr/>
        </p:nvSpPr>
        <p:spPr>
          <a:xfrm>
            <a:off x="1044083" y="1988225"/>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A</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82" name="Google Shape;382;p15"/>
          <p:cNvSpPr txBox="1"/>
          <p:nvPr/>
        </p:nvSpPr>
        <p:spPr>
          <a:xfrm>
            <a:off x="3005576" y="2282781"/>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A</a:t>
            </a:r>
            <a:r>
              <a:rPr b="1" i="0" lang="es-ES" sz="2400" u="none" cap="none" strike="noStrike">
                <a:solidFill>
                  <a:srgbClr val="FF0000"/>
                </a:solidFill>
                <a:latin typeface="Patrick Hand"/>
                <a:ea typeface="Patrick Hand"/>
                <a:cs typeface="Patrick Hand"/>
                <a:sym typeface="Patrick Hand"/>
              </a:rPr>
              <a:t>’</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83" name="Google Shape;383;p15"/>
          <p:cNvSpPr txBox="1"/>
          <p:nvPr/>
        </p:nvSpPr>
        <p:spPr>
          <a:xfrm>
            <a:off x="1027979" y="3294068"/>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B</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84" name="Google Shape;384;p15"/>
          <p:cNvSpPr txBox="1"/>
          <p:nvPr/>
        </p:nvSpPr>
        <p:spPr>
          <a:xfrm>
            <a:off x="1956447" y="2292829"/>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B</a:t>
            </a:r>
            <a:r>
              <a:rPr b="1" i="0" lang="es-ES" sz="2400" u="none" cap="none" strike="noStrike">
                <a:solidFill>
                  <a:srgbClr val="FF0000"/>
                </a:solidFill>
                <a:latin typeface="Patrick Hand"/>
                <a:ea typeface="Patrick Hand"/>
                <a:cs typeface="Patrick Hand"/>
                <a:sym typeface="Patrick Hand"/>
              </a:rPr>
              <a:t>’</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85" name="Google Shape;385;p15"/>
          <p:cNvSpPr/>
          <p:nvPr/>
        </p:nvSpPr>
        <p:spPr>
          <a:xfrm>
            <a:off x="1956447" y="2635227"/>
            <a:ext cx="109219" cy="10921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6" name="Google Shape;386;p15"/>
          <p:cNvSpPr/>
          <p:nvPr/>
        </p:nvSpPr>
        <p:spPr>
          <a:xfrm>
            <a:off x="3005576" y="2635227"/>
            <a:ext cx="109219" cy="10921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7" name="Google Shape;387;p15"/>
          <p:cNvSpPr txBox="1"/>
          <p:nvPr/>
        </p:nvSpPr>
        <p:spPr>
          <a:xfrm>
            <a:off x="3811098" y="2219728"/>
            <a:ext cx="5302818"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1° Se hace respecto a un cierto punto </a:t>
            </a:r>
            <a:endParaRPr/>
          </a:p>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a:t>
            </a:r>
            <a:r>
              <a:rPr b="1" i="0" lang="es-ES" sz="2400" u="none" cap="none" strike="noStrike">
                <a:solidFill>
                  <a:schemeClr val="lt1"/>
                </a:solidFill>
                <a:highlight>
                  <a:srgbClr val="009F98"/>
                </a:highlight>
                <a:latin typeface="Patrick Hand"/>
                <a:ea typeface="Patrick Hand"/>
                <a:cs typeface="Patrick Hand"/>
                <a:sym typeface="Patrick Hand"/>
              </a:rPr>
              <a:t>centro o punto de rotación</a:t>
            </a:r>
            <a:r>
              <a:rPr b="0" i="0" lang="es-ES" sz="2400" u="none" cap="none" strike="noStrike">
                <a:solidFill>
                  <a:schemeClr val="dk1"/>
                </a:solidFill>
                <a:latin typeface="Patrick Hand"/>
                <a:ea typeface="Patrick Hand"/>
                <a:cs typeface="Patrick Hand"/>
                <a:sym typeface="Patrick Hand"/>
              </a:rPr>
              <a:t>)</a:t>
            </a:r>
            <a:endParaRPr/>
          </a:p>
        </p:txBody>
      </p:sp>
      <p:sp>
        <p:nvSpPr>
          <p:cNvPr id="388" name="Google Shape;388;p15"/>
          <p:cNvSpPr txBox="1"/>
          <p:nvPr/>
        </p:nvSpPr>
        <p:spPr>
          <a:xfrm>
            <a:off x="3683705" y="3387207"/>
            <a:ext cx="546162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2° Se hace según un cierto </a:t>
            </a:r>
            <a:r>
              <a:rPr b="1" i="0" lang="es-ES" sz="2400" u="none" cap="none" strike="noStrike">
                <a:solidFill>
                  <a:schemeClr val="lt1"/>
                </a:solidFill>
                <a:highlight>
                  <a:srgbClr val="009F98"/>
                </a:highlight>
                <a:latin typeface="Patrick Hand"/>
                <a:ea typeface="Patrick Hand"/>
                <a:cs typeface="Patrick Hand"/>
                <a:sym typeface="Patrick Hand"/>
              </a:rPr>
              <a:t>ángulo</a:t>
            </a:r>
            <a:endParaRPr/>
          </a:p>
        </p:txBody>
      </p:sp>
      <p:pic>
        <p:nvPicPr>
          <p:cNvPr id="389" name="Google Shape;389;p15"/>
          <p:cNvPicPr preferRelativeResize="0"/>
          <p:nvPr/>
        </p:nvPicPr>
        <p:blipFill>
          <a:blip r:embed="rId4">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16"/>
          <p:cNvPicPr preferRelativeResize="0"/>
          <p:nvPr/>
        </p:nvPicPr>
        <p:blipFill rotWithShape="1">
          <a:blip r:embed="rId3">
            <a:alphaModFix/>
          </a:blip>
          <a:srcRect b="0" l="1155" r="0" t="0"/>
          <a:stretch/>
        </p:blipFill>
        <p:spPr>
          <a:xfrm>
            <a:off x="3464745" y="1620146"/>
            <a:ext cx="2395379" cy="2819644"/>
          </a:xfrm>
          <a:prstGeom prst="rect">
            <a:avLst/>
          </a:prstGeom>
          <a:noFill/>
          <a:ln>
            <a:noFill/>
          </a:ln>
        </p:spPr>
      </p:pic>
      <p:sp>
        <p:nvSpPr>
          <p:cNvPr id="395" name="Google Shape;395;p16"/>
          <p:cNvSpPr txBox="1"/>
          <p:nvPr/>
        </p:nvSpPr>
        <p:spPr>
          <a:xfrm>
            <a:off x="141462" y="366600"/>
            <a:ext cx="8861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Rotación en figuras 2D</a:t>
            </a:r>
            <a:endParaRPr/>
          </a:p>
        </p:txBody>
      </p:sp>
      <p:sp>
        <p:nvSpPr>
          <p:cNvPr id="396" name="Google Shape;396;p16"/>
          <p:cNvSpPr txBox="1"/>
          <p:nvPr/>
        </p:nvSpPr>
        <p:spPr>
          <a:xfrm>
            <a:off x="617652" y="908756"/>
            <a:ext cx="79434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¿Por cuánto se giró la figura X para obtener la figura Y?</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97" name="Google Shape;397;p16"/>
          <p:cNvSpPr txBox="1"/>
          <p:nvPr/>
        </p:nvSpPr>
        <p:spPr>
          <a:xfrm>
            <a:off x="4534283" y="2874968"/>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O</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98" name="Google Shape;398;p16"/>
          <p:cNvSpPr txBox="1"/>
          <p:nvPr/>
        </p:nvSpPr>
        <p:spPr>
          <a:xfrm>
            <a:off x="3845483" y="2385344"/>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X</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399" name="Google Shape;399;p16"/>
          <p:cNvSpPr txBox="1"/>
          <p:nvPr/>
        </p:nvSpPr>
        <p:spPr>
          <a:xfrm>
            <a:off x="5023004" y="3601696"/>
            <a:ext cx="44559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Y</a:t>
            </a:r>
            <a:endParaRPr b="1" i="0" sz="2400" u="none" cap="none" strike="noStrike">
              <a:solidFill>
                <a:srgbClr val="FF0000"/>
              </a:solidFill>
              <a:highlight>
                <a:srgbClr val="009F98"/>
              </a:highlight>
              <a:latin typeface="Patrick Hand"/>
              <a:ea typeface="Patrick Hand"/>
              <a:cs typeface="Patrick Hand"/>
              <a:sym typeface="Patrick Hand"/>
            </a:endParaRPr>
          </a:p>
        </p:txBody>
      </p:sp>
      <p:sp>
        <p:nvSpPr>
          <p:cNvPr id="400" name="Google Shape;400;p16"/>
          <p:cNvSpPr/>
          <p:nvPr/>
        </p:nvSpPr>
        <p:spPr>
          <a:xfrm>
            <a:off x="4589397" y="3168627"/>
            <a:ext cx="109219" cy="10921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01" name="Google Shape;401;p16"/>
          <p:cNvPicPr preferRelativeResize="0"/>
          <p:nvPr/>
        </p:nvPicPr>
        <p:blipFill>
          <a:blip r:embed="rId4">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descr="Forma&#10;&#10;Descripción generada automáticamente con confianza media" id="406" name="Google Shape;406;p17"/>
          <p:cNvPicPr preferRelativeResize="0"/>
          <p:nvPr>
            <p:ph idx="1" type="body"/>
          </p:nvPr>
        </p:nvPicPr>
        <p:blipFill rotWithShape="1">
          <a:blip r:embed="rId3">
            <a:alphaModFix/>
          </a:blip>
          <a:srcRect b="0" l="0" r="0" t="0"/>
          <a:stretch/>
        </p:blipFill>
        <p:spPr>
          <a:xfrm>
            <a:off x="-5" y="9575"/>
            <a:ext cx="9144000" cy="5143500"/>
          </a:xfrm>
          <a:prstGeom prst="rect">
            <a:avLst/>
          </a:prstGeom>
          <a:noFill/>
          <a:ln>
            <a:noFill/>
          </a:ln>
        </p:spPr>
      </p:pic>
      <p:sp>
        <p:nvSpPr>
          <p:cNvPr id="407" name="Google Shape;407;p17"/>
          <p:cNvSpPr txBox="1"/>
          <p:nvPr/>
        </p:nvSpPr>
        <p:spPr>
          <a:xfrm>
            <a:off x="1393045" y="367771"/>
            <a:ext cx="63579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¡Resumen de hoy!</a:t>
            </a:r>
            <a:endParaRPr b="0" i="0" sz="1400" u="none" cap="none" strike="noStrike">
              <a:solidFill>
                <a:schemeClr val="lt1"/>
              </a:solidFill>
              <a:highlight>
                <a:srgbClr val="009287"/>
              </a:highlight>
              <a:latin typeface="Arial"/>
              <a:ea typeface="Arial"/>
              <a:cs typeface="Arial"/>
              <a:sym typeface="Arial"/>
            </a:endParaRPr>
          </a:p>
        </p:txBody>
      </p:sp>
      <p:sp>
        <p:nvSpPr>
          <p:cNvPr id="408" name="Google Shape;408;p17"/>
          <p:cNvSpPr/>
          <p:nvPr/>
        </p:nvSpPr>
        <p:spPr>
          <a:xfrm>
            <a:off x="1844744" y="1220127"/>
            <a:ext cx="5454502" cy="2722396"/>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geometria" id="409" name="Google Shape;409;p17" title="Resumen - Geometría (7) - Reflexión y Rotación">
            <a:hlinkClick r:id="rId4"/>
          </p:cNvPr>
          <p:cNvPicPr preferRelativeResize="0"/>
          <p:nvPr/>
        </p:nvPicPr>
        <p:blipFill>
          <a:blip r:embed="rId5">
            <a:alphaModFix/>
          </a:blip>
          <a:stretch>
            <a:fillRect/>
          </a:stretch>
        </p:blipFill>
        <p:spPr>
          <a:xfrm>
            <a:off x="1085075" y="1098350"/>
            <a:ext cx="6973850" cy="3576550"/>
          </a:xfrm>
          <a:prstGeom prst="rect">
            <a:avLst/>
          </a:prstGeom>
          <a:noFill/>
          <a:ln>
            <a:noFill/>
          </a:ln>
        </p:spPr>
      </p:pic>
      <p:pic>
        <p:nvPicPr>
          <p:cNvPr id="410" name="Google Shape;410;p17"/>
          <p:cNvPicPr preferRelativeResize="0"/>
          <p:nvPr/>
        </p:nvPicPr>
        <p:blipFill>
          <a:blip r:embed="rId6">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8"/>
          <p:cNvSpPr txBox="1"/>
          <p:nvPr/>
        </p:nvSpPr>
        <p:spPr>
          <a:xfrm>
            <a:off x="674971" y="366599"/>
            <a:ext cx="779398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¡Ahora es tu turno!</a:t>
            </a:r>
            <a:endParaRPr b="0" i="0" sz="3200" u="none" cap="none" strike="noStrike">
              <a:solidFill>
                <a:schemeClr val="lt1"/>
              </a:solidFill>
              <a:highlight>
                <a:srgbClr val="009287"/>
              </a:highlight>
              <a:latin typeface="Arial"/>
              <a:ea typeface="Arial"/>
              <a:cs typeface="Arial"/>
              <a:sym typeface="Arial"/>
            </a:endParaRPr>
          </a:p>
        </p:txBody>
      </p:sp>
      <p:sp>
        <p:nvSpPr>
          <p:cNvPr id="416" name="Google Shape;416;p18"/>
          <p:cNvSpPr txBox="1"/>
          <p:nvPr/>
        </p:nvSpPr>
        <p:spPr>
          <a:xfrm>
            <a:off x="1457011" y="3930516"/>
            <a:ext cx="457200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1400" u="none" cap="none" strike="noStrike">
                <a:solidFill>
                  <a:srgbClr val="000000"/>
                </a:solidFill>
                <a:latin typeface="Calibri"/>
                <a:ea typeface="Calibri"/>
                <a:cs typeface="Calibri"/>
                <a:sym typeface="Calibri"/>
              </a:rPr>
              <a:t>RESPONDER ACÁ:</a:t>
            </a:r>
            <a:endParaRPr/>
          </a:p>
          <a:p>
            <a:pPr indent="0" lvl="0" marL="0" marR="0" rtl="0" algn="ctr">
              <a:lnSpc>
                <a:spcPct val="100000"/>
              </a:lnSpc>
              <a:spcBef>
                <a:spcPts val="0"/>
              </a:spcBef>
              <a:spcAft>
                <a:spcPts val="0"/>
              </a:spcAft>
              <a:buNone/>
            </a:pPr>
            <a:r>
              <a:rPr b="1" i="0" lang="es-ES" sz="1400" u="none" cap="none" strike="noStrike">
                <a:solidFill>
                  <a:srgbClr val="000000"/>
                </a:solidFill>
                <a:latin typeface="Calibri"/>
                <a:ea typeface="Calibri"/>
                <a:cs typeface="Calibri"/>
                <a:sym typeface="Calibri"/>
              </a:rPr>
              <a:t>https://forms.gle/bviCh2iJznKt4zEy8</a:t>
            </a:r>
            <a:endParaRPr/>
          </a:p>
        </p:txBody>
      </p:sp>
      <p:sp>
        <p:nvSpPr>
          <p:cNvPr id="417" name="Google Shape;417;p18"/>
          <p:cNvSpPr txBox="1"/>
          <p:nvPr/>
        </p:nvSpPr>
        <p:spPr>
          <a:xfrm>
            <a:off x="406325" y="951374"/>
            <a:ext cx="8331276"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800" u="none" cap="none" strike="noStrike">
                <a:solidFill>
                  <a:schemeClr val="dk1"/>
                </a:solidFill>
                <a:latin typeface="Patrick Hand"/>
                <a:ea typeface="Patrick Hand"/>
                <a:cs typeface="Patrick Hand"/>
                <a:sym typeface="Patrick Hand"/>
              </a:rPr>
              <a:t>Indica el movimiento que se realizó en cada figura</a:t>
            </a:r>
            <a:endParaRPr b="1" i="0" sz="2800" u="none" cap="none" strike="noStrike">
              <a:solidFill>
                <a:schemeClr val="lt1"/>
              </a:solidFill>
              <a:highlight>
                <a:srgbClr val="009F98"/>
              </a:highlight>
              <a:latin typeface="Patrick Hand"/>
              <a:ea typeface="Patrick Hand"/>
              <a:cs typeface="Patrick Hand"/>
              <a:sym typeface="Patrick Hand"/>
            </a:endParaRPr>
          </a:p>
        </p:txBody>
      </p:sp>
      <p:pic>
        <p:nvPicPr>
          <p:cNvPr id="418" name="Google Shape;418;p18"/>
          <p:cNvPicPr preferRelativeResize="0"/>
          <p:nvPr/>
        </p:nvPicPr>
        <p:blipFill rotWithShape="1">
          <a:blip r:embed="rId3">
            <a:alphaModFix/>
          </a:blip>
          <a:srcRect b="0" l="0" r="0" t="0"/>
          <a:stretch/>
        </p:blipFill>
        <p:spPr>
          <a:xfrm>
            <a:off x="1625600" y="1549400"/>
            <a:ext cx="5966977" cy="1889924"/>
          </a:xfrm>
          <a:prstGeom prst="rect">
            <a:avLst/>
          </a:prstGeom>
          <a:noFill/>
          <a:ln>
            <a:noFill/>
          </a:ln>
        </p:spPr>
      </p:pic>
      <p:pic>
        <p:nvPicPr>
          <p:cNvPr id="419" name="Google Shape;419;p18"/>
          <p:cNvPicPr preferRelativeResize="0"/>
          <p:nvPr/>
        </p:nvPicPr>
        <p:blipFill rotWithShape="1">
          <a:blip r:embed="rId4">
            <a:alphaModFix/>
          </a:blip>
          <a:srcRect b="8961" l="8584" r="8584" t="8962"/>
          <a:stretch/>
        </p:blipFill>
        <p:spPr>
          <a:xfrm>
            <a:off x="5438842" y="3607351"/>
            <a:ext cx="1180338" cy="1169550"/>
          </a:xfrm>
          <a:prstGeom prst="rect">
            <a:avLst/>
          </a:prstGeom>
          <a:noFill/>
          <a:ln>
            <a:noFill/>
          </a:ln>
        </p:spPr>
      </p:pic>
      <p:pic>
        <p:nvPicPr>
          <p:cNvPr id="420" name="Google Shape;420;p18"/>
          <p:cNvPicPr preferRelativeResize="0"/>
          <p:nvPr/>
        </p:nvPicPr>
        <p:blipFill>
          <a:blip r:embed="rId5">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descr="Forma&#10;&#10;Descripción generada automáticamente con confianza media" id="425" name="Google Shape;425;p19"/>
          <p:cNvPicPr preferRelativeResize="0"/>
          <p:nvPr>
            <p:ph idx="1" type="body"/>
          </p:nvPr>
        </p:nvPicPr>
        <p:blipFill rotWithShape="1">
          <a:blip r:embed="rId3">
            <a:alphaModFix/>
          </a:blip>
          <a:srcRect b="0" l="0" r="0" t="0"/>
          <a:stretch/>
        </p:blipFill>
        <p:spPr>
          <a:xfrm>
            <a:off x="-5" y="9575"/>
            <a:ext cx="9144000" cy="5143500"/>
          </a:xfrm>
          <a:prstGeom prst="rect">
            <a:avLst/>
          </a:prstGeom>
          <a:noFill/>
          <a:ln>
            <a:noFill/>
          </a:ln>
        </p:spPr>
      </p:pic>
      <p:sp>
        <p:nvSpPr>
          <p:cNvPr id="426" name="Google Shape;426;p19"/>
          <p:cNvSpPr txBox="1"/>
          <p:nvPr/>
        </p:nvSpPr>
        <p:spPr>
          <a:xfrm>
            <a:off x="1393045" y="367771"/>
            <a:ext cx="63579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¡Reforcemos lo aprendido!</a:t>
            </a:r>
            <a:endParaRPr b="0" i="0" sz="1400" u="none" cap="none" strike="noStrike">
              <a:solidFill>
                <a:schemeClr val="lt1"/>
              </a:solidFill>
              <a:highlight>
                <a:srgbClr val="009287"/>
              </a:highlight>
              <a:latin typeface="Arial"/>
              <a:ea typeface="Arial"/>
              <a:cs typeface="Arial"/>
              <a:sym typeface="Arial"/>
            </a:endParaRPr>
          </a:p>
        </p:txBody>
      </p:sp>
      <p:sp>
        <p:nvSpPr>
          <p:cNvPr id="427" name="Google Shape;427;p19"/>
          <p:cNvSpPr/>
          <p:nvPr/>
        </p:nvSpPr>
        <p:spPr>
          <a:xfrm>
            <a:off x="1844744" y="1220127"/>
            <a:ext cx="5454502" cy="2722396"/>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geometria" id="428" name="Google Shape;428;p19" title="Reforzamiento - Geometría (7) - Reflexión y Rotación">
            <a:hlinkClick r:id="rId4"/>
          </p:cNvPr>
          <p:cNvPicPr preferRelativeResize="0"/>
          <p:nvPr/>
        </p:nvPicPr>
        <p:blipFill>
          <a:blip r:embed="rId5">
            <a:alphaModFix/>
          </a:blip>
          <a:stretch>
            <a:fillRect/>
          </a:stretch>
        </p:blipFill>
        <p:spPr>
          <a:xfrm>
            <a:off x="1112775" y="1128550"/>
            <a:ext cx="7012525" cy="3457800"/>
          </a:xfrm>
          <a:prstGeom prst="rect">
            <a:avLst/>
          </a:prstGeom>
          <a:noFill/>
          <a:ln>
            <a:noFill/>
          </a:ln>
        </p:spPr>
      </p:pic>
      <p:pic>
        <p:nvPicPr>
          <p:cNvPr id="429" name="Google Shape;429;p19"/>
          <p:cNvPicPr preferRelativeResize="0"/>
          <p:nvPr/>
        </p:nvPicPr>
        <p:blipFill>
          <a:blip r:embed="rId6">
            <a:alphaModFix/>
          </a:blip>
          <a:stretch>
            <a:fillRect/>
          </a:stretch>
        </p:blipFill>
        <p:spPr>
          <a:xfrm>
            <a:off x="8292825"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000"/>
                                        <p:tgtEl>
                                          <p:spTgt spid="4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