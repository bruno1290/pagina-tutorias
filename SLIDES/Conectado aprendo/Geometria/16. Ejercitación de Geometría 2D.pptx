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atrick Hand"/>
      <p:regular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jBKD0EGW4hidKXVDMlNni3c2z+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font" Target="fonts/PatrickHa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79de8397f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79de8397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79de8397f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79de8397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79de8397f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79de8397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Se presentarán distintos ejercicios que deberás priorizar según las necesidades de tu pupilo.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Tendrás la respuesta a ellas para que puedas revisarlo.</a:t>
            </a:r>
            <a:endParaRPr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400 cm, 4000 mm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24 m, 2400cm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5 cm, 50 mm</a:t>
            </a:r>
            <a:endParaRPr/>
          </a:p>
          <a:p>
            <a:pPr indent="-1587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href="https://www.flaticon.es/iconos-gratis/suelo" title="suelo iconos"&gt;Suelo iconos creados por srip - Flaticon&lt;/a&gt;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href="https://www.flaticon.es/iconos-gratis/madera" title="madera iconos"&gt;Madera iconos creados por winnievinzence - Flaticon&lt;/a&gt;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&lt;a href="https://www.flaticon.es/iconos-gratis/hoja-en-blanco" title="hoja en blanco iconos"&gt;Hoja en blanco iconos creados por Muhammad Tajudin - Flaticon&lt;/a&gt;</a:t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-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Rectángulo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P = 8 cm, A = 3 cm²</a:t>
            </a:r>
            <a:endParaRPr b="1"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V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V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F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V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F: también necesita un punto de rotación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F: ninguna transformación isométrica cambia la forma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V: es una de sus características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V: por ejemplo respecto al eje X y luego al eje 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Pmín = 130mm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Pmáx = 140mm</a:t>
            </a:r>
            <a:endParaRPr b="1"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Pw = 24 mm, Pz = 48 mm -&gt; El doble (o la mitad)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Aw = 32 mm², Az = 128 mm² -&gt; El cuádruple (o su cuarta parte)</a:t>
            </a:r>
            <a:endParaRPr b="1"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20 mm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20 cm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b="1" lang="es-ES"/>
              <a:t>16 </a:t>
            </a:r>
            <a:r>
              <a:rPr b="1" lang="es-ES" sz="1100">
                <a:solidFill>
                  <a:srgbClr val="4285F4"/>
                </a:solidFill>
                <a:latin typeface="Patrick Hand"/>
                <a:ea typeface="Patrick Hand"/>
                <a:cs typeface="Patrick Hand"/>
                <a:sym typeface="Patrick Hand"/>
              </a:rPr>
              <a:t>m</a:t>
            </a:r>
            <a:r>
              <a:rPr b="1" baseline="30000" lang="es-ES" sz="1100">
                <a:solidFill>
                  <a:srgbClr val="4285F4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79de8397f_0_13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3379de8397f_0_13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3379de8397f_0_1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3379de8397f_0_1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3379de8397f_0_1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379de8397f_0_1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3379de8397f_0_14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3379de8397f_0_1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3379de8397f_0_1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3379de8397f_0_1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79de8397f_0_14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3379de8397f_0_14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3379de8397f_0_14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3379de8397f_0_14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3379de8397f_0_1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79de8397f_0_1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3379de8397f_0_15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3379de8397f_0_15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3379de8397f_0_1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379de8397f_0_1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3379de8397f_0_1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79de8397f_0_162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379de8397f_0_162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3379de8397f_0_162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3379de8397f_0_162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3379de8397f_0_162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3379de8397f_0_16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3379de8397f_0_16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3379de8397f_0_1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79de8397f_0_17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3379de8397f_0_1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3379de8397f_0_1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3379de8397f_0_1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79de8397f_0_17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3379de8397f_0_17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3379de8397f_0_1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79de8397f_0_18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379de8397f_0_180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3379de8397f_0_180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3379de8397f_0_18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3379de8397f_0_18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3379de8397f_0_1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379de8397f_0_18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379de8397f_0_187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3379de8397f_0_187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3379de8397f_0_18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379de8397f_0_18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3379de8397f_0_18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79de8397f_0_19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3379de8397f_0_19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3379de8397f_0_19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3379de8397f_0_19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3379de8397f_0_19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79de8397f_0_20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3379de8397f_0_20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3379de8397f_0_2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3379de8397f_0_2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3379de8397f_0_2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379de8397f_0_1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379de8397f_0_13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3379de8397f_0_13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3379de8397f_0_13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3379de8397f_0_1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Relationship Id="rId4" Type="http://schemas.openxmlformats.org/officeDocument/2006/relationships/hyperlink" Target="http://www.youtube.com/watch?v=QgoG0FB8IiU" TargetMode="External"/><Relationship Id="rId5" Type="http://schemas.openxmlformats.org/officeDocument/2006/relationships/image" Target="../media/image16.jpg"/><Relationship Id="rId6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orms.gle/iiQJ28gvnHAnHCsy9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Relationship Id="rId4" Type="http://schemas.openxmlformats.org/officeDocument/2006/relationships/hyperlink" Target="http://www.youtube.com/watch?v=LhDnu9BOVFE" TargetMode="External"/><Relationship Id="rId5" Type="http://schemas.openxmlformats.org/officeDocument/2006/relationships/image" Target="../media/image17.jp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6100" y="42529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79de8397f_0_103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Revisar y aplicar los conocimientos adquiridos sobre figuras geométricas, sus propiedades y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transformaciones.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3379de8397f_0_103"/>
          <p:cNvSpPr txBox="1"/>
          <p:nvPr/>
        </p:nvSpPr>
        <p:spPr>
          <a:xfrm>
            <a:off x="868700" y="1980075"/>
            <a:ext cx="3524100" cy="2079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Ejercitar las temáticas vistas en las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sesiones de Geometría 2D.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3379de8397f_0_103"/>
          <p:cNvSpPr txBox="1"/>
          <p:nvPr/>
        </p:nvSpPr>
        <p:spPr>
          <a:xfrm>
            <a:off x="4782050" y="1979975"/>
            <a:ext cx="3524100" cy="2079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Todos los conceptos revisados hasta el momento en cada sesión.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3379de8397f_0_10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379de8397f_0_10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379de8397f_0_10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3379de8397f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79de8397f_0_113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3379de8397f_0_113"/>
          <p:cNvSpPr txBox="1"/>
          <p:nvPr/>
        </p:nvSpPr>
        <p:spPr>
          <a:xfrm>
            <a:off x="589763" y="1827281"/>
            <a:ext cx="7875000" cy="81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En esta sesión, en vez de resumir, se realizará la ejercitación de cada contenido revisado. Es por eso que los consejos son similares a los de la clase anterior: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Revisa con antelación la presentación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para saber cómo enfrentar los problemas propuestos y así explicarlos de la mejor forma.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• Pregúntale a tu estudiante si quiere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priorizar un contenido para practicar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 Tómate todo el tiempo que sea necesario incluso si eso significa no hacer todos los problemas.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3379de8397f_0_11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379de8397f_0_11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379de8397f_0_11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3379de8397f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379de8397f_0_122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379de8397f_0_122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 acabarse las sesiones, </a:t>
            </a:r>
            <a:r>
              <a:rPr b="1"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hazle notar a tu estudiante todo lo que ha aprendido</a:t>
            </a: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 cómo ello refleja su capacidad para enfrentar todo tipo de desafío si se lo propone.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3379de8397f_0_122"/>
          <p:cNvSpPr txBox="1"/>
          <p:nvPr/>
        </p:nvSpPr>
        <p:spPr>
          <a:xfrm>
            <a:off x="285206" y="3229919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¿Con qué te quedas de todos los contenidos que revisamos?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g3379de8397f_0_122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379de8397f_0_122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3379de8397f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485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"/>
          <p:cNvSpPr txBox="1"/>
          <p:nvPr/>
        </p:nvSpPr>
        <p:spPr>
          <a:xfrm>
            <a:off x="115293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16</a:t>
            </a:r>
            <a:endParaRPr/>
          </a:p>
        </p:txBody>
      </p:sp>
      <p:pic>
        <p:nvPicPr>
          <p:cNvPr id="173" name="Google Shape;17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00218" y="1095159"/>
            <a:ext cx="794348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Ejercitar temáticas vistas en las sesiones de Geometría 2D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/>
        </p:nvSpPr>
        <p:spPr>
          <a:xfrm>
            <a:off x="234599" y="353275"/>
            <a:ext cx="867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Longitudes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231232" y="1041604"/>
            <a:ext cx="282929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Un árbol recién plantado en la vía pública mide 20 cm de alto y un poste de luz mide 20 veces la altura, ¿cuál es la altura del edificio en cm y m?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3060531" y="1046305"/>
            <a:ext cx="302293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2) Para construir el techo de una caseta se utilizarán 8 listones de 3 metros de largo. ¿Cuántos metros de largo se tienen en metros y centímetros?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6083468" y="1041604"/>
            <a:ext cx="272168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0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3) El ancho de cierta hoja es de 30 cm y se dividirá para una actividad en 6 partes. ¿Cuánto mide el ancho en cm y mm de cada una de esas partes?</a:t>
            </a:r>
            <a:endParaRPr/>
          </a:p>
        </p:txBody>
      </p:sp>
      <p:pic>
        <p:nvPicPr>
          <p:cNvPr descr="Forma&#10;&#10;Descripción generada automáticamente con confianza baja" id="189" name="Google Shape;1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21" y="2943617"/>
            <a:ext cx="1833284" cy="1833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190" name="Google Shape;19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6666" y="3181828"/>
            <a:ext cx="831767" cy="831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191" name="Google Shape;1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2400" y="3181828"/>
            <a:ext cx="831767" cy="831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192" name="Google Shape;19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2699" y="3875201"/>
            <a:ext cx="831767" cy="831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193" name="Google Shape;1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8433" y="3875201"/>
            <a:ext cx="831767" cy="831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pción generada automáticamente con confianza baja" id="194" name="Google Shape;19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1943" y="2943617"/>
            <a:ext cx="1821194" cy="1821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5244" y="366602"/>
            <a:ext cx="554581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/>
          <p:nvPr/>
        </p:nvSpPr>
        <p:spPr>
          <a:xfrm>
            <a:off x="168750" y="366600"/>
            <a:ext cx="880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Plano cartesiano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4081126" y="1384363"/>
            <a:ext cx="472533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 el plano cartesiano, se tienen las siguientes coordenadas,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 = (2,1), B = (2, 4),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 = (3, 1), D = (3, 4)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Completa los puntos en el plano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¿Qué figura se forma?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3) Calcula el perímetro y área de la figura si el cuadriculado es de 1 cm</a:t>
            </a:r>
            <a:endParaRPr/>
          </a:p>
        </p:txBody>
      </p:sp>
      <p:pic>
        <p:nvPicPr>
          <p:cNvPr descr="Imagen que contiene Tabla&#10;&#10;Descripción generada automáticamente"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8" y="544268"/>
            <a:ext cx="4329012" cy="4329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125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"/>
          <p:cNvSpPr txBox="1"/>
          <p:nvPr/>
        </p:nvSpPr>
        <p:spPr>
          <a:xfrm>
            <a:off x="128100" y="326025"/>
            <a:ext cx="888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Rectas paralelas y perpendiculares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3104814" y="911027"/>
            <a:ext cx="6039147" cy="45281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10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934159" y="2114927"/>
            <a:ext cx="2170656" cy="1209894"/>
          </a:xfrm>
          <a:prstGeom prst="snip2SameRect">
            <a:avLst>
              <a:gd fmla="val 50000" name="adj1"/>
              <a:gd fmla="val 0" name="adj2"/>
            </a:avLst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934159" y="3190875"/>
            <a:ext cx="146929" cy="13394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957886" y="3190875"/>
            <a:ext cx="146929" cy="133946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27127" y="3093988"/>
            <a:ext cx="619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A</a:t>
            </a:r>
            <a:endParaRPr b="0" i="0" sz="2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2961860" y="3093988"/>
            <a:ext cx="619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0" i="0" sz="2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2961860" y="2485341"/>
            <a:ext cx="619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C</a:t>
            </a:r>
            <a:endParaRPr b="0" i="0" sz="2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257443" y="1748138"/>
            <a:ext cx="619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D</a:t>
            </a:r>
            <a:endParaRPr b="0" i="0" sz="2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1137260" y="1748138"/>
            <a:ext cx="619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E</a:t>
            </a:r>
            <a:endParaRPr b="0" i="0" sz="2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427127" y="2528640"/>
            <a:ext cx="6191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Patrick Hand"/>
                <a:ea typeface="Patrick Hand"/>
                <a:cs typeface="Patrick Hand"/>
                <a:sym typeface="Patrick Hand"/>
              </a:rPr>
              <a:t>F</a:t>
            </a:r>
            <a:endParaRPr b="0" i="0" sz="2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19" name="Google Shape;21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/>
          <p:nvPr/>
        </p:nvSpPr>
        <p:spPr>
          <a:xfrm>
            <a:off x="148050" y="326025"/>
            <a:ext cx="884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Transformación Isométrica</a:t>
            </a:r>
            <a:endParaRPr/>
          </a:p>
        </p:txBody>
      </p:sp>
      <p:sp>
        <p:nvSpPr>
          <p:cNvPr id="225" name="Google Shape;225;p7"/>
          <p:cNvSpPr txBox="1"/>
          <p:nvPr/>
        </p:nvSpPr>
        <p:spPr>
          <a:xfrm>
            <a:off x="600218" y="911027"/>
            <a:ext cx="7943489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Verdadero o Falso: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Para hacer una rotación solo falta conocer el ángulo de giro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La traslación modifica la forma de la figura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3) La reflexión mantiene la misma distancia respecto a un eje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4) El resultado de rotar en 180° se puede obtener con dos reflexiones</a:t>
            </a:r>
            <a:endParaRPr/>
          </a:p>
        </p:txBody>
      </p:sp>
      <p:pic>
        <p:nvPicPr>
          <p:cNvPr id="226" name="Google Shape;22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2430239" y="2519095"/>
            <a:ext cx="4283446" cy="1713378"/>
          </a:xfrm>
          <a:prstGeom prst="rect">
            <a:avLst/>
          </a:prstGeom>
          <a:solidFill>
            <a:srgbClr val="FAB235">
              <a:alpha val="24705"/>
            </a:srgbClr>
          </a:solidFill>
          <a:ln cap="flat" cmpd="sng" w="57150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214649" y="326025"/>
            <a:ext cx="871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Perímetro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600218" y="911027"/>
            <a:ext cx="79434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Por las altas temperaturas, el ancho y largo de un pequeño rectángulo de metal puede pasar desde 25 mm por 40 mm a 27 mm por 43 mm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es el perímetro mínimo y máximo en mm de la estructura?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2771962" y="2655784"/>
            <a:ext cx="3600000" cy="1440000"/>
          </a:xfrm>
          <a:prstGeom prst="rect">
            <a:avLst/>
          </a:prstGeom>
          <a:solidFill>
            <a:srgbClr val="FAB235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35" name="Google Shape;23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 txBox="1"/>
          <p:nvPr/>
        </p:nvSpPr>
        <p:spPr>
          <a:xfrm>
            <a:off x="148012" y="326025"/>
            <a:ext cx="884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Perímetro y Área de rectángulos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600218" y="911027"/>
            <a:ext cx="794348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Sea el rectángulo W de ancho 4 mm y largo 8 mm y el rectángulo Z con el doble de esas dimensiones.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¿Cuál es la relación que existe entre sus perímetros?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¿Cuál es la relación entre las áreas?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783085" y="3152473"/>
            <a:ext cx="1800000" cy="720000"/>
          </a:xfrm>
          <a:prstGeom prst="rect">
            <a:avLst/>
          </a:prstGeom>
          <a:solidFill>
            <a:srgbClr val="009F9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W</a:t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284985" y="2792473"/>
            <a:ext cx="3600000" cy="1440000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chemeClr val="lt1"/>
                </a:solidFill>
                <a:latin typeface="Patrick Hand"/>
                <a:ea typeface="Patrick Hand"/>
                <a:cs typeface="Patrick Hand"/>
                <a:sym typeface="Patrick Hand"/>
              </a:rPr>
              <a:t>Z</a:t>
            </a:r>
            <a:endParaRPr/>
          </a:p>
        </p:txBody>
      </p:sp>
      <p:pic>
        <p:nvPicPr>
          <p:cNvPr id="244" name="Google Shape;24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 txBox="1"/>
          <p:nvPr/>
        </p:nvSpPr>
        <p:spPr>
          <a:xfrm>
            <a:off x="134700" y="326025"/>
            <a:ext cx="887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Área de triángulos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Encuentra el valor de las medidas desconocidas</a:t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880793" y="3213842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525058" y="3207834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525058" y="2003821"/>
            <a:ext cx="1360050" cy="1397658"/>
          </a:xfrm>
          <a:prstGeom prst="rtTriangle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873531" y="2003820"/>
            <a:ext cx="1381623" cy="1397657"/>
          </a:xfrm>
          <a:prstGeom prst="triangle">
            <a:avLst>
              <a:gd fmla="val 74584" name="adj"/>
            </a:avLst>
          </a:prstGeom>
          <a:noFill/>
          <a:ln cap="flat" cmpd="sng" w="5715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10"/>
          <p:cNvCxnSpPr/>
          <p:nvPr/>
        </p:nvCxnSpPr>
        <p:spPr>
          <a:xfrm>
            <a:off x="7048806" y="3401479"/>
            <a:ext cx="103632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56" name="Google Shape;256;p10"/>
          <p:cNvCxnSpPr/>
          <p:nvPr/>
        </p:nvCxnSpPr>
        <p:spPr>
          <a:xfrm>
            <a:off x="6347766" y="2003824"/>
            <a:ext cx="1737360" cy="1397655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57" name="Google Shape;257;p10"/>
          <p:cNvCxnSpPr/>
          <p:nvPr/>
        </p:nvCxnSpPr>
        <p:spPr>
          <a:xfrm>
            <a:off x="6347766" y="2003823"/>
            <a:ext cx="701040" cy="1397656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58" name="Google Shape;258;p10"/>
          <p:cNvSpPr txBox="1"/>
          <p:nvPr/>
        </p:nvSpPr>
        <p:spPr>
          <a:xfrm>
            <a:off x="1866488" y="3401477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59" name="Google Shape;259;p10"/>
          <p:cNvCxnSpPr>
            <a:stCxn id="253" idx="2"/>
            <a:endCxn id="253" idx="4"/>
          </p:cNvCxnSpPr>
          <p:nvPr/>
        </p:nvCxnSpPr>
        <p:spPr>
          <a:xfrm>
            <a:off x="1525058" y="3401479"/>
            <a:ext cx="1360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0" name="Google Shape;260;p10"/>
          <p:cNvSpPr txBox="1"/>
          <p:nvPr/>
        </p:nvSpPr>
        <p:spPr>
          <a:xfrm>
            <a:off x="3895183" y="3401477"/>
            <a:ext cx="13383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10 cm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61" name="Google Shape;261;p10"/>
          <p:cNvCxnSpPr/>
          <p:nvPr/>
        </p:nvCxnSpPr>
        <p:spPr>
          <a:xfrm>
            <a:off x="3884356" y="3401479"/>
            <a:ext cx="136005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2" name="Google Shape;262;p10"/>
          <p:cNvSpPr txBox="1"/>
          <p:nvPr/>
        </p:nvSpPr>
        <p:spPr>
          <a:xfrm>
            <a:off x="7262274" y="3396385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8 m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63" name="Google Shape;263;p10"/>
          <p:cNvCxnSpPr/>
          <p:nvPr/>
        </p:nvCxnSpPr>
        <p:spPr>
          <a:xfrm>
            <a:off x="7072656" y="3401479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64" name="Google Shape;264;p10"/>
          <p:cNvCxnSpPr>
            <a:stCxn id="253" idx="0"/>
            <a:endCxn id="253" idx="2"/>
          </p:cNvCxnSpPr>
          <p:nvPr/>
        </p:nvCxnSpPr>
        <p:spPr>
          <a:xfrm>
            <a:off x="1525058" y="2003821"/>
            <a:ext cx="0" cy="1397700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5" name="Google Shape;265;p10"/>
          <p:cNvSpPr txBox="1"/>
          <p:nvPr/>
        </p:nvSpPr>
        <p:spPr>
          <a:xfrm>
            <a:off x="600218" y="2471815"/>
            <a:ext cx="8473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5 mm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66" name="Google Shape;266;p10"/>
          <p:cNvCxnSpPr/>
          <p:nvPr/>
        </p:nvCxnSpPr>
        <p:spPr>
          <a:xfrm>
            <a:off x="4880793" y="2009829"/>
            <a:ext cx="0" cy="1397658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67" name="Google Shape;267;p10"/>
          <p:cNvSpPr txBox="1"/>
          <p:nvPr/>
        </p:nvSpPr>
        <p:spPr>
          <a:xfrm>
            <a:off x="4505344" y="2477823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6371616" y="3218936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10"/>
          <p:cNvCxnSpPr/>
          <p:nvPr/>
        </p:nvCxnSpPr>
        <p:spPr>
          <a:xfrm>
            <a:off x="6371616" y="2014923"/>
            <a:ext cx="0" cy="1367251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70" name="Google Shape;270;p10"/>
          <p:cNvSpPr txBox="1"/>
          <p:nvPr/>
        </p:nvSpPr>
        <p:spPr>
          <a:xfrm>
            <a:off x="5743546" y="2504433"/>
            <a:ext cx="6473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4 m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71" name="Google Shape;271;p10"/>
          <p:cNvCxnSpPr/>
          <p:nvPr/>
        </p:nvCxnSpPr>
        <p:spPr>
          <a:xfrm>
            <a:off x="6371616" y="3396385"/>
            <a:ext cx="70104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72" name="Google Shape;272;p10"/>
          <p:cNvSpPr txBox="1"/>
          <p:nvPr/>
        </p:nvSpPr>
        <p:spPr>
          <a:xfrm>
            <a:off x="1471413" y="2821119"/>
            <a:ext cx="10857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50 mm</a:t>
            </a:r>
            <a:r>
              <a:rPr b="1" baseline="30000" i="0" lang="es-ES" sz="2000" u="none" cap="none" strike="noStrike">
                <a:solidFill>
                  <a:srgbClr val="FAB235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2000" u="none" cap="none" strike="noStrike">
              <a:solidFill>
                <a:srgbClr val="FAB235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4157844" y="2821119"/>
            <a:ext cx="10857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100 cm</a:t>
            </a:r>
            <a:r>
              <a:rPr b="1" baseline="30000" i="0" lang="es-ES" sz="2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2000" u="none" cap="none" strike="noStrike">
              <a:solidFill>
                <a:srgbClr val="009F98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6794712" y="2982064"/>
            <a:ext cx="10857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4285F4"/>
                </a:solidFill>
                <a:latin typeface="Patrick Hand"/>
                <a:ea typeface="Patrick Hand"/>
                <a:cs typeface="Patrick Hand"/>
                <a:sym typeface="Patrick Hand"/>
              </a:rPr>
              <a:t>A m</a:t>
            </a:r>
            <a:r>
              <a:rPr b="1" baseline="30000" i="0" lang="es-ES" sz="2000" u="none" cap="none" strike="noStrike">
                <a:solidFill>
                  <a:srgbClr val="4285F4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endParaRPr b="1" i="0" sz="2000" u="none" cap="none" strike="noStrike">
              <a:solidFill>
                <a:srgbClr val="4285F4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75" name="Google Shape;275;p10"/>
          <p:cNvCxnSpPr/>
          <p:nvPr/>
        </p:nvCxnSpPr>
        <p:spPr>
          <a:xfrm>
            <a:off x="6371616" y="2014923"/>
            <a:ext cx="671040" cy="1367251"/>
          </a:xfrm>
          <a:prstGeom prst="straightConnector1">
            <a:avLst/>
          </a:prstGeom>
          <a:noFill/>
          <a:ln cap="flat" cmpd="sng" w="571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76" name="Google Shape;276;p10"/>
          <p:cNvSpPr txBox="1"/>
          <p:nvPr/>
        </p:nvSpPr>
        <p:spPr>
          <a:xfrm>
            <a:off x="6683551" y="2525494"/>
            <a:ext cx="64739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5 m</a:t>
            </a:r>
            <a:endParaRPr b="1" i="0" sz="2400" u="none" cap="none" strike="noStrike">
              <a:solidFill>
                <a:srgbClr val="009F98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854019" y="1553258"/>
            <a:ext cx="690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3632370" y="1553258"/>
            <a:ext cx="690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</a:t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5851953" y="1553258"/>
            <a:ext cx="690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3)</a:t>
            </a:r>
            <a:endParaRPr/>
          </a:p>
        </p:txBody>
      </p:sp>
      <p:pic>
        <p:nvPicPr>
          <p:cNvPr id="280" name="Google Shape;28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285" name="Google Shape;28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1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288" name="Google Shape;288;p11" title="Resumen - Geometría (16) - Ejercitación Final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3975" y="1120225"/>
            <a:ext cx="5951350" cy="35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 txBox="1"/>
          <p:nvPr/>
        </p:nvSpPr>
        <p:spPr>
          <a:xfrm>
            <a:off x="785234" y="366599"/>
            <a:ext cx="75734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2"/>
          <p:cNvSpPr txBox="1"/>
          <p:nvPr/>
        </p:nvSpPr>
        <p:spPr>
          <a:xfrm>
            <a:off x="5097792" y="3853258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https://forms.gle/iiQJ28gvnHAnHCsy9</a:t>
            </a: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descr="Imagen en blanco y negro&#10;&#10;Descripción generada automáticamente con confianza media" id="296" name="Google Shape;296;p12"/>
          <p:cNvPicPr preferRelativeResize="0"/>
          <p:nvPr/>
        </p:nvPicPr>
        <p:blipFill rotWithShape="1">
          <a:blip r:embed="rId4">
            <a:alphaModFix/>
          </a:blip>
          <a:srcRect b="0" l="0" r="-204" t="0"/>
          <a:stretch/>
        </p:blipFill>
        <p:spPr>
          <a:xfrm>
            <a:off x="223932" y="1152618"/>
            <a:ext cx="2783135" cy="231000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2"/>
          <p:cNvSpPr/>
          <p:nvPr/>
        </p:nvSpPr>
        <p:spPr>
          <a:xfrm>
            <a:off x="504807" y="1445173"/>
            <a:ext cx="975360" cy="728698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47694" y="2439619"/>
            <a:ext cx="490538" cy="738188"/>
          </a:xfrm>
          <a:prstGeom prst="rtTriangle">
            <a:avLst/>
          </a:prstGeom>
          <a:solidFill>
            <a:srgbClr val="009F9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en blanco y negro&#10;&#10;Descripción generada automáticamente con confianza media" id="299" name="Google Shape;299;p12"/>
          <p:cNvPicPr preferRelativeResize="0"/>
          <p:nvPr/>
        </p:nvPicPr>
        <p:blipFill rotWithShape="1">
          <a:blip r:embed="rId4">
            <a:alphaModFix/>
          </a:blip>
          <a:srcRect b="0" l="0" r="-204" t="0"/>
          <a:stretch/>
        </p:blipFill>
        <p:spPr>
          <a:xfrm>
            <a:off x="4118416" y="1152618"/>
            <a:ext cx="2783135" cy="231000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5390844" y="2191995"/>
            <a:ext cx="975360" cy="728698"/>
          </a:xfrm>
          <a:prstGeom prst="rect">
            <a:avLst/>
          </a:prstGeom>
          <a:solidFill>
            <a:srgbClr val="FAB235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6380492" y="2187268"/>
            <a:ext cx="490538" cy="738188"/>
          </a:xfrm>
          <a:prstGeom prst="rtTriangle">
            <a:avLst/>
          </a:prstGeom>
          <a:solidFill>
            <a:srgbClr val="009F9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5380718" y="2190940"/>
            <a:ext cx="1493043" cy="735806"/>
          </a:xfrm>
          <a:custGeom>
            <a:rect b="b" l="l" r="r" t="t"/>
            <a:pathLst>
              <a:path extrusionOk="0" h="735806" w="1493043">
                <a:moveTo>
                  <a:pt x="11906" y="0"/>
                </a:moveTo>
                <a:lnTo>
                  <a:pt x="1002506" y="0"/>
                </a:lnTo>
                <a:lnTo>
                  <a:pt x="1493043" y="735806"/>
                </a:lnTo>
                <a:lnTo>
                  <a:pt x="0" y="735806"/>
                </a:lnTo>
                <a:lnTo>
                  <a:pt x="11906" y="0"/>
                </a:lnTo>
                <a:close/>
              </a:path>
            </a:pathLst>
          </a:custGeom>
          <a:solidFill>
            <a:srgbClr val="7030A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2"/>
          <p:cNvCxnSpPr>
            <a:stCxn id="302" idx="1"/>
          </p:cNvCxnSpPr>
          <p:nvPr/>
        </p:nvCxnSpPr>
        <p:spPr>
          <a:xfrm flipH="1">
            <a:off x="6380524" y="2190940"/>
            <a:ext cx="2700" cy="729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04" name="Google Shape;304;p12"/>
          <p:cNvCxnSpPr/>
          <p:nvPr/>
        </p:nvCxnSpPr>
        <p:spPr>
          <a:xfrm>
            <a:off x="3122859" y="2318180"/>
            <a:ext cx="869274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5" name="Google Shape;305;p12"/>
          <p:cNvSpPr txBox="1"/>
          <p:nvPr/>
        </p:nvSpPr>
        <p:spPr>
          <a:xfrm>
            <a:off x="-266962" y="3450729"/>
            <a:ext cx="6665774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¿Qué transformaciones isométricas se aplicaron en las figuras iniciales para obtener la figura final?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¿Cómo se llama la figura final?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3) ¿Cuál es el área en cm² de la figura final?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235849" y="797475"/>
            <a:ext cx="271749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Inicial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4118415" y="797475"/>
            <a:ext cx="2783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Final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2457425" y="972702"/>
            <a:ext cx="79121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cm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2727252" y="1167178"/>
            <a:ext cx="79121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cm</a:t>
            </a:r>
            <a:endParaRPr/>
          </a:p>
        </p:txBody>
      </p:sp>
      <p:pic>
        <p:nvPicPr>
          <p:cNvPr id="310" name="Google Shape;31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7633" y="1926979"/>
            <a:ext cx="1773338" cy="1763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58700" y="3666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16" name="Google Shape;316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319" name="Google Shape;319;p13" title="Reforzamiento - Geometría (16) - Ejercitación Final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4550" y="1126700"/>
            <a:ext cx="6574900" cy="355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6150" y="395293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