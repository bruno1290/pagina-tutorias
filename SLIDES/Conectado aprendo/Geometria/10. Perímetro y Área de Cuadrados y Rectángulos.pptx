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atrick Hand"/>
      <p:regular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gdc4QB4XrQEcKJNtoLUB9pk7Al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atrickHand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5.xml"/><Relationship Id="rId33" Type="http://schemas.openxmlformats.org/officeDocument/2006/relationships/font" Target="fonts/PoppinsLight-regular.fntdata"/><Relationship Id="rId10" Type="http://schemas.openxmlformats.org/officeDocument/2006/relationships/slide" Target="slides/slide4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Light-italic.fntdata"/><Relationship Id="rId12" Type="http://schemas.openxmlformats.org/officeDocument/2006/relationships/slide" Target="slides/slide6.xml"/><Relationship Id="rId34" Type="http://schemas.openxmlformats.org/officeDocument/2006/relationships/font" Target="fonts/PoppinsLight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PoppinsLigh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536ec521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536ec52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36ec521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36ec52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536ec521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9536ec52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 las siguientes diapositivas se presentarán distintas preguntas. Es importante que puedan conversarlas con el pupilo para que sea este quien las responda con sus palabras</a:t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Permitir que vayan descubriendo paso a paso el cálculo del área.</a:t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La última pregunta es importante que el pupilo pueda recordar que el orden de los factores no altera el producto.</a:t>
            </a:r>
            <a:endParaRPr/>
          </a:p>
        </p:txBody>
      </p:sp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 la sección en que estarán practicando, dejar en todo momento que el pupilo sea capaz de responder por su cuenta. Si es necesario no hagan todos los ejercicios.</a:t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536ec521_0_15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536ec521_0_15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536ec521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536ec521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536ec521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536ec521_0_16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536ec521_0_16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536ec521_0_16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536ec521_0_16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536ec521_0_1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536ec521_0_16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536ec521_0_16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536ec521_0_16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536ec521_0_16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536ec521_0_1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536ec521_0_17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536ec521_0_17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536ec521_0_17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536ec521_0_17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536ec521_0_17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536ec521_0_1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536ec521_0_180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536ec521_0_180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536ec521_0_180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536ec521_0_180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536ec521_0_180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536ec521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536ec521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536ec521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536ec521_0_1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536ec521_0_1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536ec521_0_1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536ec521_0_1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536ec521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536ec521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536ec521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536ec521_0_19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536ec521_0_19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536ec521_0_198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536ec521_0_19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536ec521_0_19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536ec521_0_1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536ec521_0_205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536ec521_0_205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536ec521_0_205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536ec521_0_20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536ec521_0_20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536ec521_0_20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536ec521_0_2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536ec521_0_212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536ec521_0_2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536ec521_0_2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536ec521_0_2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536ec521_0_21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536ec521_0_21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536ec521_0_2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536ec521_0_2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536ec521_0_2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536ec521_0_1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536ec521_0_1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536ec521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536ec521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536ec521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bit.ly/47CkExN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hyperlink" Target="http://www.youtube.com/watch?v=3di1BFPiPJ8" TargetMode="External"/><Relationship Id="rId5" Type="http://schemas.openxmlformats.org/officeDocument/2006/relationships/image" Target="../media/image12.jpg"/><Relationship Id="rId6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orms.gle/4pVw3dtLbK5tomEP7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Relationship Id="rId4" Type="http://schemas.openxmlformats.org/officeDocument/2006/relationships/hyperlink" Target="http://www.youtube.com/watch?v=yRUGbOEUZEI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6100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9536ec521_0_112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Consolidar en los estudiantes el conocimiento sobre el cálculo de perímetro y área de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cuadrados y rectángulos, comprendiendo además el significado del uso del exponente 2 en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unidades de medida del área.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2d9536ec521_0_112"/>
          <p:cNvSpPr txBox="1"/>
          <p:nvPr/>
        </p:nvSpPr>
        <p:spPr>
          <a:xfrm>
            <a:off x="868700" y="1980075"/>
            <a:ext cx="3524100" cy="28947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Recordar el perímetro de cuadrados y rectángulos.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Calcular el área de cuadrados y rectángulos.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Entender por qué se agrega un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exponente 2 a las unidades cuadráticas del área.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2d9536ec521_0_112"/>
          <p:cNvSpPr txBox="1"/>
          <p:nvPr/>
        </p:nvSpPr>
        <p:spPr>
          <a:xfrm>
            <a:off x="4782050" y="1979975"/>
            <a:ext cx="3524100" cy="28947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Cuadrado.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Rectángulo.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Perímetro.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Área.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536ec521_0_11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9536ec521_0_11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536ec521_0_11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2d9536ec521_0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9536ec521_0_122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2d9536ec521_0_122"/>
          <p:cNvSpPr txBox="1"/>
          <p:nvPr/>
        </p:nvSpPr>
        <p:spPr>
          <a:xfrm>
            <a:off x="589763" y="1370081"/>
            <a:ext cx="7875000" cy="7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Fíjate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qué tan familiarizado está tu estudiante durante el repaso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que harán en las diapositivas 5 a 9. En caso de que notes dificultades,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tómate el tiempo necesario para resolverlas.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Asegúrate de que tu estudiante entienda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por qué no es importante el orden al calcular el área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mediante la multiplicación de largo por ancho o ancho por largo.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Revisa con antelación y atención la sección de “Practiquemos”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(diapositivas 13 a 15) ya que ahí se hacen preguntas que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desafían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los conocimientos de tu estudiante. Entonces procura explicar bien lo señalado ahí.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Uno de los errores más frecuentes al calcular el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área de un rectángulo es sumar en lugar de multiplicar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el largo y el ancho. Para ello sé enfático en el ejemplo de la diapositiva 11 sobre la multiplicación.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complementar la sesión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, se sugiere revisar el siguiente enlace de GeoGebra [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bit.ly/47CkExN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] en el que se mide perímetro y área en tiempo real. Revísalo con antelación porque podría ser de gran ayuda.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2d9536ec521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9536ec521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536ec521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2d9536ec521_0_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9536ec521_0_14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2d9536ec521_0_140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Pídele a tu estudiante que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calcule el largo y ancho de su pieza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con ello obtenga el perímetro y área. Comenten los resultados en la siguiente sesión.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2d9536ec521_0_140"/>
          <p:cNvSpPr txBox="1"/>
          <p:nvPr/>
        </p:nvSpPr>
        <p:spPr>
          <a:xfrm>
            <a:off x="285206" y="2772719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necesito para calcular el área de un cuadrado?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se calcula el área en cuadrados y rectángulos?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¿Importa el orden del largo y ancho al calcular el área?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2d9536ec521_0_14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536ec521_0_14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2d9536ec521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10</a:t>
            </a:r>
            <a:endParaRPr/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00255" y="1095159"/>
            <a:ext cx="794348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OA23 4to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Demostrar que comprenden el concepto de área de un rectángulo y de un cuadrado: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reconociendo que el área de una superficie se mide en unidades cuadradas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seleccionando y justificando la elección de la unidad estandarizada (cm² y m2)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determinando y registrando el área en cm² y m² en contextos cercanos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construyendo diferentes rectángulos para un área dada (cm² y m²) para demostrar que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distintos rectángulos pueden tener la misma área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00218" y="1095159"/>
            <a:ext cx="79434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Recordar el perímetro de cuadrados y rectángulos.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Calcular el área de cuadrados y rectángulos.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Entender por qué se agrega un exponente </a:t>
            </a:r>
            <a:r>
              <a:rPr b="0" i="0" lang="es-ES" sz="20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a las unidades cuadráticas del área.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"/>
          <p:cNvSpPr txBox="1"/>
          <p:nvPr/>
        </p:nvSpPr>
        <p:spPr>
          <a:xfrm>
            <a:off x="187950" y="366600"/>
            <a:ext cx="876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600218" y="1020621"/>
            <a:ext cx="7943489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era el perímetro?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La medición del contorno de una figura geométrica</a:t>
            </a:r>
            <a:endParaRPr b="1" i="0" sz="2400" u="none" cap="none" strike="noStrike">
              <a:solidFill>
                <a:schemeClr val="dk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calculamos el perímetro?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Sumando cada lado</a:t>
            </a:r>
            <a:r>
              <a:rPr b="1" i="0" lang="es-ES" sz="24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 la figura geométrica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¿Por qué y cuáles unidades de medición utilizamos?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Para estandarizar</a:t>
            </a:r>
            <a:r>
              <a:rPr b="0" i="0" lang="es-ES" sz="24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y poder comparar tamaños.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Usamos unidades como el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cm, m, km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, entre otras.</a:t>
            </a:r>
            <a:endParaRPr/>
          </a:p>
        </p:txBody>
      </p:sp>
      <p:pic>
        <p:nvPicPr>
          <p:cNvPr id="194" name="Google Shape;19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/>
          <p:nvPr/>
        </p:nvSpPr>
        <p:spPr>
          <a:xfrm>
            <a:off x="148050" y="366600"/>
            <a:ext cx="884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600218" y="1020621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se llaman estas figuras geométricas?</a:t>
            </a:r>
            <a:endParaRPr/>
          </a:p>
        </p:txBody>
      </p:sp>
      <p:pic>
        <p:nvPicPr>
          <p:cNvPr descr="Imagen que contiene Cuadrado&#10;&#10;Descripción generada automáticamente" id="201" name="Google Shape;201;p6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1691067" y="1693123"/>
            <a:ext cx="1844790" cy="1857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uadrado&#10;&#10;Descripción generada automáticamente" id="202" name="Google Shape;202;p6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4975631" y="1767130"/>
            <a:ext cx="2553502" cy="170954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 txBox="1"/>
          <p:nvPr/>
        </p:nvSpPr>
        <p:spPr>
          <a:xfrm>
            <a:off x="1691067" y="3661214"/>
            <a:ext cx="18447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Cuadrado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4975631" y="3661214"/>
            <a:ext cx="25535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Rectángulo</a:t>
            </a:r>
            <a:endParaRPr/>
          </a:p>
        </p:txBody>
      </p:sp>
      <p:pic>
        <p:nvPicPr>
          <p:cNvPr id="205" name="Google Shape;20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/>
        </p:nvSpPr>
        <p:spPr>
          <a:xfrm>
            <a:off x="247949" y="353275"/>
            <a:ext cx="864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600218" y="1020621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caracteriza a los lados de estas figuras?</a:t>
            </a:r>
            <a:endParaRPr/>
          </a:p>
        </p:txBody>
      </p:sp>
      <p:pic>
        <p:nvPicPr>
          <p:cNvPr descr="Imagen que contiene Cuadrado&#10;&#10;Descripción generada automáticamente" id="212" name="Google Shape;212;p7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1691067" y="1693123"/>
            <a:ext cx="1844790" cy="1857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uadrado&#10;&#10;Descripción generada automáticamente" id="213" name="Google Shape;213;p7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4975631" y="1767130"/>
            <a:ext cx="2553502" cy="17095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1691067" y="3661214"/>
            <a:ext cx="184479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Todos los lados son iguales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4975631" y="3661214"/>
            <a:ext cx="25535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Los lados paralelos son iguales</a:t>
            </a:r>
            <a:endParaRPr/>
          </a:p>
        </p:txBody>
      </p:sp>
      <p:pic>
        <p:nvPicPr>
          <p:cNvPr id="216" name="Google Shape;21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/>
        </p:nvSpPr>
        <p:spPr>
          <a:xfrm>
            <a:off x="337499" y="379925"/>
            <a:ext cx="84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600218" y="1020621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la cuadrícula es de 1 cm ¿cuál es el perímetro?</a:t>
            </a:r>
            <a:endParaRPr/>
          </a:p>
        </p:txBody>
      </p:sp>
      <p:pic>
        <p:nvPicPr>
          <p:cNvPr descr="Imagen que contiene Cuadrado&#10;&#10;Descripción generada automáticamente" id="223" name="Google Shape;223;p8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1691067" y="1693123"/>
            <a:ext cx="1844790" cy="1857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uadrado&#10;&#10;Descripción generada automáticamente" id="224" name="Google Shape;224;p8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4975631" y="1767130"/>
            <a:ext cx="2553502" cy="170954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"/>
          <p:cNvSpPr txBox="1"/>
          <p:nvPr/>
        </p:nvSpPr>
        <p:spPr>
          <a:xfrm>
            <a:off x="1691067" y="3661214"/>
            <a:ext cx="18447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 = 12 cm</a:t>
            </a:r>
            <a:endParaRPr/>
          </a:p>
        </p:txBody>
      </p:sp>
      <p:cxnSp>
        <p:nvCxnSpPr>
          <p:cNvPr id="226" name="Google Shape;226;p8"/>
          <p:cNvCxnSpPr/>
          <p:nvPr/>
        </p:nvCxnSpPr>
        <p:spPr>
          <a:xfrm>
            <a:off x="2093259" y="2065416"/>
            <a:ext cx="1059516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27" name="Google Shape;227;p8"/>
          <p:cNvSpPr txBox="1"/>
          <p:nvPr/>
        </p:nvSpPr>
        <p:spPr>
          <a:xfrm>
            <a:off x="2193073" y="1693123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/>
          </a:p>
        </p:txBody>
      </p:sp>
      <p:cxnSp>
        <p:nvCxnSpPr>
          <p:cNvPr id="228" name="Google Shape;228;p8"/>
          <p:cNvCxnSpPr/>
          <p:nvPr/>
        </p:nvCxnSpPr>
        <p:spPr>
          <a:xfrm>
            <a:off x="5398434" y="2197687"/>
            <a:ext cx="1669116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29" name="Google Shape;229;p8"/>
          <p:cNvSpPr txBox="1"/>
          <p:nvPr/>
        </p:nvSpPr>
        <p:spPr>
          <a:xfrm>
            <a:off x="5812603" y="1825394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</a:t>
            </a:r>
            <a:endParaRPr/>
          </a:p>
        </p:txBody>
      </p:sp>
      <p:cxnSp>
        <p:nvCxnSpPr>
          <p:cNvPr id="230" name="Google Shape;230;p8"/>
          <p:cNvCxnSpPr/>
          <p:nvPr/>
        </p:nvCxnSpPr>
        <p:spPr>
          <a:xfrm>
            <a:off x="5422583" y="2183123"/>
            <a:ext cx="0" cy="8458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31" name="Google Shape;231;p8"/>
          <p:cNvSpPr txBox="1"/>
          <p:nvPr/>
        </p:nvSpPr>
        <p:spPr>
          <a:xfrm flipH="1" rot="-5400000">
            <a:off x="4756055" y="2328956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5329987" y="3661214"/>
            <a:ext cx="18447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 = 12 cm</a:t>
            </a:r>
            <a:endParaRPr/>
          </a:p>
        </p:txBody>
      </p:sp>
      <p:pic>
        <p:nvPicPr>
          <p:cNvPr id="233" name="Google Shape;23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/>
          <p:nvPr/>
        </p:nvSpPr>
        <p:spPr>
          <a:xfrm>
            <a:off x="194699" y="353275"/>
            <a:ext cx="875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/>
          </a:p>
        </p:txBody>
      </p:sp>
      <p:pic>
        <p:nvPicPr>
          <p:cNvPr descr="Imagen que contiene Cuadrado&#10;&#10;Descripción generada automáticamente" id="239" name="Google Shape;239;p9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1691067" y="1693123"/>
            <a:ext cx="1844790" cy="1857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uadrado&#10;&#10;Descripción generada automáticamente" id="240" name="Google Shape;240;p9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4975631" y="1767130"/>
            <a:ext cx="2553502" cy="17095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9"/>
          <p:cNvCxnSpPr/>
          <p:nvPr/>
        </p:nvCxnSpPr>
        <p:spPr>
          <a:xfrm>
            <a:off x="2093259" y="2065416"/>
            <a:ext cx="1059516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42" name="Google Shape;242;p9"/>
          <p:cNvSpPr txBox="1"/>
          <p:nvPr/>
        </p:nvSpPr>
        <p:spPr>
          <a:xfrm>
            <a:off x="2193073" y="1693123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/>
          </a:p>
        </p:txBody>
      </p:sp>
      <p:cxnSp>
        <p:nvCxnSpPr>
          <p:cNvPr id="243" name="Google Shape;243;p9"/>
          <p:cNvCxnSpPr/>
          <p:nvPr/>
        </p:nvCxnSpPr>
        <p:spPr>
          <a:xfrm>
            <a:off x="5398434" y="2197687"/>
            <a:ext cx="1669116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44" name="Google Shape;244;p9"/>
          <p:cNvSpPr txBox="1"/>
          <p:nvPr/>
        </p:nvSpPr>
        <p:spPr>
          <a:xfrm>
            <a:off x="5812603" y="1825394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</a:t>
            </a:r>
            <a:endParaRPr/>
          </a:p>
        </p:txBody>
      </p:sp>
      <p:cxnSp>
        <p:nvCxnSpPr>
          <p:cNvPr id="245" name="Google Shape;245;p9"/>
          <p:cNvCxnSpPr/>
          <p:nvPr/>
        </p:nvCxnSpPr>
        <p:spPr>
          <a:xfrm>
            <a:off x="5422583" y="2183123"/>
            <a:ext cx="0" cy="8458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46" name="Google Shape;246;p9"/>
          <p:cNvSpPr txBox="1"/>
          <p:nvPr/>
        </p:nvSpPr>
        <p:spPr>
          <a:xfrm flipH="1" rot="-5400000">
            <a:off x="4756055" y="2328956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</a:t>
            </a:r>
            <a:endParaRPr/>
          </a:p>
        </p:txBody>
      </p:sp>
      <p:sp>
        <p:nvSpPr>
          <p:cNvPr id="247" name="Google Shape;247;p9"/>
          <p:cNvSpPr txBox="1"/>
          <p:nvPr/>
        </p:nvSpPr>
        <p:spPr>
          <a:xfrm>
            <a:off x="600218" y="1020621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nombres tenían los lados?</a:t>
            </a:r>
            <a:endParaRPr/>
          </a:p>
        </p:txBody>
      </p:sp>
      <p:sp>
        <p:nvSpPr>
          <p:cNvPr id="248" name="Google Shape;248;p9"/>
          <p:cNvSpPr txBox="1"/>
          <p:nvPr/>
        </p:nvSpPr>
        <p:spPr>
          <a:xfrm>
            <a:off x="6508376" y="1266017"/>
            <a:ext cx="8851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Largo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3842420" y="2733956"/>
            <a:ext cx="1334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Ancho</a:t>
            </a:r>
            <a:endParaRPr/>
          </a:p>
        </p:txBody>
      </p:sp>
      <p:cxnSp>
        <p:nvCxnSpPr>
          <p:cNvPr id="250" name="Google Shape;250;p9"/>
          <p:cNvCxnSpPr>
            <a:stCxn id="249" idx="0"/>
            <a:endCxn id="246" idx="0"/>
          </p:cNvCxnSpPr>
          <p:nvPr/>
        </p:nvCxnSpPr>
        <p:spPr>
          <a:xfrm rot="-5400000">
            <a:off x="4640382" y="2413406"/>
            <a:ext cx="189600" cy="4515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1" name="Google Shape;251;p9"/>
          <p:cNvCxnSpPr>
            <a:stCxn id="248" idx="1"/>
            <a:endCxn id="244" idx="0"/>
          </p:cNvCxnSpPr>
          <p:nvPr/>
        </p:nvCxnSpPr>
        <p:spPr>
          <a:xfrm flipH="1">
            <a:off x="6232976" y="1496850"/>
            <a:ext cx="275400" cy="3285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2" name="Google Shape;252;p9"/>
          <p:cNvSpPr txBox="1"/>
          <p:nvPr/>
        </p:nvSpPr>
        <p:spPr>
          <a:xfrm>
            <a:off x="1631598" y="1240167"/>
            <a:ext cx="8851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Largo</a:t>
            </a:r>
            <a:endParaRPr/>
          </a:p>
        </p:txBody>
      </p:sp>
      <p:cxnSp>
        <p:nvCxnSpPr>
          <p:cNvPr id="253" name="Google Shape;253;p9"/>
          <p:cNvCxnSpPr>
            <a:stCxn id="252" idx="3"/>
            <a:endCxn id="242" idx="0"/>
          </p:cNvCxnSpPr>
          <p:nvPr/>
        </p:nvCxnSpPr>
        <p:spPr>
          <a:xfrm>
            <a:off x="2516700" y="1471000"/>
            <a:ext cx="96900" cy="2220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4" name="Google Shape;254;p9"/>
          <p:cNvSpPr txBox="1"/>
          <p:nvPr/>
        </p:nvSpPr>
        <p:spPr>
          <a:xfrm>
            <a:off x="927355" y="2733956"/>
            <a:ext cx="1334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Ancho</a:t>
            </a:r>
            <a:endParaRPr/>
          </a:p>
        </p:txBody>
      </p:sp>
      <p:cxnSp>
        <p:nvCxnSpPr>
          <p:cNvPr id="255" name="Google Shape;255;p9"/>
          <p:cNvCxnSpPr>
            <a:stCxn id="254" idx="0"/>
          </p:cNvCxnSpPr>
          <p:nvPr/>
        </p:nvCxnSpPr>
        <p:spPr>
          <a:xfrm rot="-5400000">
            <a:off x="1725317" y="2413406"/>
            <a:ext cx="189600" cy="4515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6" name="Google Shape;256;p9"/>
          <p:cNvSpPr txBox="1"/>
          <p:nvPr/>
        </p:nvSpPr>
        <p:spPr>
          <a:xfrm>
            <a:off x="600218" y="3726037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el caso del cuadrado, largo y ancho ¿cómo son?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Iguales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</p:txBody>
      </p:sp>
      <p:pic>
        <p:nvPicPr>
          <p:cNvPr id="257" name="Google Shape;25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 txBox="1"/>
          <p:nvPr/>
        </p:nvSpPr>
        <p:spPr>
          <a:xfrm>
            <a:off x="208049" y="366600"/>
            <a:ext cx="872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calculamos el área de un cuadrado?</a:t>
            </a:r>
            <a:endParaRPr/>
          </a:p>
        </p:txBody>
      </p:sp>
      <p:pic>
        <p:nvPicPr>
          <p:cNvPr descr="Imagen que contiene Cuadrado&#10;&#10;Descripción generada automáticamente" id="263" name="Google Shape;263;p10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610319" y="1457251"/>
            <a:ext cx="2601232" cy="2619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10"/>
          <p:cNvCxnSpPr/>
          <p:nvPr/>
        </p:nvCxnSpPr>
        <p:spPr>
          <a:xfrm>
            <a:off x="1178859" y="1987358"/>
            <a:ext cx="1497434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5" name="Google Shape;265;p10"/>
          <p:cNvSpPr txBox="1"/>
          <p:nvPr/>
        </p:nvSpPr>
        <p:spPr>
          <a:xfrm>
            <a:off x="1340471" y="1627085"/>
            <a:ext cx="118553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/>
          </a:p>
        </p:txBody>
      </p:sp>
      <p:sp>
        <p:nvSpPr>
          <p:cNvPr id="266" name="Google Shape;266;p10"/>
          <p:cNvSpPr txBox="1"/>
          <p:nvPr/>
        </p:nvSpPr>
        <p:spPr>
          <a:xfrm>
            <a:off x="3211551" y="1345738"/>
            <a:ext cx="5932449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Debemos multiplicar Largo por ancho: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 x 3 cm =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x 3 x cm x cm =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cm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¿Por qué entonces aparece 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¡Porque estamos 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“repitiendo” dos veces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la unidad de medida (en este caso cm)! </a:t>
            </a:r>
            <a:endParaRPr/>
          </a:p>
        </p:txBody>
      </p:sp>
      <p:pic>
        <p:nvPicPr>
          <p:cNvPr id="267" name="Google Shape;26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Cuadrado&#10;&#10;Descripción generada automáticamente" id="272" name="Google Shape;272;p11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609965" y="1807577"/>
            <a:ext cx="2613427" cy="174966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1"/>
          <p:cNvSpPr txBox="1"/>
          <p:nvPr/>
        </p:nvSpPr>
        <p:spPr>
          <a:xfrm>
            <a:off x="274649" y="366600"/>
            <a:ext cx="859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¿Cómo calculamos el área de un rectángulo?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3137230" y="1897578"/>
            <a:ext cx="593244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Debemos multiplicar Largo por ancho: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 x 4 cm =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x 4 x cm x cm =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cm</a:t>
            </a: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²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5" name="Google Shape;275;p11"/>
          <p:cNvCxnSpPr/>
          <p:nvPr/>
        </p:nvCxnSpPr>
        <p:spPr>
          <a:xfrm>
            <a:off x="1047399" y="2264594"/>
            <a:ext cx="1729255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76" name="Google Shape;276;p11"/>
          <p:cNvSpPr txBox="1"/>
          <p:nvPr/>
        </p:nvSpPr>
        <p:spPr>
          <a:xfrm>
            <a:off x="1461568" y="1892301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</a:t>
            </a:r>
            <a:endParaRPr/>
          </a:p>
        </p:txBody>
      </p:sp>
      <p:cxnSp>
        <p:nvCxnSpPr>
          <p:cNvPr id="277" name="Google Shape;277;p11"/>
          <p:cNvCxnSpPr/>
          <p:nvPr/>
        </p:nvCxnSpPr>
        <p:spPr>
          <a:xfrm>
            <a:off x="1071548" y="2250030"/>
            <a:ext cx="0" cy="8458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78" name="Google Shape;278;p11"/>
          <p:cNvSpPr txBox="1"/>
          <p:nvPr/>
        </p:nvSpPr>
        <p:spPr>
          <a:xfrm flipH="1" rot="-5400000">
            <a:off x="405020" y="2395863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</a:t>
            </a:r>
            <a:endParaRPr/>
          </a:p>
        </p:txBody>
      </p:sp>
      <p:pic>
        <p:nvPicPr>
          <p:cNvPr id="279" name="Google Shape;2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"/>
          <p:cNvSpPr txBox="1"/>
          <p:nvPr/>
        </p:nvSpPr>
        <p:spPr>
          <a:xfrm>
            <a:off x="254699" y="346000"/>
            <a:ext cx="863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No lo olvides</a:t>
            </a:r>
            <a:endParaRPr/>
          </a:p>
        </p:txBody>
      </p:sp>
      <p:pic>
        <p:nvPicPr>
          <p:cNvPr descr="Imagen que contiene Cuadrado&#10;&#10;Descripción generada automáticamente" id="285" name="Google Shape;285;p12"/>
          <p:cNvPicPr preferRelativeResize="0"/>
          <p:nvPr/>
        </p:nvPicPr>
        <p:blipFill rotWithShape="1">
          <a:blip r:embed="rId3">
            <a:alphaModFix/>
          </a:blip>
          <a:srcRect b="33403" l="0" r="54421" t="11415"/>
          <a:stretch/>
        </p:blipFill>
        <p:spPr>
          <a:xfrm>
            <a:off x="1691067" y="1693123"/>
            <a:ext cx="1844790" cy="1857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uadrado&#10;&#10;Descripción generada automáticamente" id="286" name="Google Shape;286;p12"/>
          <p:cNvPicPr preferRelativeResize="0"/>
          <p:nvPr/>
        </p:nvPicPr>
        <p:blipFill rotWithShape="1">
          <a:blip r:embed="rId3">
            <a:alphaModFix/>
          </a:blip>
          <a:srcRect b="33276" l="44768" r="0" t="22263"/>
          <a:stretch/>
        </p:blipFill>
        <p:spPr>
          <a:xfrm>
            <a:off x="4975631" y="1767130"/>
            <a:ext cx="2553502" cy="17095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12"/>
          <p:cNvCxnSpPr/>
          <p:nvPr/>
        </p:nvCxnSpPr>
        <p:spPr>
          <a:xfrm>
            <a:off x="2093259" y="2065416"/>
            <a:ext cx="1059516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88" name="Google Shape;288;p12"/>
          <p:cNvSpPr txBox="1"/>
          <p:nvPr/>
        </p:nvSpPr>
        <p:spPr>
          <a:xfrm>
            <a:off x="2193073" y="1693123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cm</a:t>
            </a:r>
            <a:endParaRPr/>
          </a:p>
        </p:txBody>
      </p:sp>
      <p:cxnSp>
        <p:nvCxnSpPr>
          <p:cNvPr id="289" name="Google Shape;289;p12"/>
          <p:cNvCxnSpPr/>
          <p:nvPr/>
        </p:nvCxnSpPr>
        <p:spPr>
          <a:xfrm>
            <a:off x="5398434" y="2197687"/>
            <a:ext cx="1669116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90" name="Google Shape;290;p12"/>
          <p:cNvSpPr txBox="1"/>
          <p:nvPr/>
        </p:nvSpPr>
        <p:spPr>
          <a:xfrm>
            <a:off x="5812603" y="1825394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cm</a:t>
            </a:r>
            <a:endParaRPr/>
          </a:p>
        </p:txBody>
      </p:sp>
      <p:cxnSp>
        <p:nvCxnSpPr>
          <p:cNvPr id="291" name="Google Shape;291;p12"/>
          <p:cNvCxnSpPr/>
          <p:nvPr/>
        </p:nvCxnSpPr>
        <p:spPr>
          <a:xfrm>
            <a:off x="5422583" y="2183123"/>
            <a:ext cx="0" cy="8458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92" name="Google Shape;292;p12"/>
          <p:cNvSpPr txBox="1"/>
          <p:nvPr/>
        </p:nvSpPr>
        <p:spPr>
          <a:xfrm flipH="1" rot="-5400000">
            <a:off x="4756055" y="2328956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cm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600217" y="931006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calculamos el área de cuadrados y rectángulos?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6508376" y="1266017"/>
            <a:ext cx="8851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Largo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3842420" y="2733956"/>
            <a:ext cx="1334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Ancho</a:t>
            </a:r>
            <a:endParaRPr/>
          </a:p>
        </p:txBody>
      </p:sp>
      <p:cxnSp>
        <p:nvCxnSpPr>
          <p:cNvPr id="296" name="Google Shape;296;p12"/>
          <p:cNvCxnSpPr>
            <a:stCxn id="295" idx="0"/>
            <a:endCxn id="292" idx="0"/>
          </p:cNvCxnSpPr>
          <p:nvPr/>
        </p:nvCxnSpPr>
        <p:spPr>
          <a:xfrm rot="-5400000">
            <a:off x="4640382" y="2413406"/>
            <a:ext cx="189600" cy="4515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97" name="Google Shape;297;p12"/>
          <p:cNvCxnSpPr>
            <a:stCxn id="294" idx="1"/>
            <a:endCxn id="290" idx="0"/>
          </p:cNvCxnSpPr>
          <p:nvPr/>
        </p:nvCxnSpPr>
        <p:spPr>
          <a:xfrm flipH="1">
            <a:off x="6232976" y="1496850"/>
            <a:ext cx="275400" cy="3285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98" name="Google Shape;298;p12"/>
          <p:cNvSpPr txBox="1"/>
          <p:nvPr/>
        </p:nvSpPr>
        <p:spPr>
          <a:xfrm>
            <a:off x="1631598" y="1240167"/>
            <a:ext cx="8851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Largo</a:t>
            </a:r>
            <a:endParaRPr/>
          </a:p>
        </p:txBody>
      </p:sp>
      <p:cxnSp>
        <p:nvCxnSpPr>
          <p:cNvPr id="299" name="Google Shape;299;p12"/>
          <p:cNvCxnSpPr>
            <a:stCxn id="298" idx="3"/>
            <a:endCxn id="288" idx="0"/>
          </p:cNvCxnSpPr>
          <p:nvPr/>
        </p:nvCxnSpPr>
        <p:spPr>
          <a:xfrm>
            <a:off x="2516700" y="1471000"/>
            <a:ext cx="96900" cy="2220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0" name="Google Shape;300;p12"/>
          <p:cNvSpPr txBox="1"/>
          <p:nvPr/>
        </p:nvSpPr>
        <p:spPr>
          <a:xfrm>
            <a:off x="927355" y="2733956"/>
            <a:ext cx="1334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Ancho</a:t>
            </a:r>
            <a:endParaRPr/>
          </a:p>
        </p:txBody>
      </p:sp>
      <p:cxnSp>
        <p:nvCxnSpPr>
          <p:cNvPr id="301" name="Google Shape;301;p12"/>
          <p:cNvCxnSpPr>
            <a:stCxn id="300" idx="0"/>
          </p:cNvCxnSpPr>
          <p:nvPr/>
        </p:nvCxnSpPr>
        <p:spPr>
          <a:xfrm rot="-5400000">
            <a:off x="1725317" y="2413406"/>
            <a:ext cx="189600" cy="451500"/>
          </a:xfrm>
          <a:prstGeom prst="curvedConnector2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2" name="Google Shape;302;p12"/>
          <p:cNvSpPr txBox="1"/>
          <p:nvPr/>
        </p:nvSpPr>
        <p:spPr>
          <a:xfrm>
            <a:off x="600218" y="3633328"/>
            <a:ext cx="79434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Multiplicando largo por ancho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¿Importa el orden?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No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</p:txBody>
      </p:sp>
      <p:pic>
        <p:nvPicPr>
          <p:cNvPr id="303" name="Google Shape;30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 txBox="1"/>
          <p:nvPr/>
        </p:nvSpPr>
        <p:spPr>
          <a:xfrm>
            <a:off x="121350" y="326025"/>
            <a:ext cx="890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Practiquemos</a:t>
            </a: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Calcula el área de las figuras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404565" y="1817357"/>
            <a:ext cx="1605744" cy="1605744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CUADRADO</a:t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4697133" y="2084222"/>
            <a:ext cx="3289734" cy="975056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1787048" y="1323863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m</a:t>
            </a:r>
            <a:endParaRPr/>
          </a:p>
        </p:txBody>
      </p:sp>
      <p:sp>
        <p:nvSpPr>
          <p:cNvPr id="313" name="Google Shape;313;p13"/>
          <p:cNvSpPr txBox="1"/>
          <p:nvPr/>
        </p:nvSpPr>
        <p:spPr>
          <a:xfrm>
            <a:off x="3970192" y="2356306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m</a:t>
            </a:r>
            <a:endParaRPr/>
          </a:p>
        </p:txBody>
      </p:sp>
      <p:sp>
        <p:nvSpPr>
          <p:cNvPr id="314" name="Google Shape;314;p13"/>
          <p:cNvSpPr txBox="1"/>
          <p:nvPr/>
        </p:nvSpPr>
        <p:spPr>
          <a:xfrm>
            <a:off x="5887303" y="1686953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m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1247928" y="3485708"/>
            <a:ext cx="191901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m x 5 m =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25 </a:t>
            </a: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m²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5382491" y="3100987"/>
            <a:ext cx="191901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m x 10 m =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30 </a:t>
            </a: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m²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17" name="Google Shape;31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 txBox="1"/>
          <p:nvPr/>
        </p:nvSpPr>
        <p:spPr>
          <a:xfrm>
            <a:off x="261299" y="366600"/>
            <a:ext cx="862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Practiquemos</a:t>
            </a: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2601518" y="1455338"/>
            <a:ext cx="643490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Miguel te comenta que para calcular el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área de un cuadrado basta con saber el ancho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¿Es cierto aquello?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Sí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 Porque ancho y largo son iguales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Esa afirmación, ¿es también cierta para el perímetro? 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Sí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855925" y="1854939"/>
            <a:ext cx="1605744" cy="1605744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CUADRADO</a:t>
            </a:r>
            <a:endParaRPr/>
          </a:p>
        </p:txBody>
      </p:sp>
      <p:pic>
        <p:nvPicPr>
          <p:cNvPr id="325" name="Google Shape;32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"/>
          <p:cNvSpPr txBox="1"/>
          <p:nvPr/>
        </p:nvSpPr>
        <p:spPr>
          <a:xfrm>
            <a:off x="221399" y="366600"/>
            <a:ext cx="870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Practiquemos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2667860" y="1081479"/>
            <a:ext cx="6434906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el área de un cuadrado mide 49 m²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puede ser la medida de sus lados?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Podemos pensar en multiplicaciones de iguales dimensiones: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m x 5 m = 25m²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m x 6 m = 36m²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m x 7 m = 49m²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Entonces una posibilidad es que sea 7 m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855925" y="1768878"/>
            <a:ext cx="1605744" cy="1605744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CUADRADO</a:t>
            </a:r>
            <a:endParaRPr/>
          </a:p>
        </p:txBody>
      </p:sp>
      <p:pic>
        <p:nvPicPr>
          <p:cNvPr id="333" name="Google Shape;33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800" y="4350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38" name="Google Shape;33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6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41" name="Google Shape;341;p16" title="Resumen - Geometría (10) - Recapitulando perímetro y área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675" y="1044875"/>
            <a:ext cx="7270650" cy="37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"/>
          <p:cNvSpPr txBox="1"/>
          <p:nvPr/>
        </p:nvSpPr>
        <p:spPr>
          <a:xfrm>
            <a:off x="785234" y="366599"/>
            <a:ext cx="75734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600218" y="911027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Si sabes que el área de un rectángulo es 48 m² y el ancho mide 6 m,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¿Qué medida tiene el largo?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2927133" y="1742024"/>
            <a:ext cx="3289734" cy="975056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8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48 m²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2200192" y="2011242"/>
            <a:ext cx="840778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m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600218" y="2811112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¿Cuál es el área del cuadrado cuyo largo es la mitad del ancho del rectángulo anterior?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1866900" y="3862237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https://forms.gle/4pVw3dtLbK5tomEP7</a:t>
            </a: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353" name="Google Shape;353;p17"/>
          <p:cNvPicPr preferRelativeResize="0"/>
          <p:nvPr/>
        </p:nvPicPr>
        <p:blipFill rotWithShape="1">
          <a:blip r:embed="rId4">
            <a:alphaModFix/>
          </a:blip>
          <a:srcRect b="8271" l="8270" r="8271" t="8270"/>
          <a:stretch/>
        </p:blipFill>
        <p:spPr>
          <a:xfrm>
            <a:off x="5880100" y="3425347"/>
            <a:ext cx="1397000" cy="13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59" name="Google Shape;359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8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62" name="Google Shape;362;p18" title="Reforzamiento - Geometría (10) - Resumen perímetro y área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600" y="1044875"/>
            <a:ext cx="6948800" cy="36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6150" y="3939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