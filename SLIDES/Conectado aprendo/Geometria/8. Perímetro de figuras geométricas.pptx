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Patrick Hand"/>
      <p:regular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srLENXx+bMU6yQnAeAaoMZEwf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atrickHand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Light-italic.fntdata"/><Relationship Id="rId10" Type="http://schemas.openxmlformats.org/officeDocument/2006/relationships/slide" Target="slides/slide4.xml"/><Relationship Id="rId32" Type="http://schemas.openxmlformats.org/officeDocument/2006/relationships/font" Target="fonts/PoppinsLight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PoppinsLigh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535c4503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535c450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35c4503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35c450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535c4503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535c450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Reflexionen sobre cómo medir el contorno de una figura sin reglas y lo que significa aquello.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Al final se induce a utilizar lápices que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href="https://www.freepik.es/icono/libro_5083071#fromView=search&amp;term=cuaderno&amp;track=ais&amp;page=1&amp;position=95&amp;uuid=d24de3d4-6ef8-4697-ba94-5a4bb17382a2"&gt;Icono de POD Gladiator&lt;/a&gt;</a:t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cómo medimos el contorno de la figura.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href="https://www.freepik.es/icono/libro_5083071#fromView=search&amp;term=cuaderno&amp;track=ais&amp;page=1&amp;position=95&amp;uuid=d24de3d4-6ef8-4697-ba94-5a4bb17382a2"&gt;Icono de POD Gladiator&lt;/a&gt;</a:t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que el pupilo sea capaz de responder las preguntas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Permitir que el pupilo recuerde las unidades de longitud y logre responder la importancia de estandarizar las medidas</a:t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tiempo para que se de cuenta de lo que debemos hacer, e ir lado a lado señalando los lados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la pregunta de los lados del cuadrado.</a:t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tiempo para que se de cuenta de lo que debemos hacer, e ir lado a lado señalando los lados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la pregunta de los lados del cuadrado.</a:t>
            </a:r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Dar tiempo para que se de cuenta de lo que debemos hacer, e ir lado a lado señalando los lados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la pregunta de los lados del cuadrado.</a:t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Aludir a que si bien la figura no tiene todos sus lados iguales, el perímetro se calcula igual</a:t>
            </a:r>
            <a:endParaRPr/>
          </a:p>
        </p:txBody>
      </p:sp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Dejar que el pupilo pueda responder por su cuenta.</a:t>
            </a:r>
            <a:endParaRPr/>
          </a:p>
        </p:txBody>
      </p:sp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Videos Ejercicios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35c4503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535c4503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535c4503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535c4503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535c4503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535c4503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535c4503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535c4503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535c4503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535c4503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35c4503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535c4503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535c4503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535c4503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535c4503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35c4503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535c4503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535c4503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535c4503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535c4503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535c4503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535c4503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535c4503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535c4503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535c4503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535c4503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535c4503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535c4503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535c4503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535c4503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535c4503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535c4503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535c4503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535c4503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535c4503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535c4503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535c4503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535c4503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535c4503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535c4503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535c4503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535c4503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535c4503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535c4503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535c4503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535c4503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535c4503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535c4503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535c4503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535c4503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535c4503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535c4503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535c4503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535c4503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535c4503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535c4503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535c4503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535c4503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535c4503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535c4503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535c4503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535c4503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535c4503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bit.ly/3B7hRjK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0prhVuBxk-k" TargetMode="External"/><Relationship Id="rId5" Type="http://schemas.openxmlformats.org/officeDocument/2006/relationships/image" Target="../media/image5.jpg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forms.gle/gGBFuDBBnATiXhrP9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PoXYW4k5sFE" TargetMode="External"/><Relationship Id="rId5" Type="http://schemas.openxmlformats.org/officeDocument/2006/relationships/image" Target="../media/image14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0350" y="43241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535c4503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Promover en los estudiantes la comprensión del concepto de perímetro y la habilidad para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calcularlo en figuras geométricas, como cuadrados y rectángulos.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535c4503_0_103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Entender qué es el perímetro de una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figura geométrica.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Calcular el perímetro de cuadrados y rectángulos.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Deducir el perímetro de figuras geométricas.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535c4503_0_103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Perímetro.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Cuadrado.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Rectángulo.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535c4503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535c4503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535c4503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535c4503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535c4503_0_113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535c4503_0_113"/>
          <p:cNvSpPr txBox="1"/>
          <p:nvPr/>
        </p:nvSpPr>
        <p:spPr>
          <a:xfrm>
            <a:off x="589763" y="1598681"/>
            <a:ext cx="78750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Trae a la sesión varios lápices y un cuaderno que te permitan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mostrarle en vivo el ejemplo de la diapositiva 6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Invita a tu estudiante que cada uno lo haga y luego comparen los resultados.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Con lo anterior, donde seguramente tendrán distintas dimensiones, hazle notar por qué es mejor utilizar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medidas de longitud como una forma de estandarizar resultados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Al presentar las características de los lados del cuadrado y rectángulo,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recuérdale qué eran las rectas paralelas y perpendiculares.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Además ve si es capaz de idetificarlas por su cuenta en las figuras geométricas.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Si el estudiante se ve motivado y logró entender los conceptos de esta sesión,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se recomienda hacer la siguiente actividad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bit.ly/3B7hRjK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] luego de terminar con todo el material. Esto porque posee un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mayor grado de dificultad.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535c4503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535c4503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535c4503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535c4503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28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535c4503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9535c4503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vez de medir el cuaderno con lápices u otros objetos, pídele a tu estudiante que lo haga con una huincha de medir. Tú haz lo mismo y comenten cómo los resultados cambiaron.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535c4503_0_122"/>
          <p:cNvSpPr txBox="1"/>
          <p:nvPr/>
        </p:nvSpPr>
        <p:spPr>
          <a:xfrm>
            <a:off x="285206" y="27727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el perímetro?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medimos el perímetro?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¿Pueden dos figuras distintas tener igual perímetro?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535c4503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535c4503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535c4503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7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25" y="410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600218" y="1095159"/>
            <a:ext cx="794348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OA21 3ro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Demostrar que comprenden el perímetro de una figura regular e irregular midiendo y registrando el perímetro de figuras del entorno en el contexto de la resolución de problemas y determinando el perímetro de un cuadrado y de un rectángulo.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qué es el perímetro de una figura geométrica.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Calcular el perímetro de cuadrados y rectángulos.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Deducir el perímetro de figuras geométricas.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141412" y="332275"/>
            <a:ext cx="8861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el perímetro?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51450" y="917270"/>
            <a:ext cx="70410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Supongamos que necesitamos saber cuánto mide el contorno de tu cuaderno y no tenemos una regla, ¿qué harías?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7063" y="1711743"/>
            <a:ext cx="22098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1051450" y="4069015"/>
            <a:ext cx="7041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Podríamos usar lápices como referencia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 txBox="1"/>
          <p:nvPr/>
        </p:nvSpPr>
        <p:spPr>
          <a:xfrm>
            <a:off x="198137" y="326850"/>
            <a:ext cx="888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el perímetro?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7100" y="1148817"/>
            <a:ext cx="2209800" cy="225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 txBox="1"/>
          <p:nvPr/>
        </p:nvSpPr>
        <p:spPr>
          <a:xfrm>
            <a:off x="1051487" y="3544589"/>
            <a:ext cx="7041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¿Cuántos lápices mide el contorno?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204" name="Google Shape;2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5063161" y="906213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4643516" y="899862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4238307" y="906213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7" name="Google Shape;20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3836102" y="900995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8" name="Google Shape;2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288298" y="1196191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09" name="Google Shape;2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281947" y="1602590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288298" y="2024916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1" name="Google Shape;2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281947" y="2431315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288299" y="2841059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3" name="Google Shape;2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5063161" y="3253809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4643516" y="3247458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5" name="Google Shape;2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4238307" y="3253809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6" name="Google Shape;2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3836102" y="3248591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7" name="Google Shape;2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5541830" y="1196192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8" name="Google Shape;2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5535479" y="1602591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5541830" y="2024917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20" name="Google Shape;2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5535479" y="2431316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21" name="Google Shape;2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5541831" y="2841060"/>
            <a:ext cx="406621" cy="4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 txBox="1"/>
          <p:nvPr/>
        </p:nvSpPr>
        <p:spPr>
          <a:xfrm>
            <a:off x="3685667" y="3892504"/>
            <a:ext cx="4907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4036618" y="3903773"/>
            <a:ext cx="4907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4396663" y="3892504"/>
            <a:ext cx="4907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4668552" y="3911536"/>
            <a:ext cx="7192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5104355" y="3911536"/>
            <a:ext cx="4907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051487" y="4259451"/>
            <a:ext cx="70410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Decimos entonces que el </a:t>
            </a:r>
            <a:r>
              <a:rPr b="1" i="0" lang="es-ES" sz="20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contorno o perímetro</a:t>
            </a: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son 18 lápices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 txBox="1"/>
          <p:nvPr/>
        </p:nvSpPr>
        <p:spPr>
          <a:xfrm>
            <a:off x="201899" y="348500"/>
            <a:ext cx="874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Perímetro (P)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3073534" y="1440440"/>
            <a:ext cx="5666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lo tanto, ¿cómo definirías el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214" y="1630403"/>
            <a:ext cx="2209800" cy="2257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36" name="Google Shape;2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2131275" y="1387799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37" name="Google Shape;2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1711630" y="1381448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38" name="Google Shape;2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1306421" y="1387799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904216" y="1382581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0" name="Google Shape;2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56412" y="1677777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1" name="Google Shape;2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50061" y="2084176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2" name="Google Shape;2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56412" y="2506502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3" name="Google Shape;2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50061" y="2912901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4" name="Google Shape;2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700000">
            <a:off x="356413" y="3322645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5" name="Google Shape;2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2131275" y="3735395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1711630" y="3729044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7" name="Google Shape;2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1306421" y="3735395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8" name="Google Shape;2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00000">
            <a:off x="904216" y="3730177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49" name="Google Shape;2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2609944" y="1677778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50" name="Google Shape;2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2603593" y="2084177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51" name="Google Shape;2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2609944" y="2506503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52" name="Google Shape;2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2603593" y="2912902"/>
            <a:ext cx="406621" cy="406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53" name="Google Shape;2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00000">
            <a:off x="2609945" y="3322646"/>
            <a:ext cx="406621" cy="4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7"/>
          <p:cNvSpPr txBox="1"/>
          <p:nvPr/>
        </p:nvSpPr>
        <p:spPr>
          <a:xfrm>
            <a:off x="2924256" y="1844476"/>
            <a:ext cx="596526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Como la medida de su contorno.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este ejemplo utilizamos lápices pero de acá en adelante usaremos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medidas de longitud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¿Las recuerdas? ¿Por qué las ocuparíamos?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Son por ejemplo el </a:t>
            </a:r>
            <a:r>
              <a:rPr b="1" i="0" lang="es-ES" sz="20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metro o centímetro </a:t>
            </a: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 las usamos para poder </a:t>
            </a:r>
            <a:r>
              <a:rPr b="1" i="0" lang="es-ES" sz="20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estandarizar</a:t>
            </a: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todas las medidas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5" name="Google Shape;25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Cuadrado&#10;&#10;Descripción generada automáticamente" id="260" name="Google Shape;260;p8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718424" y="1557351"/>
            <a:ext cx="2570876" cy="258866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/>
        </p:nvSpPr>
        <p:spPr>
          <a:xfrm>
            <a:off x="168000" y="366375"/>
            <a:ext cx="880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-112" y="997483"/>
            <a:ext cx="914407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cada segmento del plano cuadriculado mide 1 cm, ¿cuál es el perímetro del cuadrado?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3289300" y="1474478"/>
            <a:ext cx="58546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Sumamos la medida de cada 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8"/>
          <p:cNvCxnSpPr/>
          <p:nvPr/>
        </p:nvCxnSpPr>
        <p:spPr>
          <a:xfrm>
            <a:off x="1264920" y="2095500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65" name="Google Shape;265;p8"/>
          <p:cNvCxnSpPr/>
          <p:nvPr/>
        </p:nvCxnSpPr>
        <p:spPr>
          <a:xfrm>
            <a:off x="1783080" y="2095500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66" name="Google Shape;266;p8"/>
          <p:cNvCxnSpPr/>
          <p:nvPr/>
        </p:nvCxnSpPr>
        <p:spPr>
          <a:xfrm>
            <a:off x="2286000" y="2095500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67" name="Google Shape;267;p8"/>
          <p:cNvSpPr txBox="1"/>
          <p:nvPr/>
        </p:nvSpPr>
        <p:spPr>
          <a:xfrm>
            <a:off x="1610341" y="1640034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8"/>
          <p:cNvCxnSpPr/>
          <p:nvPr/>
        </p:nvCxnSpPr>
        <p:spPr>
          <a:xfrm rot="5400000">
            <a:off x="1017269" y="2335523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69" name="Google Shape;269;p8"/>
          <p:cNvCxnSpPr/>
          <p:nvPr/>
        </p:nvCxnSpPr>
        <p:spPr>
          <a:xfrm rot="5400000">
            <a:off x="1017269" y="2851684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70" name="Google Shape;270;p8"/>
          <p:cNvCxnSpPr/>
          <p:nvPr/>
        </p:nvCxnSpPr>
        <p:spPr>
          <a:xfrm rot="5400000">
            <a:off x="1017269" y="3346984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71" name="Google Shape;271;p8"/>
          <p:cNvSpPr txBox="1"/>
          <p:nvPr/>
        </p:nvSpPr>
        <p:spPr>
          <a:xfrm flipH="1" rot="-5400000">
            <a:off x="572344" y="2623952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8"/>
          <p:cNvCxnSpPr/>
          <p:nvPr/>
        </p:nvCxnSpPr>
        <p:spPr>
          <a:xfrm>
            <a:off x="1264920" y="3619213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73" name="Google Shape;273;p8"/>
          <p:cNvCxnSpPr/>
          <p:nvPr/>
        </p:nvCxnSpPr>
        <p:spPr>
          <a:xfrm>
            <a:off x="1783080" y="3619213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74" name="Google Shape;274;p8"/>
          <p:cNvCxnSpPr/>
          <p:nvPr/>
        </p:nvCxnSpPr>
        <p:spPr>
          <a:xfrm>
            <a:off x="2286000" y="3619213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75" name="Google Shape;275;p8"/>
          <p:cNvSpPr txBox="1"/>
          <p:nvPr/>
        </p:nvSpPr>
        <p:spPr>
          <a:xfrm>
            <a:off x="1610341" y="3667172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 rot="5400000">
            <a:off x="2510790" y="2335523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77" name="Google Shape;277;p8"/>
          <p:cNvCxnSpPr/>
          <p:nvPr/>
        </p:nvCxnSpPr>
        <p:spPr>
          <a:xfrm rot="5400000">
            <a:off x="2510790" y="2851684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78" name="Google Shape;278;p8"/>
          <p:cNvCxnSpPr/>
          <p:nvPr/>
        </p:nvCxnSpPr>
        <p:spPr>
          <a:xfrm rot="5400000">
            <a:off x="2510790" y="3346984"/>
            <a:ext cx="495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79" name="Google Shape;279;p8"/>
          <p:cNvSpPr txBox="1"/>
          <p:nvPr/>
        </p:nvSpPr>
        <p:spPr>
          <a:xfrm rot="5400000">
            <a:off x="2610286" y="262395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3313305" y="1905365"/>
            <a:ext cx="5854662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 + 3 cm + 3 cm + 3 cm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3289300" y="2711455"/>
            <a:ext cx="58546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son cada uno de sus lados?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3301303" y="3131540"/>
            <a:ext cx="58546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2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Todos iguales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Cuadrado&#10;&#10;Descripción generada automáticamente" id="288" name="Google Shape;288;p9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747801" y="2072127"/>
            <a:ext cx="2553502" cy="170954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/>
        </p:nvSpPr>
        <p:spPr>
          <a:xfrm>
            <a:off x="186750" y="345850"/>
            <a:ext cx="877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Rectángulo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-112" y="997483"/>
            <a:ext cx="914407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cada segmento del plano cuadriculado mide 1 cm, ¿cuál es el perímetro del rectángulo?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3724148" y="1847721"/>
            <a:ext cx="504644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Sumamos la medida de cada 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 flipH="1" rot="10800000">
            <a:off x="1210945" y="2505075"/>
            <a:ext cx="386080" cy="62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93" name="Google Shape;293;p9"/>
          <p:cNvCxnSpPr/>
          <p:nvPr/>
        </p:nvCxnSpPr>
        <p:spPr>
          <a:xfrm>
            <a:off x="1621155" y="2505075"/>
            <a:ext cx="403397" cy="62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94" name="Google Shape;294;p9"/>
          <p:cNvCxnSpPr/>
          <p:nvPr/>
        </p:nvCxnSpPr>
        <p:spPr>
          <a:xfrm>
            <a:off x="2038350" y="2505703"/>
            <a:ext cx="400050" cy="254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95" name="Google Shape;295;p9"/>
          <p:cNvSpPr txBox="1"/>
          <p:nvPr/>
        </p:nvSpPr>
        <p:spPr>
          <a:xfrm>
            <a:off x="1589070" y="2036247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>
            <a:off x="1188719" y="2499353"/>
            <a:ext cx="0" cy="427544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97" name="Google Shape;297;p9"/>
          <p:cNvCxnSpPr/>
          <p:nvPr/>
        </p:nvCxnSpPr>
        <p:spPr>
          <a:xfrm>
            <a:off x="1188719" y="2939314"/>
            <a:ext cx="0" cy="384911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98" name="Google Shape;298;p9"/>
          <p:cNvSpPr txBox="1"/>
          <p:nvPr/>
        </p:nvSpPr>
        <p:spPr>
          <a:xfrm flipH="1" rot="-5400000">
            <a:off x="517112" y="2664309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3727073" y="2278608"/>
            <a:ext cx="5088602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 + 2 cm + 4 cm + 2 cm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3320038" y="3084698"/>
            <a:ext cx="58546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son cada uno de sus lados?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4249454" y="3504783"/>
            <a:ext cx="401983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2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Los paralelos son iguales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9"/>
          <p:cNvCxnSpPr/>
          <p:nvPr/>
        </p:nvCxnSpPr>
        <p:spPr>
          <a:xfrm>
            <a:off x="2446655" y="2506331"/>
            <a:ext cx="400050" cy="254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03" name="Google Shape;303;p9"/>
          <p:cNvCxnSpPr/>
          <p:nvPr/>
        </p:nvCxnSpPr>
        <p:spPr>
          <a:xfrm flipH="1" rot="10800000">
            <a:off x="1210945" y="3324225"/>
            <a:ext cx="386080" cy="62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04" name="Google Shape;304;p9"/>
          <p:cNvCxnSpPr/>
          <p:nvPr/>
        </p:nvCxnSpPr>
        <p:spPr>
          <a:xfrm>
            <a:off x="1621155" y="3324225"/>
            <a:ext cx="403397" cy="62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05" name="Google Shape;305;p9"/>
          <p:cNvCxnSpPr/>
          <p:nvPr/>
        </p:nvCxnSpPr>
        <p:spPr>
          <a:xfrm>
            <a:off x="2038350" y="3324853"/>
            <a:ext cx="400050" cy="254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06" name="Google Shape;306;p9"/>
          <p:cNvCxnSpPr/>
          <p:nvPr/>
        </p:nvCxnSpPr>
        <p:spPr>
          <a:xfrm>
            <a:off x="2446655" y="3325481"/>
            <a:ext cx="400050" cy="254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307" name="Google Shape;307;p9"/>
          <p:cNvSpPr txBox="1"/>
          <p:nvPr/>
        </p:nvSpPr>
        <p:spPr>
          <a:xfrm>
            <a:off x="1589070" y="3370672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 rot="5400000">
            <a:off x="2701245" y="2664310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2846704" y="2499353"/>
            <a:ext cx="0" cy="427544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310" name="Google Shape;310;p9"/>
          <p:cNvCxnSpPr/>
          <p:nvPr/>
        </p:nvCxnSpPr>
        <p:spPr>
          <a:xfrm>
            <a:off x="2846704" y="2939314"/>
            <a:ext cx="0" cy="384911"/>
          </a:xfrm>
          <a:prstGeom prst="straightConnector1">
            <a:avLst/>
          </a:prstGeom>
          <a:noFill/>
          <a:ln cap="flat" cmpd="sng" w="3810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311" name="Google Shape;31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Cuadrado&#10;&#10;Descripción generada automáticamente" id="316" name="Google Shape;316;p10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101437" y="353275"/>
            <a:ext cx="894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Ojo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-112" y="997483"/>
            <a:ext cx="914407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¿Te fijaste que ambas figuras tienen el mismo perímetro?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uadrado&#10;&#10;Descripción generada automáticamente" id="319" name="Google Shape;319;p10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 txBox="1"/>
          <p:nvPr/>
        </p:nvSpPr>
        <p:spPr>
          <a:xfrm>
            <a:off x="0" y="3789137"/>
            <a:ext cx="914407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¡Las figuras pueden tener </a:t>
            </a:r>
            <a:r>
              <a:rPr b="1" i="0" lang="es-ES" sz="22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distinta forma</a:t>
            </a:r>
            <a:r>
              <a:rPr b="1" i="0" lang="es-ES" sz="2200" u="none" cap="none" strike="noStrike">
                <a:solidFill>
                  <a:srgbClr val="FFFFFF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 </a:t>
            </a:r>
            <a:r>
              <a:rPr b="1" i="0" lang="es-ES" sz="22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igual perímetro</a:t>
            </a: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1865749" y="3181347"/>
            <a:ext cx="14954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 = 12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571344" y="2996681"/>
            <a:ext cx="14954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 = 12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 txBox="1"/>
          <p:nvPr/>
        </p:nvSpPr>
        <p:spPr>
          <a:xfrm>
            <a:off x="128100" y="353275"/>
            <a:ext cx="888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Otras figuras geométricas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850910" y="1868051"/>
            <a:ext cx="1501775" cy="1658215"/>
          </a:xfrm>
          <a:prstGeom prst="snipRoundRect">
            <a:avLst>
              <a:gd fmla="val 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761020" y="1455891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2352685" y="2930892"/>
            <a:ext cx="6950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9499" y="2500005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181408" y="3571199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1859417" y="1832296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-112" y="997483"/>
            <a:ext cx="91440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Pero no todas las figuras tienen los lados iguales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3708701" y="2063165"/>
            <a:ext cx="50464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Sumamos la medida de cada 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3708701" y="2530782"/>
            <a:ext cx="50886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cm + 5 cm + 4 cm + 2 cm + 3 cm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 cm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527051" y="366599"/>
            <a:ext cx="80898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Analicemos estas situaciones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0" y="917270"/>
            <a:ext cx="91439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tiene un jardín con la siguiente forma, y se quiere poner una valla para cercarlo.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45575" y="2133600"/>
            <a:ext cx="1907458" cy="1150374"/>
          </a:xfrm>
          <a:prstGeom prst="snip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1378915" y="1702713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527051" y="2046842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170398" y="2786136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2651168" y="2786135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2413460" y="2046841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1367828" y="3293949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3428172" y="1814205"/>
            <a:ext cx="5715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Sofía tiene 10 m y Miguel 7 m para cercarlo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quién puede cumplir con la tarea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3428172" y="2799017"/>
            <a:ext cx="5715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1° Calculamos el perímetro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3428210" y="3217022"/>
            <a:ext cx="5715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 + 1 m + 1 m + 1 m + 1 m + 3 m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 txBox="1"/>
          <p:nvPr/>
        </p:nvSpPr>
        <p:spPr>
          <a:xfrm>
            <a:off x="527051" y="366599"/>
            <a:ext cx="80898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Analicemos estas situaciones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45575" y="2133600"/>
            <a:ext cx="1907458" cy="1150374"/>
          </a:xfrm>
          <a:prstGeom prst="snip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1378915" y="1702713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527051" y="2046842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170398" y="2786136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2651168" y="2786135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2413460" y="2046841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1367828" y="3293949"/>
            <a:ext cx="8407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3460078" y="2096151"/>
            <a:ext cx="57157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2° Si el perímetro es de 8 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¿quién puede cercarlo?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3428210" y="2939211"/>
            <a:ext cx="57157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Sofía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0" y="917270"/>
            <a:ext cx="91439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tiene un jardín con la siguiente forma, y se quiere poner una valla para cercarlo.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76" name="Google Shape;37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79" name="Google Shape;379;p14" title="Resumen - Geometría (8) - Perímetr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325" y="1044875"/>
            <a:ext cx="6907350" cy="36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3223802" y="1877640"/>
            <a:ext cx="524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el terreno de una casa tiene la siguiente forma y cada segmento mide 50 metros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su perímetro en metros?</a:t>
            </a:r>
            <a:endParaRPr b="1" i="0" sz="2400" u="none" cap="none" strike="noStrike">
              <a:solidFill>
                <a:schemeClr val="lt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1656094" y="3882374"/>
            <a:ext cx="3733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https://forms.gle/gGBFuDBBnATiXhrP9</a:t>
            </a: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295799" y="1483425"/>
            <a:ext cx="1866900" cy="1866900"/>
          </a:xfrm>
          <a:prstGeom prst="corner">
            <a:avLst>
              <a:gd fmla="val 50000" name="adj1"/>
              <a:gd fmla="val 50000" name="adj2"/>
            </a:avLst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5"/>
          <p:cNvPicPr preferRelativeResize="0"/>
          <p:nvPr/>
        </p:nvPicPr>
        <p:blipFill rotWithShape="1">
          <a:blip r:embed="rId4">
            <a:alphaModFix/>
          </a:blip>
          <a:srcRect b="8626" l="9120" r="9118" t="8626"/>
          <a:stretch/>
        </p:blipFill>
        <p:spPr>
          <a:xfrm>
            <a:off x="5389894" y="3440471"/>
            <a:ext cx="1320470" cy="1336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95" name="Google Shape;39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98" name="Google Shape;398;p16" title="Reforzamiento - Geometría (8) - Perímetr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613" y="1044875"/>
            <a:ext cx="7246775" cy="36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612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