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Patrick Hand"/>
      <p:regular r:id="rId28"/>
    </p:embeddedFont>
    <p:embeddedFont>
      <p:font typeface="Poppins"/>
      <p:regular r:id="rId29"/>
      <p:bold r:id="rId30"/>
      <p:italic r:id="rId31"/>
      <p:boldItalic r:id="rId32"/>
    </p:embeddedFont>
    <p:embeddedFont>
      <p:font typeface="Poppins Light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7" roundtripDataSignature="AMtx7mjzzNN2p1NRoqGqqWVMKwsD3JnY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PatrickHand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-italic.fntdata"/><Relationship Id="rId30" Type="http://schemas.openxmlformats.org/officeDocument/2006/relationships/font" Target="fonts/Poppins-bold.fntdata"/><Relationship Id="rId11" Type="http://schemas.openxmlformats.org/officeDocument/2006/relationships/slide" Target="slides/slide5.xml"/><Relationship Id="rId33" Type="http://schemas.openxmlformats.org/officeDocument/2006/relationships/font" Target="fonts/PoppinsLight-regular.fntdata"/><Relationship Id="rId10" Type="http://schemas.openxmlformats.org/officeDocument/2006/relationships/slide" Target="slides/slide4.xml"/><Relationship Id="rId32" Type="http://schemas.openxmlformats.org/officeDocument/2006/relationships/font" Target="fonts/Poppins-boldItalic.fntdata"/><Relationship Id="rId13" Type="http://schemas.openxmlformats.org/officeDocument/2006/relationships/slide" Target="slides/slide7.xml"/><Relationship Id="rId35" Type="http://schemas.openxmlformats.org/officeDocument/2006/relationships/font" Target="fonts/PoppinsLight-italic.fntdata"/><Relationship Id="rId12" Type="http://schemas.openxmlformats.org/officeDocument/2006/relationships/slide" Target="slides/slide6.xml"/><Relationship Id="rId34" Type="http://schemas.openxmlformats.org/officeDocument/2006/relationships/font" Target="fonts/PoppinsLight-bold.fntdata"/><Relationship Id="rId15" Type="http://schemas.openxmlformats.org/officeDocument/2006/relationships/slide" Target="slides/slide9.xml"/><Relationship Id="rId37" Type="http://customschemas.google.com/relationships/presentationmetadata" Target="metadata"/><Relationship Id="rId14" Type="http://schemas.openxmlformats.org/officeDocument/2006/relationships/slide" Target="slides/slide8.xml"/><Relationship Id="rId36" Type="http://schemas.openxmlformats.org/officeDocument/2006/relationships/font" Target="fonts/PoppinsLight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36ebf1d640_0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36ebf1d640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36ebf1d640_0_1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36ebf1d640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36ebf1d640_0_1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36ebf1d640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36ebf1d640_0_1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36ebf1d640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2e9003670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g32e9003670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Es muy importante respetar las animaciones para guiar las sesiones. Se dan distintos ejemplos que luego volverán a esta y próximas clases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https://edu.gcfglobal.org/es/unidades-de-medida/como-se-mide-la-longitud/1/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https://dle.rae.es/longitud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&lt;a href="https://www.freepik.es/icono/chile_7665804#fromView=search&amp;term=chile+pa%C3%ADs&amp;track=ais&amp;page=3&amp;position=40&amp;uuid=cc8e0638-8157-4d9e-bccb-41b8d8f9ff2c"&gt;Icono de Anditii Creative&lt;/a&gt;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&lt;a href="https://www.freepik.es/icono/secretario_7585384#fromView=search&amp;term=persona&amp;track=ais&amp;page=1&amp;position=12&amp;uuid=d677a25b-6669-4964-b6a7-48e16311ad3f"&gt;Icono de smashingstocks&lt;/a&gt;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&lt;a href="https://www.freepik.es/icono/bloc-dibujo_3436763#fromView=search&amp;term=cuaderno&amp;track=ais&amp;page=1&amp;position=3&amp;uuid=7c0a0afc-d059-44a1-8cd0-84490f12f440"&gt;Icono de Freepik&lt;/a&gt;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&lt;a href="https://www.freepik.es/icono/mariquita_2719957#fromView=search&amp;term=bicho&amp;track=ais&amp;page=1&amp;position=3&amp;uuid=aa25a2b6-2294-40de-bb6c-d0b5ad2edc14"&gt;Icono de Smashicons&lt;/a&gt;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0" name="Google Shape;21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Enfatizar en el prefijo de “metro”.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Aprovechar la actividad con el pupilo para que entienda las medidas y sus aproximaciones.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2" name="Google Shape;24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4" name="Google Shape;254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Rescatar la idea de la equivalencia aproximada versus la con milímetros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Luego hacerle notar cómo cambian las unidades de medida</a:t>
            </a:r>
            <a:endParaRPr/>
          </a:p>
        </p:txBody>
      </p:sp>
      <p:sp>
        <p:nvSpPr>
          <p:cNvPr id="267" name="Google Shape;26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Que el pupilo responda la pregunta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&lt;a href="https://www.freepik.es/icono/gobernante_3444838#fromView=search&amp;term=regla+&amp;track=ais&amp;page=1&amp;position=69&amp;uuid=1c2a78bb-b6b3-4676-ae82-855d375671c7"&gt;Icono de Freepik&lt;/a&gt;</a:t>
            </a:r>
            <a:endParaRPr/>
          </a:p>
        </p:txBody>
      </p:sp>
      <p:sp>
        <p:nvSpPr>
          <p:cNvPr id="286" name="Google Shape;286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Misma explicación que para los mm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6" name="Google Shape;306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Hacer actividad juntos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5" name="Google Shape;325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Misma explicación que para los mm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0" name="Google Shape;340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Videos Ejercicios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" name="Google Shape;16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2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2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2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2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36ebf1d640_0_15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g336ebf1d640_0_155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1" name="Google Shape;61;g336ebf1d640_0_15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g336ebf1d640_0_15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g336ebf1d640_0_15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36ebf1d640_0_16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g336ebf1d640_0_16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7" name="Google Shape;67;g336ebf1d640_0_16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g336ebf1d640_0_16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g336ebf1d640_0_16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6ebf1d640_0_167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g336ebf1d640_0_167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3" name="Google Shape;73;g336ebf1d640_0_16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g336ebf1d640_0_16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g336ebf1d640_0_16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36ebf1d640_0_17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g336ebf1d640_0_173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9" name="Google Shape;79;g336ebf1d640_0_173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0" name="Google Shape;80;g336ebf1d640_0_17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g336ebf1d640_0_17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g336ebf1d640_0_17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36ebf1d640_0_180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g336ebf1d640_0_180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g336ebf1d640_0_180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g336ebf1d640_0_180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g336ebf1d640_0_180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g336ebf1d640_0_18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g336ebf1d640_0_18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g336ebf1d640_0_18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36ebf1d640_0_18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g336ebf1d640_0_18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g336ebf1d640_0_18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g336ebf1d640_0_18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36ebf1d640_0_19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g336ebf1d640_0_19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g336ebf1d640_0_19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36ebf1d640_0_198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g336ebf1d640_0_198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4" name="Google Shape;104;g336ebf1d640_0_198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5" name="Google Shape;105;g336ebf1d640_0_19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g336ebf1d640_0_19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g336ebf1d640_0_19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36ebf1d640_0_205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g336ebf1d640_0_205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g336ebf1d640_0_205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2" name="Google Shape;112;g336ebf1d640_0_20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g336ebf1d640_0_20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g336ebf1d640_0_20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36ebf1d640_0_21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g336ebf1d640_0_212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8" name="Google Shape;118;g336ebf1d640_0_2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g336ebf1d640_0_2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g336ebf1d640_0_2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36ebf1d640_0_218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g336ebf1d640_0_218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4" name="Google Shape;124;g336ebf1d640_0_2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g336ebf1d640_0_2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g336ebf1d640_0_2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4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36ebf1d640_0_14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g336ebf1d640_0_14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g336ebf1d640_0_14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g336ebf1d640_0_14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g336ebf1d640_0_14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Relationship Id="rId4" Type="http://schemas.openxmlformats.org/officeDocument/2006/relationships/hyperlink" Target="https://es.khanacademy.org/" TargetMode="External"/><Relationship Id="rId5" Type="http://schemas.openxmlformats.org/officeDocument/2006/relationships/hyperlink" Target="https://mateslibres.com/" TargetMode="External"/><Relationship Id="rId6" Type="http://schemas.openxmlformats.org/officeDocument/2006/relationships/hyperlink" Target="https://www.cokitos.com/" TargetMode="External"/><Relationship Id="rId7" Type="http://schemas.openxmlformats.org/officeDocument/2006/relationships/hyperlink" Target="http://www.teachy.app" TargetMode="External"/><Relationship Id="rId8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20.png"/><Relationship Id="rId6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jpg"/><Relationship Id="rId4" Type="http://schemas.openxmlformats.org/officeDocument/2006/relationships/hyperlink" Target="http://www.youtube.com/watch?v=xL5o5lYIQMM" TargetMode="External"/><Relationship Id="rId5" Type="http://schemas.openxmlformats.org/officeDocument/2006/relationships/image" Target="../media/image27.jpg"/><Relationship Id="rId6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Relationship Id="rId4" Type="http://schemas.openxmlformats.org/officeDocument/2006/relationships/image" Target="../media/image14.png"/><Relationship Id="rId9" Type="http://schemas.openxmlformats.org/officeDocument/2006/relationships/image" Target="../media/image4.png"/><Relationship Id="rId5" Type="http://schemas.openxmlformats.org/officeDocument/2006/relationships/image" Target="../media/image28.png"/><Relationship Id="rId6" Type="http://schemas.openxmlformats.org/officeDocument/2006/relationships/image" Target="../media/image26.png"/><Relationship Id="rId7" Type="http://schemas.openxmlformats.org/officeDocument/2006/relationships/hyperlink" Target="https://forms.gle/ASaQXwUhum59UYGSA" TargetMode="External"/><Relationship Id="rId8" Type="http://schemas.openxmlformats.org/officeDocument/2006/relationships/image" Target="../media/image2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jpg"/><Relationship Id="rId4" Type="http://schemas.openxmlformats.org/officeDocument/2006/relationships/hyperlink" Target="http://www.youtube.com/watch?v=YYBvPG6d4uk" TargetMode="External"/><Relationship Id="rId5" Type="http://schemas.openxmlformats.org/officeDocument/2006/relationships/image" Target="../media/image29.jp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"/>
          <p:cNvSpPr txBox="1"/>
          <p:nvPr/>
        </p:nvSpPr>
        <p:spPr>
          <a:xfrm>
            <a:off x="1152939" y="502470"/>
            <a:ext cx="683812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ES" sz="60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LA RUTA MATEMÁTICA</a:t>
            </a:r>
            <a:endParaRPr/>
          </a:p>
        </p:txBody>
      </p:sp>
      <p:sp>
        <p:nvSpPr>
          <p:cNvPr id="132" name="Google Shape;132;p1"/>
          <p:cNvSpPr txBox="1"/>
          <p:nvPr/>
        </p:nvSpPr>
        <p:spPr>
          <a:xfrm>
            <a:off x="2335696" y="2102398"/>
            <a:ext cx="4472608" cy="83099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ES" sz="48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GEOMETRÍA 2D</a:t>
            </a:r>
            <a:endParaRPr b="1" i="0" sz="4800" u="none" cap="none" strike="noStrike">
              <a:solidFill>
                <a:srgbClr val="009F98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133" name="Google Shape;13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64" y="2738944"/>
            <a:ext cx="2239350" cy="224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"/>
          <p:cNvSpPr txBox="1"/>
          <p:nvPr/>
        </p:nvSpPr>
        <p:spPr>
          <a:xfrm>
            <a:off x="2335696" y="3235008"/>
            <a:ext cx="4472608" cy="83099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ES" sz="48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(agregar dibujos)</a:t>
            </a:r>
            <a:endParaRPr/>
          </a:p>
        </p:txBody>
      </p:sp>
      <p:pic>
        <p:nvPicPr>
          <p:cNvPr id="135" name="Google Shape;135;p1"/>
          <p:cNvPicPr preferRelativeResize="0"/>
          <p:nvPr/>
        </p:nvPicPr>
        <p:blipFill rotWithShape="1">
          <a:blip r:embed="rId4">
            <a:alphaModFix/>
          </a:blip>
          <a:srcRect b="17637" l="28322" r="13793" t="24438"/>
          <a:stretch/>
        </p:blipFill>
        <p:spPr>
          <a:xfrm>
            <a:off x="0" y="-64800"/>
            <a:ext cx="9248500" cy="526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83675" y="4317350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36ebf1d640_0_112"/>
          <p:cNvSpPr txBox="1"/>
          <p:nvPr/>
        </p:nvSpPr>
        <p:spPr>
          <a:xfrm>
            <a:off x="589763" y="1255031"/>
            <a:ext cx="8188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2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Propósito</a:t>
            </a:r>
            <a:r>
              <a:rPr b="1" lang="es-E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s-ES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s-ES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Asegurar que los estudiantes comprendan qué es la longitud, cómo medirla, y cómo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transformar unidades de medida de manera efectiva.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42" name="Google Shape;142;g336ebf1d640_0_112"/>
          <p:cNvSpPr txBox="1"/>
          <p:nvPr/>
        </p:nvSpPr>
        <p:spPr>
          <a:xfrm>
            <a:off x="868700" y="1980075"/>
            <a:ext cx="3524100" cy="2711400"/>
          </a:xfrm>
          <a:prstGeom prst="rect">
            <a:avLst/>
          </a:prstGeom>
          <a:noFill/>
          <a:ln cap="flat" cmpd="sng" w="28575">
            <a:solidFill>
              <a:srgbClr val="3259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Objetivos de la Clase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Entender qué es la longitud.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Cómo medir la longitud.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Reconocer el largo y ancho de las figuras.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4. Transformar unidades de longitud.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3" name="Google Shape;143;g336ebf1d640_0_112"/>
          <p:cNvSpPr txBox="1"/>
          <p:nvPr/>
        </p:nvSpPr>
        <p:spPr>
          <a:xfrm>
            <a:off x="4782050" y="1979974"/>
            <a:ext cx="3524100" cy="2711400"/>
          </a:xfrm>
          <a:prstGeom prst="rect">
            <a:avLst/>
          </a:prstGeom>
          <a:noFill/>
          <a:ln cap="flat" cmpd="sng" w="28575">
            <a:solidFill>
              <a:srgbClr val="3259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Conceptos Clave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Distancia.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Medidas de longitud.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3.Metro, milímetro, centímetro, kilómetro.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4.Transformación de medidas de longitud.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4" name="Google Shape;144;g336ebf1d640_0_112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36ebf1d640_0_112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36ebf1d640_0_112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7" name="Google Shape;147;g336ebf1d640_0_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6225" y="34346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36ebf1d640_0_122"/>
          <p:cNvSpPr txBox="1"/>
          <p:nvPr/>
        </p:nvSpPr>
        <p:spPr>
          <a:xfrm>
            <a:off x="589763" y="1197881"/>
            <a:ext cx="8188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2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Consejos para realizar la sesión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53" name="Google Shape;153;g336ebf1d640_0_122"/>
          <p:cNvSpPr txBox="1"/>
          <p:nvPr/>
        </p:nvSpPr>
        <p:spPr>
          <a:xfrm>
            <a:off x="589763" y="1598681"/>
            <a:ext cx="7875000" cy="43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En la diapositiva 5 se dan distintos ejemplos sobre cuándo se mide distancia, por ello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motiva a que el estudiante dé ejemplos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 antes de mostrar los oficiales. De esa forma estarás haciendo que se concentre y no se distraiga.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Es común que los estudiantes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no sepan relacionar las unidades de medida. Para ello recalca el prefijo destacado en la diapositiva 6 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tanto al comienzo como al término de la sesión. Así el estudiante recordará de forma nemotécnica lo anterior.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Otro error frecuente es no saber elegir las unidades de medida más adecuadas para cada contexto, especialmente entre el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centímetro y metro.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 Por ejemplo, que se use el centímetro para medir la longitud de una calle. Por ello desde la diapositiva 7 hasta la 13 se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repasan ejemplos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 concretos para cada caso. Al revisarlos, pídele al estudiante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otros contextos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 donde haya utilizado la unidad de medida respectiva, además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pregúntale la razón para ello.</a:t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4" name="Google Shape;154;g336ebf1d640_0_122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36ebf1d640_0_122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36ebf1d640_0_122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7" name="Google Shape;157;g336ebf1d640_0_1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6225" y="34346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36ebf1d640_0_131"/>
          <p:cNvSpPr txBox="1"/>
          <p:nvPr/>
        </p:nvSpPr>
        <p:spPr>
          <a:xfrm>
            <a:off x="589763" y="1197881"/>
            <a:ext cx="8188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2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Consejos para realizar la sesión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63" name="Google Shape;163;g336ebf1d640_0_131"/>
          <p:cNvSpPr txBox="1"/>
          <p:nvPr/>
        </p:nvSpPr>
        <p:spPr>
          <a:xfrm>
            <a:off x="589763" y="1712981"/>
            <a:ext cx="78750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Finalmente, si al estudiante </a:t>
            </a:r>
            <a:r>
              <a:rPr b="1" lang="es-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 cuesta saber cómo transformar las unidades</a:t>
            </a:r>
            <a:r>
              <a:rPr lang="es-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 medida, recuerdale que para pasar de una </a:t>
            </a:r>
            <a:r>
              <a:rPr b="1" lang="es-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unidad mayor a otra menor</a:t>
            </a:r>
            <a:r>
              <a:rPr lang="es-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debe </a:t>
            </a:r>
            <a:r>
              <a:rPr b="1" lang="es-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multiplicar y si es al revés</a:t>
            </a:r>
            <a:r>
              <a:rPr lang="es-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debe </a:t>
            </a:r>
            <a:r>
              <a:rPr b="1" lang="es-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dividir.</a:t>
            </a:r>
            <a:r>
              <a:rPr lang="es-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La cantidad dependerá de cada transformación.</a:t>
            </a:r>
            <a:endParaRPr i="1"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4" name="Google Shape;164;g336ebf1d640_0_131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36ebf1d640_0_131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36ebf1d640_0_131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7" name="Google Shape;167;g336ebf1d640_0_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6225" y="34346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36ebf1d640_0_140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36ebf1d640_0_140"/>
          <p:cNvSpPr txBox="1"/>
          <p:nvPr/>
        </p:nvSpPr>
        <p:spPr>
          <a:xfrm>
            <a:off x="285206" y="1218713"/>
            <a:ext cx="8451600" cy="15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Para Complementar</a:t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Invita a tu estudiante a que </a:t>
            </a:r>
            <a:r>
              <a:rPr b="1"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investigue a cuántos metros de altura está el punto más alto de su colegio</a:t>
            </a: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en tanto que tú te comprometes a hacer lo mismo con tu institución de educación superior u hogar. En la siguiente sesión comenten sus hallazgos.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4" name="Google Shape;174;g336ebf1d640_0_140"/>
          <p:cNvSpPr txBox="1"/>
          <p:nvPr/>
        </p:nvSpPr>
        <p:spPr>
          <a:xfrm>
            <a:off x="285206" y="3044044"/>
            <a:ext cx="8451600" cy="15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Preguntas de Cierre</a:t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¿Qué es la longitud?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¿Cómo se mide la longitud?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¿Cuándo es común utilizar el km?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4. ¿Cómo puedo transformar unidades de longitud?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5" name="Google Shape;175;g336ebf1d640_0_140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36ebf1d640_0_140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7" name="Google Shape;177;g336ebf1d640_0_1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6225" y="34346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"/>
          <p:cNvSpPr txBox="1"/>
          <p:nvPr/>
        </p:nvSpPr>
        <p:spPr>
          <a:xfrm>
            <a:off x="1152939" y="2063920"/>
            <a:ext cx="6838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ES" sz="60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SESIÓN 1</a:t>
            </a:r>
            <a:endParaRPr/>
          </a:p>
        </p:txBody>
      </p:sp>
      <p:pic>
        <p:nvPicPr>
          <p:cNvPr id="183" name="Google Shape;18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46125" y="3666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2e90036709_0_0"/>
          <p:cNvSpPr txBox="1"/>
          <p:nvPr>
            <p:ph type="title"/>
          </p:nvPr>
        </p:nvSpPr>
        <p:spPr>
          <a:xfrm>
            <a:off x="471488" y="205383"/>
            <a:ext cx="59151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Forma&#10;&#10;Descripción generada automáticamente con confianza media" id="189" name="Google Shape;189;g32e90036709_0_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g32e90036709_0_0"/>
          <p:cNvSpPr txBox="1"/>
          <p:nvPr/>
        </p:nvSpPr>
        <p:spPr>
          <a:xfrm>
            <a:off x="497813" y="383963"/>
            <a:ext cx="81483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ES" sz="3200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Algunas recomendaciones </a:t>
            </a:r>
            <a:endParaRPr b="1" sz="5100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91" name="Google Shape;191;g32e90036709_0_0"/>
          <p:cNvSpPr txBox="1"/>
          <p:nvPr/>
        </p:nvSpPr>
        <p:spPr>
          <a:xfrm>
            <a:off x="4320252" y="3339338"/>
            <a:ext cx="3834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92" name="Google Shape;192;g32e90036709_0_0"/>
          <p:cNvSpPr txBox="1"/>
          <p:nvPr/>
        </p:nvSpPr>
        <p:spPr>
          <a:xfrm>
            <a:off x="317625" y="1447800"/>
            <a:ext cx="7953000" cy="37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es-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Antes de comenzar recuerda mirar tu Knowledge organizer:  Es un organizador de contenidos de tu ruta de </a:t>
            </a:r>
            <a:r>
              <a:rPr lang="es-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geometría</a:t>
            </a:r>
            <a:r>
              <a:rPr lang="es-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para guiar el desarrollo de cada sesión.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es-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Ejercicios: Si quieres obtener más ejercicios para practicar con tu alumno te recomendamos las siguientes páginas web: 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SzPts val="1100"/>
              <a:buFont typeface="Poppins"/>
              <a:buChar char="-"/>
            </a:pPr>
            <a:r>
              <a:rPr lang="es-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Khan Academy : </a:t>
            </a:r>
            <a:r>
              <a:rPr lang="es-ES" sz="11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4"/>
              </a:rPr>
              <a:t>https://es.khanacademy.org/</a:t>
            </a:r>
            <a:r>
              <a:rPr lang="es-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: Pagina tratuita. Es una página fácil de manejar y de buscar.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-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Matematicas libre: </a:t>
            </a:r>
            <a:r>
              <a:rPr lang="es-ES" sz="11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5"/>
              </a:rPr>
              <a:t>https://mateslibres.com/</a:t>
            </a:r>
            <a:r>
              <a:rPr lang="es-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: Pagina gratuita , con ejercicios variados.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-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Cokitos:  </a:t>
            </a:r>
            <a:r>
              <a:rPr lang="es-ES" sz="11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6"/>
              </a:rPr>
              <a:t>https://www.cokitos.com/</a:t>
            </a:r>
            <a:r>
              <a:rPr lang="es-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: Página con juegos educativos. Orientación a diversos contenidos, pero muy útil en matemáticas. No requiere inscribirse. Abundante publicidad. 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-"/>
            </a:pPr>
            <a:r>
              <a:rPr lang="es-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Teachy: </a:t>
            </a:r>
            <a:r>
              <a:rPr lang="es-ES" sz="1100" u="sng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www.Teachy.app</a:t>
            </a:r>
            <a:r>
              <a:rPr lang="es-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: Página de inteligencia artificial, muy buena para crear ejercicios y juegos.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s-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Importante: </a:t>
            </a:r>
            <a:r>
              <a:rPr lang="es-E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 recomendamos  mirar estas páginas antes de la tutoría, para que puedas buscar y familiarizarte con la página web.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300" u="sng">
              <a:solidFill>
                <a:schemeClr val="hlink"/>
              </a:solidFill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193" name="Google Shape;193;g32e90036709_0_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346125" y="3666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"/>
          <p:cNvSpPr txBox="1"/>
          <p:nvPr/>
        </p:nvSpPr>
        <p:spPr>
          <a:xfrm>
            <a:off x="-37" y="366599"/>
            <a:ext cx="9144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Qué evalúa el MINEDUC (información para TUTOR/A)</a:t>
            </a:r>
            <a:endParaRPr/>
          </a:p>
        </p:txBody>
      </p:sp>
      <p:sp>
        <p:nvSpPr>
          <p:cNvPr id="199" name="Google Shape;199;p3"/>
          <p:cNvSpPr txBox="1"/>
          <p:nvPr/>
        </p:nvSpPr>
        <p:spPr>
          <a:xfrm>
            <a:off x="600218" y="1095159"/>
            <a:ext cx="7943489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OA22 4to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Medir longitudes con unidades estandarizadas (m, cm) y realizar transformaciones entre estas unidades (m a cm, y viceversa), en el contexto de la resolución de problemas.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OA19 5to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Medir longitudes con unidades estandarizadas (m, cm, mm) en el contexto de la resolución de problemas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*Adicionalmente se trabajará con kilómetro dado que también se pregunta en otros cursos</a:t>
            </a:r>
            <a:endParaRPr/>
          </a:p>
        </p:txBody>
      </p:sp>
      <p:pic>
        <p:nvPicPr>
          <p:cNvPr id="200" name="Google Shape;20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9475" y="39679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"/>
          <p:cNvSpPr txBox="1"/>
          <p:nvPr/>
        </p:nvSpPr>
        <p:spPr>
          <a:xfrm>
            <a:off x="-37" y="366599"/>
            <a:ext cx="9144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✨Objetivos de hoy✨</a:t>
            </a:r>
            <a:endParaRPr/>
          </a:p>
        </p:txBody>
      </p:sp>
      <p:sp>
        <p:nvSpPr>
          <p:cNvPr id="206" name="Google Shape;206;p4"/>
          <p:cNvSpPr txBox="1"/>
          <p:nvPr/>
        </p:nvSpPr>
        <p:spPr>
          <a:xfrm>
            <a:off x="600218" y="1095159"/>
            <a:ext cx="7943489" cy="20774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AutoNum type="arabicParenR"/>
            </a:pPr>
            <a:r>
              <a:rPr b="0" i="0" lang="es-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Entender qué es la longitud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AutoNum type="arabicParenR"/>
            </a:pPr>
            <a:r>
              <a:rPr b="0" i="0" lang="es-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Cómo medir la longitud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AutoNum type="arabicParenR"/>
            </a:pPr>
            <a:r>
              <a:rPr b="0" i="0" lang="es-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Reconocer el Largo y Ancho de las figuras</a:t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AutoNum type="arabicParenR"/>
            </a:pPr>
            <a:r>
              <a:rPr b="0" i="0" lang="es-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Transformar unidades de longitud</a:t>
            </a:r>
            <a:endParaRPr/>
          </a:p>
          <a:p>
            <a:pPr indent="-1968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207" name="Google Shape;20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9475" y="39679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baja" id="212" name="Google Shape;21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45212" y="2826129"/>
            <a:ext cx="1720132" cy="1720132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5"/>
          <p:cNvSpPr txBox="1"/>
          <p:nvPr/>
        </p:nvSpPr>
        <p:spPr>
          <a:xfrm>
            <a:off x="1473724" y="366599"/>
            <a:ext cx="619647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¿Qué es la longitud? </a:t>
            </a:r>
            <a:endParaRPr/>
          </a:p>
        </p:txBody>
      </p:sp>
      <p:sp>
        <p:nvSpPr>
          <p:cNvPr id="214" name="Google Shape;214;p5"/>
          <p:cNvSpPr txBox="1"/>
          <p:nvPr/>
        </p:nvSpPr>
        <p:spPr>
          <a:xfrm>
            <a:off x="600218" y="1095159"/>
            <a:ext cx="79434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La longitud es el espacio que hay entre dos puntos, o sea la </a:t>
            </a:r>
            <a:r>
              <a:rPr b="1" i="0" lang="es-ES" sz="18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distancia</a:t>
            </a:r>
            <a:r>
              <a:rPr b="0" i="0" lang="es-ES" sz="18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que hay entre ellas</a:t>
            </a:r>
            <a:endParaRPr/>
          </a:p>
        </p:txBody>
      </p:sp>
      <p:sp>
        <p:nvSpPr>
          <p:cNvPr id="215" name="Google Shape;215;p5"/>
          <p:cNvSpPr txBox="1"/>
          <p:nvPr/>
        </p:nvSpPr>
        <p:spPr>
          <a:xfrm>
            <a:off x="600218" y="1464491"/>
            <a:ext cx="79434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Pensando en ello, ¿</a:t>
            </a:r>
            <a:r>
              <a:rPr b="1" i="0" lang="es-ES" sz="18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cuándo nos interesa </a:t>
            </a:r>
            <a:r>
              <a:rPr b="0" i="0" lang="es-ES" sz="18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saber la distancia de las cosas?</a:t>
            </a:r>
            <a:endParaRPr/>
          </a:p>
        </p:txBody>
      </p:sp>
      <p:sp>
        <p:nvSpPr>
          <p:cNvPr id="216" name="Google Shape;216;p5"/>
          <p:cNvSpPr txBox="1"/>
          <p:nvPr/>
        </p:nvSpPr>
        <p:spPr>
          <a:xfrm>
            <a:off x="6958666" y="2126327"/>
            <a:ext cx="215783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Cuando nos desplazamos de un lugar a otro</a:t>
            </a:r>
            <a:endParaRPr/>
          </a:p>
        </p:txBody>
      </p:sp>
      <p:sp>
        <p:nvSpPr>
          <p:cNvPr id="217" name="Google Shape;217;p5"/>
          <p:cNvSpPr txBox="1"/>
          <p:nvPr/>
        </p:nvSpPr>
        <p:spPr>
          <a:xfrm>
            <a:off x="4552738" y="2113627"/>
            <a:ext cx="254054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Cuando queremos conocer nuestra altura</a:t>
            </a:r>
            <a:endParaRPr/>
          </a:p>
        </p:txBody>
      </p:sp>
      <p:pic>
        <p:nvPicPr>
          <p:cNvPr descr="Forma&#10;&#10;Descripción generada automáticamente con confianza baja" id="218" name="Google Shape;21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3277" y="2670755"/>
            <a:ext cx="1875506" cy="1875506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5"/>
          <p:cNvSpPr txBox="1"/>
          <p:nvPr/>
        </p:nvSpPr>
        <p:spPr>
          <a:xfrm>
            <a:off x="2208470" y="2089522"/>
            <a:ext cx="241968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Cuando necesitamos saber si un cuaderno es muy grande</a:t>
            </a:r>
            <a:endParaRPr/>
          </a:p>
        </p:txBody>
      </p:sp>
      <p:pic>
        <p:nvPicPr>
          <p:cNvPr descr="Forma&#10;&#10;Descripción generada automáticamente con confianza baja" id="220" name="Google Shape;22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42248" y="2992233"/>
            <a:ext cx="1381328" cy="13813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 con confianza baja" id="221" name="Google Shape;221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3715" y="2992233"/>
            <a:ext cx="1387926" cy="1387924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5"/>
          <p:cNvSpPr txBox="1"/>
          <p:nvPr/>
        </p:nvSpPr>
        <p:spPr>
          <a:xfrm>
            <a:off x="25555" y="2089522"/>
            <a:ext cx="218424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Cuando queremos ver el tamaño de un insecto</a:t>
            </a:r>
            <a:endParaRPr/>
          </a:p>
        </p:txBody>
      </p:sp>
      <p:pic>
        <p:nvPicPr>
          <p:cNvPr id="223" name="Google Shape;223;p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46125" y="3666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6"/>
          <p:cNvSpPr txBox="1"/>
          <p:nvPr/>
        </p:nvSpPr>
        <p:spPr>
          <a:xfrm>
            <a:off x="337499" y="389325"/>
            <a:ext cx="8469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¿Cómo medimos la longitud? </a:t>
            </a:r>
            <a:endParaRPr/>
          </a:p>
        </p:txBody>
      </p:sp>
      <p:sp>
        <p:nvSpPr>
          <p:cNvPr id="229" name="Google Shape;229;p6"/>
          <p:cNvSpPr txBox="1"/>
          <p:nvPr/>
        </p:nvSpPr>
        <p:spPr>
          <a:xfrm>
            <a:off x="600255" y="987972"/>
            <a:ext cx="794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¡Utilizamos las </a:t>
            </a: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unidades de medida!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30" name="Google Shape;230;p6"/>
          <p:cNvSpPr txBox="1"/>
          <p:nvPr/>
        </p:nvSpPr>
        <p:spPr>
          <a:xfrm>
            <a:off x="457439" y="1447520"/>
            <a:ext cx="144582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Milímetro</a:t>
            </a:r>
            <a:endParaRPr/>
          </a:p>
        </p:txBody>
      </p:sp>
      <p:sp>
        <p:nvSpPr>
          <p:cNvPr id="231" name="Google Shape;231;p6"/>
          <p:cNvSpPr txBox="1"/>
          <p:nvPr/>
        </p:nvSpPr>
        <p:spPr>
          <a:xfrm>
            <a:off x="2703689" y="1446844"/>
            <a:ext cx="147045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Centímetro</a:t>
            </a:r>
            <a:endParaRPr/>
          </a:p>
        </p:txBody>
      </p:sp>
      <p:sp>
        <p:nvSpPr>
          <p:cNvPr id="232" name="Google Shape;232;p6"/>
          <p:cNvSpPr txBox="1"/>
          <p:nvPr/>
        </p:nvSpPr>
        <p:spPr>
          <a:xfrm>
            <a:off x="5328930" y="1463323"/>
            <a:ext cx="10293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Metro</a:t>
            </a:r>
            <a:endParaRPr/>
          </a:p>
        </p:txBody>
      </p:sp>
      <p:sp>
        <p:nvSpPr>
          <p:cNvPr id="233" name="Google Shape;233;p6"/>
          <p:cNvSpPr txBox="1"/>
          <p:nvPr/>
        </p:nvSpPr>
        <p:spPr>
          <a:xfrm>
            <a:off x="7259032" y="1446844"/>
            <a:ext cx="15337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Kilómetro</a:t>
            </a:r>
            <a:endParaRPr/>
          </a:p>
        </p:txBody>
      </p:sp>
      <p:sp>
        <p:nvSpPr>
          <p:cNvPr id="234" name="Google Shape;234;p6"/>
          <p:cNvSpPr txBox="1"/>
          <p:nvPr/>
        </p:nvSpPr>
        <p:spPr>
          <a:xfrm>
            <a:off x="595792" y="1918376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¿Notas algo en la manera que están escritas?</a:t>
            </a:r>
            <a:endParaRPr/>
          </a:p>
        </p:txBody>
      </p:sp>
      <p:sp>
        <p:nvSpPr>
          <p:cNvPr id="235" name="Google Shape;235;p6"/>
          <p:cNvSpPr txBox="1"/>
          <p:nvPr/>
        </p:nvSpPr>
        <p:spPr>
          <a:xfrm>
            <a:off x="3087102" y="2875637"/>
            <a:ext cx="10293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Metro</a:t>
            </a:r>
            <a:endParaRPr/>
          </a:p>
        </p:txBody>
      </p:sp>
      <p:sp>
        <p:nvSpPr>
          <p:cNvPr id="236" name="Google Shape;236;p6"/>
          <p:cNvSpPr txBox="1"/>
          <p:nvPr/>
        </p:nvSpPr>
        <p:spPr>
          <a:xfrm>
            <a:off x="4174142" y="2506306"/>
            <a:ext cx="181505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FAB235"/>
                </a:solidFill>
                <a:latin typeface="Patrick Hand"/>
                <a:ea typeface="Patrick Hand"/>
                <a:cs typeface="Patrick Hand"/>
                <a:sym typeface="Patrick Hand"/>
              </a:rPr>
              <a:t>Milí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metro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FAB235"/>
                </a:solidFill>
                <a:latin typeface="Patrick Hand"/>
                <a:ea typeface="Patrick Hand"/>
                <a:cs typeface="Patrick Hand"/>
                <a:sym typeface="Patrick Hand"/>
              </a:rPr>
              <a:t>Centí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metro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FAB235"/>
                </a:solidFill>
                <a:latin typeface="Patrick Hand"/>
                <a:ea typeface="Patrick Hand"/>
                <a:cs typeface="Patrick Hand"/>
                <a:sym typeface="Patrick Hand"/>
              </a:rPr>
              <a:t>Kiló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metro</a:t>
            </a:r>
            <a:endParaRPr/>
          </a:p>
        </p:txBody>
      </p:sp>
      <p:sp>
        <p:nvSpPr>
          <p:cNvPr id="237" name="Google Shape;237;p6"/>
          <p:cNvSpPr/>
          <p:nvPr/>
        </p:nvSpPr>
        <p:spPr>
          <a:xfrm>
            <a:off x="4058802" y="2506306"/>
            <a:ext cx="393700" cy="123131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6"/>
          <p:cNvSpPr txBox="1"/>
          <p:nvPr/>
        </p:nvSpPr>
        <p:spPr>
          <a:xfrm>
            <a:off x="595791" y="3737250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¡Todas son referenciadas al </a:t>
            </a: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metro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!</a:t>
            </a:r>
            <a:endParaRPr/>
          </a:p>
        </p:txBody>
      </p:sp>
      <p:pic>
        <p:nvPicPr>
          <p:cNvPr id="239" name="Google Shape;23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9475" y="39679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"/>
          <p:cNvSpPr txBox="1"/>
          <p:nvPr/>
        </p:nvSpPr>
        <p:spPr>
          <a:xfrm>
            <a:off x="421199" y="358400"/>
            <a:ext cx="8301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Metro (m)</a:t>
            </a:r>
            <a:endParaRPr/>
          </a:p>
        </p:txBody>
      </p:sp>
      <p:sp>
        <p:nvSpPr>
          <p:cNvPr id="245" name="Google Shape;245;p7"/>
          <p:cNvSpPr txBox="1"/>
          <p:nvPr/>
        </p:nvSpPr>
        <p:spPr>
          <a:xfrm>
            <a:off x="600255" y="987972"/>
            <a:ext cx="79434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Es la unidad fundamental de las distancias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Estimemos que </a:t>
            </a: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un paso es igual a un metro 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y queremos medir: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Largo: 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lado de mayor longitud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Ancho: 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lado de menor longitud</a:t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3171806" y="3299179"/>
            <a:ext cx="2800387" cy="1143000"/>
          </a:xfrm>
          <a:prstGeom prst="rect">
            <a:avLst/>
          </a:prstGeom>
          <a:noFill/>
          <a:ln cap="flat" cmpd="sng" w="25400">
            <a:solidFill>
              <a:srgbClr val="1B38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PIEZA</a:t>
            </a:r>
            <a:endParaRPr/>
          </a:p>
        </p:txBody>
      </p:sp>
      <p:sp>
        <p:nvSpPr>
          <p:cNvPr id="247" name="Google Shape;247;p7"/>
          <p:cNvSpPr txBox="1"/>
          <p:nvPr/>
        </p:nvSpPr>
        <p:spPr>
          <a:xfrm>
            <a:off x="4190999" y="2926964"/>
            <a:ext cx="762000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Largo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7"/>
          <p:cNvSpPr txBox="1"/>
          <p:nvPr/>
        </p:nvSpPr>
        <p:spPr>
          <a:xfrm>
            <a:off x="6073793" y="3716790"/>
            <a:ext cx="720744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Ancho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7"/>
          <p:cNvSpPr txBox="1"/>
          <p:nvPr/>
        </p:nvSpPr>
        <p:spPr>
          <a:xfrm>
            <a:off x="4458147" y="1879699"/>
            <a:ext cx="243212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De nuestra pieza</a:t>
            </a:r>
            <a:endParaRPr/>
          </a:p>
        </p:txBody>
      </p:sp>
      <p:sp>
        <p:nvSpPr>
          <p:cNvPr id="250" name="Google Shape;250;p7"/>
          <p:cNvSpPr/>
          <p:nvPr/>
        </p:nvSpPr>
        <p:spPr>
          <a:xfrm flipH="1">
            <a:off x="4392877" y="1803275"/>
            <a:ext cx="293626" cy="636027"/>
          </a:xfrm>
          <a:prstGeom prst="leftBrace">
            <a:avLst>
              <a:gd fmla="val 8333" name="adj1"/>
              <a:gd fmla="val 50874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1" name="Google Shape;25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9475" y="39679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8"/>
          <p:cNvSpPr txBox="1"/>
          <p:nvPr/>
        </p:nvSpPr>
        <p:spPr>
          <a:xfrm>
            <a:off x="567749" y="301825"/>
            <a:ext cx="8008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Metro (m)</a:t>
            </a:r>
            <a:endParaRPr/>
          </a:p>
        </p:txBody>
      </p:sp>
      <p:sp>
        <p:nvSpPr>
          <p:cNvPr id="257" name="Google Shape;257;p8"/>
          <p:cNvSpPr txBox="1"/>
          <p:nvPr/>
        </p:nvSpPr>
        <p:spPr>
          <a:xfrm>
            <a:off x="600255" y="987972"/>
            <a:ext cx="7943400" cy="831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6174" l="0" r="0" t="-5881"/>
            </a:stretch>
          </a:blip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1012806" y="2292350"/>
            <a:ext cx="2800387" cy="1143000"/>
          </a:xfrm>
          <a:prstGeom prst="rect">
            <a:avLst/>
          </a:prstGeom>
          <a:noFill/>
          <a:ln cap="flat" cmpd="sng" w="25400">
            <a:solidFill>
              <a:srgbClr val="1B38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Mi pieza</a:t>
            </a:r>
            <a:endParaRPr/>
          </a:p>
        </p:txBody>
      </p:sp>
      <p:sp>
        <p:nvSpPr>
          <p:cNvPr id="259" name="Google Shape;259;p8"/>
          <p:cNvSpPr txBox="1"/>
          <p:nvPr/>
        </p:nvSpPr>
        <p:spPr>
          <a:xfrm>
            <a:off x="2031999" y="1920135"/>
            <a:ext cx="762000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8"/>
          <p:cNvSpPr txBox="1"/>
          <p:nvPr/>
        </p:nvSpPr>
        <p:spPr>
          <a:xfrm>
            <a:off x="3914793" y="2709961"/>
            <a:ext cx="720744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5026007" y="2292350"/>
            <a:ext cx="2800387" cy="1143000"/>
          </a:xfrm>
          <a:prstGeom prst="rect">
            <a:avLst/>
          </a:prstGeom>
          <a:noFill/>
          <a:ln cap="flat" cmpd="sng" w="25400">
            <a:solidFill>
              <a:srgbClr val="1B38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Tu pieza</a:t>
            </a:r>
            <a:endParaRPr/>
          </a:p>
        </p:txBody>
      </p:sp>
      <p:sp>
        <p:nvSpPr>
          <p:cNvPr id="262" name="Google Shape;262;p8"/>
          <p:cNvSpPr txBox="1"/>
          <p:nvPr/>
        </p:nvSpPr>
        <p:spPr>
          <a:xfrm>
            <a:off x="6045200" y="1920135"/>
            <a:ext cx="762000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8"/>
          <p:cNvSpPr txBox="1"/>
          <p:nvPr/>
        </p:nvSpPr>
        <p:spPr>
          <a:xfrm>
            <a:off x="7927994" y="2709961"/>
            <a:ext cx="720744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19475" y="39679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9"/>
          <p:cNvSpPr txBox="1"/>
          <p:nvPr/>
        </p:nvSpPr>
        <p:spPr>
          <a:xfrm>
            <a:off x="7033342" y="3594844"/>
            <a:ext cx="1019193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9"/>
          <p:cNvSpPr txBox="1"/>
          <p:nvPr/>
        </p:nvSpPr>
        <p:spPr>
          <a:xfrm>
            <a:off x="5865804" y="2635434"/>
            <a:ext cx="965201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9"/>
          <p:cNvSpPr txBox="1"/>
          <p:nvPr/>
        </p:nvSpPr>
        <p:spPr>
          <a:xfrm>
            <a:off x="427799" y="326025"/>
            <a:ext cx="8288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Milímetro (mm)</a:t>
            </a:r>
            <a:endParaRPr/>
          </a:p>
        </p:txBody>
      </p:sp>
      <p:sp>
        <p:nvSpPr>
          <p:cNvPr id="272" name="Google Shape;272;p9"/>
          <p:cNvSpPr txBox="1"/>
          <p:nvPr/>
        </p:nvSpPr>
        <p:spPr>
          <a:xfrm>
            <a:off x="600218" y="911027"/>
            <a:ext cx="7943489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Así como dijimos que: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 paso = 1 metro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La relación entre metro y milímetro es: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1 metro = 1000 milímetros</a:t>
            </a:r>
            <a:endParaRPr/>
          </a:p>
        </p:txBody>
      </p:sp>
      <p:sp>
        <p:nvSpPr>
          <p:cNvPr id="273" name="Google Shape;273;p9"/>
          <p:cNvSpPr/>
          <p:nvPr/>
        </p:nvSpPr>
        <p:spPr>
          <a:xfrm>
            <a:off x="1874073" y="3097960"/>
            <a:ext cx="1019193" cy="1569661"/>
          </a:xfrm>
          <a:prstGeom prst="rect">
            <a:avLst/>
          </a:prstGeom>
          <a:noFill/>
          <a:ln cap="flat" cmpd="sng" w="25400">
            <a:solidFill>
              <a:srgbClr val="1B38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Pieza </a:t>
            </a:r>
            <a:r>
              <a:rPr b="0" i="0" lang="es-ES" sz="1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(metros)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74" name="Google Shape;274;p9"/>
          <p:cNvSpPr txBox="1"/>
          <p:nvPr/>
        </p:nvSpPr>
        <p:spPr>
          <a:xfrm>
            <a:off x="1901068" y="2635434"/>
            <a:ext cx="965201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metros</a:t>
            </a:r>
            <a:endParaRPr/>
          </a:p>
        </p:txBody>
      </p:sp>
      <p:sp>
        <p:nvSpPr>
          <p:cNvPr id="275" name="Google Shape;275;p9"/>
          <p:cNvSpPr txBox="1"/>
          <p:nvPr/>
        </p:nvSpPr>
        <p:spPr>
          <a:xfrm>
            <a:off x="3010760" y="3594844"/>
            <a:ext cx="911207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metros</a:t>
            </a:r>
            <a:endParaRPr/>
          </a:p>
        </p:txBody>
      </p:sp>
      <p:sp>
        <p:nvSpPr>
          <p:cNvPr id="276" name="Google Shape;276;p9"/>
          <p:cNvSpPr txBox="1"/>
          <p:nvPr/>
        </p:nvSpPr>
        <p:spPr>
          <a:xfrm>
            <a:off x="5865804" y="2635434"/>
            <a:ext cx="965201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2000 mm</a:t>
            </a:r>
            <a:endParaRPr/>
          </a:p>
        </p:txBody>
      </p:sp>
      <p:sp>
        <p:nvSpPr>
          <p:cNvPr id="277" name="Google Shape;277;p9"/>
          <p:cNvSpPr txBox="1"/>
          <p:nvPr/>
        </p:nvSpPr>
        <p:spPr>
          <a:xfrm>
            <a:off x="7033343" y="3594844"/>
            <a:ext cx="1019193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6000 mm</a:t>
            </a: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5838807" y="3097960"/>
            <a:ext cx="1019193" cy="1569661"/>
          </a:xfrm>
          <a:prstGeom prst="rect">
            <a:avLst/>
          </a:prstGeom>
          <a:noFill/>
          <a:ln cap="flat" cmpd="sng" w="25400">
            <a:solidFill>
              <a:srgbClr val="1B38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Pieza </a:t>
            </a: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(milímetros)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79" name="Google Shape;279;p9"/>
          <p:cNvCxnSpPr/>
          <p:nvPr/>
        </p:nvCxnSpPr>
        <p:spPr>
          <a:xfrm>
            <a:off x="4070312" y="3462656"/>
            <a:ext cx="1416088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80" name="Google Shape;280;p9"/>
          <p:cNvCxnSpPr/>
          <p:nvPr/>
        </p:nvCxnSpPr>
        <p:spPr>
          <a:xfrm rot="10800000">
            <a:off x="4083012" y="4135756"/>
            <a:ext cx="1416088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81" name="Google Shape;281;p9"/>
          <p:cNvSpPr txBox="1"/>
          <p:nvPr/>
        </p:nvSpPr>
        <p:spPr>
          <a:xfrm>
            <a:off x="4295755" y="3097960"/>
            <a:ext cx="965201" cy="40011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062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82" name="Google Shape;282;p9"/>
          <p:cNvSpPr txBox="1"/>
          <p:nvPr/>
        </p:nvSpPr>
        <p:spPr>
          <a:xfrm>
            <a:off x="4327505" y="4102784"/>
            <a:ext cx="965201" cy="40011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5694" r="-63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283" name="Google Shape;283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19475" y="39679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0"/>
          <p:cNvSpPr txBox="1"/>
          <p:nvPr/>
        </p:nvSpPr>
        <p:spPr>
          <a:xfrm>
            <a:off x="337674" y="326025"/>
            <a:ext cx="8008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Milímetro (mm)</a:t>
            </a:r>
            <a:endParaRPr/>
          </a:p>
        </p:txBody>
      </p:sp>
      <p:sp>
        <p:nvSpPr>
          <p:cNvPr id="289" name="Google Shape;289;p10"/>
          <p:cNvSpPr txBox="1"/>
          <p:nvPr/>
        </p:nvSpPr>
        <p:spPr>
          <a:xfrm>
            <a:off x="600218" y="911027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Podemos usar </a:t>
            </a: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reglas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para medirlo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descr="Forma&#10;&#10;Descripción generada automáticamente con confianza baja" id="290" name="Google Shape;29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2839774" y="1462203"/>
            <a:ext cx="1387926" cy="13879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 con confianza baja" id="291" name="Google Shape;29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2700000">
            <a:off x="2882553" y="1947629"/>
            <a:ext cx="2343846" cy="2343846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0"/>
          <p:cNvSpPr txBox="1"/>
          <p:nvPr/>
        </p:nvSpPr>
        <p:spPr>
          <a:xfrm>
            <a:off x="2787832" y="2973238"/>
            <a:ext cx="2368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0"/>
          <p:cNvSpPr txBox="1"/>
          <p:nvPr/>
        </p:nvSpPr>
        <p:spPr>
          <a:xfrm>
            <a:off x="2995313" y="2973237"/>
            <a:ext cx="2368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0"/>
          <p:cNvSpPr txBox="1"/>
          <p:nvPr/>
        </p:nvSpPr>
        <p:spPr>
          <a:xfrm>
            <a:off x="3205325" y="2973931"/>
            <a:ext cx="2368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0"/>
          <p:cNvSpPr txBox="1"/>
          <p:nvPr/>
        </p:nvSpPr>
        <p:spPr>
          <a:xfrm>
            <a:off x="3415337" y="2981161"/>
            <a:ext cx="2368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0"/>
          <p:cNvSpPr txBox="1"/>
          <p:nvPr/>
        </p:nvSpPr>
        <p:spPr>
          <a:xfrm>
            <a:off x="3596031" y="2981162"/>
            <a:ext cx="2368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0"/>
          <p:cNvSpPr txBox="1"/>
          <p:nvPr/>
        </p:nvSpPr>
        <p:spPr>
          <a:xfrm>
            <a:off x="3803512" y="2981161"/>
            <a:ext cx="2368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0"/>
          <p:cNvSpPr txBox="1"/>
          <p:nvPr/>
        </p:nvSpPr>
        <p:spPr>
          <a:xfrm>
            <a:off x="4013524" y="2981855"/>
            <a:ext cx="2368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0"/>
          <p:cNvSpPr txBox="1"/>
          <p:nvPr/>
        </p:nvSpPr>
        <p:spPr>
          <a:xfrm>
            <a:off x="4223536" y="2989085"/>
            <a:ext cx="2368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0"/>
          <p:cNvSpPr txBox="1"/>
          <p:nvPr/>
        </p:nvSpPr>
        <p:spPr>
          <a:xfrm>
            <a:off x="4443916" y="2988392"/>
            <a:ext cx="2368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0"/>
          <p:cNvSpPr txBox="1"/>
          <p:nvPr/>
        </p:nvSpPr>
        <p:spPr>
          <a:xfrm>
            <a:off x="2786565" y="3142280"/>
            <a:ext cx="58908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0"/>
          <p:cNvSpPr txBox="1"/>
          <p:nvPr/>
        </p:nvSpPr>
        <p:spPr>
          <a:xfrm>
            <a:off x="590571" y="3620360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¿Cuál es el largo de la chinita aproximadamente?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303" name="Google Shape;303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19475" y="39679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1"/>
          <p:cNvSpPr txBox="1"/>
          <p:nvPr/>
        </p:nvSpPr>
        <p:spPr>
          <a:xfrm>
            <a:off x="300149" y="326025"/>
            <a:ext cx="8543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Centímetro (cm)</a:t>
            </a:r>
            <a:endParaRPr/>
          </a:p>
        </p:txBody>
      </p:sp>
      <p:sp>
        <p:nvSpPr>
          <p:cNvPr id="309" name="Google Shape;309;p11"/>
          <p:cNvSpPr txBox="1"/>
          <p:nvPr/>
        </p:nvSpPr>
        <p:spPr>
          <a:xfrm>
            <a:off x="600218" y="911027"/>
            <a:ext cx="794348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Para el caso del centímetro, su equivalencia con el metro es: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1 metro = 100 centímetros</a:t>
            </a:r>
            <a:endParaRPr/>
          </a:p>
        </p:txBody>
      </p:sp>
      <p:sp>
        <p:nvSpPr>
          <p:cNvPr id="310" name="Google Shape;310;p11"/>
          <p:cNvSpPr txBox="1"/>
          <p:nvPr/>
        </p:nvSpPr>
        <p:spPr>
          <a:xfrm>
            <a:off x="6936523" y="3068634"/>
            <a:ext cx="1019193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1"/>
          <p:cNvSpPr txBox="1"/>
          <p:nvPr/>
        </p:nvSpPr>
        <p:spPr>
          <a:xfrm>
            <a:off x="5768985" y="2109224"/>
            <a:ext cx="965201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1777254" y="2571750"/>
            <a:ext cx="1019193" cy="1569661"/>
          </a:xfrm>
          <a:prstGeom prst="rect">
            <a:avLst/>
          </a:prstGeom>
          <a:noFill/>
          <a:ln cap="flat" cmpd="sng" w="25400">
            <a:solidFill>
              <a:srgbClr val="1B38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Pieza </a:t>
            </a:r>
            <a:r>
              <a:rPr b="0" i="0" lang="es-ES" sz="1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(metros)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13" name="Google Shape;313;p11"/>
          <p:cNvSpPr txBox="1"/>
          <p:nvPr/>
        </p:nvSpPr>
        <p:spPr>
          <a:xfrm>
            <a:off x="1804249" y="2109224"/>
            <a:ext cx="965201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metros</a:t>
            </a:r>
            <a:endParaRPr/>
          </a:p>
        </p:txBody>
      </p:sp>
      <p:sp>
        <p:nvSpPr>
          <p:cNvPr id="314" name="Google Shape;314;p11"/>
          <p:cNvSpPr txBox="1"/>
          <p:nvPr/>
        </p:nvSpPr>
        <p:spPr>
          <a:xfrm>
            <a:off x="2913941" y="3068634"/>
            <a:ext cx="911207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metros</a:t>
            </a:r>
            <a:endParaRPr/>
          </a:p>
        </p:txBody>
      </p:sp>
      <p:sp>
        <p:nvSpPr>
          <p:cNvPr id="315" name="Google Shape;315;p11"/>
          <p:cNvSpPr txBox="1"/>
          <p:nvPr/>
        </p:nvSpPr>
        <p:spPr>
          <a:xfrm>
            <a:off x="5768985" y="2109224"/>
            <a:ext cx="965201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200 cm</a:t>
            </a:r>
            <a:endParaRPr/>
          </a:p>
        </p:txBody>
      </p:sp>
      <p:sp>
        <p:nvSpPr>
          <p:cNvPr id="316" name="Google Shape;316;p11"/>
          <p:cNvSpPr txBox="1"/>
          <p:nvPr/>
        </p:nvSpPr>
        <p:spPr>
          <a:xfrm>
            <a:off x="6936524" y="3068634"/>
            <a:ext cx="1019193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600 cm</a:t>
            </a:r>
            <a:endParaRPr/>
          </a:p>
        </p:txBody>
      </p:sp>
      <p:sp>
        <p:nvSpPr>
          <p:cNvPr id="317" name="Google Shape;317;p11"/>
          <p:cNvSpPr/>
          <p:nvPr/>
        </p:nvSpPr>
        <p:spPr>
          <a:xfrm>
            <a:off x="5741988" y="2571750"/>
            <a:ext cx="1019193" cy="1569661"/>
          </a:xfrm>
          <a:prstGeom prst="rect">
            <a:avLst/>
          </a:prstGeom>
          <a:noFill/>
          <a:ln cap="flat" cmpd="sng" w="25400">
            <a:solidFill>
              <a:srgbClr val="1B38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Pieza </a:t>
            </a: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(milímetros)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318" name="Google Shape;318;p11"/>
          <p:cNvCxnSpPr/>
          <p:nvPr/>
        </p:nvCxnSpPr>
        <p:spPr>
          <a:xfrm>
            <a:off x="3973493" y="2936446"/>
            <a:ext cx="1416088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319" name="Google Shape;319;p11"/>
          <p:cNvCxnSpPr/>
          <p:nvPr/>
        </p:nvCxnSpPr>
        <p:spPr>
          <a:xfrm rot="10800000">
            <a:off x="3986193" y="3609546"/>
            <a:ext cx="1416088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320" name="Google Shape;320;p11"/>
          <p:cNvSpPr txBox="1"/>
          <p:nvPr/>
        </p:nvSpPr>
        <p:spPr>
          <a:xfrm>
            <a:off x="4198936" y="2571750"/>
            <a:ext cx="965201" cy="40011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21" name="Google Shape;321;p11"/>
          <p:cNvSpPr txBox="1"/>
          <p:nvPr/>
        </p:nvSpPr>
        <p:spPr>
          <a:xfrm>
            <a:off x="4230686" y="3576574"/>
            <a:ext cx="965201" cy="40011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322" name="Google Shape;322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19475" y="39679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2"/>
          <p:cNvSpPr txBox="1"/>
          <p:nvPr/>
        </p:nvSpPr>
        <p:spPr>
          <a:xfrm>
            <a:off x="181350" y="326025"/>
            <a:ext cx="8781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Centímetro (cm)</a:t>
            </a:r>
            <a:endParaRPr/>
          </a:p>
        </p:txBody>
      </p:sp>
      <p:sp>
        <p:nvSpPr>
          <p:cNvPr id="328" name="Google Shape;328;p12"/>
          <p:cNvSpPr txBox="1"/>
          <p:nvPr/>
        </p:nvSpPr>
        <p:spPr>
          <a:xfrm>
            <a:off x="600218" y="911027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Busca una </a:t>
            </a: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regla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y midamos nuestros cuadernos</a:t>
            </a:r>
            <a:endParaRPr/>
          </a:p>
        </p:txBody>
      </p:sp>
      <p:pic>
        <p:nvPicPr>
          <p:cNvPr descr="Forma&#10;&#10;Descripción generada automáticamente con confianza baja" id="329" name="Google Shape;32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4548" y="1881086"/>
            <a:ext cx="1381328" cy="1381328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2"/>
          <p:cNvSpPr txBox="1"/>
          <p:nvPr/>
        </p:nvSpPr>
        <p:spPr>
          <a:xfrm>
            <a:off x="2106524" y="3262414"/>
            <a:ext cx="115737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Cuaderno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Tutor</a:t>
            </a:r>
            <a:endParaRPr b="0" i="0" sz="1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31" name="Google Shape;331;p12"/>
          <p:cNvSpPr txBox="1"/>
          <p:nvPr/>
        </p:nvSpPr>
        <p:spPr>
          <a:xfrm>
            <a:off x="2367674" y="1540075"/>
            <a:ext cx="762000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2"/>
          <p:cNvSpPr txBox="1"/>
          <p:nvPr/>
        </p:nvSpPr>
        <p:spPr>
          <a:xfrm>
            <a:off x="3375876" y="2381827"/>
            <a:ext cx="720744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orma&#10;&#10;Descripción generada automáticamente con confianza baja" id="333" name="Google Shape;33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0048" y="1881086"/>
            <a:ext cx="1381328" cy="1381328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2"/>
          <p:cNvSpPr txBox="1"/>
          <p:nvPr/>
        </p:nvSpPr>
        <p:spPr>
          <a:xfrm>
            <a:off x="5472024" y="3262414"/>
            <a:ext cx="115737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Cuaderno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Pupilo</a:t>
            </a:r>
            <a:endParaRPr/>
          </a:p>
        </p:txBody>
      </p:sp>
      <p:sp>
        <p:nvSpPr>
          <p:cNvPr id="335" name="Google Shape;335;p12"/>
          <p:cNvSpPr txBox="1"/>
          <p:nvPr/>
        </p:nvSpPr>
        <p:spPr>
          <a:xfrm>
            <a:off x="5733174" y="1540075"/>
            <a:ext cx="762000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2"/>
          <p:cNvSpPr txBox="1"/>
          <p:nvPr/>
        </p:nvSpPr>
        <p:spPr>
          <a:xfrm>
            <a:off x="6741376" y="2381827"/>
            <a:ext cx="720744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7" name="Google Shape;337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19475" y="39679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3"/>
          <p:cNvSpPr txBox="1"/>
          <p:nvPr/>
        </p:nvSpPr>
        <p:spPr>
          <a:xfrm>
            <a:off x="4381499" y="3910563"/>
            <a:ext cx="1447798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3"/>
          <p:cNvSpPr txBox="1"/>
          <p:nvPr/>
        </p:nvSpPr>
        <p:spPr>
          <a:xfrm>
            <a:off x="208049" y="326025"/>
            <a:ext cx="8727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Kilómetro (km)</a:t>
            </a:r>
            <a:endParaRPr/>
          </a:p>
        </p:txBody>
      </p:sp>
      <p:sp>
        <p:nvSpPr>
          <p:cNvPr id="344" name="Google Shape;344;p13"/>
          <p:cNvSpPr txBox="1"/>
          <p:nvPr/>
        </p:nvSpPr>
        <p:spPr>
          <a:xfrm>
            <a:off x="600218" y="911027"/>
            <a:ext cx="794348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Para el caso del kilómetro, su equivalencia con el metro es: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1.000 metro = 1 kilómetro</a:t>
            </a:r>
            <a:endParaRPr/>
          </a:p>
        </p:txBody>
      </p:sp>
      <p:pic>
        <p:nvPicPr>
          <p:cNvPr descr="Forma&#10;&#10;Descripción generada automáticamente con confianza baja" id="345" name="Google Shape;34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9512" y="1742024"/>
            <a:ext cx="2925888" cy="2925888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3"/>
          <p:cNvSpPr txBox="1"/>
          <p:nvPr/>
        </p:nvSpPr>
        <p:spPr>
          <a:xfrm>
            <a:off x="4622800" y="2041777"/>
            <a:ext cx="965201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4.300 km</a:t>
            </a:r>
            <a:endParaRPr/>
          </a:p>
        </p:txBody>
      </p:sp>
      <p:sp>
        <p:nvSpPr>
          <p:cNvPr id="347" name="Google Shape;347;p13"/>
          <p:cNvSpPr txBox="1"/>
          <p:nvPr/>
        </p:nvSpPr>
        <p:spPr>
          <a:xfrm>
            <a:off x="4381500" y="3910563"/>
            <a:ext cx="1447798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4.300.000 m</a:t>
            </a:r>
            <a:endParaRPr/>
          </a:p>
        </p:txBody>
      </p:sp>
      <p:cxnSp>
        <p:nvCxnSpPr>
          <p:cNvPr id="348" name="Google Shape;348;p13"/>
          <p:cNvCxnSpPr/>
          <p:nvPr/>
        </p:nvCxnSpPr>
        <p:spPr>
          <a:xfrm rot="-5400000">
            <a:off x="4064722" y="3086829"/>
            <a:ext cx="1416088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349" name="Google Shape;349;p13"/>
          <p:cNvCxnSpPr/>
          <p:nvPr/>
        </p:nvCxnSpPr>
        <p:spPr>
          <a:xfrm rot="5400000">
            <a:off x="4784004" y="3122243"/>
            <a:ext cx="1416088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350" name="Google Shape;350;p13"/>
          <p:cNvSpPr txBox="1"/>
          <p:nvPr/>
        </p:nvSpPr>
        <p:spPr>
          <a:xfrm>
            <a:off x="5547931" y="2804858"/>
            <a:ext cx="965201" cy="40011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5062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51" name="Google Shape;351;p13"/>
          <p:cNvSpPr txBox="1"/>
          <p:nvPr/>
        </p:nvSpPr>
        <p:spPr>
          <a:xfrm>
            <a:off x="3840165" y="2804858"/>
            <a:ext cx="965201" cy="400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-5694" r="-63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352" name="Google Shape;352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19475" y="39679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357" name="Google Shape;357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957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4"/>
          <p:cNvSpPr txBox="1"/>
          <p:nvPr/>
        </p:nvSpPr>
        <p:spPr>
          <a:xfrm>
            <a:off x="1393045" y="367771"/>
            <a:ext cx="635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¡Resumen de hoy!</a:t>
            </a:r>
            <a:endParaRPr b="0" i="0" sz="14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1844744" y="1220127"/>
            <a:ext cx="5454502" cy="2722396"/>
          </a:xfrm>
          <a:prstGeom prst="rect">
            <a:avLst/>
          </a:prstGeom>
          <a:solidFill>
            <a:srgbClr val="F5C57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¿Te gustaría ser Tutor o inscribirte como Estudiante de Conectado Aprendo? &#10;¡Regístrate en nuestro sitio web! https://www.conectadoaprendo.cl/&#10;&#10;¡Síguenos en nuestras redes sociales!&#10;https://www.instagram.com/conectado_aprendo&#10;https://www.linkedin.com/in/fundacion-conectado-aprendo-535bb4241&#10;https://www.instagram.com/clubdegoceporlalectura_ca/&#10;&#10;Consultas generales (mail):&#10;contacto@conectadoaprendo.cl&#10;&#10;Profesor y producción:&#10;https://www.youtube.com/@psudiego&#10;&#10;#tutorias #mineduc #geometria" id="360" name="Google Shape;360;p14" title="Resumen - Geometría (1) - Longitudes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3275" y="1044875"/>
            <a:ext cx="6815375" cy="354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19475" y="39679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5"/>
          <p:cNvSpPr txBox="1"/>
          <p:nvPr/>
        </p:nvSpPr>
        <p:spPr>
          <a:xfrm>
            <a:off x="-37" y="366599"/>
            <a:ext cx="9144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¡Ahora es tu turno!</a:t>
            </a:r>
            <a:endParaRPr b="0" i="0" sz="32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7" name="Google Shape;367;p15"/>
          <p:cNvCxnSpPr/>
          <p:nvPr/>
        </p:nvCxnSpPr>
        <p:spPr>
          <a:xfrm>
            <a:off x="1116747" y="2187019"/>
            <a:ext cx="285750" cy="93345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368" name="Google Shape;368;p15"/>
          <p:cNvCxnSpPr/>
          <p:nvPr/>
        </p:nvCxnSpPr>
        <p:spPr>
          <a:xfrm flipH="1">
            <a:off x="1383447" y="3041888"/>
            <a:ext cx="498980" cy="78581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369" name="Google Shape;369;p15"/>
          <p:cNvCxnSpPr/>
          <p:nvPr/>
        </p:nvCxnSpPr>
        <p:spPr>
          <a:xfrm flipH="1">
            <a:off x="1869222" y="1967944"/>
            <a:ext cx="1790700" cy="1076325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370" name="Google Shape;370;p15"/>
          <p:cNvCxnSpPr/>
          <p:nvPr/>
        </p:nvCxnSpPr>
        <p:spPr>
          <a:xfrm flipH="1">
            <a:off x="1113283" y="1977469"/>
            <a:ext cx="2532352" cy="2286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371" name="Google Shape;371;p15"/>
          <p:cNvSpPr txBox="1"/>
          <p:nvPr/>
        </p:nvSpPr>
        <p:spPr>
          <a:xfrm>
            <a:off x="1907641" y="1754068"/>
            <a:ext cx="59632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 km</a:t>
            </a:r>
            <a:endParaRPr/>
          </a:p>
        </p:txBody>
      </p:sp>
      <p:sp>
        <p:nvSpPr>
          <p:cNvPr id="372" name="Google Shape;372;p15"/>
          <p:cNvSpPr txBox="1"/>
          <p:nvPr/>
        </p:nvSpPr>
        <p:spPr>
          <a:xfrm>
            <a:off x="2562491" y="2530046"/>
            <a:ext cx="73162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100 m</a:t>
            </a:r>
            <a:endParaRPr/>
          </a:p>
        </p:txBody>
      </p:sp>
      <p:sp>
        <p:nvSpPr>
          <p:cNvPr id="373" name="Google Shape;373;p15"/>
          <p:cNvSpPr txBox="1"/>
          <p:nvPr/>
        </p:nvSpPr>
        <p:spPr>
          <a:xfrm>
            <a:off x="423988" y="2509380"/>
            <a:ext cx="91519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300 cm</a:t>
            </a:r>
            <a:endParaRPr/>
          </a:p>
        </p:txBody>
      </p:sp>
      <p:sp>
        <p:nvSpPr>
          <p:cNvPr id="374" name="Google Shape;374;p15"/>
          <p:cNvSpPr txBox="1"/>
          <p:nvPr/>
        </p:nvSpPr>
        <p:spPr>
          <a:xfrm>
            <a:off x="1187536" y="3123153"/>
            <a:ext cx="103302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1000 mm</a:t>
            </a:r>
            <a:endParaRPr/>
          </a:p>
        </p:txBody>
      </p:sp>
      <p:cxnSp>
        <p:nvCxnSpPr>
          <p:cNvPr id="375" name="Google Shape;375;p15"/>
          <p:cNvCxnSpPr/>
          <p:nvPr/>
        </p:nvCxnSpPr>
        <p:spPr>
          <a:xfrm>
            <a:off x="6242529" y="2002939"/>
            <a:ext cx="285750" cy="93345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376" name="Google Shape;376;p15"/>
          <p:cNvCxnSpPr/>
          <p:nvPr/>
        </p:nvCxnSpPr>
        <p:spPr>
          <a:xfrm flipH="1">
            <a:off x="6509229" y="2857808"/>
            <a:ext cx="498980" cy="78581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377" name="Google Shape;377;p15"/>
          <p:cNvCxnSpPr/>
          <p:nvPr/>
        </p:nvCxnSpPr>
        <p:spPr>
          <a:xfrm flipH="1">
            <a:off x="6995004" y="1783864"/>
            <a:ext cx="1790700" cy="1076325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378" name="Google Shape;378;p15"/>
          <p:cNvCxnSpPr/>
          <p:nvPr/>
        </p:nvCxnSpPr>
        <p:spPr>
          <a:xfrm flipH="1">
            <a:off x="6239065" y="1793389"/>
            <a:ext cx="2532352" cy="2286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379" name="Google Shape;379;p15"/>
          <p:cNvSpPr txBox="1"/>
          <p:nvPr/>
        </p:nvSpPr>
        <p:spPr>
          <a:xfrm>
            <a:off x="6705352" y="1476087"/>
            <a:ext cx="1300385" cy="30777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454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80" name="Google Shape;380;p15"/>
          <p:cNvSpPr txBox="1"/>
          <p:nvPr/>
        </p:nvSpPr>
        <p:spPr>
          <a:xfrm>
            <a:off x="7785151" y="2509380"/>
            <a:ext cx="1190036" cy="30777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481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81" name="Google Shape;381;p15"/>
          <p:cNvSpPr txBox="1"/>
          <p:nvPr/>
        </p:nvSpPr>
        <p:spPr>
          <a:xfrm>
            <a:off x="5042459" y="2345967"/>
            <a:ext cx="1211724" cy="30777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481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82" name="Google Shape;382;p15"/>
          <p:cNvSpPr txBox="1"/>
          <p:nvPr/>
        </p:nvSpPr>
        <p:spPr>
          <a:xfrm>
            <a:off x="6050694" y="2985436"/>
            <a:ext cx="1367739" cy="30777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481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383" name="Google Shape;383;p15"/>
          <p:cNvCxnSpPr/>
          <p:nvPr/>
        </p:nvCxnSpPr>
        <p:spPr>
          <a:xfrm>
            <a:off x="3853198" y="2530047"/>
            <a:ext cx="1044375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384" name="Google Shape;384;p15"/>
          <p:cNvSpPr txBox="1"/>
          <p:nvPr/>
        </p:nvSpPr>
        <p:spPr>
          <a:xfrm>
            <a:off x="600218" y="911027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Transforma las unidades de medida de la figura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85" name="Google Shape;385;p15"/>
          <p:cNvSpPr txBox="1"/>
          <p:nvPr/>
        </p:nvSpPr>
        <p:spPr>
          <a:xfrm>
            <a:off x="2033204" y="3080650"/>
            <a:ext cx="4572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RESPONDER ACÁ: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https://forms.gle/ASaQXwUhum59UYGSA</a:t>
            </a:r>
            <a:r>
              <a:rPr b="1" i="0" lang="es-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pic>
        <p:nvPicPr>
          <p:cNvPr id="386" name="Google Shape;386;p15"/>
          <p:cNvPicPr preferRelativeResize="0"/>
          <p:nvPr/>
        </p:nvPicPr>
        <p:blipFill rotWithShape="1">
          <a:blip r:embed="rId8">
            <a:alphaModFix/>
          </a:blip>
          <a:srcRect b="7128" l="8314" r="8313" t="7127"/>
          <a:stretch/>
        </p:blipFill>
        <p:spPr>
          <a:xfrm>
            <a:off x="3730077" y="3565103"/>
            <a:ext cx="1178254" cy="1211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319475" y="39679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392" name="Google Shape;392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957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16"/>
          <p:cNvSpPr txBox="1"/>
          <p:nvPr/>
        </p:nvSpPr>
        <p:spPr>
          <a:xfrm>
            <a:off x="1393045" y="367771"/>
            <a:ext cx="635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¡Reforcemos lo aprendido!</a:t>
            </a:r>
            <a:endParaRPr b="0" i="0" sz="14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6"/>
          <p:cNvSpPr/>
          <p:nvPr/>
        </p:nvSpPr>
        <p:spPr>
          <a:xfrm>
            <a:off x="1844744" y="1220127"/>
            <a:ext cx="5454502" cy="2722396"/>
          </a:xfrm>
          <a:prstGeom prst="rect">
            <a:avLst/>
          </a:prstGeom>
          <a:solidFill>
            <a:srgbClr val="F5C57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¿Te gustaría ser Tutor o inscribirte como Estudiante de Conectado Aprendo? &#10;¡Regístrate en nuestro sitio web! https://www.conectadoaprendo.cl/&#10;&#10;¡Síguenos en nuestras redes sociales!&#10;https://www.instagram.com/conectado_aprendo&#10;https://www.linkedin.com/in/fundacion-conectado-aprendo-535bb4241&#10;https://www.instagram.com/clubdegoceporlalectura_ca/&#10;&#10;Consultas generales (mail):&#10;contacto@conectadoaprendo.cl&#10;&#10;Profesor y producción:&#10;https://www.youtube.com/@psudiego&#10;&#10;#tutorias #mineduc #geometria" id="395" name="Google Shape;395;p16" title="Reforzamiento - Geometría (1) - Longitudes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16200" y="1120225"/>
            <a:ext cx="6598475" cy="34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19475" y="39679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