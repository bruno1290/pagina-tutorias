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atrick Hand"/>
      <p:regular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Poppins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gF1ddrzJme9Ow5IZgZ//bLz2E6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font" Target="fonts/PatrickHa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Light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boldItalic.fntdata"/><Relationship Id="rId30" Type="http://schemas.openxmlformats.org/officeDocument/2006/relationships/font" Target="fonts/Poppins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949504d1d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949504d1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49504d1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49504d1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49504d1d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949504d1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Recalcarle al pupilo que muchas veces se dibujan rectas como segmentos (sin las flechas). Eso es para facilitar el dibujo, solo en ciertas ocasiones es importante ser más riguroso</a:t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Dejar que las animaciones guíen la conversación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Pedirle al pupilo que mencione las características para ver si está entendiendo</a:t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Dejar que las animaciones guíen la conversación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Pedirle al pupilo que mencione las características para ver si está entendiendo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949504d1d_0_13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2d949504d1d_0_13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2d949504d1d_0_1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2d949504d1d_0_1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2d949504d1d_0_1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49504d1d_0_1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2d949504d1d_0_1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2d949504d1d_0_1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2d949504d1d_0_1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2d949504d1d_0_1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49504d1d_0_14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2d949504d1d_0_14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2d949504d1d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2d949504d1d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2d949504d1d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49504d1d_0_1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2d949504d1d_0_15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2d949504d1d_0_15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2d949504d1d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2d949504d1d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2d949504d1d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949504d1d_0_16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2d949504d1d_0_16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2d949504d1d_0_16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2d949504d1d_0_16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2d949504d1d_0_16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2d949504d1d_0_16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2d949504d1d_0_16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2d949504d1d_0_1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949504d1d_0_17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2d949504d1d_0_17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2d949504d1d_0_17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2d949504d1d_0_1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949504d1d_0_17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2d949504d1d_0_17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2d949504d1d_0_1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949504d1d_0_18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2d949504d1d_0_18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2d949504d1d_0_180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2d949504d1d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2d949504d1d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2d949504d1d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949504d1d_0_18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2d949504d1d_0_18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2d949504d1d_0_18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2d949504d1d_0_18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2d949504d1d_0_18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2d949504d1d_0_18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49504d1d_0_19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2d949504d1d_0_19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2d949504d1d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2d949504d1d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2d949504d1d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949504d1d_0_200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2d949504d1d_0_200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2d949504d1d_0_2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2d949504d1d_0_2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2d949504d1d_0_2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949504d1d_0_1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2d949504d1d_0_1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2d949504d1d_0_1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2d949504d1d_0_1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2d949504d1d_0_1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9.cl/kxtb" TargetMode="External"/><Relationship Id="rId4" Type="http://schemas.openxmlformats.org/officeDocument/2006/relationships/hyperlink" Target="http://bit.ly/3TypWED" TargetMode="External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9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39.png"/><Relationship Id="rId8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17.png"/><Relationship Id="rId13" Type="http://schemas.openxmlformats.org/officeDocument/2006/relationships/image" Target="../media/image31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36.png"/><Relationship Id="rId1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jpg"/><Relationship Id="rId4" Type="http://schemas.openxmlformats.org/officeDocument/2006/relationships/hyperlink" Target="http://www.youtube.com/watch?v=kjrrKrwfQBc" TargetMode="External"/><Relationship Id="rId5" Type="http://schemas.openxmlformats.org/officeDocument/2006/relationships/image" Target="../media/image37.jpg"/><Relationship Id="rId6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44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gle/PNZvFfMCh9LRi4Qr7" TargetMode="External"/><Relationship Id="rId4" Type="http://schemas.openxmlformats.org/officeDocument/2006/relationships/image" Target="../media/image32.png"/><Relationship Id="rId9" Type="http://schemas.openxmlformats.org/officeDocument/2006/relationships/image" Target="../media/image38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16.png"/><Relationship Id="rId8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jpg"/><Relationship Id="rId4" Type="http://schemas.openxmlformats.org/officeDocument/2006/relationships/hyperlink" Target="http://www.youtube.com/watch?v=tzwhLmeMwp4" TargetMode="External"/><Relationship Id="rId5" Type="http://schemas.openxmlformats.org/officeDocument/2006/relationships/image" Target="../media/image42.jp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3675" y="42529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949504d1d_0_103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CL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CL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CL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Fomentar en los estudiantes la habilidad de reconocer y describir rectas y rayos, así como sus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diferentes tipos en un plano.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2d949504d1d_0_103"/>
          <p:cNvSpPr txBox="1"/>
          <p:nvPr/>
        </p:nvSpPr>
        <p:spPr>
          <a:xfrm>
            <a:off x="868700" y="1980075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Reconocer una recta y un rayo.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Describir y dar ejemplos de tipos de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rectas en un plano.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2d949504d1d_0_103"/>
          <p:cNvSpPr txBox="1"/>
          <p:nvPr/>
        </p:nvSpPr>
        <p:spPr>
          <a:xfrm>
            <a:off x="4782050" y="1979974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Rectas.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Rayos.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Paralelismo (//).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Perpendicular (⊥).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2d949504d1d_0_10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d949504d1d_0_10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d949504d1d_0_10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2d949504d1d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710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949504d1d_0_113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2d949504d1d_0_113"/>
          <p:cNvSpPr txBox="1"/>
          <p:nvPr/>
        </p:nvSpPr>
        <p:spPr>
          <a:xfrm>
            <a:off x="589763" y="1598681"/>
            <a:ext cx="7875000" cy="58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Antes de comenzar la clase ten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dos lápices, una regla y un transportador 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para mostrar mediante tu cámara las rectas paralelas y perpendiculares.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Para c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omplementar la actividad de la diapositiva 10,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 puedes usar el siguiente enlace [</a:t>
            </a:r>
            <a:r>
              <a:rPr lang="es-CL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n9.cl/kxtb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 en que se realiza un ejercicio similar.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Si al mostrar los distintos tipos de rectas y rayos tu estudiante no logra comprender completamente los conceptos, revisa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GeoGebra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 [</a:t>
            </a:r>
            <a:r>
              <a:rPr lang="es-CL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bit.ly/3TypWED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] donde podrás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graficar en vivo los contenidos vistos en clases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Al cierre de la sesión, pídele a tu estudiante que describa lugares en su día a día donde vea rectas paralelas y perpendiculares. Además consúltale ¿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por qué es importante tener ese conocimiento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? Guíalo a concluir que esto le permitirá ver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cómo están organizadas las cosas en su alrededor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 y también a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diseñar o construir con precisión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2d949504d1d_0_11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d949504d1d_0_11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d949504d1d_0_11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2d949504d1d_0_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710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949504d1d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2d949504d1d_0_122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Pídele a tu estudiante que se </a:t>
            </a:r>
            <a:r>
              <a:rPr b="1"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fije en si en su hogar o colegio ve rectas paralelas y/o perpendiculares</a:t>
            </a: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De tu lado revisa un </a:t>
            </a:r>
            <a:r>
              <a:rPr b="1"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mapa del camino que tomas hacia tu trabajo o centro de estudio</a:t>
            </a: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señalarle cómo se organizan las calles en función de rectas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perpendiculares y paralelas.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2d949504d1d_0_122"/>
          <p:cNvSpPr txBox="1"/>
          <p:nvPr/>
        </p:nvSpPr>
        <p:spPr>
          <a:xfrm>
            <a:off x="285206" y="31964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significa que dos rectas sean paralelas?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se ven dos rectas que son perpendiculares?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¿Dónde puedes ver rectas paralelas y perpendiculares?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2d949504d1d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d949504d1d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2d949504d1d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710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/>
        </p:nvSpPr>
        <p:spPr>
          <a:xfrm>
            <a:off x="1208964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5</a:t>
            </a:r>
            <a:endParaRPr/>
          </a:p>
        </p:txBody>
      </p:sp>
      <p:pic>
        <p:nvPicPr>
          <p:cNvPr id="173" name="Google Shape;1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0375" y="4100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00255" y="1095159"/>
            <a:ext cx="7943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OA17 5to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Describir y dar ejemplos de rectas: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que son paralelos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que se intersecan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que son perpendiculares</a:t>
            </a:r>
            <a:endParaRPr/>
          </a:p>
        </p:txBody>
      </p:sp>
      <p:pic>
        <p:nvPicPr>
          <p:cNvPr id="180" name="Google Shape;1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3700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00218" y="1095159"/>
            <a:ext cx="794348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Reconocer una recta y un rayo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Describir y dar ejemplos de tipos de rectas en un plano.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7" name="Google Shape;18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0375" y="4100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/>
          <p:nvPr/>
        </p:nvSpPr>
        <p:spPr>
          <a:xfrm>
            <a:off x="194699" y="330125"/>
            <a:ext cx="875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es una recta?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600218" y="1041604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recta o línea recta es una línea que se </a:t>
            </a:r>
            <a:r>
              <a:rPr b="1" i="0" lang="es-CL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extiende por el plano</a:t>
            </a:r>
            <a:endParaRPr b="1" i="0" sz="2400" u="none" cap="none" strike="noStrike">
              <a:solidFill>
                <a:srgbClr val="009F98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194" name="Google Shape;194;p5"/>
          <p:cNvCxnSpPr/>
          <p:nvPr/>
        </p:nvCxnSpPr>
        <p:spPr>
          <a:xfrm>
            <a:off x="-258184" y="1818042"/>
            <a:ext cx="9617337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95" name="Google Shape;195;p5"/>
          <p:cNvSpPr txBox="1"/>
          <p:nvPr/>
        </p:nvSpPr>
        <p:spPr>
          <a:xfrm>
            <a:off x="925155" y="2125129"/>
            <a:ext cx="725065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otro lado, el </a:t>
            </a:r>
            <a:r>
              <a:rPr b="1" i="0" lang="es-CL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rayo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como vimos la clase pasada, es una línea con </a:t>
            </a:r>
            <a:r>
              <a:rPr b="1" i="0" lang="es-CL" sz="2400" u="none" cap="none" strike="noStrike">
                <a:solidFill>
                  <a:schemeClr val="accent1"/>
                </a:solidFill>
                <a:latin typeface="Patrick Hand"/>
                <a:ea typeface="Patrick Hand"/>
                <a:cs typeface="Patrick Hand"/>
                <a:sym typeface="Patrick Hand"/>
              </a:rPr>
              <a:t>punto inicial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pero</a:t>
            </a:r>
            <a:r>
              <a:rPr b="1" i="0" lang="es-CL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 sin punto final</a:t>
            </a:r>
            <a:endParaRPr b="1" i="0" sz="2400" u="none" cap="none" strike="noStrike">
              <a:solidFill>
                <a:srgbClr val="FAB235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196" name="Google Shape;196;p5"/>
          <p:cNvCxnSpPr/>
          <p:nvPr/>
        </p:nvCxnSpPr>
        <p:spPr>
          <a:xfrm flipH="1" rot="10800000">
            <a:off x="4496658" y="3528508"/>
            <a:ext cx="2011718" cy="225910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97" name="Google Shape;197;p5"/>
          <p:cNvCxnSpPr/>
          <p:nvPr/>
        </p:nvCxnSpPr>
        <p:spPr>
          <a:xfrm>
            <a:off x="4480560" y="3764280"/>
            <a:ext cx="647700" cy="883920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98" name="Google Shape;198;p5"/>
          <p:cNvCxnSpPr/>
          <p:nvPr/>
        </p:nvCxnSpPr>
        <p:spPr>
          <a:xfrm rot="10800000">
            <a:off x="2484941" y="3528508"/>
            <a:ext cx="2011717" cy="225910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99" name="Google Shape;199;p5"/>
          <p:cNvSpPr/>
          <p:nvPr/>
        </p:nvSpPr>
        <p:spPr>
          <a:xfrm>
            <a:off x="4421355" y="3679115"/>
            <a:ext cx="150607" cy="15060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0375" y="4100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6"/>
          <p:cNvCxnSpPr/>
          <p:nvPr/>
        </p:nvCxnSpPr>
        <p:spPr>
          <a:xfrm>
            <a:off x="2392495" y="-311972"/>
            <a:ext cx="0" cy="586291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06" name="Google Shape;206;p6"/>
          <p:cNvCxnSpPr/>
          <p:nvPr/>
        </p:nvCxnSpPr>
        <p:spPr>
          <a:xfrm flipH="1" rot="10800000">
            <a:off x="1276946" y="-311972"/>
            <a:ext cx="23349" cy="606507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pic>
        <p:nvPicPr>
          <p:cNvPr descr="Imagen que contiene biombo, edificio, juego, reloj&#10;&#10;Descripción generada automáticamente" id="207" name="Google Shape;2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88" y="951374"/>
            <a:ext cx="3573863" cy="357386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 txBox="1"/>
          <p:nvPr/>
        </p:nvSpPr>
        <p:spPr>
          <a:xfrm>
            <a:off x="337499" y="321000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Tipos de rectas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3636084" y="911027"/>
            <a:ext cx="55078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¿Recuerdas la trayectoria de Miguel?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10" name="Google Shape;210;p6"/>
          <p:cNvCxnSpPr/>
          <p:nvPr/>
        </p:nvCxnSpPr>
        <p:spPr>
          <a:xfrm flipH="1">
            <a:off x="3110504" y="3821393"/>
            <a:ext cx="256800" cy="153300"/>
          </a:xfrm>
          <a:prstGeom prst="bentConnector3">
            <a:avLst>
              <a:gd fmla="val -8081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1" name="Google Shape;211;p6"/>
          <p:cNvCxnSpPr/>
          <p:nvPr/>
        </p:nvCxnSpPr>
        <p:spPr>
          <a:xfrm rot="10800000">
            <a:off x="1364896" y="3974771"/>
            <a:ext cx="1298575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2" name="Google Shape;212;p6"/>
          <p:cNvCxnSpPr/>
          <p:nvPr/>
        </p:nvCxnSpPr>
        <p:spPr>
          <a:xfrm rot="10800000">
            <a:off x="1291871" y="1653052"/>
            <a:ext cx="0" cy="2245029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3" name="Google Shape;213;p6"/>
          <p:cNvCxnSpPr/>
          <p:nvPr/>
        </p:nvCxnSpPr>
        <p:spPr>
          <a:xfrm>
            <a:off x="1564921" y="1444129"/>
            <a:ext cx="819300" cy="259800"/>
          </a:xfrm>
          <a:prstGeom prst="bentConnector3">
            <a:avLst>
              <a:gd fmla="val 100079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4" name="Google Shape;214;p6"/>
          <p:cNvCxnSpPr/>
          <p:nvPr/>
        </p:nvCxnSpPr>
        <p:spPr>
          <a:xfrm flipH="1" rot="-5400000">
            <a:off x="2290623" y="2255481"/>
            <a:ext cx="1201200" cy="1014300"/>
          </a:xfrm>
          <a:prstGeom prst="bentConnector3">
            <a:avLst>
              <a:gd fmla="val 68634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15" name="Google Shape;215;p6"/>
          <p:cNvSpPr/>
          <p:nvPr/>
        </p:nvSpPr>
        <p:spPr>
          <a:xfrm>
            <a:off x="1205195" y="3898081"/>
            <a:ext cx="173352" cy="169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2300564" y="2918565"/>
            <a:ext cx="173352" cy="169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pic>
        <p:nvPicPr>
          <p:cNvPr descr="Forma&#10;&#10;Descripción generada automáticamente con confianza baja" id="217" name="Google Shape;2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801" y="293774"/>
            <a:ext cx="855394" cy="85539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6"/>
          <p:cNvSpPr txBox="1"/>
          <p:nvPr/>
        </p:nvSpPr>
        <p:spPr>
          <a:xfrm>
            <a:off x="3636083" y="1372692"/>
            <a:ext cx="5507877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945" l="0" r="0" t="-105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219" name="Google Shape;219;p6"/>
          <p:cNvCxnSpPr/>
          <p:nvPr/>
        </p:nvCxnSpPr>
        <p:spPr>
          <a:xfrm>
            <a:off x="2384071" y="1372692"/>
            <a:ext cx="0" cy="269497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20" name="Google Shape;220;p6"/>
          <p:cNvCxnSpPr/>
          <p:nvPr/>
        </p:nvCxnSpPr>
        <p:spPr>
          <a:xfrm rot="10800000">
            <a:off x="1291871" y="1640108"/>
            <a:ext cx="0" cy="2245029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21" name="Google Shape;221;p6"/>
          <p:cNvSpPr/>
          <p:nvPr/>
        </p:nvSpPr>
        <p:spPr>
          <a:xfrm>
            <a:off x="1276946" y="2176216"/>
            <a:ext cx="382587" cy="3747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2351389" y="2176216"/>
            <a:ext cx="382587" cy="3747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3739500" y="1874704"/>
            <a:ext cx="53010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Fíjate qué pasa si </a:t>
            </a:r>
            <a:r>
              <a:rPr b="1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medimos la distancia 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entre ellas ¿qué puedes decir al respecto?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Forma&#10;&#10;Descripción generada automáticamente con confianza baja" id="224" name="Google Shape;22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2700000">
            <a:off x="865963" y="548811"/>
            <a:ext cx="2343846" cy="234384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 txBox="1"/>
          <p:nvPr/>
        </p:nvSpPr>
        <p:spPr>
          <a:xfrm>
            <a:off x="3739500" y="2738305"/>
            <a:ext cx="53010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¡Es todo el rato la misma!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3727918" y="3176819"/>
            <a:ext cx="53010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Entonces, ¿alguna vez se intersecan?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3755670" y="3674401"/>
            <a:ext cx="53010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¡No, nunca se cruzan!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28" name="Google Shape;228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43700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baja" id="233" name="Google Shape;2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700000">
            <a:off x="865963" y="548811"/>
            <a:ext cx="2343846" cy="23438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7"/>
          <p:cNvCxnSpPr/>
          <p:nvPr/>
        </p:nvCxnSpPr>
        <p:spPr>
          <a:xfrm flipH="1" rot="10800000">
            <a:off x="1276946" y="-311972"/>
            <a:ext cx="23349" cy="606507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35" name="Google Shape;235;p7"/>
          <p:cNvCxnSpPr/>
          <p:nvPr/>
        </p:nvCxnSpPr>
        <p:spPr>
          <a:xfrm rot="10800000">
            <a:off x="1291871" y="1640108"/>
            <a:ext cx="0" cy="2245029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36" name="Google Shape;236;p7"/>
          <p:cNvCxnSpPr/>
          <p:nvPr/>
        </p:nvCxnSpPr>
        <p:spPr>
          <a:xfrm>
            <a:off x="2392495" y="-311972"/>
            <a:ext cx="0" cy="586291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37" name="Google Shape;237;p7"/>
          <p:cNvSpPr txBox="1"/>
          <p:nvPr/>
        </p:nvSpPr>
        <p:spPr>
          <a:xfrm>
            <a:off x="307949" y="326025"/>
            <a:ext cx="852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Tipos de rectas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3295408" y="911027"/>
            <a:ext cx="584855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 las anteriores rectas se les llama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rectas paralelas (//):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3636123" y="1891301"/>
            <a:ext cx="55078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Mantienen entre sí </a:t>
            </a: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la misma distancia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40" name="Google Shape;240;p7"/>
          <p:cNvCxnSpPr/>
          <p:nvPr/>
        </p:nvCxnSpPr>
        <p:spPr>
          <a:xfrm>
            <a:off x="2384071" y="1372692"/>
            <a:ext cx="0" cy="269497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41" name="Google Shape;241;p7"/>
          <p:cNvSpPr/>
          <p:nvPr/>
        </p:nvSpPr>
        <p:spPr>
          <a:xfrm>
            <a:off x="1276946" y="2176216"/>
            <a:ext cx="382587" cy="3747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2351389" y="2176216"/>
            <a:ext cx="382587" cy="37472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3739540" y="2559702"/>
            <a:ext cx="53010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</a:t>
            </a: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Nunca se intersecan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44" name="Google Shape;244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700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biombo, edificio, juego, reloj&#10;&#10;Descripción generada automáticamente" id="249" name="Google Shape;2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88" y="951374"/>
            <a:ext cx="3573863" cy="3573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8"/>
          <p:cNvCxnSpPr/>
          <p:nvPr/>
        </p:nvCxnSpPr>
        <p:spPr>
          <a:xfrm>
            <a:off x="2384071" y="800100"/>
            <a:ext cx="0" cy="38385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51" name="Google Shape;251;p8"/>
          <p:cNvSpPr txBox="1"/>
          <p:nvPr/>
        </p:nvSpPr>
        <p:spPr>
          <a:xfrm>
            <a:off x="191849" y="329675"/>
            <a:ext cx="876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Tipos de rectas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4019842" y="1050691"/>
            <a:ext cx="4740358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5325" l="0" r="0" t="-58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3739500" y="1874704"/>
            <a:ext cx="53010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Fíjate qué pasa si </a:t>
            </a:r>
            <a:r>
              <a:rPr b="1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medimos el ángulo entre 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ellas ¿qué puedes decir al respecto?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4" name="Google Shape;254;p8"/>
          <p:cNvCxnSpPr/>
          <p:nvPr/>
        </p:nvCxnSpPr>
        <p:spPr>
          <a:xfrm flipH="1">
            <a:off x="3110504" y="3821393"/>
            <a:ext cx="256800" cy="153300"/>
          </a:xfrm>
          <a:prstGeom prst="bentConnector3">
            <a:avLst>
              <a:gd fmla="val -8081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55" name="Google Shape;255;p8"/>
          <p:cNvCxnSpPr/>
          <p:nvPr/>
        </p:nvCxnSpPr>
        <p:spPr>
          <a:xfrm rot="10800000">
            <a:off x="1364896" y="3974771"/>
            <a:ext cx="1298575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56" name="Google Shape;256;p8"/>
          <p:cNvCxnSpPr/>
          <p:nvPr/>
        </p:nvCxnSpPr>
        <p:spPr>
          <a:xfrm rot="10800000">
            <a:off x="1291871" y="1653052"/>
            <a:ext cx="0" cy="2245029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57" name="Google Shape;257;p8"/>
          <p:cNvCxnSpPr/>
          <p:nvPr/>
        </p:nvCxnSpPr>
        <p:spPr>
          <a:xfrm>
            <a:off x="1564921" y="1444129"/>
            <a:ext cx="819300" cy="259800"/>
          </a:xfrm>
          <a:prstGeom prst="bentConnector3">
            <a:avLst>
              <a:gd fmla="val 100079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58" name="Google Shape;258;p8"/>
          <p:cNvCxnSpPr/>
          <p:nvPr/>
        </p:nvCxnSpPr>
        <p:spPr>
          <a:xfrm flipH="1" rot="-5400000">
            <a:off x="2290623" y="2255481"/>
            <a:ext cx="1201200" cy="1014300"/>
          </a:xfrm>
          <a:prstGeom prst="bentConnector3">
            <a:avLst>
              <a:gd fmla="val 68634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59" name="Google Shape;259;p8"/>
          <p:cNvSpPr/>
          <p:nvPr/>
        </p:nvSpPr>
        <p:spPr>
          <a:xfrm>
            <a:off x="1205195" y="3898081"/>
            <a:ext cx="173352" cy="169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2300564" y="2918565"/>
            <a:ext cx="173352" cy="169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pic>
        <p:nvPicPr>
          <p:cNvPr descr="Forma&#10;&#10;Descripción generada automáticamente con confianza baja" id="261" name="Google Shape;26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801" y="293774"/>
            <a:ext cx="855394" cy="8553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8"/>
          <p:cNvCxnSpPr/>
          <p:nvPr/>
        </p:nvCxnSpPr>
        <p:spPr>
          <a:xfrm rot="10800000">
            <a:off x="1364896" y="3974771"/>
            <a:ext cx="2102204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63" name="Google Shape;263;p8"/>
          <p:cNvSpPr/>
          <p:nvPr/>
        </p:nvSpPr>
        <p:spPr>
          <a:xfrm>
            <a:off x="1132061" y="3795512"/>
            <a:ext cx="382587" cy="3747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2329873" y="1229543"/>
            <a:ext cx="382587" cy="3747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65" name="Google Shape;265;p8"/>
          <p:cNvSpPr txBox="1"/>
          <p:nvPr/>
        </p:nvSpPr>
        <p:spPr>
          <a:xfrm>
            <a:off x="3739500" y="2757120"/>
            <a:ext cx="53010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¡Se cruzan en </a:t>
            </a: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un punto con 90°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Un reloj de aguja&#10;&#10;Descripción generada automáticamente con confianza media" id="266" name="Google Shape;266;p8"/>
          <p:cNvPicPr preferRelativeResize="0"/>
          <p:nvPr/>
        </p:nvPicPr>
        <p:blipFill rotWithShape="1">
          <a:blip r:embed="rId8">
            <a:alphaModFix/>
          </a:blip>
          <a:srcRect b="4193" l="0" r="0" t="0"/>
          <a:stretch/>
        </p:blipFill>
        <p:spPr>
          <a:xfrm>
            <a:off x="681186" y="2233366"/>
            <a:ext cx="3437820" cy="184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43700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 txBox="1"/>
          <p:nvPr/>
        </p:nvSpPr>
        <p:spPr>
          <a:xfrm>
            <a:off x="168000" y="326025"/>
            <a:ext cx="880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Tipos de rectas</a:t>
            </a:r>
            <a:endParaRPr/>
          </a:p>
        </p:txBody>
      </p:sp>
      <p:sp>
        <p:nvSpPr>
          <p:cNvPr id="273" name="Google Shape;273;p9"/>
          <p:cNvSpPr txBox="1"/>
          <p:nvPr/>
        </p:nvSpPr>
        <p:spPr>
          <a:xfrm>
            <a:off x="3295408" y="911027"/>
            <a:ext cx="584855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 las anteriores rectas se les llama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rectas perpendiculares (⊥):</a:t>
            </a:r>
            <a:endParaRPr/>
          </a:p>
        </p:txBody>
      </p:sp>
      <p:sp>
        <p:nvSpPr>
          <p:cNvPr id="274" name="Google Shape;274;p9"/>
          <p:cNvSpPr txBox="1"/>
          <p:nvPr/>
        </p:nvSpPr>
        <p:spPr>
          <a:xfrm>
            <a:off x="3636123" y="1891301"/>
            <a:ext cx="55078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Se </a:t>
            </a: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intersecan en un punto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3739540" y="2393313"/>
            <a:ext cx="53010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El cruce lo hacen en </a:t>
            </a: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90°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76" name="Google Shape;276;p9"/>
          <p:cNvCxnSpPr/>
          <p:nvPr/>
        </p:nvCxnSpPr>
        <p:spPr>
          <a:xfrm>
            <a:off x="2004605" y="681766"/>
            <a:ext cx="0" cy="38385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77" name="Google Shape;277;p9"/>
          <p:cNvCxnSpPr/>
          <p:nvPr/>
        </p:nvCxnSpPr>
        <p:spPr>
          <a:xfrm rot="10800000">
            <a:off x="985430" y="3856437"/>
            <a:ext cx="2102204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pic>
        <p:nvPicPr>
          <p:cNvPr descr="Un reloj de aguja&#10;&#10;Descripción generada automáticamente con confianza media" id="278" name="Google Shape;278;p9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>
            <a:off x="304101" y="2117413"/>
            <a:ext cx="3437820" cy="184095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/>
          <p:nvPr/>
        </p:nvSpPr>
        <p:spPr>
          <a:xfrm>
            <a:off x="2023011" y="1159667"/>
            <a:ext cx="382587" cy="3747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794136" y="3809751"/>
            <a:ext cx="382587" cy="37472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81" name="Google Shape;281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700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 txBox="1"/>
          <p:nvPr/>
        </p:nvSpPr>
        <p:spPr>
          <a:xfrm>
            <a:off x="107250" y="319775"/>
            <a:ext cx="892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Analicemos (V o F)</a:t>
            </a:r>
            <a:endParaRPr/>
          </a:p>
        </p:txBody>
      </p:sp>
      <p:pic>
        <p:nvPicPr>
          <p:cNvPr descr="Imagen que contiene biombo, edificio, ventana, reloj&#10;&#10;Descripción generada automáticamente" id="287" name="Google Shape;2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471" y="1041604"/>
            <a:ext cx="3501093" cy="35010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10"/>
          <p:cNvCxnSpPr/>
          <p:nvPr/>
        </p:nvCxnSpPr>
        <p:spPr>
          <a:xfrm>
            <a:off x="1728081" y="1041604"/>
            <a:ext cx="0" cy="3501093"/>
          </a:xfrm>
          <a:prstGeom prst="straightConnector1">
            <a:avLst/>
          </a:prstGeom>
          <a:noFill/>
          <a:ln cap="flat" cmpd="sng" w="698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89" name="Google Shape;289;p10"/>
          <p:cNvCxnSpPr/>
          <p:nvPr/>
        </p:nvCxnSpPr>
        <p:spPr>
          <a:xfrm rot="10800000">
            <a:off x="2638425" y="1041604"/>
            <a:ext cx="923925" cy="3501093"/>
          </a:xfrm>
          <a:prstGeom prst="straightConnector1">
            <a:avLst/>
          </a:prstGeom>
          <a:noFill/>
          <a:ln cap="flat" cmpd="sng" w="698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90" name="Google Shape;290;p10"/>
          <p:cNvCxnSpPr/>
          <p:nvPr/>
        </p:nvCxnSpPr>
        <p:spPr>
          <a:xfrm rot="10800000">
            <a:off x="2333625" y="1638300"/>
            <a:ext cx="1228725" cy="0"/>
          </a:xfrm>
          <a:prstGeom prst="straightConnector1">
            <a:avLst/>
          </a:prstGeom>
          <a:noFill/>
          <a:ln cap="flat" cmpd="sng" w="698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91" name="Google Shape;291;p10"/>
          <p:cNvCxnSpPr/>
          <p:nvPr/>
        </p:nvCxnSpPr>
        <p:spPr>
          <a:xfrm rot="10800000">
            <a:off x="1028700" y="2876550"/>
            <a:ext cx="2647950" cy="0"/>
          </a:xfrm>
          <a:prstGeom prst="straightConnector1">
            <a:avLst/>
          </a:prstGeom>
          <a:noFill/>
          <a:ln cap="flat" cmpd="sng" w="698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92" name="Google Shape;292;p10"/>
          <p:cNvSpPr txBox="1"/>
          <p:nvPr/>
        </p:nvSpPr>
        <p:spPr>
          <a:xfrm>
            <a:off x="4567893" y="1346595"/>
            <a:ext cx="4194152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8945" l="0" r="0" t="-105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345494" y="1139162"/>
            <a:ext cx="382587" cy="37472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1081616" y="2456709"/>
            <a:ext cx="382587" cy="3747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2611528" y="723664"/>
            <a:ext cx="382587" cy="3747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3236913" y="1175783"/>
            <a:ext cx="382587" cy="37472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4567893" y="2273496"/>
            <a:ext cx="4194152" cy="4616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8945" l="0" r="0" t="-105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8" name="Google Shape;298;p10"/>
          <p:cNvSpPr txBox="1"/>
          <p:nvPr/>
        </p:nvSpPr>
        <p:spPr>
          <a:xfrm>
            <a:off x="4567893" y="2735161"/>
            <a:ext cx="4194152" cy="46166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30664" l="0" r="0" t="-106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9" name="Google Shape;299;p10"/>
          <p:cNvSpPr txBox="1"/>
          <p:nvPr/>
        </p:nvSpPr>
        <p:spPr>
          <a:xfrm>
            <a:off x="4567893" y="3199579"/>
            <a:ext cx="4194152" cy="46166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8945" l="0" r="0" t="-105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4567893" y="3655295"/>
            <a:ext cx="4194152" cy="46166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30664" l="0" r="0" t="-106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01" name="Google Shape;301;p10"/>
          <p:cNvSpPr txBox="1"/>
          <p:nvPr/>
        </p:nvSpPr>
        <p:spPr>
          <a:xfrm>
            <a:off x="4567893" y="1815027"/>
            <a:ext cx="4194152" cy="461665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30664" l="0" r="0" t="-106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02" name="Google Shape;302;p10"/>
          <p:cNvSpPr txBox="1"/>
          <p:nvPr/>
        </p:nvSpPr>
        <p:spPr>
          <a:xfrm>
            <a:off x="7952367" y="1358301"/>
            <a:ext cx="5625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F</a:t>
            </a:r>
            <a:endParaRPr/>
          </a:p>
        </p:txBody>
      </p:sp>
      <p:sp>
        <p:nvSpPr>
          <p:cNvPr id="303" name="Google Shape;303;p10"/>
          <p:cNvSpPr txBox="1"/>
          <p:nvPr/>
        </p:nvSpPr>
        <p:spPr>
          <a:xfrm>
            <a:off x="8468956" y="1816770"/>
            <a:ext cx="5625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V</a:t>
            </a:r>
            <a:endParaRPr/>
          </a:p>
        </p:txBody>
      </p:sp>
      <p:sp>
        <p:nvSpPr>
          <p:cNvPr id="304" name="Google Shape;304;p10"/>
          <p:cNvSpPr txBox="1"/>
          <p:nvPr/>
        </p:nvSpPr>
        <p:spPr>
          <a:xfrm>
            <a:off x="8187688" y="2285202"/>
            <a:ext cx="5625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F</a:t>
            </a:r>
            <a:endParaRPr/>
          </a:p>
        </p:txBody>
      </p:sp>
      <p:sp>
        <p:nvSpPr>
          <p:cNvPr id="305" name="Google Shape;305;p10"/>
          <p:cNvSpPr txBox="1"/>
          <p:nvPr/>
        </p:nvSpPr>
        <p:spPr>
          <a:xfrm>
            <a:off x="8166310" y="2730222"/>
            <a:ext cx="5625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V</a:t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7864543" y="3204584"/>
            <a:ext cx="5625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V</a:t>
            </a:r>
            <a:endParaRPr/>
          </a:p>
        </p:txBody>
      </p:sp>
      <p:sp>
        <p:nvSpPr>
          <p:cNvPr id="307" name="Google Shape;307;p10"/>
          <p:cNvSpPr txBox="1"/>
          <p:nvPr/>
        </p:nvSpPr>
        <p:spPr>
          <a:xfrm>
            <a:off x="8366992" y="3661726"/>
            <a:ext cx="5625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V</a:t>
            </a:r>
            <a:endParaRPr/>
          </a:p>
        </p:txBody>
      </p:sp>
      <p:pic>
        <p:nvPicPr>
          <p:cNvPr id="308" name="Google Shape;308;p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330375" y="4100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13" name="Google Shape;31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16" name="Google Shape;316;p11" title="Resumen - Geometría (5) - Recta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3047" y="1141825"/>
            <a:ext cx="6357900" cy="3576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0375" y="4100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12"/>
          <p:cNvCxnSpPr/>
          <p:nvPr/>
        </p:nvCxnSpPr>
        <p:spPr>
          <a:xfrm rot="10800000">
            <a:off x="2771500" y="3000658"/>
            <a:ext cx="247383" cy="6482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2"/>
          <p:cNvCxnSpPr/>
          <p:nvPr/>
        </p:nvCxnSpPr>
        <p:spPr>
          <a:xfrm flipH="1" rot="10800000">
            <a:off x="2954856" y="3065388"/>
            <a:ext cx="57139" cy="20569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2"/>
          <p:cNvSpPr txBox="1"/>
          <p:nvPr/>
        </p:nvSpPr>
        <p:spPr>
          <a:xfrm>
            <a:off x="520155" y="366599"/>
            <a:ext cx="81036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3915911" y="3231206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https://forms.gle/PNZvFfMCh9LRi4Qr7</a:t>
            </a:r>
            <a:r>
              <a:rPr b="1" i="0" lang="es-CL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326" name="Google Shape;326;p12"/>
          <p:cNvCxnSpPr/>
          <p:nvPr/>
        </p:nvCxnSpPr>
        <p:spPr>
          <a:xfrm flipH="1">
            <a:off x="2376388" y="1070308"/>
            <a:ext cx="923925" cy="3501093"/>
          </a:xfrm>
          <a:prstGeom prst="straightConnector1">
            <a:avLst/>
          </a:prstGeom>
          <a:noFill/>
          <a:ln cap="flat" cmpd="sng" w="69850">
            <a:solidFill>
              <a:srgbClr val="009F98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27" name="Google Shape;327;p12"/>
          <p:cNvCxnSpPr/>
          <p:nvPr/>
        </p:nvCxnSpPr>
        <p:spPr>
          <a:xfrm rot="10800000">
            <a:off x="1937444" y="4143504"/>
            <a:ext cx="1228725" cy="0"/>
          </a:xfrm>
          <a:prstGeom prst="straightConnector1">
            <a:avLst/>
          </a:prstGeom>
          <a:noFill/>
          <a:ln cap="flat" cmpd="sng" w="69850">
            <a:solidFill>
              <a:srgbClr val="009F98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28" name="Google Shape;328;p12"/>
          <p:cNvCxnSpPr/>
          <p:nvPr/>
        </p:nvCxnSpPr>
        <p:spPr>
          <a:xfrm rot="10800000">
            <a:off x="359821" y="2638959"/>
            <a:ext cx="3472706" cy="843562"/>
          </a:xfrm>
          <a:prstGeom prst="straightConnector1">
            <a:avLst/>
          </a:prstGeom>
          <a:noFill/>
          <a:ln cap="flat" cmpd="sng" w="69850">
            <a:solidFill>
              <a:srgbClr val="009F98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29" name="Google Shape;329;p12"/>
          <p:cNvSpPr/>
          <p:nvPr/>
        </p:nvSpPr>
        <p:spPr>
          <a:xfrm>
            <a:off x="1588821" y="1057403"/>
            <a:ext cx="382587" cy="3747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395011" y="2264233"/>
            <a:ext cx="382587" cy="37472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2865462" y="1041604"/>
            <a:ext cx="382587" cy="3747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332" name="Google Shape;332;p12"/>
          <p:cNvCxnSpPr/>
          <p:nvPr/>
        </p:nvCxnSpPr>
        <p:spPr>
          <a:xfrm flipH="1">
            <a:off x="1195376" y="1070307"/>
            <a:ext cx="923925" cy="3501093"/>
          </a:xfrm>
          <a:prstGeom prst="straightConnector1">
            <a:avLst/>
          </a:prstGeom>
          <a:noFill/>
          <a:ln cap="flat" cmpd="sng" w="69850">
            <a:solidFill>
              <a:srgbClr val="009F98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33" name="Google Shape;333;p12"/>
          <p:cNvSpPr/>
          <p:nvPr/>
        </p:nvSpPr>
        <p:spPr>
          <a:xfrm>
            <a:off x="2954856" y="3754426"/>
            <a:ext cx="382587" cy="3747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334" name="Google Shape;334;p12"/>
          <p:cNvCxnSpPr/>
          <p:nvPr/>
        </p:nvCxnSpPr>
        <p:spPr>
          <a:xfrm rot="10800000">
            <a:off x="1724025" y="2717450"/>
            <a:ext cx="247383" cy="6482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12"/>
          <p:cNvCxnSpPr/>
          <p:nvPr/>
        </p:nvCxnSpPr>
        <p:spPr>
          <a:xfrm flipH="1" rot="10800000">
            <a:off x="1907381" y="2782180"/>
            <a:ext cx="57139" cy="20569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2"/>
          <p:cNvSpPr txBox="1"/>
          <p:nvPr/>
        </p:nvSpPr>
        <p:spPr>
          <a:xfrm>
            <a:off x="4215042" y="1839183"/>
            <a:ext cx="4194152" cy="4616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37" name="Google Shape;337;p12"/>
          <p:cNvSpPr txBox="1"/>
          <p:nvPr/>
        </p:nvSpPr>
        <p:spPr>
          <a:xfrm>
            <a:off x="4215042" y="2315536"/>
            <a:ext cx="4194152" cy="4616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38" name="Google Shape;338;p12"/>
          <p:cNvSpPr txBox="1"/>
          <p:nvPr/>
        </p:nvSpPr>
        <p:spPr>
          <a:xfrm>
            <a:off x="4201986" y="2777201"/>
            <a:ext cx="4194152" cy="46166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3387841" y="1008186"/>
            <a:ext cx="584855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¿Son paralelas, perpendiculares, se intersecan (no 90°) o ninguna de las anteriores?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40" name="Google Shape;340;p12"/>
          <p:cNvPicPr preferRelativeResize="0"/>
          <p:nvPr/>
        </p:nvPicPr>
        <p:blipFill rotWithShape="1">
          <a:blip r:embed="rId11">
            <a:alphaModFix/>
          </a:blip>
          <a:srcRect b="8600" l="8588" r="8587" t="8601"/>
          <a:stretch/>
        </p:blipFill>
        <p:spPr>
          <a:xfrm>
            <a:off x="5665518" y="3743068"/>
            <a:ext cx="1072786" cy="1072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43700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46" name="Google Shape;34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49" name="Google Shape;349;p13" title="Reforzamiento - Geometría (5) - Recta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9600" y="1044875"/>
            <a:ext cx="6564800" cy="370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700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